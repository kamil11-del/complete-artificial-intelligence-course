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69" r:id="rId2"/>
    <p:sldId id="270" r:id="rId3"/>
    <p:sldId id="309" r:id="rId4"/>
    <p:sldId id="329" r:id="rId5"/>
    <p:sldId id="333" r:id="rId6"/>
    <p:sldId id="334" r:id="rId7"/>
    <p:sldId id="335" r:id="rId8"/>
    <p:sldId id="337" r:id="rId9"/>
    <p:sldId id="338" r:id="rId10"/>
    <p:sldId id="30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C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8" autoAdjust="0"/>
    <p:restoredTop sz="95165" autoAdjust="0"/>
  </p:normalViewPr>
  <p:slideViewPr>
    <p:cSldViewPr snapToGrid="0" snapToObjects="1">
      <p:cViewPr varScale="1">
        <p:scale>
          <a:sx n="59" d="100"/>
          <a:sy n="59" d="100"/>
        </p:scale>
        <p:origin x="63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01 – Descriptive Statistics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(Correlation)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Correlation?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Correlation Coefficient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Univariate, Bivariate, and Multivariate Plots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Probability</a:t>
            </a:r>
          </a:p>
        </p:txBody>
      </p:sp>
      <p:pic>
        <p:nvPicPr>
          <p:cNvPr id="1026" name="Picture 2" descr="Statistics doodles and equations math equation formula background | Premium  Vector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353" r="33043" b="1060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7433-8FAC-33E4-2818-781F081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Correlation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E3E238-458D-B89A-93EC-523E9CC38528}"/>
              </a:ext>
            </a:extLst>
          </p:cNvPr>
          <p:cNvSpPr txBox="1">
            <a:spLocks/>
          </p:cNvSpPr>
          <p:nvPr/>
        </p:nvSpPr>
        <p:spPr>
          <a:xfrm>
            <a:off x="730492" y="2325158"/>
            <a:ext cx="5365508" cy="385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002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 statistical measure that describes the strength and direction of the relationship between two variables, showing how they tend to change together.</a:t>
            </a:r>
          </a:p>
          <a:p>
            <a:pPr marL="16002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It's quantified by a correlation coefficient.</a:t>
            </a:r>
          </a:p>
          <a:p>
            <a:pPr marL="16002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Correlation may be positive, zero, or negative.</a:t>
            </a:r>
          </a:p>
        </p:txBody>
      </p:sp>
      <p:pic>
        <p:nvPicPr>
          <p:cNvPr id="1026" name="Picture 2" descr="Correlation Coefficient | Types, Formulas &amp; Examples">
            <a:extLst>
              <a:ext uri="{FF2B5EF4-FFF2-40B4-BE49-F238E27FC236}">
                <a16:creationId xmlns:a16="http://schemas.microsoft.com/office/drawing/2014/main" id="{98DC31FA-0FF3-224C-2854-CC4B30C7D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t="4251" r="72630" b="17880"/>
          <a:stretch>
            <a:fillRect/>
          </a:stretch>
        </p:blipFill>
        <p:spPr bwMode="auto">
          <a:xfrm>
            <a:off x="6702755" y="180442"/>
            <a:ext cx="1787274" cy="232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orrelation Coefficient | Types, Formulas &amp; Examples">
            <a:extLst>
              <a:ext uri="{FF2B5EF4-FFF2-40B4-BE49-F238E27FC236}">
                <a16:creationId xmlns:a16="http://schemas.microsoft.com/office/drawing/2014/main" id="{2B050563-73C9-26DD-4CEC-0F7764D9A7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6" t="4251" r="37846" b="17880"/>
          <a:stretch>
            <a:fillRect/>
          </a:stretch>
        </p:blipFill>
        <p:spPr bwMode="auto">
          <a:xfrm>
            <a:off x="7822635" y="2455207"/>
            <a:ext cx="1628630" cy="21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orrelation Coefficient | Types, Formulas &amp; Examples">
            <a:extLst>
              <a:ext uri="{FF2B5EF4-FFF2-40B4-BE49-F238E27FC236}">
                <a16:creationId xmlns:a16="http://schemas.microsoft.com/office/drawing/2014/main" id="{0D9B616F-BCEB-9554-37FF-FF1370D3D9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81" t="3904" r="3011" b="18227"/>
          <a:stretch>
            <a:fillRect/>
          </a:stretch>
        </p:blipFill>
        <p:spPr bwMode="auto">
          <a:xfrm>
            <a:off x="8706845" y="4628521"/>
            <a:ext cx="1628630" cy="21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BDF2-B598-E3D6-935A-8F7C1FDF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F5D3-6636-00DB-60F9-253C0290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Correlation Coefficient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A0A81E-0192-6375-E8DF-441BC013A1E3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9216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 correlation coefficient is a number between -1 and 1 that tells you the strength and direction of a relationship between variables.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4" name="Picture 2" descr="Correlation: Meaning, Types, Examples &amp; Coefficient">
            <a:extLst>
              <a:ext uri="{FF2B5EF4-FFF2-40B4-BE49-F238E27FC236}">
                <a16:creationId xmlns:a16="http://schemas.microsoft.com/office/drawing/2014/main" id="{AEFDE483-BC20-64D1-EFF1-6F11E4039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1" t="21630" r="2191" b="20637"/>
          <a:stretch>
            <a:fillRect/>
          </a:stretch>
        </p:blipFill>
        <p:spPr bwMode="auto">
          <a:xfrm>
            <a:off x="461854" y="2564090"/>
            <a:ext cx="10536547" cy="321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02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C4E79-7AE5-06C1-B3DA-7BE8A0B3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1530-4C50-8381-927E-FCFDA5B1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Univariate Data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1640CC-FA81-D5F4-F6A3-741E26CFE2AB}"/>
              </a:ext>
            </a:extLst>
          </p:cNvPr>
          <p:cNvSpPr txBox="1">
            <a:spLocks/>
          </p:cNvSpPr>
          <p:nvPr/>
        </p:nvSpPr>
        <p:spPr>
          <a:xfrm>
            <a:off x="730492" y="2325158"/>
            <a:ext cx="5365508" cy="385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It consists of observations for a single characteristic or variable, used to describe and summarize its distribution, central tendency, and variability.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Data can be displayed using frequency polygon, histograms, stem and leaf plots, box and whisker plots, or pie charts.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098" name="Picture 2" descr="Univariate Analysis: basic theory and example - Toolshero">
            <a:extLst>
              <a:ext uri="{FF2B5EF4-FFF2-40B4-BE49-F238E27FC236}">
                <a16:creationId xmlns:a16="http://schemas.microsoft.com/office/drawing/2014/main" id="{B4B1F6EB-1920-E3E7-66DD-976D8D67C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18556" r="13780" b="12715"/>
          <a:stretch>
            <a:fillRect/>
          </a:stretch>
        </p:blipFill>
        <p:spPr bwMode="auto">
          <a:xfrm>
            <a:off x="6693031" y="3429000"/>
            <a:ext cx="4204354" cy="305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nivariate Analysis. Understanding the data is the primary… | by Rahul  Sehrawat | Medium">
            <a:extLst>
              <a:ext uri="{FF2B5EF4-FFF2-40B4-BE49-F238E27FC236}">
                <a16:creationId xmlns:a16="http://schemas.microsoft.com/office/drawing/2014/main" id="{18243FE5-CB1D-1A76-7C46-1FAEBD22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423" y="118700"/>
            <a:ext cx="3576358" cy="305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94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E928-FC53-B638-6AFB-CAB73B1B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2D98-4692-9209-F9C4-4DC824B2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Bivariate Data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25D759-4AC4-9779-B72E-2336AAED17EF}"/>
              </a:ext>
            </a:extLst>
          </p:cNvPr>
          <p:cNvSpPr txBox="1">
            <a:spLocks/>
          </p:cNvSpPr>
          <p:nvPr/>
        </p:nvSpPr>
        <p:spPr>
          <a:xfrm>
            <a:off x="730492" y="2325158"/>
            <a:ext cx="5365508" cy="385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It consists of two variables where each data point has a value for both, used to analyze the relationship between them.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Often analyzed using a scatterplot, where one variable is plotted on the x-axis and the other on the y-axis.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Each data point represents two pieces of information.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F81CC-972F-C609-76B6-D24448180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5545" t="14380" r="9696" b="4506"/>
          <a:stretch>
            <a:fillRect/>
          </a:stretch>
        </p:blipFill>
        <p:spPr>
          <a:xfrm>
            <a:off x="6096000" y="958003"/>
            <a:ext cx="5042015" cy="2412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A23F7E-90D1-A624-490C-4CD29A8EFC10}"/>
              </a:ext>
            </a:extLst>
          </p:cNvPr>
          <p:cNvSpPr txBox="1"/>
          <p:nvPr/>
        </p:nvSpPr>
        <p:spPr>
          <a:xfrm>
            <a:off x="7419803" y="557893"/>
            <a:ext cx="239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Scatterplot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150" name="Picture 6" descr="5 Examples of Bivariate Data in Real Life">
            <a:extLst>
              <a:ext uri="{FF2B5EF4-FFF2-40B4-BE49-F238E27FC236}">
                <a16:creationId xmlns:a16="http://schemas.microsoft.com/office/drawing/2014/main" id="{C2743BCB-801E-8958-29B8-3B0A298F9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803" y="3487420"/>
            <a:ext cx="2920981" cy="303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96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EDAD-74BA-3739-3236-5D7B2EFC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7341-BC9D-0B3C-52E5-88FFACB9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Multivariate Data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3C990F-DE4B-58CC-C735-B84897EE07E8}"/>
              </a:ext>
            </a:extLst>
          </p:cNvPr>
          <p:cNvSpPr txBox="1">
            <a:spLocks/>
          </p:cNvSpPr>
          <p:nvPr/>
        </p:nvSpPr>
        <p:spPr>
          <a:xfrm>
            <a:off x="730492" y="2325158"/>
            <a:ext cx="5365508" cy="385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It consists of observations for two or more variables for each unit in a dataset, such as a person's age, weight, and blood pressure.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DDCF5-03E6-5464-49FE-35981E3CA1D9}"/>
              </a:ext>
            </a:extLst>
          </p:cNvPr>
          <p:cNvSpPr txBox="1"/>
          <p:nvPr/>
        </p:nvSpPr>
        <p:spPr>
          <a:xfrm>
            <a:off x="7863771" y="357838"/>
            <a:ext cx="150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Scatterplot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220" name="Picture 4" descr="Scatterplot3d: 3D graphics - R software and data visualization - Easy  Guides - Wiki - STHDA">
            <a:extLst>
              <a:ext uri="{FF2B5EF4-FFF2-40B4-BE49-F238E27FC236}">
                <a16:creationId xmlns:a16="http://schemas.microsoft.com/office/drawing/2014/main" id="{B0F635A3-5061-67AF-8B43-8D51D770D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8419" r="5968" b="9884"/>
          <a:stretch>
            <a:fillRect/>
          </a:stretch>
        </p:blipFill>
        <p:spPr bwMode="auto">
          <a:xfrm>
            <a:off x="6524255" y="838703"/>
            <a:ext cx="4185504" cy="325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Univariate vs. Multivariate Analysis: What's the Difference?">
            <a:extLst>
              <a:ext uri="{FF2B5EF4-FFF2-40B4-BE49-F238E27FC236}">
                <a16:creationId xmlns:a16="http://schemas.microsoft.com/office/drawing/2014/main" id="{A553CF93-822C-8537-6C11-E8A2DA2D2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31" y="3817857"/>
            <a:ext cx="4920620" cy="294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Use Multivariate Statistics to Better Understand Your Customers">
            <a:extLst>
              <a:ext uri="{FF2B5EF4-FFF2-40B4-BE49-F238E27FC236}">
                <a16:creationId xmlns:a16="http://schemas.microsoft.com/office/drawing/2014/main" id="{75DA3346-6F1B-39EC-8A91-44957957A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" t="11327" r="1994" b="3708"/>
          <a:stretch>
            <a:fillRect/>
          </a:stretch>
        </p:blipFill>
        <p:spPr bwMode="auto">
          <a:xfrm>
            <a:off x="6599670" y="4097097"/>
            <a:ext cx="4316570" cy="257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51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0409-D6B9-F5BE-216C-E63E40F4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67A7-5181-F030-F37F-3DB4403D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Probability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499D9EB-FC75-2A7A-9AB7-021F073A9DA2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1878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Probability is the measure of how likely an event is to occur.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It is expressed as a number between 0 and 1, or 0% and 100%.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Formula for probability of single event:</a:t>
            </a:r>
            <a:b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P(E) = number of ways event can happen / number of possible events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8B7D4-3DEB-66D0-CDEE-7DA9780E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9061" y="3238501"/>
            <a:ext cx="8090200" cy="318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4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4FD5-F836-0E7D-CB4E-9854D32A6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105B-C49F-00FF-1050-3B1677128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Sample Space and Events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AEF90D1-DD0C-C43B-84CB-09935D57B5B4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1878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Sample space (S) 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is the complete set of all possible outcomes for a random experiment.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An 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event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is a specific subset of the sample space, representing one or more of those possible outcomes</a:t>
            </a:r>
          </a:p>
        </p:txBody>
      </p:sp>
      <p:pic>
        <p:nvPicPr>
          <p:cNvPr id="2052" name="Picture 4" descr="Event">
            <a:extLst>
              <a:ext uri="{FF2B5EF4-FFF2-40B4-BE49-F238E27FC236}">
                <a16:creationId xmlns:a16="http://schemas.microsoft.com/office/drawing/2014/main" id="{5A8880C2-F9F7-FC4A-B015-AF4726FBD2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2" t="25074" r="26282" b="25149"/>
          <a:stretch>
            <a:fillRect/>
          </a:stretch>
        </p:blipFill>
        <p:spPr bwMode="auto">
          <a:xfrm>
            <a:off x="7200900" y="3381374"/>
            <a:ext cx="352425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6C38A-058D-2CD0-62A6-2DA5D5552CF4}"/>
              </a:ext>
            </a:extLst>
          </p:cNvPr>
          <p:cNvSpPr txBox="1"/>
          <p:nvPr/>
        </p:nvSpPr>
        <p:spPr>
          <a:xfrm>
            <a:off x="9436301" y="5878226"/>
            <a:ext cx="1506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Sample Space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6F30D-B2CB-21AF-287A-45EFF8B6B1DD}"/>
              </a:ext>
            </a:extLst>
          </p:cNvPr>
          <p:cNvSpPr txBox="1"/>
          <p:nvPr/>
        </p:nvSpPr>
        <p:spPr>
          <a:xfrm>
            <a:off x="7200900" y="5882338"/>
            <a:ext cx="150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Event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451A9F0-0452-42BB-9792-6760F8CACEB5}"/>
              </a:ext>
            </a:extLst>
          </p:cNvPr>
          <p:cNvCxnSpPr>
            <a:cxnSpLocks/>
            <a:endCxn id="7" idx="0"/>
          </p:cNvCxnSpPr>
          <p:nvPr/>
        </p:nvCxnSpPr>
        <p:spPr>
          <a:xfrm rot="5400000">
            <a:off x="7930094" y="5430432"/>
            <a:ext cx="475948" cy="4278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2517FCA-30BC-14C7-86E3-DB9501738745}"/>
              </a:ext>
            </a:extLst>
          </p:cNvPr>
          <p:cNvCxnSpPr>
            <a:cxnSpLocks/>
            <a:endCxn id="6" idx="0"/>
          </p:cNvCxnSpPr>
          <p:nvPr/>
        </p:nvCxnSpPr>
        <p:spPr>
          <a:xfrm rot="16200000" flipH="1">
            <a:off x="9842591" y="5531280"/>
            <a:ext cx="379874" cy="314018"/>
          </a:xfrm>
          <a:prstGeom prst="curvedConnector3">
            <a:avLst>
              <a:gd name="adj1" fmla="val 50000"/>
            </a:avLst>
          </a:prstGeom>
          <a:ln>
            <a:solidFill>
              <a:srgbClr val="6BCFEB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9C6D725-BFF4-52E0-649A-00233E51CB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67"/>
          <a:stretch>
            <a:fillRect/>
          </a:stretch>
        </p:blipFill>
        <p:spPr>
          <a:xfrm>
            <a:off x="922042" y="3238501"/>
            <a:ext cx="5754356" cy="275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6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1524</TotalTime>
  <Words>372</Words>
  <Application>Microsoft Office PowerPoint</Application>
  <PresentationFormat>Widescreen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Century Schoolbook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01 – Descriptive Statistics (Correlation)</vt:lpstr>
      <vt:lpstr>Correlation</vt:lpstr>
      <vt:lpstr>Correlation Coefficient</vt:lpstr>
      <vt:lpstr>Univariate Data</vt:lpstr>
      <vt:lpstr>Bivariate Data</vt:lpstr>
      <vt:lpstr>Multivariate Data</vt:lpstr>
      <vt:lpstr>Probability</vt:lpstr>
      <vt:lpstr>Sample Space and Events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Asad Afridi</cp:lastModifiedBy>
  <cp:revision>38</cp:revision>
  <dcterms:created xsi:type="dcterms:W3CDTF">2013-01-27T09:14:16Z</dcterms:created>
  <dcterms:modified xsi:type="dcterms:W3CDTF">2026-03-05T06:47:35Z</dcterms:modified>
  <cp:category/>
</cp:coreProperties>
</file>