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69" r:id="rId2"/>
    <p:sldId id="270" r:id="rId3"/>
    <p:sldId id="309" r:id="rId4"/>
    <p:sldId id="310" r:id="rId5"/>
    <p:sldId id="312" r:id="rId6"/>
    <p:sldId id="311" r:id="rId7"/>
    <p:sldId id="324" r:id="rId8"/>
    <p:sldId id="313" r:id="rId9"/>
    <p:sldId id="315" r:id="rId10"/>
    <p:sldId id="317" r:id="rId11"/>
    <p:sldId id="314" r:id="rId12"/>
    <p:sldId id="318" r:id="rId13"/>
    <p:sldId id="319" r:id="rId14"/>
    <p:sldId id="320" r:id="rId15"/>
    <p:sldId id="321" r:id="rId16"/>
    <p:sldId id="322" r:id="rId17"/>
    <p:sldId id="323" r:id="rId18"/>
    <p:sldId id="326" r:id="rId19"/>
    <p:sldId id="30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5974" autoAdjust="0"/>
  </p:normalViewPr>
  <p:slideViewPr>
    <p:cSldViewPr snapToGrid="0" snapToObjects="1">
      <p:cViewPr varScale="1">
        <p:scale>
          <a:sx n="79" d="100"/>
          <a:sy n="79" d="100"/>
        </p:scale>
        <p:origin x="132" y="5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Real-World Analogy:</a:t>
            </a:r>
            <a:endParaRPr lang="en-US" dirty="0"/>
          </a:p>
          <a:p>
            <a:r>
              <a:rPr lang="en-US" dirty="0"/>
              <a:t>Think of statistics as a </a:t>
            </a:r>
            <a:r>
              <a:rPr lang="en-US" b="1" dirty="0"/>
              <a:t>detective toolkit</a:t>
            </a:r>
            <a:r>
              <a:rPr lang="en-US" dirty="0"/>
              <a:t> for understanding the world:</a:t>
            </a:r>
          </a:p>
          <a:p>
            <a:r>
              <a:rPr lang="en-US" dirty="0"/>
              <a:t>  A detective collects evidence (data collection)</a:t>
            </a:r>
          </a:p>
          <a:p>
            <a:r>
              <a:rPr lang="en-US" dirty="0"/>
              <a:t>  Organizes evidence (descriptive statistics)</a:t>
            </a:r>
          </a:p>
          <a:p>
            <a:r>
              <a:rPr lang="en-US" dirty="0"/>
              <a:t>  Finds patterns (analysis)</a:t>
            </a:r>
          </a:p>
          <a:p>
            <a:r>
              <a:rPr lang="en-US" dirty="0"/>
              <a:t>  Solves the case (inference)</a:t>
            </a:r>
          </a:p>
          <a:p>
            <a:endParaRPr lang="en-US" dirty="0"/>
          </a:p>
          <a:p>
            <a:r>
              <a:rPr lang="en-US" dirty="0"/>
              <a:t>Statistics helps us:</a:t>
            </a:r>
          </a:p>
          <a:p>
            <a:r>
              <a:rPr lang="en-US" b="1" dirty="0"/>
              <a:t>Make Decisions</a:t>
            </a:r>
            <a:r>
              <a:rPr lang="en-US" dirty="0"/>
              <a:t> - Should we launch this product?</a:t>
            </a:r>
          </a:p>
          <a:p>
            <a:r>
              <a:rPr lang="en-US" b="1" dirty="0"/>
              <a:t>Understand Patterns</a:t>
            </a:r>
            <a:r>
              <a:rPr lang="en-US" dirty="0"/>
              <a:t> - Why are sales dropping?</a:t>
            </a:r>
          </a:p>
          <a:p>
            <a:r>
              <a:rPr lang="en-US" b="1" dirty="0"/>
              <a:t>Predict Future</a:t>
            </a:r>
            <a:r>
              <a:rPr lang="en-US" dirty="0"/>
              <a:t> - What will next quarter look like?</a:t>
            </a:r>
          </a:p>
          <a:p>
            <a:r>
              <a:rPr lang="en-US" b="1" dirty="0"/>
              <a:t>Test Ideas</a:t>
            </a:r>
            <a:r>
              <a:rPr lang="en-US" dirty="0"/>
              <a:t> - Does this medicine work?</a:t>
            </a:r>
          </a:p>
          <a:p>
            <a:endParaRPr lang="en-US" dirty="0"/>
          </a:p>
          <a:p>
            <a:r>
              <a:rPr lang="en-US" b="1" dirty="0"/>
              <a:t>Descriptive Statistics</a:t>
            </a:r>
          </a:p>
          <a:p>
            <a:r>
              <a:rPr lang="en-US" b="1" dirty="0"/>
              <a:t>Inferential Statistics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79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it answers:</a:t>
            </a:r>
            <a:endParaRPr lang="en-US" dirty="0"/>
          </a:p>
          <a:p>
            <a:r>
              <a:rPr lang="en-US" dirty="0"/>
              <a:t>  What does the data look like?</a:t>
            </a:r>
          </a:p>
          <a:p>
            <a:r>
              <a:rPr lang="en-US" dirty="0"/>
              <a:t>  What's the center/average?</a:t>
            </a:r>
          </a:p>
          <a:p>
            <a:r>
              <a:rPr lang="en-US" dirty="0"/>
              <a:t>  How spread out is the data?</a:t>
            </a:r>
          </a:p>
          <a:p>
            <a:endParaRPr lang="en-US" dirty="0"/>
          </a:p>
          <a:p>
            <a:r>
              <a:rPr lang="en-US" b="1" dirty="0"/>
              <a:t>Tools:</a:t>
            </a:r>
            <a:endParaRPr lang="en-US" dirty="0"/>
          </a:p>
          <a:p>
            <a:r>
              <a:rPr lang="en-US" dirty="0"/>
              <a:t>  Mean, Median, Mode</a:t>
            </a:r>
          </a:p>
          <a:p>
            <a:r>
              <a:rPr lang="en-US" dirty="0"/>
              <a:t>  Graphs and charts</a:t>
            </a:r>
          </a:p>
          <a:p>
            <a:r>
              <a:rPr lang="en-US" dirty="0"/>
              <a:t>  Standard deviation, range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10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  <a:p>
            <a:r>
              <a:rPr lang="en-US" dirty="0"/>
              <a:t>    │</a:t>
            </a:r>
          </a:p>
          <a:p>
            <a:r>
              <a:rPr lang="en-US" dirty="0"/>
              <a:t>    ├─── QUALITATIVE (Categorical)</a:t>
            </a:r>
          </a:p>
          <a:p>
            <a:r>
              <a:rPr lang="en-US" dirty="0"/>
              <a:t>    │    ├─── Nominal (No order)</a:t>
            </a:r>
          </a:p>
          <a:p>
            <a:r>
              <a:rPr lang="en-US" dirty="0"/>
              <a:t>    │    │    └─── Examples: Colors, Gender, City names</a:t>
            </a:r>
          </a:p>
          <a:p>
            <a:r>
              <a:rPr lang="en-US" dirty="0"/>
              <a:t>    │    │</a:t>
            </a:r>
          </a:p>
          <a:p>
            <a:r>
              <a:rPr lang="en-US" dirty="0"/>
              <a:t>    │    └─── Ordinal (Natural order)</a:t>
            </a:r>
          </a:p>
          <a:p>
            <a:r>
              <a:rPr lang="en-US" dirty="0"/>
              <a:t>    │         └─── Examples: Ratings, Education level, Rankings</a:t>
            </a:r>
          </a:p>
          <a:p>
            <a:r>
              <a:rPr lang="en-US" dirty="0"/>
              <a:t>    │</a:t>
            </a:r>
          </a:p>
          <a:p>
            <a:r>
              <a:rPr lang="en-US" dirty="0"/>
              <a:t>    └─── QUANTITATIVE (Numerical)</a:t>
            </a:r>
          </a:p>
          <a:p>
            <a:r>
              <a:rPr lang="en-US" dirty="0"/>
              <a:t>         ├─── Discrete (Countable)</a:t>
            </a:r>
          </a:p>
          <a:p>
            <a:r>
              <a:rPr lang="en-US" dirty="0"/>
              <a:t>         │    └─── Examples: Number of students, Cars sold</a:t>
            </a:r>
          </a:p>
          <a:p>
            <a:r>
              <a:rPr lang="en-US" dirty="0"/>
              <a:t>         │</a:t>
            </a:r>
          </a:p>
          <a:p>
            <a:r>
              <a:rPr lang="en-US" dirty="0"/>
              <a:t>         └─── Continuous (Measurable)</a:t>
            </a:r>
          </a:p>
          <a:p>
            <a:r>
              <a:rPr lang="en-US" dirty="0"/>
              <a:t>              └─── Examples: Height, Temperature,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48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5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9.png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858000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04 – Descriptive Statistics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(Data and Its Types)</a:t>
            </a:r>
            <a:endParaRPr lang="en-US" sz="3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is Descriptive Statistics?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is Data?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Different Types of Data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Measure of Central Tendency</a:t>
            </a:r>
          </a:p>
        </p:txBody>
      </p:sp>
      <p:pic>
        <p:nvPicPr>
          <p:cNvPr id="1026" name="Picture 2" descr="Statistics doodles and equations math equation formula background | Premium  Vector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353" r="33043" b="10605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B65651-0184-9A43-00D2-98124492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What is Statistics?</a:t>
            </a:r>
          </a:p>
        </p:txBody>
      </p:sp>
      <p:pic>
        <p:nvPicPr>
          <p:cNvPr id="2050" name="Picture 2" descr="Statistics: Definition, Types, and Importance">
            <a:extLst>
              <a:ext uri="{FF2B5EF4-FFF2-40B4-BE49-F238E27FC236}">
                <a16:creationId xmlns:a16="http://schemas.microsoft.com/office/drawing/2014/main" id="{3CA73482-6225-C72F-1B77-A6F4F7ED9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7"/>
          <a:stretch>
            <a:fillRect/>
          </a:stretch>
        </p:blipFill>
        <p:spPr bwMode="auto">
          <a:xfrm>
            <a:off x="0" y="0"/>
            <a:ext cx="112928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5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8618-D1D3-9C0F-3A94-8CAEAAE4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escriptive Statistics: Definition, Overview, Types, and Examples">
            <a:extLst>
              <a:ext uri="{FF2B5EF4-FFF2-40B4-BE49-F238E27FC236}">
                <a16:creationId xmlns:a16="http://schemas.microsoft.com/office/drawing/2014/main" id="{6EEC00DD-ADF9-AFD5-7247-3DF9B15CA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7"/>
          <a:stretch>
            <a:fillRect/>
          </a:stretch>
        </p:blipFill>
        <p:spPr bwMode="auto">
          <a:xfrm>
            <a:off x="0" y="0"/>
            <a:ext cx="112928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09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5FE9-03E8-9C3E-42EC-69F17244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atistics for Machine Learning: Analysing Unseen Patterns">
            <a:extLst>
              <a:ext uri="{FF2B5EF4-FFF2-40B4-BE49-F238E27FC236}">
                <a16:creationId xmlns:a16="http://schemas.microsoft.com/office/drawing/2014/main" id="{4024814D-2719-9CB6-708F-B036654B8F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55"/>
          <a:stretch>
            <a:fillRect/>
          </a:stretch>
        </p:blipFill>
        <p:spPr bwMode="auto">
          <a:xfrm>
            <a:off x="0" y="1"/>
            <a:ext cx="112928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05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A46C-1C5D-FA2D-CB05-E0602C58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Data - Types, Examples, Differences">
            <a:extLst>
              <a:ext uri="{FF2B5EF4-FFF2-40B4-BE49-F238E27FC236}">
                <a16:creationId xmlns:a16="http://schemas.microsoft.com/office/drawing/2014/main" id="{130B45DF-5B19-BD74-2415-27C2B513B6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98"/>
          <a:stretch>
            <a:fillRect/>
          </a:stretch>
        </p:blipFill>
        <p:spPr bwMode="auto">
          <a:xfrm>
            <a:off x="0" y="495957"/>
            <a:ext cx="11292840" cy="561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7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C420-EFD4-0B10-FEE8-C77A59A9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F5A791-2F9F-783A-8AA2-CDB90DD91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21168" r="2384" b="16610"/>
          <a:stretch>
            <a:fillRect/>
          </a:stretch>
        </p:blipFill>
        <p:spPr>
          <a:xfrm>
            <a:off x="223520" y="2615182"/>
            <a:ext cx="11023600" cy="395833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CB55C84-770A-D262-2BA0-EAD2DBFF3C55}"/>
              </a:ext>
            </a:extLst>
          </p:cNvPr>
          <p:cNvSpPr txBox="1">
            <a:spLocks/>
          </p:cNvSpPr>
          <p:nvPr/>
        </p:nvSpPr>
        <p:spPr>
          <a:xfrm>
            <a:off x="2296609" y="702885"/>
            <a:ext cx="6858000" cy="662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Data Distribution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AB34D5-19FF-148C-5B63-821F97D3DDB0}"/>
              </a:ext>
            </a:extLst>
          </p:cNvPr>
          <p:cNvSpPr txBox="1">
            <a:spLocks/>
          </p:cNvSpPr>
          <p:nvPr/>
        </p:nvSpPr>
        <p:spPr>
          <a:xfrm>
            <a:off x="904973" y="1167998"/>
            <a:ext cx="9641272" cy="16763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Data distribution describes how values in a dataset are spread or clustered across a range. It reveals the nature of the data, providing insight into its central tendency, variability, and shape.</a:t>
            </a:r>
          </a:p>
        </p:txBody>
      </p:sp>
    </p:spTree>
    <p:extLst>
      <p:ext uri="{BB962C8B-B14F-4D97-AF65-F5344CB8AC3E}">
        <p14:creationId xmlns:p14="http://schemas.microsoft.com/office/powerpoint/2010/main" val="168880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5A25-4D6A-ECAC-704D-FD7E3229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Quantitative vs. Qualitative Data">
            <a:extLst>
              <a:ext uri="{FF2B5EF4-FFF2-40B4-BE49-F238E27FC236}">
                <a16:creationId xmlns:a16="http://schemas.microsoft.com/office/drawing/2014/main" id="{04669990-C168-8207-AA73-B8EA984E78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899" t="14559" r="2574" b="8839"/>
          <a:stretch>
            <a:fillRect/>
          </a:stretch>
        </p:blipFill>
        <p:spPr bwMode="auto">
          <a:xfrm>
            <a:off x="5798916" y="937273"/>
            <a:ext cx="5203785" cy="462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D07AAB-B6B0-9D39-2AEE-8EF13386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65" y="702885"/>
            <a:ext cx="6858000" cy="662929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Qualitative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DE2B-5BAB-D7EC-B21B-EB8AEBC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65" y="1627297"/>
            <a:ext cx="5439751" cy="49239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Qualitative data refers to non-numerical information that describes characteristics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Focuses on words, meanings, opinions, feelings, and descriptions.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Gathered through interviews, open-ended surveys, focus groups, observations etc.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Analyzed through categorization, or coding to identify patterns and insights</a:t>
            </a:r>
          </a:p>
        </p:txBody>
      </p:sp>
    </p:spTree>
    <p:extLst>
      <p:ext uri="{BB962C8B-B14F-4D97-AF65-F5344CB8AC3E}">
        <p14:creationId xmlns:p14="http://schemas.microsoft.com/office/powerpoint/2010/main" val="395568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9D56C-2A5D-C94E-A79D-48FF8A95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2">
            <a:extLst>
              <a:ext uri="{FF2B5EF4-FFF2-40B4-BE49-F238E27FC236}">
                <a16:creationId xmlns:a16="http://schemas.microsoft.com/office/drawing/2014/main" id="{3520C625-C063-B9D3-724F-ECE4F9B5D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01" y="1506773"/>
            <a:ext cx="9344628" cy="526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AFAA7EF-8631-B960-DFBA-19CEE1EDBE0F}"/>
              </a:ext>
            </a:extLst>
          </p:cNvPr>
          <p:cNvSpPr txBox="1">
            <a:spLocks/>
          </p:cNvSpPr>
          <p:nvPr/>
        </p:nvSpPr>
        <p:spPr>
          <a:xfrm>
            <a:off x="2296609" y="702885"/>
            <a:ext cx="6858000" cy="662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Qualitative Data</a:t>
            </a:r>
          </a:p>
        </p:txBody>
      </p:sp>
    </p:spTree>
    <p:extLst>
      <p:ext uri="{BB962C8B-B14F-4D97-AF65-F5344CB8AC3E}">
        <p14:creationId xmlns:p14="http://schemas.microsoft.com/office/powerpoint/2010/main" val="388265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041D-AD01-AD6D-ECD1-9FB870BD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EBE64A3E-66BB-9E89-2920-BD4036203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68101" y="1507698"/>
            <a:ext cx="9344628" cy="526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20F363-615E-C761-2F90-84149D75C1E4}"/>
              </a:ext>
            </a:extLst>
          </p:cNvPr>
          <p:cNvSpPr txBox="1">
            <a:spLocks/>
          </p:cNvSpPr>
          <p:nvPr/>
        </p:nvSpPr>
        <p:spPr>
          <a:xfrm>
            <a:off x="2296609" y="702885"/>
            <a:ext cx="6858000" cy="662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Qualitative Data</a:t>
            </a:r>
          </a:p>
        </p:txBody>
      </p:sp>
    </p:spTree>
    <p:extLst>
      <p:ext uri="{BB962C8B-B14F-4D97-AF65-F5344CB8AC3E}">
        <p14:creationId xmlns:p14="http://schemas.microsoft.com/office/powerpoint/2010/main" val="2075078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85C7-4797-9268-1486-A902E5D8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Quantitative vs. Qualitative Data">
            <a:extLst>
              <a:ext uri="{FF2B5EF4-FFF2-40B4-BE49-F238E27FC236}">
                <a16:creationId xmlns:a16="http://schemas.microsoft.com/office/drawing/2014/main" id="{DA243EC3-B57F-F082-5E9C-DBB14DB14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5" t="14559" r="52348" b="8839"/>
          <a:stretch>
            <a:fillRect/>
          </a:stretch>
        </p:blipFill>
        <p:spPr bwMode="auto">
          <a:xfrm>
            <a:off x="5798916" y="937273"/>
            <a:ext cx="5203785" cy="462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B2CB7B-64D0-CC5B-FA9D-6987B844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65" y="702885"/>
            <a:ext cx="6858000" cy="662929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Quantitative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616E-6871-F00E-1C60-A41CA8541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65" y="1627298"/>
            <a:ext cx="5439751" cy="50397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Quantitative data refers to numerical information that can be measured, counted, and expressed in numbers.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Focuses on quantities, amounts, and measurable values.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Gathered through surveys with close-ended questions, experiments, observations.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analyzed using statistical methods, graphs, and mathematical models to identify patterns and trends</a:t>
            </a:r>
          </a:p>
        </p:txBody>
      </p:sp>
    </p:spTree>
    <p:extLst>
      <p:ext uri="{BB962C8B-B14F-4D97-AF65-F5344CB8AC3E}">
        <p14:creationId xmlns:p14="http://schemas.microsoft.com/office/powerpoint/2010/main" val="41015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0F53-8028-7934-5A80-7EA25FCB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EA503-1D8E-B8C3-CD01-7D981A4D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36"/>
          <a:stretch>
            <a:fillRect/>
          </a:stretch>
        </p:blipFill>
        <p:spPr>
          <a:xfrm>
            <a:off x="0" y="1942791"/>
            <a:ext cx="11292840" cy="418049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2B49AD7-5E35-BFBE-930D-FA9FB98AC7BC}"/>
              </a:ext>
            </a:extLst>
          </p:cNvPr>
          <p:cNvSpPr txBox="1">
            <a:spLocks/>
          </p:cNvSpPr>
          <p:nvPr/>
        </p:nvSpPr>
        <p:spPr>
          <a:xfrm>
            <a:off x="2296609" y="702885"/>
            <a:ext cx="6858000" cy="662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276520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D93E4-2D86-050C-3F62-024C2B86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discrete data vs. continuous data">
            <a:extLst>
              <a:ext uri="{FF2B5EF4-FFF2-40B4-BE49-F238E27FC236}">
                <a16:creationId xmlns:a16="http://schemas.microsoft.com/office/drawing/2014/main" id="{D700493A-86EF-D797-49C2-BD0467DDB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3" b="6866"/>
          <a:stretch>
            <a:fillRect/>
          </a:stretch>
        </p:blipFill>
        <p:spPr bwMode="auto">
          <a:xfrm>
            <a:off x="927258" y="1458410"/>
            <a:ext cx="9619854" cy="519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F7B225-A67B-FAD7-D0E6-805D12153838}"/>
              </a:ext>
            </a:extLst>
          </p:cNvPr>
          <p:cNvSpPr txBox="1">
            <a:spLocks/>
          </p:cNvSpPr>
          <p:nvPr/>
        </p:nvSpPr>
        <p:spPr>
          <a:xfrm>
            <a:off x="2296609" y="702885"/>
            <a:ext cx="6858000" cy="662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193694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9478-008A-982F-327A-DF08FB2F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C188AB-6F73-C133-6623-9604B06F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609" y="702885"/>
            <a:ext cx="6858000" cy="662929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Measures of Central Tendency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90C127-C372-2268-72B3-95BE96260C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29"/>
          <a:stretch>
            <a:fillRect/>
          </a:stretch>
        </p:blipFill>
        <p:spPr bwMode="auto">
          <a:xfrm>
            <a:off x="2490177" y="3046864"/>
            <a:ext cx="6470864" cy="381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19AD8-165A-5C7B-4D2A-6B231000DEE3}"/>
              </a:ext>
            </a:extLst>
          </p:cNvPr>
          <p:cNvSpPr txBox="1">
            <a:spLocks/>
          </p:cNvSpPr>
          <p:nvPr/>
        </p:nvSpPr>
        <p:spPr>
          <a:xfrm>
            <a:off x="904973" y="1163747"/>
            <a:ext cx="9641272" cy="16763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These are single summary values that describe the central location of a dataset. The mean is the average value, the median is the middle number in an ordered dataset, and the mode is the most frequent value.</a:t>
            </a:r>
          </a:p>
        </p:txBody>
      </p:sp>
    </p:spTree>
    <p:extLst>
      <p:ext uri="{BB962C8B-B14F-4D97-AF65-F5344CB8AC3E}">
        <p14:creationId xmlns:p14="http://schemas.microsoft.com/office/powerpoint/2010/main" val="698705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A49B-0E17-DF39-F214-0924E5AC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03C4-E896-F6B6-7941-419257FF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65" y="702885"/>
            <a:ext cx="6858000" cy="662929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Mean or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B7F9-9CD5-6261-206C-3D3B9F2B8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65" y="1627297"/>
            <a:ext cx="5439751" cy="49239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mathematical average of a set of two or more numbers is called its mean.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Mathematically,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3288B-1E90-568A-C8EC-448F63B12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96" t="36836" r="11915" b="31089"/>
          <a:stretch>
            <a:fillRect/>
          </a:stretch>
        </p:blipFill>
        <p:spPr>
          <a:xfrm>
            <a:off x="758242" y="3429000"/>
            <a:ext cx="4641596" cy="943582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CC5AE-1239-3411-F011-FB2EF084F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69959" t="26804" b="14556"/>
          <a:stretch>
            <a:fillRect/>
          </a:stretch>
        </p:blipFill>
        <p:spPr>
          <a:xfrm>
            <a:off x="6950400" y="1894789"/>
            <a:ext cx="3622058" cy="353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30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250FC-B6A2-5B8B-AA3E-8C2D1918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74D9-6680-289B-AFBF-253023E6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65" y="702885"/>
            <a:ext cx="6858000" cy="662929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A8F4-3450-C501-F59D-8B9232C21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65" y="1627297"/>
            <a:ext cx="5439751" cy="49239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median is the middle value in a dataset that has been arranged in ascending or descending order.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When the number of elements is odd: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When the number of elements is even: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74" name="Picture 2" descr="Mean Median Mode and Range | ChiliMath">
            <a:extLst>
              <a:ext uri="{FF2B5EF4-FFF2-40B4-BE49-F238E27FC236}">
                <a16:creationId xmlns:a16="http://schemas.microsoft.com/office/drawing/2014/main" id="{1C8A4FBF-1787-CEB6-BD49-B92989737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757" y="3126959"/>
            <a:ext cx="3930694" cy="35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30403E-6893-6523-7048-A6C467A99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35023" t="24550" r="34936" b="16810"/>
          <a:stretch>
            <a:fillRect/>
          </a:stretch>
        </p:blipFill>
        <p:spPr>
          <a:xfrm>
            <a:off x="7248271" y="313793"/>
            <a:ext cx="2691665" cy="2627007"/>
          </a:xfrm>
          <a:prstGeom prst="rect">
            <a:avLst/>
          </a:prstGeom>
        </p:spPr>
      </p:pic>
      <p:pic>
        <p:nvPicPr>
          <p:cNvPr id="3076" name="Picture 4" descr="Mean Median Mode: Measures for Data Sets - Curvebreakers">
            <a:extLst>
              <a:ext uri="{FF2B5EF4-FFF2-40B4-BE49-F238E27FC236}">
                <a16:creationId xmlns:a16="http://schemas.microsoft.com/office/drawing/2014/main" id="{B8DA3E22-6CE3-5AA8-7671-80362ABE4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1" t="28201" r="23144" b="52543"/>
          <a:stretch>
            <a:fillRect/>
          </a:stretch>
        </p:blipFill>
        <p:spPr bwMode="auto">
          <a:xfrm>
            <a:off x="1461546" y="3409542"/>
            <a:ext cx="2672710" cy="97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Mean Median Mode: Measures for Data Sets - Curvebreakers">
            <a:extLst>
              <a:ext uri="{FF2B5EF4-FFF2-40B4-BE49-F238E27FC236}">
                <a16:creationId xmlns:a16="http://schemas.microsoft.com/office/drawing/2014/main" id="{EB2B6210-F28B-0469-DE8C-8FCF26381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2" t="55932" r="11289" b="17827"/>
          <a:stretch>
            <a:fillRect/>
          </a:stretch>
        </p:blipFill>
        <p:spPr bwMode="auto">
          <a:xfrm>
            <a:off x="1461546" y="4950339"/>
            <a:ext cx="4022373" cy="137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11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40A7-9843-915B-29A1-1D001EAA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0B03-9AB8-798A-BF2F-4CDECEC49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65" y="702885"/>
            <a:ext cx="6858000" cy="662929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1F795-51B1-F7D2-B57B-75899D683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65" y="1627297"/>
            <a:ext cx="5439751" cy="49239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mode is the most frequently occurring value in a dataset.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There can be more than one mode, or no mode at all.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63E4682-A7D6-E8A2-DB1E-AC3CCE436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628757" y="3365038"/>
            <a:ext cx="3930694" cy="30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1A943A-E9E7-F69F-BA90-4586CCF64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1356" t="24550" r="68603" b="16810"/>
          <a:stretch>
            <a:fillRect/>
          </a:stretch>
        </p:blipFill>
        <p:spPr>
          <a:xfrm>
            <a:off x="7248271" y="313793"/>
            <a:ext cx="2691665" cy="2627007"/>
          </a:xfrm>
          <a:prstGeom prst="rect">
            <a:avLst/>
          </a:prstGeom>
        </p:spPr>
      </p:pic>
      <p:pic>
        <p:nvPicPr>
          <p:cNvPr id="4098" name="Picture 2" descr="Bimodal Distribution: Definition, Examples &amp; Analysis - Statistics By Jim">
            <a:extLst>
              <a:ext uri="{FF2B5EF4-FFF2-40B4-BE49-F238E27FC236}">
                <a16:creationId xmlns:a16="http://schemas.microsoft.com/office/drawing/2014/main" id="{63DC9542-5E53-F358-2320-88B4CAC41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15" y="3555203"/>
            <a:ext cx="53530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828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DE47-4B9F-B429-7240-E4526F62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78B6339-0E1D-BD50-9348-3AB0A8655E67}"/>
              </a:ext>
            </a:extLst>
          </p:cNvPr>
          <p:cNvSpPr txBox="1">
            <a:spLocks/>
          </p:cNvSpPr>
          <p:nvPr/>
        </p:nvSpPr>
        <p:spPr>
          <a:xfrm>
            <a:off x="870857" y="702885"/>
            <a:ext cx="9709504" cy="662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Relationship Between Mean, Median, and Model</a:t>
            </a:r>
          </a:p>
        </p:txBody>
      </p:sp>
      <p:pic>
        <p:nvPicPr>
          <p:cNvPr id="2054" name="Picture 6" descr="Skew - BIOLOGY FOR LIFE">
            <a:extLst>
              <a:ext uri="{FF2B5EF4-FFF2-40B4-BE49-F238E27FC236}">
                <a16:creationId xmlns:a16="http://schemas.microsoft.com/office/drawing/2014/main" id="{13833C88-62F0-132B-1FC9-5C7588DF7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96" y="1924050"/>
            <a:ext cx="934402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6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Happy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1261</TotalTime>
  <Words>592</Words>
  <Application>Microsoft Office PowerPoint</Application>
  <PresentationFormat>Widescreen</PresentationFormat>
  <Paragraphs>86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Century Schoolbook</vt:lpstr>
      <vt:lpstr>Segoe UI</vt:lpstr>
      <vt:lpstr>Tahoma</vt:lpstr>
      <vt:lpstr>Wingdings</vt:lpstr>
      <vt:lpstr>Wingdings 2</vt:lpstr>
      <vt:lpstr>View</vt:lpstr>
      <vt:lpstr>Spring of Code Artificial Intelligence (Machine Learning &amp; Deep Learning)</vt:lpstr>
      <vt:lpstr>Day 04 – Descriptive Statistics (Data and Its Types)</vt:lpstr>
      <vt:lpstr>What is Statistics?</vt:lpstr>
      <vt:lpstr>PowerPoint Presentation</vt:lpstr>
      <vt:lpstr>PowerPoint Presentation</vt:lpstr>
      <vt:lpstr>PowerPoint Presentation</vt:lpstr>
      <vt:lpstr>PowerPoint Presentation</vt:lpstr>
      <vt:lpstr>Qualitative Data</vt:lpstr>
      <vt:lpstr>PowerPoint Presentation</vt:lpstr>
      <vt:lpstr>PowerPoint Presentation</vt:lpstr>
      <vt:lpstr>Quantitative Data</vt:lpstr>
      <vt:lpstr>PowerPoint Presentation</vt:lpstr>
      <vt:lpstr>PowerPoint Presentation</vt:lpstr>
      <vt:lpstr>Measures of Central Tendency</vt:lpstr>
      <vt:lpstr>Mean or Average</vt:lpstr>
      <vt:lpstr>Median</vt:lpstr>
      <vt:lpstr>Mode</vt:lpstr>
      <vt:lpstr>PowerPoint Presentation</vt:lpstr>
      <vt:lpstr>Happy Coding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Asad Afridi</dc:creator>
  <cp:keywords/>
  <dc:description>generated using python-pptx</dc:description>
  <cp:lastModifiedBy>Asad Afridi</cp:lastModifiedBy>
  <cp:revision>26</cp:revision>
  <dcterms:created xsi:type="dcterms:W3CDTF">2013-01-27T09:14:16Z</dcterms:created>
  <dcterms:modified xsi:type="dcterms:W3CDTF">2026-03-01T23:15:54Z</dcterms:modified>
  <cp:category/>
</cp:coreProperties>
</file>