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4"/>
  </p:notesMasterIdLst>
  <p:sldIdLst>
    <p:sldId id="269" r:id="rId2"/>
    <p:sldId id="270" r:id="rId3"/>
    <p:sldId id="309" r:id="rId4"/>
    <p:sldId id="327" r:id="rId5"/>
    <p:sldId id="324" r:id="rId6"/>
    <p:sldId id="328" r:id="rId7"/>
    <p:sldId id="329" r:id="rId8"/>
    <p:sldId id="330" r:id="rId9"/>
    <p:sldId id="331" r:id="rId10"/>
    <p:sldId id="332" r:id="rId11"/>
    <p:sldId id="334" r:id="rId12"/>
    <p:sldId id="336" r:id="rId13"/>
    <p:sldId id="335" r:id="rId14"/>
    <p:sldId id="337" r:id="rId15"/>
    <p:sldId id="338" r:id="rId16"/>
    <p:sldId id="339" r:id="rId17"/>
    <p:sldId id="340" r:id="rId18"/>
    <p:sldId id="342" r:id="rId19"/>
    <p:sldId id="343" r:id="rId20"/>
    <p:sldId id="344" r:id="rId21"/>
    <p:sldId id="345" r:id="rId22"/>
    <p:sldId id="30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68" autoAdjust="0"/>
    <p:restoredTop sz="77350" autoAdjust="0"/>
  </p:normalViewPr>
  <p:slideViewPr>
    <p:cSldViewPr snapToGrid="0" snapToObjects="1">
      <p:cViewPr varScale="1">
        <p:scale>
          <a:sx n="49" d="100"/>
          <a:sy n="49" d="100"/>
        </p:scale>
        <p:origin x="1004" y="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ECE86-3A9E-451C-B628-D8723CA8B0D1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FE4E0-99C2-4C7B-9FAA-C1CC54635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161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13258-6E53-4C80-83B5-0E8BFFF081D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915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"Imagine two archers. Both hit an average of 50m. But one always hits 49–51m. The other hits 10m to 90m. Same average, very different performance. Dispersion captures THAT difference."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FE4E0-99C2-4C7B-9FAA-C1CC5463572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057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Why SD is more useful than Variance in AI:</a:t>
            </a:r>
            <a:endParaRPr lang="en-US" dirty="0"/>
          </a:p>
          <a:p>
            <a:r>
              <a:rPr lang="en-US" dirty="0"/>
              <a:t>  It's in the same unit as the data (interpretable)</a:t>
            </a:r>
          </a:p>
          <a:p>
            <a:r>
              <a:rPr lang="en-US" dirty="0"/>
              <a:t>  Used directly in </a:t>
            </a:r>
            <a:r>
              <a:rPr lang="en-US" b="1" dirty="0"/>
              <a:t>Z-score standardization</a:t>
            </a:r>
            <a:endParaRPr lang="en-US" dirty="0"/>
          </a:p>
          <a:p>
            <a:r>
              <a:rPr lang="en-US" dirty="0"/>
              <a:t>  Used in </a:t>
            </a:r>
            <a:r>
              <a:rPr lang="en-US" b="1" dirty="0"/>
              <a:t>Gaussian (Normal) distributions</a:t>
            </a:r>
            <a:endParaRPr lang="en-US" dirty="0"/>
          </a:p>
          <a:p>
            <a:r>
              <a:rPr lang="en-US" dirty="0"/>
              <a:t>  Core to many ML metrics and loss functions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FE4E0-99C2-4C7B-9FAA-C1CC5463572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7777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FE4E0-99C2-4C7B-9FAA-C1CC5463572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072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241044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91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95147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583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813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994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399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55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059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921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434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332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99581-E6DA-A087-25B7-D388200DD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40" y="2281028"/>
            <a:ext cx="9418320" cy="1940814"/>
          </a:xfr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Spring of Code</a:t>
            </a:r>
            <a:b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Artificial Intelligence</a:t>
            </a:r>
            <a:b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(Machine Learning &amp; Deep Learning)</a:t>
            </a:r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5143E3-D58C-EF6B-7201-CA43E3F6C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6840" y="4690522"/>
            <a:ext cx="4709160" cy="1073671"/>
          </a:xfrm>
        </p:spPr>
        <p:txBody>
          <a:bodyPr>
            <a:norm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Instructor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Asad Ullah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Research Assistant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(DIP Lab)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8220163-3D24-35D9-099A-1EE7AD5D8507}"/>
              </a:ext>
            </a:extLst>
          </p:cNvPr>
          <p:cNvSpPr txBox="1">
            <a:spLocks/>
          </p:cNvSpPr>
          <p:nvPr/>
        </p:nvSpPr>
        <p:spPr>
          <a:xfrm>
            <a:off x="6096000" y="4690522"/>
            <a:ext cx="4709160" cy="1073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Duration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03 Months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(Feb – April)</a:t>
            </a:r>
          </a:p>
        </p:txBody>
      </p:sp>
      <p:pic>
        <p:nvPicPr>
          <p:cNvPr id="9" name="Picture 8" descr="A logo with a sun and a laurel wreath&#10;&#10;AI-generated content may be incorrect.">
            <a:extLst>
              <a:ext uri="{FF2B5EF4-FFF2-40B4-BE49-F238E27FC236}">
                <a16:creationId xmlns:a16="http://schemas.microsoft.com/office/drawing/2014/main" id="{3ADBB9F1-F1A4-490F-36F0-0633244FD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090" y="72457"/>
            <a:ext cx="1543820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019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54CCF-B8FC-00AC-994C-65096C56E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878" y="459815"/>
            <a:ext cx="6931922" cy="1675623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Day 04 – Descriptive Statistics</a:t>
            </a:r>
            <a:b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3000" b="1" dirty="0">
                <a:latin typeface="Segoe UI" panose="020B0502040204020203" pitchFamily="34" charset="0"/>
                <a:cs typeface="Segoe UI" panose="020B0502040204020203" pitchFamily="34" charset="0"/>
              </a:rPr>
              <a:t>(Measure of Dispersion and Position)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AA044-F283-AA13-92C2-38B0E3D12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1878" y="2493649"/>
            <a:ext cx="6798539" cy="42805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Objectives:</a:t>
            </a:r>
          </a:p>
          <a:p>
            <a:pPr marL="346075" indent="-346075">
              <a:buFont typeface="Wingdings" panose="05000000000000000000" pitchFamily="2" charset="2"/>
              <a:buChar char="v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What is Dispersion or Variability</a:t>
            </a:r>
          </a:p>
          <a:p>
            <a:pPr marL="346075" indent="-346075">
              <a:buFont typeface="Wingdings" panose="05000000000000000000" pitchFamily="2" charset="2"/>
              <a:buChar char="v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Measures of Dispersion</a:t>
            </a:r>
          </a:p>
          <a:p>
            <a:pPr marL="346075" indent="-346075">
              <a:buFont typeface="Wingdings" panose="05000000000000000000" pitchFamily="2" charset="2"/>
              <a:buChar char="v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Measures of Position</a:t>
            </a:r>
          </a:p>
        </p:txBody>
      </p:sp>
      <p:pic>
        <p:nvPicPr>
          <p:cNvPr id="1026" name="Picture 2" descr="Statistics doodles and equations math equation formula background | Premium  Vector">
            <a:extLst>
              <a:ext uri="{FF2B5EF4-FFF2-40B4-BE49-F238E27FC236}">
                <a16:creationId xmlns:a16="http://schemas.microsoft.com/office/drawing/2014/main" id="{8AD579EA-4F95-F5F8-18D1-98448634C731}"/>
              </a:ext>
            </a:extLst>
          </p:cNvPr>
          <p:cNvPicPr>
            <a:picLocks noChangeArrowheads="1"/>
          </p:cNvPicPr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353" r="33043" b="10605"/>
          <a:stretch>
            <a:fillRect/>
          </a:stretch>
        </p:blipFill>
        <p:spPr bwMode="auto">
          <a:xfrm>
            <a:off x="0" y="0"/>
            <a:ext cx="419649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2069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77433-8FAC-33E4-2818-781F081C5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921" y="384287"/>
            <a:ext cx="10608480" cy="745177"/>
          </a:xfrm>
        </p:spPr>
        <p:txBody>
          <a:bodyPr anchor="b">
            <a:norm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Dispersion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CE3E238-458D-B89A-93EC-523E9CC38528}"/>
              </a:ext>
            </a:extLst>
          </p:cNvPr>
          <p:cNvSpPr txBox="1">
            <a:spLocks/>
          </p:cNvSpPr>
          <p:nvPr/>
        </p:nvSpPr>
        <p:spPr>
          <a:xfrm>
            <a:off x="389921" y="1359647"/>
            <a:ext cx="10608480" cy="7451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Dispersion is the spread or variability of the data points from the mean value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2" descr="Measures of Dispersion | Types, Formula and Examples - GeeksforGeeks">
            <a:extLst>
              <a:ext uri="{FF2B5EF4-FFF2-40B4-BE49-F238E27FC236}">
                <a16:creationId xmlns:a16="http://schemas.microsoft.com/office/drawing/2014/main" id="{CA0464A5-4F7C-AFE2-77F2-38FDC1450B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3369"/>
          <a:stretch>
            <a:fillRect/>
          </a:stretch>
        </p:blipFill>
        <p:spPr bwMode="auto">
          <a:xfrm>
            <a:off x="2750936" y="2414725"/>
            <a:ext cx="5886450" cy="3737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7155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64BF4-05CE-EFC0-9682-301DA818F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Measure of Dispersion in Statistics">
            <a:extLst>
              <a:ext uri="{FF2B5EF4-FFF2-40B4-BE49-F238E27FC236}">
                <a16:creationId xmlns:a16="http://schemas.microsoft.com/office/drawing/2014/main" id="{06CB5A0E-7978-7DC5-D3DE-B793C5057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0364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50D3E-66D9-EC9C-53F1-2250B314A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What Is a Range in Math? Your Middle-School-Friendly Guide">
            <a:extLst>
              <a:ext uri="{FF2B5EF4-FFF2-40B4-BE49-F238E27FC236}">
                <a16:creationId xmlns:a16="http://schemas.microsoft.com/office/drawing/2014/main" id="{868B8903-6905-FDFC-A198-5D2C0440E0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110" r="13288" b="7112"/>
          <a:stretch>
            <a:fillRect/>
          </a:stretch>
        </p:blipFill>
        <p:spPr bwMode="auto">
          <a:xfrm>
            <a:off x="1655561" y="708424"/>
            <a:ext cx="8077200" cy="5167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CA03591-EDF7-5A61-6D7D-FED813C9A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921" y="384287"/>
            <a:ext cx="10608480" cy="745177"/>
          </a:xfrm>
        </p:spPr>
        <p:txBody>
          <a:bodyPr anchor="b">
            <a:norm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Range</a:t>
            </a:r>
          </a:p>
        </p:txBody>
      </p:sp>
    </p:spTree>
    <p:extLst>
      <p:ext uri="{BB962C8B-B14F-4D97-AF65-F5344CB8AC3E}">
        <p14:creationId xmlns:p14="http://schemas.microsoft.com/office/powerpoint/2010/main" val="2102281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6DBC3-2D04-F756-07FB-5D022BF95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B6D37D4-5F5E-934F-D6AC-D9D80B2C8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470" y="335836"/>
            <a:ext cx="10608480" cy="745177"/>
          </a:xfrm>
        </p:spPr>
        <p:txBody>
          <a:bodyPr anchor="b">
            <a:norm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Variance</a:t>
            </a:r>
          </a:p>
        </p:txBody>
      </p:sp>
      <p:pic>
        <p:nvPicPr>
          <p:cNvPr id="5122" name="Picture 2" descr="What Is Variance in Statistics? Definition, Formula, and Example">
            <a:extLst>
              <a:ext uri="{FF2B5EF4-FFF2-40B4-BE49-F238E27FC236}">
                <a16:creationId xmlns:a16="http://schemas.microsoft.com/office/drawing/2014/main" id="{250757A8-EB99-34E4-BB4C-E8DB81E28B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07"/>
          <a:stretch>
            <a:fillRect/>
          </a:stretch>
        </p:blipFill>
        <p:spPr bwMode="auto">
          <a:xfrm>
            <a:off x="0" y="0"/>
            <a:ext cx="1129284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8589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0AFB2-3667-67B3-AA23-B52CFF21F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DBFD4AE-91F5-FB17-4931-4C3CDF1B8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470" y="335836"/>
            <a:ext cx="10608480" cy="745177"/>
          </a:xfrm>
        </p:spPr>
        <p:txBody>
          <a:bodyPr anchor="b">
            <a:norm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Calculating Variance</a:t>
            </a:r>
          </a:p>
        </p:txBody>
      </p:sp>
      <p:pic>
        <p:nvPicPr>
          <p:cNvPr id="6146" name="Picture 2" descr="Variance and Standard Deviation - GeeksforGeeks">
            <a:extLst>
              <a:ext uri="{FF2B5EF4-FFF2-40B4-BE49-F238E27FC236}">
                <a16:creationId xmlns:a16="http://schemas.microsoft.com/office/drawing/2014/main" id="{02C605CF-5109-EED5-7E63-BA6FAE709C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80" t="54706" r="33145" b="13348"/>
          <a:stretch>
            <a:fillRect/>
          </a:stretch>
        </p:blipFill>
        <p:spPr bwMode="auto">
          <a:xfrm>
            <a:off x="2845721" y="3855634"/>
            <a:ext cx="6333790" cy="1761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Variance: Definition, Formula and Step-by-Step Examples | Indeed.com">
            <a:extLst>
              <a:ext uri="{FF2B5EF4-FFF2-40B4-BE49-F238E27FC236}">
                <a16:creationId xmlns:a16="http://schemas.microsoft.com/office/drawing/2014/main" id="{11DD5855-E7E0-6D1B-2B87-7D2C7AF30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0881" y="1666276"/>
            <a:ext cx="4720264" cy="1918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C99939-8329-618B-E57E-353739C4539D}"/>
              </a:ext>
            </a:extLst>
          </p:cNvPr>
          <p:cNvSpPr txBox="1"/>
          <p:nvPr/>
        </p:nvSpPr>
        <p:spPr>
          <a:xfrm>
            <a:off x="2441362" y="2455252"/>
            <a:ext cx="22700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Variance =</a:t>
            </a:r>
          </a:p>
        </p:txBody>
      </p:sp>
    </p:spTree>
    <p:extLst>
      <p:ext uri="{BB962C8B-B14F-4D97-AF65-F5344CB8AC3E}">
        <p14:creationId xmlns:p14="http://schemas.microsoft.com/office/powerpoint/2010/main" val="4232212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32CF9-2FFC-2E6F-42CF-13362FFE1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0966768-08CC-BF3B-7904-3D10E6085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470" y="335836"/>
            <a:ext cx="10608480" cy="745177"/>
          </a:xfrm>
        </p:spPr>
        <p:txBody>
          <a:bodyPr anchor="b">
            <a:norm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Calculating Variance</a:t>
            </a:r>
          </a:p>
        </p:txBody>
      </p:sp>
      <p:pic>
        <p:nvPicPr>
          <p:cNvPr id="7170" name="Picture 2" descr="Standard Deviation Formula and Uses, vs. Variance">
            <a:extLst>
              <a:ext uri="{FF2B5EF4-FFF2-40B4-BE49-F238E27FC236}">
                <a16:creationId xmlns:a16="http://schemas.microsoft.com/office/drawing/2014/main" id="{DC137478-4FD0-2258-82D7-8A1D76DB60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07"/>
          <a:stretch>
            <a:fillRect/>
          </a:stretch>
        </p:blipFill>
        <p:spPr bwMode="auto">
          <a:xfrm>
            <a:off x="0" y="0"/>
            <a:ext cx="1129284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3661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F0D08-A4B6-121B-A6DF-A6C7A74A4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E21875B-FFC7-C34D-CFB7-3EE1786F7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470" y="335836"/>
            <a:ext cx="10608480" cy="745177"/>
          </a:xfrm>
        </p:spPr>
        <p:txBody>
          <a:bodyPr anchor="b">
            <a:norm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Calculating Standard Deviation</a:t>
            </a:r>
          </a:p>
        </p:txBody>
      </p:sp>
      <p:pic>
        <p:nvPicPr>
          <p:cNvPr id="8194" name="Picture 2" descr="Measure of Dispersion. Dispersion is a way of describing how… | by Abhijit  More | Medium">
            <a:extLst>
              <a:ext uri="{FF2B5EF4-FFF2-40B4-BE49-F238E27FC236}">
                <a16:creationId xmlns:a16="http://schemas.microsoft.com/office/drawing/2014/main" id="{6991B9ED-2DA8-F6FF-CEFA-50A8DCFD54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88" t="40123" r="21912" b="37437"/>
          <a:stretch>
            <a:fillRect/>
          </a:stretch>
        </p:blipFill>
        <p:spPr bwMode="auto">
          <a:xfrm>
            <a:off x="2255520" y="2529840"/>
            <a:ext cx="7680960" cy="1442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453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D4196-A6E5-B7C5-9CAD-95AC73075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T Colleges Introduction to Statistical Computer Packages Lecture 3 Eng ...">
            <a:extLst>
              <a:ext uri="{FF2B5EF4-FFF2-40B4-BE49-F238E27FC236}">
                <a16:creationId xmlns:a16="http://schemas.microsoft.com/office/drawing/2014/main" id="{679F9FFA-683C-DA00-8BCE-FEFBCBDDF4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57" t="12953" r="14928" b="15428"/>
          <a:stretch>
            <a:fillRect/>
          </a:stretch>
        </p:blipFill>
        <p:spPr bwMode="auto">
          <a:xfrm>
            <a:off x="1942011" y="2288612"/>
            <a:ext cx="7715796" cy="4458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3FB18FD-2AC8-6FF6-E6F9-5167C43180A2}"/>
              </a:ext>
            </a:extLst>
          </p:cNvPr>
          <p:cNvSpPr txBox="1">
            <a:spLocks/>
          </p:cNvSpPr>
          <p:nvPr/>
        </p:nvSpPr>
        <p:spPr>
          <a:xfrm>
            <a:off x="389921" y="384287"/>
            <a:ext cx="10608480" cy="7451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Skewness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22DD0F1-28D4-76A7-5905-82CCBED74010}"/>
              </a:ext>
            </a:extLst>
          </p:cNvPr>
          <p:cNvSpPr txBox="1">
            <a:spLocks/>
          </p:cNvSpPr>
          <p:nvPr/>
        </p:nvSpPr>
        <p:spPr>
          <a:xfrm>
            <a:off x="885785" y="1359648"/>
            <a:ext cx="9616752" cy="8523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Skewness is a measure of the asymmetry of the data distribution about its mean. The skewness value can be positive, zero, negative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8834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35025-EEC4-829F-F523-95273A4BA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A6C53-C66B-2353-E5DF-FC8E0C6BE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921" y="384287"/>
            <a:ext cx="10608480" cy="745177"/>
          </a:xfrm>
        </p:spPr>
        <p:txBody>
          <a:bodyPr anchor="b">
            <a:norm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Measures of Position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B651D85-A65C-9E87-95D0-319783C118C4}"/>
              </a:ext>
            </a:extLst>
          </p:cNvPr>
          <p:cNvSpPr txBox="1">
            <a:spLocks/>
          </p:cNvSpPr>
          <p:nvPr/>
        </p:nvSpPr>
        <p:spPr>
          <a:xfrm>
            <a:off x="389921" y="1359647"/>
            <a:ext cx="10608480" cy="74517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Numerical measures that describe the standing or location of an observation relative to the rest of the data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BF566B3-489E-28F6-3874-10A9F02BA0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t="800" b="800"/>
          <a:stretch>
            <a:fillRect/>
          </a:stretch>
        </p:blipFill>
        <p:spPr bwMode="auto">
          <a:xfrm>
            <a:off x="2361459" y="2414725"/>
            <a:ext cx="6649375" cy="3737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7197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B1497-8515-F3CD-C540-08A01F7AD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40664-0E3E-FC29-75AC-BE56F7615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921" y="384287"/>
            <a:ext cx="10608480" cy="745177"/>
          </a:xfrm>
        </p:spPr>
        <p:txBody>
          <a:bodyPr anchor="b">
            <a:norm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Percentile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8B4E359-A788-137C-FD70-B0DBCFA92A36}"/>
              </a:ext>
            </a:extLst>
          </p:cNvPr>
          <p:cNvSpPr txBox="1">
            <a:spLocks/>
          </p:cNvSpPr>
          <p:nvPr/>
        </p:nvSpPr>
        <p:spPr>
          <a:xfrm>
            <a:off x="389921" y="1359647"/>
            <a:ext cx="10608480" cy="96630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Percentiles indicate the value below which a given percentage of observations in a dataset fall. For example, the 25th percentile (P</a:t>
            </a:r>
            <a:r>
              <a:rPr lang="en-US" sz="2400" baseline="-25000" dirty="0">
                <a:latin typeface="Segoe UI" panose="020B0502040204020203" pitchFamily="34" charset="0"/>
                <a:cs typeface="Segoe UI" panose="020B0502040204020203" pitchFamily="34" charset="0"/>
              </a:rPr>
              <a:t>25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) is the value below which 25% of the data points lie.</a:t>
            </a:r>
          </a:p>
        </p:txBody>
      </p:sp>
      <p:pic>
        <p:nvPicPr>
          <p:cNvPr id="2052" name="Picture 4" descr="Quantiles and Percentiles | Grade 12 Math | Ontario 12 Mathematics of Data  Management (MDM4U) | Mathspace">
            <a:extLst>
              <a:ext uri="{FF2B5EF4-FFF2-40B4-BE49-F238E27FC236}">
                <a16:creationId xmlns:a16="http://schemas.microsoft.com/office/drawing/2014/main" id="{068946B9-B77B-8E72-26AC-F694E1E748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204" y="2512611"/>
            <a:ext cx="8305800" cy="3800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8381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10B71-B383-A5D8-E7B3-86CCCE4A0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F860E44B-009A-CA8D-07D1-3F4578831C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1596" r="3832" b="30395"/>
          <a:stretch>
            <a:fillRect/>
          </a:stretch>
        </p:blipFill>
        <p:spPr bwMode="auto">
          <a:xfrm>
            <a:off x="1306268" y="1607088"/>
            <a:ext cx="9150376" cy="3781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B2F4B6-9BBD-D75F-75CE-FB2B9C2E8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921" y="384287"/>
            <a:ext cx="10608480" cy="745177"/>
          </a:xfrm>
        </p:spPr>
        <p:txBody>
          <a:bodyPr anchor="b">
            <a:norm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Decile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C8CA094-8B49-B9EA-3E02-6A81C305E721}"/>
              </a:ext>
            </a:extLst>
          </p:cNvPr>
          <p:cNvSpPr txBox="1">
            <a:spLocks/>
          </p:cNvSpPr>
          <p:nvPr/>
        </p:nvSpPr>
        <p:spPr>
          <a:xfrm>
            <a:off x="389921" y="1359647"/>
            <a:ext cx="10608480" cy="966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Deciles divide ranked data into 10 equal parts. Each part is called a decile.</a:t>
            </a:r>
          </a:p>
        </p:txBody>
      </p:sp>
    </p:spTree>
    <p:extLst>
      <p:ext uri="{BB962C8B-B14F-4D97-AF65-F5344CB8AC3E}">
        <p14:creationId xmlns:p14="http://schemas.microsoft.com/office/powerpoint/2010/main" val="776523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1B5C3-CC3D-B478-B643-FAA08784A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B543D4A3-1228-8208-7A2B-CD443E99D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10968" b="10968"/>
          <a:stretch/>
        </p:blipFill>
        <p:spPr bwMode="auto">
          <a:xfrm>
            <a:off x="1306268" y="2414956"/>
            <a:ext cx="9150376" cy="3781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E45535-7DAB-D4C7-6E1E-D5072EE6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921" y="384287"/>
            <a:ext cx="10608480" cy="745177"/>
          </a:xfrm>
        </p:spPr>
        <p:txBody>
          <a:bodyPr anchor="b">
            <a:norm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Quartile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3D941FC-5574-4735-67D8-9CC2C056FA7B}"/>
              </a:ext>
            </a:extLst>
          </p:cNvPr>
          <p:cNvSpPr txBox="1">
            <a:spLocks/>
          </p:cNvSpPr>
          <p:nvPr/>
        </p:nvSpPr>
        <p:spPr>
          <a:xfrm>
            <a:off x="389921" y="1359647"/>
            <a:ext cx="10608480" cy="966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Quartiles are values that divide a sorted dataset into four equal parts or quarters, each representing 25% of the data.</a:t>
            </a:r>
          </a:p>
        </p:txBody>
      </p:sp>
    </p:spTree>
    <p:extLst>
      <p:ext uri="{BB962C8B-B14F-4D97-AF65-F5344CB8AC3E}">
        <p14:creationId xmlns:p14="http://schemas.microsoft.com/office/powerpoint/2010/main" val="3461842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720F9-5BD0-DB26-FDE1-79DEDD9A1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45D41CEC-5023-9D49-C5F7-CFA36726B1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t="17135" b="1396"/>
          <a:stretch>
            <a:fillRect/>
          </a:stretch>
        </p:blipFill>
        <p:spPr bwMode="auto">
          <a:xfrm>
            <a:off x="1660124" y="2149051"/>
            <a:ext cx="8442664" cy="4324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C49389-DCE6-44B7-0702-4A3377AFF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921" y="384287"/>
            <a:ext cx="10608480" cy="745177"/>
          </a:xfrm>
        </p:spPr>
        <p:txBody>
          <a:bodyPr anchor="b">
            <a:norm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Interquartile Range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680169E-42D0-EF10-D562-084B0853678D}"/>
              </a:ext>
            </a:extLst>
          </p:cNvPr>
          <p:cNvSpPr txBox="1">
            <a:spLocks/>
          </p:cNvSpPr>
          <p:nvPr/>
        </p:nvSpPr>
        <p:spPr>
          <a:xfrm>
            <a:off x="389921" y="1359647"/>
            <a:ext cx="10608480" cy="966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It is a measure of dispersion of data that represents the spread of the middle 50% of a dataset.</a:t>
            </a:r>
          </a:p>
        </p:txBody>
      </p:sp>
    </p:spTree>
    <p:extLst>
      <p:ext uri="{BB962C8B-B14F-4D97-AF65-F5344CB8AC3E}">
        <p14:creationId xmlns:p14="http://schemas.microsoft.com/office/powerpoint/2010/main" val="14214897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55A5B-09F7-C56E-BECD-1CCC7A0F0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1E72A4A5-9820-E6EE-C422-C108838337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1262" t="2062" b="1658"/>
          <a:stretch>
            <a:fillRect/>
          </a:stretch>
        </p:blipFill>
        <p:spPr bwMode="auto">
          <a:xfrm>
            <a:off x="2848867" y="2422432"/>
            <a:ext cx="5690588" cy="4219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EA5396-EB52-D8BD-2CEF-8AC2BF4FD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921" y="384287"/>
            <a:ext cx="10608480" cy="745177"/>
          </a:xfrm>
        </p:spPr>
        <p:txBody>
          <a:bodyPr anchor="b">
            <a:norm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The Normal Distribution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4FA41C3-86A2-B82E-917D-434F04B1BBB4}"/>
              </a:ext>
            </a:extLst>
          </p:cNvPr>
          <p:cNvSpPr txBox="1">
            <a:spLocks/>
          </p:cNvSpPr>
          <p:nvPr/>
        </p:nvSpPr>
        <p:spPr>
          <a:xfrm>
            <a:off x="389921" y="1129465"/>
            <a:ext cx="10608480" cy="119648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Also know as Gaussian distribution or Bell Curve, is a continuous probability distribution that is symmetrical and bell-shaped, with data points clustering around the mean and decreasing symmetrically on either side.</a:t>
            </a:r>
          </a:p>
        </p:txBody>
      </p:sp>
    </p:spTree>
    <p:extLst>
      <p:ext uri="{BB962C8B-B14F-4D97-AF65-F5344CB8AC3E}">
        <p14:creationId xmlns:p14="http://schemas.microsoft.com/office/powerpoint/2010/main" val="3338859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E2565-851B-D211-00E4-69139A35A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CFA31C7B-B68F-4EBE-C3F6-13B0E9FED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l="5007" r="5007"/>
          <a:stretch/>
        </p:blipFill>
        <p:spPr bwMode="auto">
          <a:xfrm>
            <a:off x="2848867" y="2422432"/>
            <a:ext cx="5690588" cy="4219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A5B7D1-1AAE-F154-DE73-333B05470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921" y="384287"/>
            <a:ext cx="10608480" cy="745177"/>
          </a:xfrm>
        </p:spPr>
        <p:txBody>
          <a:bodyPr anchor="b">
            <a:norm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The 68-95-99.7% Rule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2CAFAE-077D-D737-830D-2FE1C860BAC2}"/>
              </a:ext>
            </a:extLst>
          </p:cNvPr>
          <p:cNvSpPr txBox="1">
            <a:spLocks/>
          </p:cNvSpPr>
          <p:nvPr/>
        </p:nvSpPr>
        <p:spPr>
          <a:xfrm>
            <a:off x="389921" y="1129465"/>
            <a:ext cx="10608480" cy="119648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Approximately 68% of data falls within one standard deviation of the mean, 95% within two standard deviations, and 99.7% within three standard deviations</a:t>
            </a:r>
          </a:p>
        </p:txBody>
      </p:sp>
    </p:spTree>
    <p:extLst>
      <p:ext uri="{BB962C8B-B14F-4D97-AF65-F5344CB8AC3E}">
        <p14:creationId xmlns:p14="http://schemas.microsoft.com/office/powerpoint/2010/main" val="11643335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CBE0C-623E-A7C1-042D-D34EAF321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AFE99-80ED-268B-99AE-3A68CAE09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921" y="384287"/>
            <a:ext cx="10608480" cy="745177"/>
          </a:xfrm>
        </p:spPr>
        <p:txBody>
          <a:bodyPr anchor="b">
            <a:norm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Standard Normal Distribution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821375C-86E4-48EA-33AD-FB4B12F9041A}"/>
              </a:ext>
            </a:extLst>
          </p:cNvPr>
          <p:cNvSpPr txBox="1">
            <a:spLocks/>
          </p:cNvSpPr>
          <p:nvPr/>
        </p:nvSpPr>
        <p:spPr>
          <a:xfrm>
            <a:off x="389921" y="1129465"/>
            <a:ext cx="10608480" cy="119648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It is a specific normal distribution with a mean of 0 and a standard deviation of 1, often used to compare normal distributions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D10837-2B3E-EE49-5897-DDC44BACD6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726"/>
          <a:stretch>
            <a:fillRect/>
          </a:stretch>
        </p:blipFill>
        <p:spPr>
          <a:xfrm>
            <a:off x="1746998" y="2849732"/>
            <a:ext cx="8342898" cy="325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158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30C84-3C2B-2E5C-D775-37027903C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724C7-6A8C-8E30-7775-4D7E9F6C5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921" y="384287"/>
            <a:ext cx="10608480" cy="745177"/>
          </a:xfrm>
        </p:spPr>
        <p:txBody>
          <a:bodyPr anchor="b">
            <a:norm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Standardization (Z-Scores)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DBCB7FD-CB99-ED73-4605-4211E0281352}"/>
              </a:ext>
            </a:extLst>
          </p:cNvPr>
          <p:cNvSpPr txBox="1">
            <a:spLocks/>
          </p:cNvSpPr>
          <p:nvPr/>
        </p:nvSpPr>
        <p:spPr>
          <a:xfrm>
            <a:off x="389921" y="1129465"/>
            <a:ext cx="10608480" cy="119648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The z-score indicates how many standard deviations a measurement is from the mean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EA0CA5-6A8B-98BA-7DFB-2D4CC5F7B0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06093" y="3710866"/>
            <a:ext cx="7824708" cy="3413464"/>
          </a:xfrm>
          <a:prstGeom prst="rect">
            <a:avLst/>
          </a:prstGeom>
        </p:spPr>
      </p:pic>
      <p:pic>
        <p:nvPicPr>
          <p:cNvPr id="10242" name="Picture 2">
            <a:extLst>
              <a:ext uri="{FF2B5EF4-FFF2-40B4-BE49-F238E27FC236}">
                <a16:creationId xmlns:a16="http://schemas.microsoft.com/office/drawing/2014/main" id="{5338E46F-E758-D57C-B043-71F01A6CB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5411" y="2605088"/>
            <a:ext cx="2857500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88642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C4B6D-19B6-2AC2-736A-167EEAE77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B08E6-F98A-4588-CB3A-5C189027B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921" y="384287"/>
            <a:ext cx="10608480" cy="745177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Standard Normal Distribution</a:t>
            </a:r>
            <a:b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(Z-Scores)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CA8E44F-D88E-8AF2-D186-E037BDF76D7A}"/>
              </a:ext>
            </a:extLst>
          </p:cNvPr>
          <p:cNvSpPr txBox="1">
            <a:spLocks/>
          </p:cNvSpPr>
          <p:nvPr/>
        </p:nvSpPr>
        <p:spPr>
          <a:xfrm>
            <a:off x="389921" y="1129465"/>
            <a:ext cx="10608480" cy="119648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The z-score indicates how many standard deviations a measurement is from the mean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9012CE-7167-4006-5CEC-3972165D49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06093" y="2450237"/>
            <a:ext cx="7824708" cy="341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3681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42F6D-5529-BF36-0285-E2DBDB414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0E78A-7DCC-32D5-7B4D-8DAF46B6E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921" y="384287"/>
            <a:ext cx="10608480" cy="745177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Standard Normal Distribution</a:t>
            </a:r>
            <a:b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(Z-Scores)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3236588-8078-E4CC-52CE-8F341F3184C7}"/>
              </a:ext>
            </a:extLst>
          </p:cNvPr>
          <p:cNvSpPr txBox="1">
            <a:spLocks/>
          </p:cNvSpPr>
          <p:nvPr/>
        </p:nvSpPr>
        <p:spPr>
          <a:xfrm>
            <a:off x="389921" y="1129465"/>
            <a:ext cx="10608480" cy="119648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The z-score indicates how many standard deviations a measurement is from the mean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2290" name="Picture 2" descr="z-score and z-standardization">
            <a:extLst>
              <a:ext uri="{FF2B5EF4-FFF2-40B4-BE49-F238E27FC236}">
                <a16:creationId xmlns:a16="http://schemas.microsoft.com/office/drawing/2014/main" id="{7CC59561-7CC2-B55E-AC2A-EFBEE2598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4761" y="2712775"/>
            <a:ext cx="563880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20628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8CB14-78A5-ABB1-1CBD-9F9057E17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B7B650-B587-E69D-11FA-7E0F7B6ED4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  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8B2A9478-5296-32F6-7499-25C86EB35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1672917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2132</TotalTime>
  <Words>481</Words>
  <Application>Microsoft Office PowerPoint</Application>
  <PresentationFormat>Widescreen</PresentationFormat>
  <Paragraphs>52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Aptos</vt:lpstr>
      <vt:lpstr>Arial</vt:lpstr>
      <vt:lpstr>Century Schoolbook</vt:lpstr>
      <vt:lpstr>Segoe UI</vt:lpstr>
      <vt:lpstr>Tahoma</vt:lpstr>
      <vt:lpstr>Wingdings</vt:lpstr>
      <vt:lpstr>Wingdings 2</vt:lpstr>
      <vt:lpstr>View</vt:lpstr>
      <vt:lpstr>Spring of Code Artificial Intelligence (Machine Learning &amp; Deep Learning)</vt:lpstr>
      <vt:lpstr>Day 04 – Descriptive Statistics (Measure of Dispersion and Position)</vt:lpstr>
      <vt:lpstr>Dispersion</vt:lpstr>
      <vt:lpstr>PowerPoint Presentation</vt:lpstr>
      <vt:lpstr>Range</vt:lpstr>
      <vt:lpstr>Variance</vt:lpstr>
      <vt:lpstr>Calculating Variance</vt:lpstr>
      <vt:lpstr>Calculating Variance</vt:lpstr>
      <vt:lpstr>Calculating Standard Deviation</vt:lpstr>
      <vt:lpstr>PowerPoint Presentation</vt:lpstr>
      <vt:lpstr>Measures of Position</vt:lpstr>
      <vt:lpstr>Percentile</vt:lpstr>
      <vt:lpstr>Decile</vt:lpstr>
      <vt:lpstr>Quartile</vt:lpstr>
      <vt:lpstr>Interquartile Range</vt:lpstr>
      <vt:lpstr>The Normal Distribution</vt:lpstr>
      <vt:lpstr>The 68-95-99.7% Rule</vt:lpstr>
      <vt:lpstr>Standard Normal Distribution</vt:lpstr>
      <vt:lpstr>Standardization (Z-Scores)</vt:lpstr>
      <vt:lpstr>Standard Normal Distribution (Z-Scores)</vt:lpstr>
      <vt:lpstr>Standard Normal Distribution (Z-Scores)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Asad Afridi</cp:lastModifiedBy>
  <cp:revision>34</cp:revision>
  <dcterms:created xsi:type="dcterms:W3CDTF">2013-01-27T09:14:16Z</dcterms:created>
  <dcterms:modified xsi:type="dcterms:W3CDTF">2026-03-03T00:15:05Z</dcterms:modified>
  <cp:category/>
</cp:coreProperties>
</file>