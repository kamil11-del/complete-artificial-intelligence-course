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69" r:id="rId2"/>
    <p:sldId id="270" r:id="rId3"/>
    <p:sldId id="306" r:id="rId4"/>
    <p:sldId id="332" r:id="rId5"/>
    <p:sldId id="309" r:id="rId6"/>
    <p:sldId id="334" r:id="rId7"/>
    <p:sldId id="301" r:id="rId8"/>
    <p:sldId id="335" r:id="rId9"/>
    <p:sldId id="336" r:id="rId10"/>
    <p:sldId id="338" r:id="rId11"/>
    <p:sldId id="337" r:id="rId12"/>
    <p:sldId id="339" r:id="rId13"/>
    <p:sldId id="30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76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85" autoAdjust="0"/>
    <p:restoredTop sz="93447" autoAdjust="0"/>
  </p:normalViewPr>
  <p:slideViewPr>
    <p:cSldViewPr snapToGrid="0" snapToObjects="1">
      <p:cViewPr>
        <p:scale>
          <a:sx n="60" d="100"/>
          <a:sy n="60" d="100"/>
        </p:scale>
        <p:origin x="696" y="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ECE86-3A9E-451C-B628-D8723CA8B0D1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FE4E0-99C2-4C7B-9FAA-C1CC54635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6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13258-6E53-4C80-83B5-0E8BFFF081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15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and Pandas are essential for data manipulation </a:t>
            </a:r>
          </a:p>
          <a:p>
            <a:r>
              <a:rPr lang="en-US" dirty="0"/>
              <a:t>Data visualization helps students see patterns and understand data quality</a:t>
            </a:r>
          </a:p>
          <a:p>
            <a:pPr marL="171450" indent="-171450">
              <a:buFontTx/>
              <a:buChar char="-"/>
            </a:pPr>
            <a:r>
              <a:rPr lang="en-US" b="1" dirty="0"/>
              <a:t>Data Manipulation</a:t>
            </a:r>
            <a:r>
              <a:rPr lang="en-US" dirty="0"/>
              <a:t> refers to the process of cleaning, transforming, and restructuring data to make it suitable for analysis.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00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Understand with statistics</a:t>
            </a:r>
            <a:r>
              <a:rPr lang="en-US" dirty="0"/>
              <a:t> - Get basic numerical understanding</a:t>
            </a:r>
          </a:p>
          <a:p>
            <a:r>
              <a:rPr lang="en-US" b="1" dirty="0"/>
              <a:t>Transform last</a:t>
            </a:r>
            <a:r>
              <a:rPr lang="en-US" dirty="0"/>
              <a:t> - Based on what you discovered, decide what transformations are needed</a:t>
            </a:r>
          </a:p>
          <a:p>
            <a:endParaRPr lang="en-US" baseline="0" dirty="0"/>
          </a:p>
          <a:p>
            <a:r>
              <a:rPr lang="en-US" b="1" dirty="0"/>
              <a:t>What EDA looks like for non-tabular data:</a:t>
            </a:r>
          </a:p>
          <a:p>
            <a:r>
              <a:rPr lang="en-US" b="1" dirty="0"/>
              <a:t>🔹 Image Data EDA</a:t>
            </a:r>
          </a:p>
          <a:p>
            <a:r>
              <a:rPr lang="en-US" dirty="0"/>
              <a:t>- Display sample images from different classes</a:t>
            </a:r>
          </a:p>
          <a:p>
            <a:r>
              <a:rPr lang="en-US" dirty="0"/>
              <a:t>- Check image sizes, aspect ratios, and color channels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4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Built on NumPy:</a:t>
            </a:r>
            <a:r>
              <a:rPr lang="en-US" dirty="0"/>
              <a:t> "Pandas doesn't reinvent the wheel. It wraps NumPy arrays and adds two critical things:</a:t>
            </a:r>
          </a:p>
          <a:p>
            <a:r>
              <a:rPr lang="en-US" b="1" dirty="0"/>
              <a:t>Labels</a:t>
            </a:r>
            <a:r>
              <a:rPr lang="en-US" dirty="0"/>
              <a:t> — named rows and columns instead of just integer indices</a:t>
            </a:r>
          </a:p>
          <a:p>
            <a:r>
              <a:rPr lang="en-US" b="1" dirty="0"/>
              <a:t>Built-in tools</a:t>
            </a:r>
            <a:r>
              <a:rPr lang="en-US" dirty="0"/>
              <a:t> — for cleaning, grouping, merging, and analyzing data"</a:t>
            </a:r>
          </a:p>
          <a:p>
            <a:endParaRPr lang="en-US" dirty="0"/>
          </a:p>
          <a:p>
            <a:r>
              <a:rPr lang="en-US" b="1" dirty="0"/>
              <a:t>Two Core Data Structures:</a:t>
            </a:r>
          </a:p>
          <a:p>
            <a:r>
              <a:rPr lang="en-US" b="1" dirty="0"/>
              <a:t>Series</a:t>
            </a:r>
            <a:r>
              <a:rPr lang="en-US" dirty="0"/>
              <a:t> — 1-dimensional labeled array (like one column of a spreadsheet)</a:t>
            </a:r>
          </a:p>
          <a:p>
            <a:r>
              <a:rPr lang="en-US" b="1" dirty="0" err="1"/>
              <a:t>DataFrame</a:t>
            </a:r>
            <a:r>
              <a:rPr lang="en-US" dirty="0"/>
              <a:t> — 2-dimensional labeled table (like a full spreadsheet or SQL table)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99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96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1696E-BA24-15CE-2E3B-B96D34FE7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5DE86-B2D6-F3ED-6286-AF3BDE3E7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4DE07-C3BF-7CFA-3802-0C5DFEABA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48480-E5C8-7B8C-FA69-4FF743FFC7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48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412AB-9319-8D88-BCF4-5FB0CF6B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235B5-F592-FDD5-5FBF-DCBC0D689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94EC25-EC1D-A6B2-00CB-BB78EA971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3C80B-1CC9-B197-514E-9A4EF649B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75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2C224-628F-DAE1-FF1D-2E626AFDC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9DC7F-B367-40DF-2845-2ABDE1D1F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A649DC-0B53-CF58-8A93-6FDC0F0C7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E849C-3277-6CEE-A988-71CB384D55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3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F5371-DEB6-0AC2-DA86-CB1199A0D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44CBD-75FB-5CE3-8D3C-2332EC5E6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BAA2F-C5B3-83CD-8050-586BFDE9B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236A0-B308-23E5-5413-D026C4E052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69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11A0A-E11F-63E9-8499-ACCC477E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24D552-E11C-6521-1494-34403BE95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BE3889-EA80-C921-F9CB-EACFC61E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45F9E-4036-86A0-9295-5E030CF06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4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24104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1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9514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1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9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5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5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2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3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3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microsoft.com/office/2007/relationships/hdphoto" Target="../media/hdphoto4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9581-E6DA-A087-25B7-D388200D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2281028"/>
            <a:ext cx="9418320" cy="1940814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Spring of Code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Intelligence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(Machine Learning &amp; Deep Learning)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143E3-D58C-EF6B-7201-CA43E3F6C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4690522"/>
            <a:ext cx="4709160" cy="1073671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Instructor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Asad Ullah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Assistant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(DIP Lab)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220163-3D24-35D9-099A-1EE7AD5D8507}"/>
              </a:ext>
            </a:extLst>
          </p:cNvPr>
          <p:cNvSpPr txBox="1">
            <a:spLocks/>
          </p:cNvSpPr>
          <p:nvPr/>
        </p:nvSpPr>
        <p:spPr>
          <a:xfrm>
            <a:off x="6096000" y="4690522"/>
            <a:ext cx="4709160" cy="107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Duration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Months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(Feb – April)</a:t>
            </a:r>
          </a:p>
        </p:txBody>
      </p:sp>
      <p:pic>
        <p:nvPicPr>
          <p:cNvPr id="9" name="Picture 8" descr="A logo with a sun and a laurel wreath&#10;&#10;AI-generated content may be incorrect.">
            <a:extLst>
              <a:ext uri="{FF2B5EF4-FFF2-40B4-BE49-F238E27FC236}">
                <a16:creationId xmlns:a16="http://schemas.microsoft.com/office/drawing/2014/main" id="{3ADBB9F1-F1A4-490F-36F0-0633244FD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090" y="72457"/>
            <a:ext cx="154382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1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AD579EA-4F95-F5F8-18D1-98448634C731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/>
          <a:srcRect l="15202" t="-13945" r="15202" b="-13945"/>
          <a:stretch>
            <a:fillRect/>
          </a:stretch>
        </p:blipFill>
        <p:spPr bwMode="auto">
          <a:xfrm>
            <a:off x="0" y="0"/>
            <a:ext cx="41964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76026A-655D-9AC4-0148-BC903871DE96}"/>
              </a:ext>
            </a:extLst>
          </p:cNvPr>
          <p:cNvSpPr/>
          <p:nvPr/>
        </p:nvSpPr>
        <p:spPr>
          <a:xfrm>
            <a:off x="0" y="0"/>
            <a:ext cx="4196497" cy="941033"/>
          </a:xfrm>
          <a:prstGeom prst="rect">
            <a:avLst/>
          </a:prstGeom>
          <a:solidFill>
            <a:srgbClr val="2376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F54CCF-B8FC-00AC-994C-65096C56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878" y="459815"/>
            <a:ext cx="6931922" cy="1675623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Day 02 – Exploratory Data Analysis</a:t>
            </a:r>
            <a:b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(Introduction to Pandas)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A044-F283-AA13-92C2-38B0E3D1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878" y="2493649"/>
            <a:ext cx="6798539" cy="4280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Objectives: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Introduction to Pandas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Series and DataFrame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Operations on DataFrame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Handling Missing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C0A671-7D1E-B14E-0C5B-270F4761D8F6}"/>
              </a:ext>
            </a:extLst>
          </p:cNvPr>
          <p:cNvSpPr/>
          <p:nvPr/>
        </p:nvSpPr>
        <p:spPr>
          <a:xfrm>
            <a:off x="0" y="5916967"/>
            <a:ext cx="4196497" cy="941033"/>
          </a:xfrm>
          <a:prstGeom prst="rect">
            <a:avLst/>
          </a:prstGeom>
          <a:solidFill>
            <a:srgbClr val="2376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06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4277A13-E016-9A82-6896-1C5B532810AD}"/>
              </a:ext>
            </a:extLst>
          </p:cNvPr>
          <p:cNvGrpSpPr/>
          <p:nvPr/>
        </p:nvGrpSpPr>
        <p:grpSpPr>
          <a:xfrm>
            <a:off x="855461" y="2015019"/>
            <a:ext cx="9677401" cy="4750906"/>
            <a:chOff x="571113" y="1320906"/>
            <a:chExt cx="9677401" cy="4750906"/>
          </a:xfrm>
        </p:grpSpPr>
        <p:pic>
          <p:nvPicPr>
            <p:cNvPr id="2050" name="Picture 2" descr="Exploratory Data Analysis: Definition, Significance &amp; Types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387" b="8790"/>
            <a:stretch/>
          </p:blipFill>
          <p:spPr bwMode="auto">
            <a:xfrm>
              <a:off x="571113" y="1320906"/>
              <a:ext cx="9677401" cy="47509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Exploratory Data Analysis: Overview, techniques, tools and ...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53" t="37859" r="9594" b="12654"/>
            <a:stretch/>
          </p:blipFill>
          <p:spPr bwMode="auto">
            <a:xfrm>
              <a:off x="1732887" y="3248846"/>
              <a:ext cx="7093061" cy="27146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B44C058-15C1-5203-0A9A-C78CD24B5F8F}"/>
              </a:ext>
            </a:extLst>
          </p:cNvPr>
          <p:cNvSpPr txBox="1">
            <a:spLocks/>
          </p:cNvSpPr>
          <p:nvPr/>
        </p:nvSpPr>
        <p:spPr>
          <a:xfrm>
            <a:off x="389921" y="384287"/>
            <a:ext cx="10608480" cy="7451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Exploratory Data Analysis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9250A84-A25A-22F6-8ECF-057E6C33F580}"/>
              </a:ext>
            </a:extLst>
          </p:cNvPr>
          <p:cNvSpPr txBox="1">
            <a:spLocks/>
          </p:cNvSpPr>
          <p:nvPr/>
        </p:nvSpPr>
        <p:spPr>
          <a:xfrm>
            <a:off x="389921" y="1127449"/>
            <a:ext cx="10608480" cy="1059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 process of examining datasets to summarize their main characteristics. It is a crucial step in the data analysis workflow to gain a deep understanding of the dataset before modeling.</a:t>
            </a:r>
          </a:p>
        </p:txBody>
      </p:sp>
    </p:spTree>
    <p:extLst>
      <p:ext uri="{BB962C8B-B14F-4D97-AF65-F5344CB8AC3E}">
        <p14:creationId xmlns:p14="http://schemas.microsoft.com/office/powerpoint/2010/main" val="260578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438" y="220102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Key Steps in EDA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506706" y="955714"/>
            <a:ext cx="5956522" cy="5608481"/>
          </a:xfrm>
        </p:spPr>
        <p:txBody>
          <a:bodyPr>
            <a:noAutofit/>
          </a:bodyPr>
          <a:lstStyle/>
          <a:p>
            <a:pPr algn="just">
              <a:spcAft>
                <a:spcPts val="7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Understanding the Data: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Get familiar with the dataset, check number of rows, columns, and data types.</a:t>
            </a:r>
          </a:p>
          <a:p>
            <a:pPr algn="just">
              <a:spcAft>
                <a:spcPts val="7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Data Cleaning: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Handle missing values, duplicates, and inconsistencies.</a:t>
            </a:r>
          </a:p>
          <a:p>
            <a:pPr algn="just">
              <a:spcAft>
                <a:spcPts val="7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Statistical Analysis: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Use basic statistics (mean, median, standard deviation) to summarize each variable.</a:t>
            </a:r>
          </a:p>
          <a:p>
            <a:pPr algn="just">
              <a:spcAft>
                <a:spcPts val="7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Data Visualization: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Use charts to uncover patterns, trends and outliers.</a:t>
            </a:r>
          </a:p>
          <a:p>
            <a:pPr algn="just">
              <a:spcAft>
                <a:spcPts val="700"/>
              </a:spcAft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Data Transformation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(if needed)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Normalize or standardize values, or convert data into a better format for further analysis or modeling.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6965" t="13274" r="6374" b="12065"/>
          <a:stretch/>
        </p:blipFill>
        <p:spPr>
          <a:xfrm>
            <a:off x="6397240" y="1855355"/>
            <a:ext cx="4796384" cy="372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4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77433-8FAC-33E4-2818-781F081C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74" y="93401"/>
            <a:ext cx="4534047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Python Libraries for EDA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CE3E238-458D-B89A-93EC-523E9CC38528}"/>
              </a:ext>
            </a:extLst>
          </p:cNvPr>
          <p:cNvSpPr txBox="1">
            <a:spLocks/>
          </p:cNvSpPr>
          <p:nvPr/>
        </p:nvSpPr>
        <p:spPr>
          <a:xfrm>
            <a:off x="730492" y="1501510"/>
            <a:ext cx="6396172" cy="5241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latin typeface="Consolas" panose="020B0609020204030204" pitchFamily="49" charset="0"/>
                <a:ea typeface="+mn-ea"/>
                <a:cs typeface="Segoe UI" panose="020B0502040204020203" pitchFamily="34" charset="0"/>
              </a:rPr>
              <a:t>NumPy:</a:t>
            </a:r>
            <a:r>
              <a:rPr lang="en-US" sz="240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Essential for numerical operations in Python, it provides support for multi-dimensional arrays, along with mathematical functions on these arrays.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latin typeface="Consolas" panose="020B0609020204030204" pitchFamily="49" charset="0"/>
                <a:ea typeface="+mn-ea"/>
                <a:cs typeface="Segoe UI" panose="020B0502040204020203" pitchFamily="34" charset="0"/>
              </a:rPr>
              <a:t>Pandas:</a:t>
            </a:r>
            <a:r>
              <a:rPr lang="en-US" sz="240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Library for data manipulation and analysis. It makes it easy to clean, transform, and aggregate data.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latin typeface="Consolas" panose="020B0609020204030204" pitchFamily="49" charset="0"/>
                <a:ea typeface="+mn-ea"/>
                <a:cs typeface="Segoe UI" panose="020B0502040204020203" pitchFamily="34" charset="0"/>
              </a:rPr>
              <a:t>Matplotlib:</a:t>
            </a:r>
            <a:r>
              <a:rPr lang="en-US" sz="240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A versatile plotting library used to create static, interactive, and animated visualizations in Python.</a:t>
            </a:r>
          </a:p>
          <a:p>
            <a:pPr marL="342900" indent="-342900" algn="just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latin typeface="Consolas" panose="020B0609020204030204" pitchFamily="49" charset="0"/>
                <a:ea typeface="+mn-ea"/>
                <a:cs typeface="Segoe UI" panose="020B0502040204020203" pitchFamily="34" charset="0"/>
              </a:rPr>
              <a:t>sklearn:</a:t>
            </a:r>
            <a:r>
              <a:rPr lang="en-US" sz="240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Primarily a machine learning library but includes many tools useful for data preprocessing and feature selection, which are key parts of EDA.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1E7B5-BAC4-30FF-0641-862BFE084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923" y="1991510"/>
            <a:ext cx="3362325" cy="1362075"/>
          </a:xfrm>
          <a:prstGeom prst="rect">
            <a:avLst/>
          </a:prstGeom>
        </p:spPr>
      </p:pic>
      <p:pic>
        <p:nvPicPr>
          <p:cNvPr id="1027" name="Picture 3" descr="GitHub - numpy/numpy: The fundamental ...">
            <a:extLst>
              <a:ext uri="{FF2B5EF4-FFF2-40B4-BE49-F238E27FC236}">
                <a16:creationId xmlns:a16="http://schemas.microsoft.com/office/drawing/2014/main" id="{06F78020-7A7F-B5E5-68D2-F6E4B123C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582" y="348498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Matplotlib - Python Library - Studyopedia">
            <a:extLst>
              <a:ext uri="{FF2B5EF4-FFF2-40B4-BE49-F238E27FC236}">
                <a16:creationId xmlns:a16="http://schemas.microsoft.com/office/drawing/2014/main" id="{2A6823F2-88A5-09E7-577E-1896494A7C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6" t="29117" r="9826" b="32087"/>
          <a:stretch>
            <a:fillRect/>
          </a:stretch>
        </p:blipFill>
        <p:spPr bwMode="auto">
          <a:xfrm>
            <a:off x="7749856" y="3660320"/>
            <a:ext cx="3443926" cy="92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scikit-learn - Wikipedia">
            <a:extLst>
              <a:ext uri="{FF2B5EF4-FFF2-40B4-BE49-F238E27FC236}">
                <a16:creationId xmlns:a16="http://schemas.microsoft.com/office/drawing/2014/main" id="{62E5105F-6FC6-EEB6-3E33-3D4A40CC5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490" y="4890883"/>
            <a:ext cx="2842967" cy="153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15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Introduction to Pandas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5" y="930275"/>
            <a:ext cx="5495026" cy="560848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Pandas: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The foundational library for data analysis in Python.</a:t>
            </a:r>
          </a:p>
          <a:p>
            <a:pPr lvl="1" algn="just">
              <a:lnSpc>
                <a:spcPct val="100000"/>
              </a:lnSpc>
              <a:spcBef>
                <a:spcPts val="500"/>
              </a:spcBef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Initial release: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2009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Built on top of NumPy library</a:t>
            </a:r>
            <a:endParaRPr lang="en-US" altLang="en-US" sz="2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 eaLnBrk="0" fontAlgn="base" hangingPunct="0">
              <a:lnSpc>
                <a:spcPct val="100000"/>
              </a:lnSpc>
              <a:spcAft>
                <a:spcPct val="0"/>
              </a:spcAft>
              <a:buClrTx/>
            </a:pP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Core Data Structure</a:t>
            </a:r>
            <a:r>
              <a:rPr lang="en-US" alt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: Series and DataFrame, which are basically NumPy arrays with additional functionalities for data analysis.</a:t>
            </a:r>
          </a:p>
          <a:p>
            <a:pPr marL="0" indent="0" algn="just" eaLnBrk="0" fontAlgn="base" hangingPunct="0">
              <a:lnSpc>
                <a:spcPct val="100000"/>
              </a:lnSpc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Why Pandas?</a:t>
            </a:r>
          </a:p>
          <a:p>
            <a:pPr lvl="1" algn="just" eaLnBrk="0" fontAlgn="base" hangingPunct="0">
              <a:lnSpc>
                <a:spcPct val="100000"/>
              </a:lnSpc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Handles structured data efficiently.</a:t>
            </a:r>
          </a:p>
          <a:p>
            <a:pPr lvl="1" algn="just" eaLnBrk="0" fontAlgn="base" hangingPunct="0">
              <a:lnSpc>
                <a:spcPct val="100000"/>
              </a:lnSpc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Simplifies tasks like data cleaning, transformation, and visualization.</a:t>
            </a:r>
          </a:p>
          <a:p>
            <a:pPr lvl="1" algn="just" eaLnBrk="0" fontAlgn="base" hangingPunct="0">
              <a:lnSpc>
                <a:spcPct val="100000"/>
              </a:lnSpc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Offers powerful tools for working with tabular and time-series data.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C4848A6B-A9B8-A2B8-5C2A-FE1C89729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6942938" y="424676"/>
            <a:ext cx="3190875" cy="128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rcRect l="3520" t="2952" r="3721" b="2636"/>
          <a:stretch>
            <a:fillRect/>
          </a:stretch>
        </p:blipFill>
        <p:spPr>
          <a:xfrm>
            <a:off x="6221979" y="1931834"/>
            <a:ext cx="5070861" cy="2994332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1F56E26-E19E-006A-03BE-ADFFC66816B4}"/>
              </a:ext>
            </a:extLst>
          </p:cNvPr>
          <p:cNvSpPr/>
          <p:nvPr/>
        </p:nvSpPr>
        <p:spPr>
          <a:xfrm>
            <a:off x="6942938" y="5280803"/>
            <a:ext cx="4034384" cy="863117"/>
          </a:xfrm>
          <a:prstGeom prst="roundRect">
            <a:avLst>
              <a:gd name="adj" fmla="val 5641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nsolas" panose="020B0609020204030204" pitchFamily="49" charset="0"/>
              </a:rPr>
              <a:t>import pandas as </a:t>
            </a:r>
            <a:r>
              <a:rPr lang="en-US" sz="2000" dirty="0" err="1">
                <a:latin typeface="Consolas" panose="020B0609020204030204" pitchFamily="49" charset="0"/>
              </a:rPr>
              <a:t>pd</a:t>
            </a:r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print(</a:t>
            </a:r>
            <a:r>
              <a:rPr lang="en-US" sz="2000" dirty="0" err="1">
                <a:latin typeface="Consolas" panose="020B0609020204030204" pitchFamily="49" charset="0"/>
              </a:rPr>
              <a:t>pd</a:t>
            </a:r>
            <a:r>
              <a:rPr lang="en-US" sz="2000" dirty="0">
                <a:latin typeface="Consolas" panose="020B0609020204030204" pitchFamily="49" charset="0"/>
              </a:rPr>
              <a:t>.__version__)</a:t>
            </a:r>
          </a:p>
        </p:txBody>
      </p:sp>
    </p:spTree>
    <p:extLst>
      <p:ext uri="{BB962C8B-B14F-4D97-AF65-F5344CB8AC3E}">
        <p14:creationId xmlns:p14="http://schemas.microsoft.com/office/powerpoint/2010/main" val="290090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A2C3B4A-EB47-0B36-5858-F343CBB9DA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58" t="12091" r="9772" b="32302"/>
          <a:stretch>
            <a:fillRect/>
          </a:stretch>
        </p:blipFill>
        <p:spPr>
          <a:xfrm>
            <a:off x="6740011" y="4250588"/>
            <a:ext cx="4524793" cy="19522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Pandas Data Structures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969338"/>
            <a:ext cx="6205179" cy="570055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Series: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1-dimensional, array-like structure with labeled indices.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Used for storing and manipulating a single column or list of data.</a:t>
            </a:r>
          </a:p>
          <a:p>
            <a:pPr marL="0" lvl="1" indent="0" algn="just"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DataFrame: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2-dimensional tabular structure with rows and columns.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 be created from dictionaries, lists, or NumPy arrays.</a:t>
            </a:r>
          </a:p>
          <a:p>
            <a:pPr marL="0" lvl="1" indent="0" algn="just"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Features: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Supports heterogeneous data types.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Easy data manipulation and aggregation.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Offers methods to filter, group, and transform data efficiently.</a:t>
            </a:r>
          </a:p>
          <a:p>
            <a:pPr lvl="1" algn="just"/>
            <a:endParaRPr lang="en-US" altLang="en-US" sz="2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6961F6-7078-29C4-2564-3FBCD868F2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511" t="29005" r="15840" b="17800"/>
          <a:stretch>
            <a:fillRect/>
          </a:stretch>
        </p:blipFill>
        <p:spPr>
          <a:xfrm>
            <a:off x="7323930" y="956922"/>
            <a:ext cx="3676760" cy="2667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FD169E-6DEE-6E7C-BBEC-8BCE390ECB61}"/>
              </a:ext>
            </a:extLst>
          </p:cNvPr>
          <p:cNvSpPr txBox="1"/>
          <p:nvPr/>
        </p:nvSpPr>
        <p:spPr>
          <a:xfrm>
            <a:off x="7663992" y="569228"/>
            <a:ext cx="2931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Series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D4B10-5457-F487-034C-FA704151EDA7}"/>
              </a:ext>
            </a:extLst>
          </p:cNvPr>
          <p:cNvSpPr txBox="1"/>
          <p:nvPr/>
        </p:nvSpPr>
        <p:spPr>
          <a:xfrm>
            <a:off x="7663992" y="3810111"/>
            <a:ext cx="2931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DataFrame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47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2D8F5-8F13-07DC-6425-53219D6C4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0F1BE-2363-51B6-95DE-1E9B3815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Pandas Series</a:t>
            </a:r>
          </a:p>
        </p:txBody>
      </p:sp>
      <p:pic>
        <p:nvPicPr>
          <p:cNvPr id="1026" name="Picture 2" descr="Pandas Series — Practical Data Science with Python">
            <a:extLst>
              <a:ext uri="{FF2B5EF4-FFF2-40B4-BE49-F238E27FC236}">
                <a16:creationId xmlns:a16="http://schemas.microsoft.com/office/drawing/2014/main" id="{8E5A60C5-5915-885A-4AC9-751940B388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" t="3118" r="5655" b="3698"/>
          <a:stretch>
            <a:fillRect/>
          </a:stretch>
        </p:blipFill>
        <p:spPr bwMode="auto">
          <a:xfrm>
            <a:off x="2410918" y="1212912"/>
            <a:ext cx="7223276" cy="533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083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535B0-A562-4840-07E1-A5C37F7B1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andas Data Structures">
            <a:extLst>
              <a:ext uri="{FF2B5EF4-FFF2-40B4-BE49-F238E27FC236}">
                <a16:creationId xmlns:a16="http://schemas.microsoft.com/office/drawing/2014/main" id="{1D498A33-27C0-BB4A-1143-C2069B509A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3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45" t="1236" r="734" b="894"/>
          <a:stretch>
            <a:fillRect/>
          </a:stretch>
        </p:blipFill>
        <p:spPr bwMode="auto">
          <a:xfrm>
            <a:off x="600973" y="1"/>
            <a:ext cx="9994753" cy="6816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3B7B41-7DD0-FFE2-FB3B-A4C9231C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5" y="181010"/>
            <a:ext cx="3496464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Pandas DataFrame</a:t>
            </a:r>
          </a:p>
        </p:txBody>
      </p:sp>
    </p:spTree>
    <p:extLst>
      <p:ext uri="{BB962C8B-B14F-4D97-AF65-F5344CB8AC3E}">
        <p14:creationId xmlns:p14="http://schemas.microsoft.com/office/powerpoint/2010/main" val="3518832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23C0-14FB-BF5C-B9C7-BA653A05F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andas iloc and loc – quickly select data in DataFrames">
            <a:extLst>
              <a:ext uri="{FF2B5EF4-FFF2-40B4-BE49-F238E27FC236}">
                <a16:creationId xmlns:a16="http://schemas.microsoft.com/office/drawing/2014/main" id="{3515AAE3-A642-CAB4-1ADF-5930EB0E82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4" b="3122"/>
          <a:stretch>
            <a:fillRect/>
          </a:stretch>
        </p:blipFill>
        <p:spPr bwMode="auto">
          <a:xfrm>
            <a:off x="691739" y="1069889"/>
            <a:ext cx="9903988" cy="543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70BF9F-0725-6E83-7653-5FB9ADCED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Indexing and Selection</a:t>
            </a:r>
          </a:p>
        </p:txBody>
      </p:sp>
    </p:spTree>
    <p:extLst>
      <p:ext uri="{BB962C8B-B14F-4D97-AF65-F5344CB8AC3E}">
        <p14:creationId xmlns:p14="http://schemas.microsoft.com/office/powerpoint/2010/main" val="364254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D79DA-2AE3-6784-EBF4-06899975C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2025681-E02C-C1D4-F008-5F32CFCD6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20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6689" y="814134"/>
            <a:ext cx="10459462" cy="522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38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F2079-8846-00F7-9B23-C0775A3B3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23C2-2370-7494-2817-0117B72C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Handling Missing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FB9D7E-EFA2-34B3-BF48-2809D910D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09" y="1003710"/>
            <a:ext cx="10516511" cy="508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81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B14-78A5-ABB1-1CBD-9F9057E1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B650-B587-E69D-11FA-7E0F7B6E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B2A9478-5296-32F6-7499-25C86EB35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67291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2351</TotalTime>
  <Words>639</Words>
  <Application>Microsoft Office PowerPoint</Application>
  <PresentationFormat>Widescreen</PresentationFormat>
  <Paragraphs>79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Arial</vt:lpstr>
      <vt:lpstr>Century Schoolbook</vt:lpstr>
      <vt:lpstr>Consolas</vt:lpstr>
      <vt:lpstr>Segoe UI</vt:lpstr>
      <vt:lpstr>Tahoma</vt:lpstr>
      <vt:lpstr>Wingdings</vt:lpstr>
      <vt:lpstr>Wingdings 2</vt:lpstr>
      <vt:lpstr>View</vt:lpstr>
      <vt:lpstr>Spring of Code Artificial Intelligence (Machine Learning &amp; Deep Learning)</vt:lpstr>
      <vt:lpstr>Day 02 – Exploratory Data Analysis (Introduction to Pandas)</vt:lpstr>
      <vt:lpstr>PowerPoint Presentation</vt:lpstr>
      <vt:lpstr>Key Steps in EDA</vt:lpstr>
      <vt:lpstr>Python Libraries for EDA</vt:lpstr>
      <vt:lpstr>Introduction to Pandas</vt:lpstr>
      <vt:lpstr>Pandas Data Structures</vt:lpstr>
      <vt:lpstr>Pandas Series</vt:lpstr>
      <vt:lpstr>Pandas DataFrame</vt:lpstr>
      <vt:lpstr>Indexing and Selection</vt:lpstr>
      <vt:lpstr>PowerPoint Presentation</vt:lpstr>
      <vt:lpstr>Handling Missing Values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Asad Afridi</cp:lastModifiedBy>
  <cp:revision>47</cp:revision>
  <dcterms:created xsi:type="dcterms:W3CDTF">2013-01-27T09:14:16Z</dcterms:created>
  <dcterms:modified xsi:type="dcterms:W3CDTF">2026-03-11T00:33:40Z</dcterms:modified>
  <cp:category/>
</cp:coreProperties>
</file>