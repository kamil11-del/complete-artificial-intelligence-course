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69" r:id="rId2"/>
    <p:sldId id="270" r:id="rId3"/>
    <p:sldId id="306" r:id="rId4"/>
    <p:sldId id="331" r:id="rId5"/>
    <p:sldId id="332" r:id="rId6"/>
    <p:sldId id="309" r:id="rId7"/>
    <p:sldId id="334" r:id="rId8"/>
    <p:sldId id="301" r:id="rId9"/>
    <p:sldId id="30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76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85" autoAdjust="0"/>
    <p:restoredTop sz="95165" autoAdjust="0"/>
  </p:normalViewPr>
  <p:slideViewPr>
    <p:cSldViewPr snapToGrid="0" snapToObjects="1">
      <p:cViewPr varScale="1">
        <p:scale>
          <a:sx n="63" d="100"/>
          <a:sy n="63" d="100"/>
        </p:scale>
        <p:origin x="588" y="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ECE86-3A9E-451C-B628-D8723CA8B0D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FE4E0-99C2-4C7B-9FAA-C1CC54635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6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13258-6E53-4C80-83B5-0E8BFFF081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15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and Pandas are essential for data manipulation </a:t>
            </a:r>
          </a:p>
          <a:p>
            <a:r>
              <a:rPr lang="en-US" dirty="0"/>
              <a:t>Data visualization helps students see patterns and understand data quality</a:t>
            </a:r>
          </a:p>
          <a:p>
            <a:pPr marL="171450" indent="-171450">
              <a:buFontTx/>
              <a:buChar char="-"/>
            </a:pPr>
            <a:r>
              <a:rPr lang="en-US" b="1" dirty="0"/>
              <a:t>Data Manipulation</a:t>
            </a:r>
            <a:r>
              <a:rPr lang="en-US" dirty="0"/>
              <a:t> refers to the process of cleaning, transforming, and restructuring data to make it suitable for analysis.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00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baseline="0" dirty="0" err="1"/>
              <a:t>Anamoly</a:t>
            </a:r>
            <a:r>
              <a:rPr lang="en-US" b="1" baseline="0" dirty="0"/>
              <a:t>: </a:t>
            </a:r>
            <a:r>
              <a:rPr lang="en-US" baseline="0" dirty="0"/>
              <a:t>something different, abnormal</a:t>
            </a:r>
          </a:p>
          <a:p>
            <a:r>
              <a:rPr lang="en-US" b="1" baseline="0" dirty="0"/>
              <a:t>Outlier: </a:t>
            </a:r>
            <a:r>
              <a:rPr lang="en-US" dirty="0"/>
              <a:t>A data point that lies </a:t>
            </a:r>
            <a:r>
              <a:rPr lang="en-US" b="1" dirty="0"/>
              <a:t>far from the other values</a:t>
            </a:r>
            <a:r>
              <a:rPr lang="en-US" dirty="0"/>
              <a:t> in the dataset.</a:t>
            </a:r>
            <a:endParaRPr lang="en-US" baseline="0" dirty="0"/>
          </a:p>
          <a:p>
            <a:pPr marL="171450" indent="-171450">
              <a:buFontTx/>
              <a:buChar char="-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describes the relationship between variables.</a:t>
            </a:r>
          </a:p>
          <a:p>
            <a:pPr marL="171450" indent="-171450">
              <a:buFontTx/>
              <a:buChar char="-"/>
            </a:pPr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dirty="0"/>
              <a:t>This means using EDA to </a:t>
            </a:r>
            <a:r>
              <a:rPr lang="en-US" b="1" dirty="0"/>
              <a:t>generate initial ideas or assumptions</a:t>
            </a:r>
            <a:r>
              <a:rPr lang="en-US" dirty="0"/>
              <a:t> about your data.</a:t>
            </a:r>
          </a:p>
          <a:p>
            <a:pPr marL="171450" indent="-171450">
              <a:buFontTx/>
              <a:buChar char="-"/>
            </a:pPr>
            <a:r>
              <a:rPr lang="en-US" dirty="0"/>
              <a:t>Sales are positively correlated with temperature.</a:t>
            </a:r>
            <a:endParaRPr lang="en-US" baseline="0" dirty="0"/>
          </a:p>
          <a:p>
            <a:pPr marL="0" indent="0">
              <a:buFontTx/>
              <a:buNone/>
            </a:pPr>
            <a:endParaRPr lang="en-US" dirty="0"/>
          </a:p>
          <a:p>
            <a:r>
              <a:rPr lang="en-US" b="1" dirty="0"/>
              <a:t>Data-driven</a:t>
            </a:r>
            <a:r>
              <a:rPr lang="en-US" dirty="0"/>
              <a:t> means making decisions based on </a:t>
            </a:r>
            <a:r>
              <a:rPr lang="en-US" b="1" dirty="0"/>
              <a:t>actual data and analysis</a:t>
            </a:r>
            <a:r>
              <a:rPr lang="en-US" dirty="0"/>
              <a:t>, not intuition or guesswork.</a:t>
            </a:r>
          </a:p>
          <a:p>
            <a:r>
              <a:rPr lang="en-US" b="1" dirty="0"/>
              <a:t>✅ Examples: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A business uses customer purchase data to decide which products to promote.</a:t>
            </a:r>
          </a:p>
          <a:p>
            <a:pPr marL="171450" indent="-171450">
              <a:buFontTx/>
              <a:buChar char="-"/>
            </a:pPr>
            <a:r>
              <a:rPr lang="en-US" dirty="0"/>
              <a:t>A hospital analyzes patient data to identify high-risk groups for certain diseases.</a:t>
            </a:r>
          </a:p>
          <a:p>
            <a:pPr marL="171450" indent="-171450">
              <a:buFontTx/>
              <a:buChar char="-"/>
            </a:pPr>
            <a:r>
              <a:rPr lang="en-US" dirty="0"/>
              <a:t>An e-commerce platform personalizes recommendations based on browsing history.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13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Understand with statistics</a:t>
            </a:r>
            <a:r>
              <a:rPr lang="en-US" dirty="0"/>
              <a:t> - Get basic numerical understanding</a:t>
            </a:r>
          </a:p>
          <a:p>
            <a:r>
              <a:rPr lang="en-US" b="1" dirty="0"/>
              <a:t>Transform last</a:t>
            </a:r>
            <a:r>
              <a:rPr lang="en-US" dirty="0"/>
              <a:t> - Based on what you discovered, decide what transformations are needed</a:t>
            </a:r>
          </a:p>
          <a:p>
            <a:endParaRPr lang="en-US" baseline="0" dirty="0"/>
          </a:p>
          <a:p>
            <a:r>
              <a:rPr lang="en-US" b="1" dirty="0"/>
              <a:t>What EDA looks like for non-tabular data:</a:t>
            </a:r>
          </a:p>
          <a:p>
            <a:r>
              <a:rPr lang="en-US" b="1" dirty="0"/>
              <a:t>🔹 Image Data EDA</a:t>
            </a:r>
          </a:p>
          <a:p>
            <a:r>
              <a:rPr lang="en-US" dirty="0"/>
              <a:t>- Display sample images from different classes</a:t>
            </a:r>
          </a:p>
          <a:p>
            <a:r>
              <a:rPr lang="en-US" dirty="0"/>
              <a:t>- Check image sizes, aspect ratios, and color channels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4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99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96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24104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1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514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1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9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5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5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2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3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3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9581-E6DA-A087-25B7-D388200D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2281028"/>
            <a:ext cx="9418320" cy="1940814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Spring of Code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Intelligence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(Machine Learning &amp; Deep Learning)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143E3-D58C-EF6B-7201-CA43E3F6C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4690522"/>
            <a:ext cx="4709160" cy="1073671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Instructor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Asad Ullah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Assistant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(DIP Lab)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220163-3D24-35D9-099A-1EE7AD5D8507}"/>
              </a:ext>
            </a:extLst>
          </p:cNvPr>
          <p:cNvSpPr txBox="1">
            <a:spLocks/>
          </p:cNvSpPr>
          <p:nvPr/>
        </p:nvSpPr>
        <p:spPr>
          <a:xfrm>
            <a:off x="6096000" y="4690522"/>
            <a:ext cx="4709160" cy="107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Duration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Months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(Feb – April)</a:t>
            </a:r>
          </a:p>
        </p:txBody>
      </p:sp>
      <p:pic>
        <p:nvPicPr>
          <p:cNvPr id="9" name="Picture 8" descr="A logo with a sun and a laurel wreath&#10;&#10;AI-generated content may be incorrect.">
            <a:extLst>
              <a:ext uri="{FF2B5EF4-FFF2-40B4-BE49-F238E27FC236}">
                <a16:creationId xmlns:a16="http://schemas.microsoft.com/office/drawing/2014/main" id="{3ADBB9F1-F1A4-490F-36F0-0633244FD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090" y="72457"/>
            <a:ext cx="154382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1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AD579EA-4F95-F5F8-18D1-98448634C731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/>
          <a:srcRect l="15202" t="-13945" r="15202" b="-13945"/>
          <a:stretch>
            <a:fillRect/>
          </a:stretch>
        </p:blipFill>
        <p:spPr bwMode="auto">
          <a:xfrm>
            <a:off x="0" y="0"/>
            <a:ext cx="41964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76026A-655D-9AC4-0148-BC903871DE96}"/>
              </a:ext>
            </a:extLst>
          </p:cNvPr>
          <p:cNvSpPr/>
          <p:nvPr/>
        </p:nvSpPr>
        <p:spPr>
          <a:xfrm>
            <a:off x="0" y="0"/>
            <a:ext cx="4196497" cy="941033"/>
          </a:xfrm>
          <a:prstGeom prst="rect">
            <a:avLst/>
          </a:prstGeom>
          <a:solidFill>
            <a:srgbClr val="2376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F54CCF-B8FC-00AC-994C-65096C56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878" y="459815"/>
            <a:ext cx="6931922" cy="1675623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Day 01 – Exploratory Data Analysis</a:t>
            </a:r>
            <a:b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(Introduction to NumPy)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A044-F283-AA13-92C2-38B0E3D1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878" y="2493649"/>
            <a:ext cx="6798539" cy="4280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Objectives: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What is Exploratory Data Analysis?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Introduction to NumPy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NumPy Arrays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C0A671-7D1E-B14E-0C5B-270F4761D8F6}"/>
              </a:ext>
            </a:extLst>
          </p:cNvPr>
          <p:cNvSpPr/>
          <p:nvPr/>
        </p:nvSpPr>
        <p:spPr>
          <a:xfrm>
            <a:off x="0" y="5916967"/>
            <a:ext cx="4196497" cy="941033"/>
          </a:xfrm>
          <a:prstGeom prst="rect">
            <a:avLst/>
          </a:prstGeom>
          <a:solidFill>
            <a:srgbClr val="2376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06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3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277A13-E016-9A82-6896-1C5B532810AD}"/>
              </a:ext>
            </a:extLst>
          </p:cNvPr>
          <p:cNvGrpSpPr/>
          <p:nvPr/>
        </p:nvGrpSpPr>
        <p:grpSpPr>
          <a:xfrm>
            <a:off x="855461" y="2015019"/>
            <a:ext cx="9677401" cy="4750906"/>
            <a:chOff x="571113" y="1320906"/>
            <a:chExt cx="9677401" cy="4750906"/>
          </a:xfrm>
        </p:grpSpPr>
        <p:pic>
          <p:nvPicPr>
            <p:cNvPr id="2050" name="Picture 2" descr="Exploratory Data Analysis: Definition, Significance &amp; Types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387" b="8790"/>
            <a:stretch/>
          </p:blipFill>
          <p:spPr bwMode="auto">
            <a:xfrm>
              <a:off x="571113" y="1320906"/>
              <a:ext cx="9677401" cy="47509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Exploratory Data Analysis: Overview, techniques, tools and ...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53" t="37859" r="9594" b="12654"/>
            <a:stretch/>
          </p:blipFill>
          <p:spPr bwMode="auto">
            <a:xfrm>
              <a:off x="1732887" y="3248846"/>
              <a:ext cx="7093061" cy="27146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B44C058-15C1-5203-0A9A-C78CD24B5F8F}"/>
              </a:ext>
            </a:extLst>
          </p:cNvPr>
          <p:cNvSpPr txBox="1">
            <a:spLocks/>
          </p:cNvSpPr>
          <p:nvPr/>
        </p:nvSpPr>
        <p:spPr>
          <a:xfrm>
            <a:off x="389921" y="384287"/>
            <a:ext cx="10608480" cy="7451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Exploratory Data Analysis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9250A84-A25A-22F6-8ECF-057E6C33F580}"/>
              </a:ext>
            </a:extLst>
          </p:cNvPr>
          <p:cNvSpPr txBox="1">
            <a:spLocks/>
          </p:cNvSpPr>
          <p:nvPr/>
        </p:nvSpPr>
        <p:spPr>
          <a:xfrm>
            <a:off x="389921" y="1127449"/>
            <a:ext cx="10608480" cy="1059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 process of examining datasets to summarize their main characteristics. It is a crucial step in the data analysis workflow to gain a deep understanding of the dataset before modeling.</a:t>
            </a:r>
          </a:p>
        </p:txBody>
      </p:sp>
    </p:spTree>
    <p:extLst>
      <p:ext uri="{BB962C8B-B14F-4D97-AF65-F5344CB8AC3E}">
        <p14:creationId xmlns:p14="http://schemas.microsoft.com/office/powerpoint/2010/main" val="260578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12727" r="10308"/>
          <a:stretch>
            <a:fillRect/>
          </a:stretch>
        </p:blipFill>
        <p:spPr>
          <a:xfrm>
            <a:off x="6937513" y="1162495"/>
            <a:ext cx="3628704" cy="47147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438" y="220102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Exploratory Data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4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506706" y="1092977"/>
            <a:ext cx="6029561" cy="5672948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process of examining datasets – often with visual methods – to summarize their main characteristics. </a:t>
            </a:r>
          </a:p>
          <a:p>
            <a:pPr algn="just">
              <a:spcBef>
                <a:spcPts val="3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 is a crucial step in the data analysis workflow to gain a deep understanding of the dataset before modeling.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Objectives: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Understand data structure and underlying patterns.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Identify anomalies, missing values, and outliers.</a:t>
            </a:r>
          </a:p>
          <a:p>
            <a:pPr lvl="1" algn="just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Detect trends and relationships between variables.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Form hypothesis to inform further analysis or modeling.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spcBef>
                <a:spcPts val="500"/>
              </a:spcBef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Importance: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Provides insights for data-driven decision making.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Improves predictive model quality by identifying issues early.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Ensures data integrity and readiness for analysis.</a:t>
            </a:r>
          </a:p>
        </p:txBody>
      </p:sp>
    </p:spTree>
    <p:extLst>
      <p:ext uri="{BB962C8B-B14F-4D97-AF65-F5344CB8AC3E}">
        <p14:creationId xmlns:p14="http://schemas.microsoft.com/office/powerpoint/2010/main" val="64530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438" y="220102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Key Steps in EDA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5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506706" y="955714"/>
            <a:ext cx="5956522" cy="5608481"/>
          </a:xfrm>
        </p:spPr>
        <p:txBody>
          <a:bodyPr>
            <a:noAutofit/>
          </a:bodyPr>
          <a:lstStyle/>
          <a:p>
            <a:pPr algn="just">
              <a:spcAft>
                <a:spcPts val="7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Understanding the Data: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Get familiar with the dataset, check number of rows, columns, and data types.</a:t>
            </a:r>
          </a:p>
          <a:p>
            <a:pPr algn="just">
              <a:spcAft>
                <a:spcPts val="7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Data Cleaning: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Handle missing values, duplicates, and inconsistencies.</a:t>
            </a:r>
          </a:p>
          <a:p>
            <a:pPr algn="just">
              <a:spcAft>
                <a:spcPts val="7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Statistical Analysis: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Use basic statistics (mean, median, standard deviation) to summarize each variable.</a:t>
            </a:r>
          </a:p>
          <a:p>
            <a:pPr algn="just">
              <a:spcAft>
                <a:spcPts val="7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Data Visualization: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Use charts to uncover patterns, trends and outliers.</a:t>
            </a:r>
          </a:p>
          <a:p>
            <a:pPr algn="just">
              <a:spcAft>
                <a:spcPts val="7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Data Transformation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(if needed)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Normalize or standardize values, or convert data into a better format for further analysis or modeling.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6965" t="13274" r="6374" b="12065"/>
          <a:stretch/>
        </p:blipFill>
        <p:spPr>
          <a:xfrm>
            <a:off x="6397240" y="1855355"/>
            <a:ext cx="4796384" cy="372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4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77433-8FAC-33E4-2818-781F081C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74" y="93401"/>
            <a:ext cx="4534047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Python Libraries for EDA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CE3E238-458D-B89A-93EC-523E9CC38528}"/>
              </a:ext>
            </a:extLst>
          </p:cNvPr>
          <p:cNvSpPr txBox="1">
            <a:spLocks/>
          </p:cNvSpPr>
          <p:nvPr/>
        </p:nvSpPr>
        <p:spPr>
          <a:xfrm>
            <a:off x="730492" y="1501510"/>
            <a:ext cx="6396172" cy="5241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latin typeface="Consolas" panose="020B0609020204030204" pitchFamily="49" charset="0"/>
                <a:ea typeface="+mn-ea"/>
                <a:cs typeface="Segoe UI" panose="020B0502040204020203" pitchFamily="34" charset="0"/>
              </a:rPr>
              <a:t>NumPy:</a:t>
            </a:r>
            <a:r>
              <a:rPr lang="en-US" sz="240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Essential for numerical operations in Python, it provides support for multi-dimensional arrays, along with mathematical functions on these arrays.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latin typeface="Consolas" panose="020B0609020204030204" pitchFamily="49" charset="0"/>
                <a:ea typeface="+mn-ea"/>
                <a:cs typeface="Segoe UI" panose="020B0502040204020203" pitchFamily="34" charset="0"/>
              </a:rPr>
              <a:t>Pandas:</a:t>
            </a:r>
            <a:r>
              <a:rPr lang="en-US" sz="240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Library for data manipulation and analysis. It makes it easy to clean, transform, and aggregate data.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latin typeface="Consolas" panose="020B0609020204030204" pitchFamily="49" charset="0"/>
                <a:ea typeface="+mn-ea"/>
                <a:cs typeface="Segoe UI" panose="020B0502040204020203" pitchFamily="34" charset="0"/>
              </a:rPr>
              <a:t>Matplotlib:</a:t>
            </a:r>
            <a:r>
              <a:rPr lang="en-US" sz="240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A versatile plotting library used to create static, interactive, and animated visualizations in Python.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latin typeface="Consolas" panose="020B0609020204030204" pitchFamily="49" charset="0"/>
                <a:ea typeface="+mn-ea"/>
                <a:cs typeface="Segoe UI" panose="020B0502040204020203" pitchFamily="34" charset="0"/>
              </a:rPr>
              <a:t>sklearn:</a:t>
            </a:r>
            <a:r>
              <a:rPr lang="en-US" sz="240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Primarily a machine learning library but includes many tools useful for data preprocessing and feature selection, which are key parts of EDA.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1E7B5-BAC4-30FF-0641-862BFE084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923" y="1991510"/>
            <a:ext cx="3362325" cy="1362075"/>
          </a:xfrm>
          <a:prstGeom prst="rect">
            <a:avLst/>
          </a:prstGeom>
        </p:spPr>
      </p:pic>
      <p:pic>
        <p:nvPicPr>
          <p:cNvPr id="1027" name="Picture 3" descr="GitHub - numpy/numpy: The fundamental ...">
            <a:extLst>
              <a:ext uri="{FF2B5EF4-FFF2-40B4-BE49-F238E27FC236}">
                <a16:creationId xmlns:a16="http://schemas.microsoft.com/office/drawing/2014/main" id="{06F78020-7A7F-B5E5-68D2-F6E4B123C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582" y="348498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Matplotlib - Python Library - Studyopedia">
            <a:extLst>
              <a:ext uri="{FF2B5EF4-FFF2-40B4-BE49-F238E27FC236}">
                <a16:creationId xmlns:a16="http://schemas.microsoft.com/office/drawing/2014/main" id="{2A6823F2-88A5-09E7-577E-1896494A7C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6" t="29117" r="9826" b="32087"/>
          <a:stretch>
            <a:fillRect/>
          </a:stretch>
        </p:blipFill>
        <p:spPr bwMode="auto">
          <a:xfrm>
            <a:off x="7749856" y="3660320"/>
            <a:ext cx="3443926" cy="92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scikit-learn - Wikipedia">
            <a:extLst>
              <a:ext uri="{FF2B5EF4-FFF2-40B4-BE49-F238E27FC236}">
                <a16:creationId xmlns:a16="http://schemas.microsoft.com/office/drawing/2014/main" id="{62E5105F-6FC6-EEB6-3E33-3D4A40CC5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490" y="4890883"/>
            <a:ext cx="2842967" cy="153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15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Introduction to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NumPy</a:t>
            </a: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7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930275"/>
            <a:ext cx="5950655" cy="560848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NumPy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“Numerical Python” – The foundation of scientific computing in Python</a:t>
            </a:r>
          </a:p>
          <a:p>
            <a:pPr lvl="1" algn="just">
              <a:spcBef>
                <a:spcPts val="500"/>
              </a:spcBef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Initial release: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As 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Numeric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(1995); as </a:t>
            </a:r>
            <a:r>
              <a:rPr lang="en-US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NumPy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, (2006)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Python library for efficient array operations and mathematical computations</a:t>
            </a:r>
            <a:endParaRPr lang="en-US" altLang="en-US" sz="1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 eaLnBrk="0" fontAlgn="base" hangingPunct="0">
              <a:lnSpc>
                <a:spcPct val="100000"/>
              </a:lnSpc>
              <a:spcAft>
                <a:spcPct val="0"/>
              </a:spcAft>
              <a:buClrTx/>
            </a:pPr>
            <a:r>
              <a:rPr lang="en-US" alt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Core Data Structure</a:t>
            </a:r>
            <a:r>
              <a:rPr lang="en-US" alt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: N-dimensional array (</a:t>
            </a:r>
            <a:r>
              <a:rPr lang="en-US" altLang="en-US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ndarray</a:t>
            </a:r>
            <a:r>
              <a:rPr lang="en-US" alt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algn="just" eaLnBrk="0" fontAlgn="base" hangingPunct="0">
              <a:lnSpc>
                <a:spcPct val="100000"/>
              </a:lnSpc>
              <a:spcAft>
                <a:spcPct val="0"/>
              </a:spcAft>
              <a:buClrTx/>
              <a:buSzTx/>
            </a:pP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Aft>
                <a:spcPct val="0"/>
              </a:spcAft>
              <a:buClrTx/>
              <a:buSzTx/>
              <a:buNone/>
            </a:pPr>
            <a:r>
              <a:rPr lang="en-US" alt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Why </a:t>
            </a:r>
            <a:r>
              <a:rPr lang="en-US" alt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NumPy</a:t>
            </a:r>
            <a:r>
              <a:rPr lang="en-US" alt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  <a:p>
            <a:pPr lvl="1" algn="just" eaLnBrk="0" fontAlgn="base" hangingPunct="0">
              <a:lnSpc>
                <a:spcPct val="100000"/>
              </a:lnSpc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Speed: 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 to 50x faster than Python lists.</a:t>
            </a:r>
          </a:p>
          <a:p>
            <a:pPr lvl="1" algn="just" eaLnBrk="0" fontAlgn="base" hangingPunct="0">
              <a:lnSpc>
                <a:spcPct val="100000"/>
              </a:lnSpc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Memory Efficient: 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Uses less memory than traditional Python data structures.</a:t>
            </a:r>
          </a:p>
          <a:p>
            <a:pPr lvl="1" algn="just" eaLnBrk="0" fontAlgn="base" hangingPunct="0">
              <a:lnSpc>
                <a:spcPct val="100000"/>
              </a:lnSpc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Foundation: 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Backend for Pandas, </a:t>
            </a:r>
            <a:r>
              <a:rPr lang="en-US" altLang="en-US" sz="18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SciPy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Matplotlib, and machine learning libraries</a:t>
            </a:r>
          </a:p>
          <a:p>
            <a:pPr lvl="1" algn="just" eaLnBrk="0" fontAlgn="base" hangingPunct="0">
              <a:lnSpc>
                <a:spcPct val="100000"/>
              </a:lnSpc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Versatile: 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Supports 1D arrays, matrices, tensors, and higher dimensions.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424676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GitHub - numpy/numpy: The fundamental ...">
            <a:extLst>
              <a:ext uri="{FF2B5EF4-FFF2-40B4-BE49-F238E27FC236}">
                <a16:creationId xmlns:a16="http://schemas.microsoft.com/office/drawing/2014/main" id="{C4848A6B-A9B8-A2B8-5C2A-FE1C89729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631" y="91460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884" y="1395381"/>
            <a:ext cx="4064368" cy="2218306"/>
          </a:xfrm>
          <a:prstGeom prst="rect">
            <a:avLst/>
          </a:prstGeom>
        </p:spPr>
      </p:pic>
      <p:pic>
        <p:nvPicPr>
          <p:cNvPr id="8" name="Picture 2" descr="Fig. 1">
            <a:extLst>
              <a:ext uri="{FF2B5EF4-FFF2-40B4-BE49-F238E27FC236}">
                <a16:creationId xmlns:a16="http://schemas.microsoft.com/office/drawing/2014/main" id="{25674F25-65D4-B6E6-E337-6B3DA04E1E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1" t="3476" r="53207" b="70912"/>
          <a:stretch>
            <a:fillRect/>
          </a:stretch>
        </p:blipFill>
        <p:spPr bwMode="auto">
          <a:xfrm>
            <a:off x="6539920" y="4506013"/>
            <a:ext cx="4752920" cy="1282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90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Why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NumPy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Arrays are Faster Than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969338"/>
            <a:ext cx="6205179" cy="5700556"/>
          </a:xfrm>
        </p:spPr>
        <p:txBody>
          <a:bodyPr>
            <a:no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Fixed Data Type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NumPy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arrays have a uniform data type, which eliminates the overhead of managing different data types like in Python lists.</a:t>
            </a:r>
          </a:p>
          <a:p>
            <a:pPr marL="342900" indent="-342900" algn="just">
              <a:spcBef>
                <a:spcPts val="300"/>
              </a:spcBef>
              <a:buFont typeface="+mj-lt"/>
              <a:buAutoNum type="arabicPeriod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Contiguous Memory Storage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Data stored in continuous memory blocks enhances cache efficiency and reduces memory consumption.</a:t>
            </a:r>
          </a:p>
          <a:p>
            <a:pPr marL="342900" indent="-342900" algn="just">
              <a:spcBef>
                <a:spcPts val="300"/>
              </a:spcBef>
              <a:buFont typeface="+mj-lt"/>
              <a:buAutoNum type="arabicPeriod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No Runtime Type Checking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Operations on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NumPy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arrays skip runtime type checks, making computations faster compared to Python lists.</a:t>
            </a:r>
          </a:p>
          <a:p>
            <a:pPr marL="342900" indent="-342900" algn="just">
              <a:spcBef>
                <a:spcPts val="300"/>
              </a:spcBef>
              <a:buFont typeface="+mj-lt"/>
              <a:buAutoNum type="arabicPeriod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Optimized Implementation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Core operations written in C and Fortran for maximum performance.</a:t>
            </a:r>
          </a:p>
          <a:p>
            <a:pPr marL="0" indent="0" algn="just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Differences Between Python Lists and NumPy Arrays: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Bef>
                <a:spcPts val="700"/>
              </a:spcBef>
              <a:buFont typeface="Wingdings" panose="05000000000000000000" pitchFamily="2" charset="2"/>
              <a:buChar char="Ø"/>
            </a:pP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875409"/>
              </p:ext>
            </p:extLst>
          </p:nvPr>
        </p:nvGraphicFramePr>
        <p:xfrm>
          <a:off x="1869389" y="4932382"/>
          <a:ext cx="7457922" cy="1649636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485974">
                  <a:extLst>
                    <a:ext uri="{9D8B030D-6E8A-4147-A177-3AD203B41FA5}">
                      <a16:colId xmlns:a16="http://schemas.microsoft.com/office/drawing/2014/main" val="3441320092"/>
                    </a:ext>
                  </a:extLst>
                </a:gridCol>
                <a:gridCol w="2485974">
                  <a:extLst>
                    <a:ext uri="{9D8B030D-6E8A-4147-A177-3AD203B41FA5}">
                      <a16:colId xmlns:a16="http://schemas.microsoft.com/office/drawing/2014/main" val="469375276"/>
                    </a:ext>
                  </a:extLst>
                </a:gridCol>
                <a:gridCol w="2485974">
                  <a:extLst>
                    <a:ext uri="{9D8B030D-6E8A-4147-A177-3AD203B41FA5}">
                      <a16:colId xmlns:a16="http://schemas.microsoft.com/office/drawing/2014/main" val="572460238"/>
                    </a:ext>
                  </a:extLst>
                </a:gridCol>
              </a:tblGrid>
              <a:tr h="552356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 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NumPy Arrays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254738"/>
                  </a:ext>
                </a:extLst>
              </a:tr>
              <a:tr h="345733"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Mixed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Homogeneous 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035463"/>
                  </a:ext>
                </a:extLst>
              </a:tr>
              <a:tr h="345733">
                <a:tc>
                  <a:txBody>
                    <a:bodyPr/>
                    <a:lstStyle/>
                    <a:p>
                      <a:r>
                        <a:rPr lang="en-US" dirty="0"/>
                        <a:t>Memory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965883"/>
                  </a:ext>
                </a:extLst>
              </a:tr>
              <a:tr h="345733">
                <a:tc>
                  <a:txBody>
                    <a:bodyPr/>
                    <a:lstStyle/>
                    <a:p>
                      <a:r>
                        <a:rPr lang="en-US" dirty="0"/>
                        <a:t>Computation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540061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146" y="1131223"/>
            <a:ext cx="4171452" cy="2756401"/>
          </a:xfrm>
          <a:prstGeom prst="roundRect">
            <a:avLst>
              <a:gd name="adj" fmla="val 4355"/>
            </a:avLst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64347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B14-78A5-ABB1-1CBD-9F9057E1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B650-B587-E69D-11FA-7E0F7B6E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B2A9478-5296-32F6-7499-25C86EB35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67291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1660</TotalTime>
  <Words>861</Words>
  <Application>Microsoft Office PowerPoint</Application>
  <PresentationFormat>Widescreen</PresentationFormat>
  <Paragraphs>108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Arial</vt:lpstr>
      <vt:lpstr>Century Schoolbook</vt:lpstr>
      <vt:lpstr>Consolas</vt:lpstr>
      <vt:lpstr>Segoe UI</vt:lpstr>
      <vt:lpstr>Tahoma</vt:lpstr>
      <vt:lpstr>Wingdings</vt:lpstr>
      <vt:lpstr>Wingdings 2</vt:lpstr>
      <vt:lpstr>View</vt:lpstr>
      <vt:lpstr>Spring of Code Artificial Intelligence (Machine Learning &amp; Deep Learning)</vt:lpstr>
      <vt:lpstr>Day 01 – Exploratory Data Analysis (Introduction to NumPy)</vt:lpstr>
      <vt:lpstr>PowerPoint Presentation</vt:lpstr>
      <vt:lpstr>Exploratory Data Analysis</vt:lpstr>
      <vt:lpstr>Key Steps in EDA</vt:lpstr>
      <vt:lpstr>Python Libraries for EDA</vt:lpstr>
      <vt:lpstr>Introduction to NumPy</vt:lpstr>
      <vt:lpstr>Why NumPy Arrays are Faster Than Lists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Asad Afridi</dc:creator>
  <cp:keywords/>
  <dc:description>generated using python-pptx</dc:description>
  <cp:lastModifiedBy>Asad Afridi</cp:lastModifiedBy>
  <cp:revision>43</cp:revision>
  <dcterms:created xsi:type="dcterms:W3CDTF">2013-01-27T09:14:16Z</dcterms:created>
  <dcterms:modified xsi:type="dcterms:W3CDTF">2026-03-06T00:25:27Z</dcterms:modified>
  <cp:category/>
</cp:coreProperties>
</file>