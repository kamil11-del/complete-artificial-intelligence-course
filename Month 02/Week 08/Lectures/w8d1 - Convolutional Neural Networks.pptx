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69" r:id="rId2"/>
    <p:sldId id="270" r:id="rId3"/>
    <p:sldId id="291" r:id="rId4"/>
    <p:sldId id="292" r:id="rId5"/>
    <p:sldId id="293" r:id="rId6"/>
    <p:sldId id="402" r:id="rId7"/>
    <p:sldId id="317" r:id="rId8"/>
    <p:sldId id="403" r:id="rId9"/>
    <p:sldId id="318" r:id="rId10"/>
    <p:sldId id="375" r:id="rId11"/>
    <p:sldId id="376" r:id="rId12"/>
    <p:sldId id="373" r:id="rId13"/>
    <p:sldId id="380" r:id="rId14"/>
    <p:sldId id="381" r:id="rId15"/>
    <p:sldId id="382" r:id="rId16"/>
    <p:sldId id="38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85" r:id="rId27"/>
    <p:sldId id="387" r:id="rId28"/>
    <p:sldId id="386" r:id="rId29"/>
    <p:sldId id="389" r:id="rId30"/>
    <p:sldId id="304" r:id="rId31"/>
    <p:sldId id="319" r:id="rId32"/>
    <p:sldId id="388" r:id="rId33"/>
    <p:sldId id="390" r:id="rId34"/>
    <p:sldId id="394" r:id="rId35"/>
    <p:sldId id="384" r:id="rId36"/>
    <p:sldId id="396" r:id="rId37"/>
    <p:sldId id="395" r:id="rId38"/>
    <p:sldId id="397" r:id="rId39"/>
    <p:sldId id="398" r:id="rId40"/>
    <p:sldId id="399" r:id="rId41"/>
    <p:sldId id="400" r:id="rId42"/>
    <p:sldId id="30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666"/>
    <a:srgbClr val="C19A9A"/>
    <a:srgbClr val="AEA976"/>
    <a:srgbClr val="AC9165"/>
    <a:srgbClr val="7AB2B2"/>
    <a:srgbClr val="B16AAB"/>
    <a:srgbClr val="66ACB2"/>
    <a:srgbClr val="CCC960"/>
    <a:srgbClr val="E16D6D"/>
    <a:srgbClr val="237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165" autoAdjust="0"/>
  </p:normalViewPr>
  <p:slideViewPr>
    <p:cSldViewPr snapToGrid="0" snapToObjects="1">
      <p:cViewPr varScale="1">
        <p:scale>
          <a:sx n="86" d="100"/>
          <a:sy n="86" d="100"/>
        </p:scale>
        <p:origin x="102" y="4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02774-B543-CC30-5D7D-EF81E850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BF325-F246-F77B-BA52-3A3D5CA99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2D480-1CEB-CDC0-81B3-B34E50A3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09DFB-0668-F381-17AE-8C564936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45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8779-83EA-0418-4CFC-74F066D65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B6DA0-E4D3-9640-B955-05D0BD072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25817-915E-9632-761E-108ECC4FC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6C4C7-84B6-F925-E767-E82396CD0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8B80-FDEC-1535-EDBE-021CD8AB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26763-819B-F7DC-42D1-0903B1464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810EF-6471-D4B1-2ECB-5E8CC12AA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951B1-012A-0F2F-728F-8FA39038A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D251-7FCE-85E7-2720-BC4AEE7D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CDDAD-87C6-6B49-8C78-7FA17EE7A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AF7B7-F80A-7015-8DB8-985CF0C5F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F9796-3C2A-15E9-8252-23DCC5464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51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47A9-87B9-F8F6-9C90-C50E99A6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3AA4A-349C-5C02-D614-2FBCDB9F1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A8AC4-20B5-C019-53A3-DC82AF108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5DFA8-1136-301F-8179-49DEAC185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64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9DBF-6E9D-D534-BCB4-131A856F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DEE6-E238-CB50-B998-BF1495197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96F4C-651A-22EB-FD98-1509A908D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BF452-49BA-15D3-8CF5-344A140FA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45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1570-C99E-4CE9-AF17-F8B1E198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0F903-B956-2578-AD5B-B2B5487F2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6FE66-9EF3-B30F-C13C-290E52B0B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21E43-7F52-E4E7-A961-A84525263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5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ED32-7ADA-E69A-6C7E-DAAA3BC6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24FD8-DD5C-58EB-9F71-FA8B3256F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40323-A264-2299-2FB6-DCF059690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93B0-538F-0D87-2D93-EFC724506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09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3DEC-0935-F6D3-D7C8-F06C3DAE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49131-C930-05DE-3789-8705B133B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FB084-010E-37C1-AD18-B7EC94618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C5978-9893-A5AB-5250-EAB9D96DC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20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DD5A-AFC4-A25F-44E7-08CA9230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44AB-E885-C116-4903-02F038B17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411EF-DE4D-16B6-25CC-FFB360D8C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CE22C-068D-7C08-5628-CD9C2B83B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21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B857-6057-E91D-D1C9-8F906404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EB9D8-8522-B812-0619-FA2DE69E4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DBA21-089A-660B-4E92-51BCB919A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81245-D2C5-895D-C88B-C5B4078838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47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E30D-37D4-C840-28C0-F7602BA1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2613F-8952-6497-719B-46FCC4D8D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379DF-7A6B-BC84-D2A6-50BB009B2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4CDBE-6EE4-AE43-8857-FA2716C34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98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D420-81D9-9E2B-041D-A646AF20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D104D-CFEF-64AC-4737-02DA9E08E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D371A-A36E-6785-D181-43BBA0F2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180A5-CDFA-5A2A-2412-CD484703B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0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4793-FCA9-8D93-5B12-6B3EC568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FCBDD-A0A1-1C5C-CCA0-1A0142FCE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F8E4E-3384-76E6-BF87-A5155143F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384C1-A7E5-1795-9300-AE55BB5AB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4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73A7-CEC0-A168-F481-E71B301B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F39CA-EF86-9BB9-0299-812A3F393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B89A8-86CF-5BB0-E0FB-58102874D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2BA3A-3C8A-2AA9-5346-0ABB95623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61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552F-CE8C-281D-2CB6-40473892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F76E5-CEA4-1B40-95EE-2083F6A1E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B57CD-B069-3DED-7F08-EED09C961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626EA-1604-1835-4B65-C79AA5253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183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16E4-D251-EDBC-DDF2-DD2877D4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86326-F17E-849E-8948-715F7CACF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F3937-5501-24CE-2F24-A807B0638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99FE-16C5-76A8-4EC3-CE6D61F71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066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53EF-A755-AFE1-844E-7EDDF2B8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8F651-93AD-A98A-2BA7-8C70AA5C5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23907-FE9E-3F60-0B8A-C491315F9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9DF90-F281-C287-1BB1-68BEF1E6C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66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926D-409F-7E23-F1DC-9D1BFFAD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6847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0233-0359-7362-B940-156EF1EF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54192-0CF4-1052-654F-B3E9A383F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544DC-98DA-0A1A-70DB-EBC526863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4A890-51DB-9C29-728A-600CD45D3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102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9E4-F0AA-77FA-1301-6F6DAB1C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B7341-C87A-D570-0856-1520B3EE0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56AD7-00B9-FB65-1703-178A92D6C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9488A-B9E0-0830-0415-881415FAF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045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D2C1-9A08-A5F7-1FED-FAF4C3B1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6DA3F-DE0C-E727-F5DB-B080E7512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C1AC4-A9A8-3D00-8672-9978360FC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D334-FA94-DA69-85B8-42C40E4BA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F729-7CD1-7146-3D5B-280A14EB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C8E04-9096-9971-AD40-B03A8D7CF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9FE0B-4755-18F0-61B5-00E7455D6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56286-6DF7-F94A-157F-993385609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716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3379A-BDA7-6990-7AA5-8491D1A9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05A2F-3655-7408-A0A1-31750D252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9DFD5-EDEC-8551-224A-8F4AE1C24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FEF19-D9D0-743D-D241-39CEC40B1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309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A1DB-AB66-DB01-462B-C84795FA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CD21F-656A-83DF-6A60-43A429204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8357A-0A13-3C0E-91C7-0616D76A8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5B670-1706-23EE-7BD4-0D20F8792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45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F782-5586-AF93-178F-6DAA379B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ED812-FB29-C6AC-93C1-36A47F8A8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A4628-A67C-8216-94C4-3D9BCB43B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213A7-BABE-A19D-A198-2E45C45A7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923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AC6C-E666-BB93-220D-3AAEB4E8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10040-8867-ED7E-02D3-C4B4AB5DD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1CC46-C8E4-C58B-5D9B-131EBBA47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87B09-4C48-41FB-8417-800818F71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018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8E0C-AD32-6DF8-7D9E-32A63002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A263D-A803-B2D5-616C-418A560D3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5B4F2-BA3D-6F86-C203-F21282B87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5D97-1D9A-B500-DFC4-AAA883498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4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D51E-C781-A241-7C16-46CBD4CA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F351D-821C-7E35-D8B5-EBB3F8F1F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690C3-CEFC-85E1-B5AE-B90B6F4E9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EFF8-0679-B6FF-8418-443AE327C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74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towards-data-science/what-is-artificial-intelligence-ai-ad5ba87b55d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8328" t="54" r="5778" b="196"/>
          <a:stretch>
            <a:fillRect/>
          </a:stretch>
        </p:blipFill>
        <p:spPr bwMode="auto">
          <a:xfrm>
            <a:off x="0" y="0"/>
            <a:ext cx="4206240" cy="685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01 – Deep Learning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(Convolutional Neural Networks)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Image Features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Pooling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0FAD4-CE80-4917-BFE6-7C8BF4C0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E0B5-C5E5-3DFC-5D26-7EA0C579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A5AAA-E314-F3E4-7F75-62584BA1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What Are Features in Images?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A0A9E6-BFB3-BC6F-1BBE-728A3965D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4" y="1157444"/>
            <a:ext cx="4854946" cy="4875710"/>
          </a:xfrm>
        </p:spPr>
        <p:txBody>
          <a:bodyPr>
            <a:noAutofit/>
          </a:bodyPr>
          <a:lstStyle/>
          <a:p>
            <a:r>
              <a:rPr lang="en-US" sz="2000" dirty="0"/>
              <a:t>What makes this image recognizable?</a:t>
            </a:r>
          </a:p>
          <a:p>
            <a:r>
              <a:rPr lang="en-US" sz="2000" dirty="0"/>
              <a:t>Features are distinctive patterns or characteristics</a:t>
            </a:r>
          </a:p>
          <a:p>
            <a:r>
              <a:rPr lang="en-US" sz="2000" dirty="0"/>
              <a:t>Examples: edges, corners, textures, shapes, colors that help identify objects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1028" name="Picture 4" descr="The Computer Vision Pipeline, Part 4: feature extraction | by Manning  Publications | Medium">
            <a:extLst>
              <a:ext uri="{FF2B5EF4-FFF2-40B4-BE49-F238E27FC236}">
                <a16:creationId xmlns:a16="http://schemas.microsoft.com/office/drawing/2014/main" id="{2E89D149-A1C6-BEC3-CA2E-253663F4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310" y="1621834"/>
            <a:ext cx="5607538" cy="1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puter Vision: Differences Between Low-Level and High-Level Features |  Baeldung on Computer Science">
            <a:extLst>
              <a:ext uri="{FF2B5EF4-FFF2-40B4-BE49-F238E27FC236}">
                <a16:creationId xmlns:a16="http://schemas.microsoft.com/office/drawing/2014/main" id="{967B2AAD-5E07-F56E-40D2-EA2F280C1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754" y="3867150"/>
            <a:ext cx="59626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w-Level Vision – Computer Vision and Robotics Laboratory">
            <a:extLst>
              <a:ext uri="{FF2B5EF4-FFF2-40B4-BE49-F238E27FC236}">
                <a16:creationId xmlns:a16="http://schemas.microsoft.com/office/drawing/2014/main" id="{474895E8-B1A0-4903-CF09-9A4C5198A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0" y="3867150"/>
            <a:ext cx="4456704" cy="206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17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3332-19F0-85C5-3EA9-A9E59E0F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A77F0-F16F-66CD-B4AE-7F130E98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B48EE-DF12-2C28-F099-9670A58F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Why Do We Need Features?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159869-7741-73E7-A6B1-186D0E29B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3" y="1157444"/>
            <a:ext cx="9726933" cy="4875710"/>
          </a:xfrm>
        </p:spPr>
        <p:txBody>
          <a:bodyPr>
            <a:noAutofit/>
          </a:bodyPr>
          <a:lstStyle/>
          <a:p>
            <a:r>
              <a:rPr lang="en-US" sz="2000" dirty="0"/>
              <a:t>Raw pixels are too high-dimensional and not informative </a:t>
            </a:r>
          </a:p>
          <a:p>
            <a:r>
              <a:rPr lang="en-US" sz="2000" dirty="0"/>
              <a:t>Features provide compact, meaningful representations </a:t>
            </a:r>
          </a:p>
          <a:p>
            <a:r>
              <a:rPr lang="en-US" sz="2000" dirty="0"/>
              <a:t>Enable computers to "understand" and compare images</a:t>
            </a:r>
          </a:p>
          <a:p>
            <a:r>
              <a:rPr lang="en-US" sz="2000" dirty="0"/>
              <a:t>Foundation for image classification, object detection, matching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BAA21D-859E-6132-3E46-BFAB15AC01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24" y="3670590"/>
            <a:ext cx="4331368" cy="2362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8D7CE2-CFE9-CA48-002A-E28F33BA76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763" y="3614182"/>
            <a:ext cx="4538194" cy="247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1DA6-0738-E92C-8025-ADDFCAC1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C7A48-CB25-128B-718A-783B3431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F8CBF-E892-1E57-7ED6-A8F7C895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Types of Features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F5859-B817-CA2D-0A57-EB14A8488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3" y="1157444"/>
            <a:ext cx="9255295" cy="1653133"/>
          </a:xfrm>
        </p:spPr>
        <p:txBody>
          <a:bodyPr>
            <a:noAutofit/>
          </a:bodyPr>
          <a:lstStyle/>
          <a:p>
            <a:r>
              <a:rPr lang="en-US" sz="2000" b="1" dirty="0"/>
              <a:t>Low-level features:</a:t>
            </a:r>
            <a:r>
              <a:rPr lang="en-US" sz="2000" dirty="0"/>
              <a:t> edges, corners, blobs</a:t>
            </a:r>
          </a:p>
          <a:p>
            <a:r>
              <a:rPr lang="en-US" sz="2000" b="1" dirty="0"/>
              <a:t>Mid-level features:</a:t>
            </a:r>
            <a:r>
              <a:rPr lang="en-US" sz="2000" dirty="0"/>
              <a:t> textures, patterns</a:t>
            </a:r>
          </a:p>
          <a:p>
            <a:r>
              <a:rPr lang="en-US" sz="2000" b="1" dirty="0"/>
              <a:t>High-level features:</a:t>
            </a:r>
            <a:r>
              <a:rPr lang="en-US" sz="2000" dirty="0"/>
              <a:t> object parts, semantic concepts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990EF6-92AE-EAF3-CD11-761A07A12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31" y="2888228"/>
            <a:ext cx="6314173" cy="344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0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B0F8-9C24-8E91-AA22-BB035549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220AB-E1CA-DD2F-9260-9AF809FB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6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C2A9CB5-43DB-FF72-7732-F14F7D3EEE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562F053-121E-AD5E-89EA-C8FDB4073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04" y="1217817"/>
            <a:ext cx="4693658" cy="239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OG-based SVM for detecting vehicles in a video (part 1) • Najam R. Syed">
            <a:extLst>
              <a:ext uri="{FF2B5EF4-FFF2-40B4-BE49-F238E27FC236}">
                <a16:creationId xmlns:a16="http://schemas.microsoft.com/office/drawing/2014/main" id="{4840231B-4C34-5401-8703-71F972C59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02277"/>
            <a:ext cx="5257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4" descr="A blue car with a white background&#10;&#10;Description automatically generated">
            <a:extLst>
              <a:ext uri="{FF2B5EF4-FFF2-40B4-BE49-F238E27FC236}">
                <a16:creationId xmlns:a16="http://schemas.microsoft.com/office/drawing/2014/main" id="{CB90D38D-8524-EF34-9355-1A46D61CCD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42" y="4484514"/>
            <a:ext cx="2216691" cy="1523706"/>
          </a:xfrm>
          <a:prstGeom prst="rect">
            <a:avLst/>
          </a:prstGeom>
        </p:spPr>
      </p:pic>
      <p:pic>
        <p:nvPicPr>
          <p:cNvPr id="7" name="Picture 6" descr="A car with text overlay&#10;&#10;Description automatically generated">
            <a:extLst>
              <a:ext uri="{FF2B5EF4-FFF2-40B4-BE49-F238E27FC236}">
                <a16:creationId xmlns:a16="http://schemas.microsoft.com/office/drawing/2014/main" id="{121306D9-D9D5-1935-DF4D-B0315FFEC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175" y="4484514"/>
            <a:ext cx="2375730" cy="163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3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3D23-FDB6-3664-4392-801A30CC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5FC50-E436-0A31-B52C-317E9B51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86FE4-2091-F338-301A-41CA0CED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Enter Deep Learning - CNNs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89D984-54CA-B291-19C2-92D4EE5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3" y="1157444"/>
            <a:ext cx="3747507" cy="2615659"/>
          </a:xfrm>
        </p:spPr>
        <p:txBody>
          <a:bodyPr>
            <a:noAutofit/>
          </a:bodyPr>
          <a:lstStyle/>
          <a:p>
            <a:r>
              <a:rPr lang="en-US" sz="2000" dirty="0"/>
              <a:t>Convolutional Neural Networks (CNNs)</a:t>
            </a:r>
          </a:p>
          <a:p>
            <a:r>
              <a:rPr lang="en-US" sz="2000" dirty="0"/>
              <a:t>Learn features automatically from data</a:t>
            </a:r>
          </a:p>
          <a:p>
            <a:r>
              <a:rPr lang="en-US" sz="2000" dirty="0"/>
              <a:t>Build hierarchical representations</a:t>
            </a:r>
          </a:p>
          <a:p>
            <a:r>
              <a:rPr lang="en-US" sz="2000" dirty="0"/>
              <a:t>Bridge the semantic gap</a:t>
            </a:r>
          </a:p>
          <a:p>
            <a:r>
              <a:rPr lang="en-US" sz="2000" dirty="0"/>
              <a:t>From pixels → edges → parts → objects → concepts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DE46E-E39E-9F3C-9F2D-6C7DAA021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2"/>
          <a:stretch>
            <a:fillRect/>
          </a:stretch>
        </p:blipFill>
        <p:spPr>
          <a:xfrm>
            <a:off x="4177735" y="1076960"/>
            <a:ext cx="6892431" cy="3248883"/>
          </a:xfrm>
          <a:prstGeom prst="rect">
            <a:avLst/>
          </a:prstGeom>
        </p:spPr>
      </p:pic>
      <p:pic>
        <p:nvPicPr>
          <p:cNvPr id="3074" name="Picture 2" descr="Convolutional Neural Networks &amp; Computer Vision | KNIME">
            <a:extLst>
              <a:ext uri="{FF2B5EF4-FFF2-40B4-BE49-F238E27FC236}">
                <a16:creationId xmlns:a16="http://schemas.microsoft.com/office/drawing/2014/main" id="{5DF0F03C-88C1-1E75-6982-85B4758B4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468" y="4545191"/>
            <a:ext cx="6721686" cy="204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00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F64C-92A3-E767-91A2-E13EEBE8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19465-1072-BE0F-799A-E0581CC4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83879-B87F-45B2-E7AE-2475A3E1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CNN Architecture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C24D42-F082-D3E7-4B06-D4EA4F390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3" y="1157444"/>
            <a:ext cx="3066787" cy="2615659"/>
          </a:xfrm>
        </p:spPr>
        <p:txBody>
          <a:bodyPr>
            <a:noAutofit/>
          </a:bodyPr>
          <a:lstStyle/>
          <a:p>
            <a:r>
              <a:rPr lang="en-US" b="1" dirty="0"/>
              <a:t>Convolutional Layers:</a:t>
            </a:r>
            <a:r>
              <a:rPr lang="en-US" dirty="0"/>
              <a:t> Learn spatial features</a:t>
            </a:r>
          </a:p>
          <a:p>
            <a:r>
              <a:rPr lang="en-US" b="1" dirty="0"/>
              <a:t>Pooling Layers:</a:t>
            </a:r>
            <a:r>
              <a:rPr lang="en-US" dirty="0"/>
              <a:t> Reduce dimensionality</a:t>
            </a:r>
          </a:p>
          <a:p>
            <a:r>
              <a:rPr lang="en-US" b="1" dirty="0"/>
              <a:t>Activation Functions:</a:t>
            </a:r>
            <a:r>
              <a:rPr lang="en-US" dirty="0"/>
              <a:t> Introduce non-linearity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r>
              <a:rPr lang="en-US" b="1" dirty="0"/>
              <a:t>Fully Connected Layers:</a:t>
            </a:r>
            <a:r>
              <a:rPr lang="en-US" dirty="0"/>
              <a:t> Classification</a:t>
            </a:r>
          </a:p>
          <a:p>
            <a:r>
              <a:rPr lang="en-US" b="1" dirty="0"/>
              <a:t>Softmax:</a:t>
            </a:r>
            <a:r>
              <a:rPr lang="en-US" dirty="0"/>
              <a:t> Output probabilities</a:t>
            </a:r>
          </a:p>
        </p:txBody>
      </p:sp>
      <p:pic>
        <p:nvPicPr>
          <p:cNvPr id="6146" name="Picture 2" descr="Convolutional Neural Networks Explained with Examples">
            <a:extLst>
              <a:ext uri="{FF2B5EF4-FFF2-40B4-BE49-F238E27FC236}">
                <a16:creationId xmlns:a16="http://schemas.microsoft.com/office/drawing/2014/main" id="{46F2E14B-D510-EB23-2D0A-E32C151FCE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53"/>
          <a:stretch>
            <a:fillRect/>
          </a:stretch>
        </p:blipFill>
        <p:spPr bwMode="auto">
          <a:xfrm>
            <a:off x="3606002" y="1471928"/>
            <a:ext cx="7345325" cy="367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66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BF8DF-C3EE-4F81-91E1-C76707B5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0C5CF-11C5-C777-A077-EDB79A72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204-0A31-0FA8-BBE4-6DC95B5D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How CNNs Bridge the Semantic Gap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AFCC10-7D2F-EA0D-9E6C-BB89F6B4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3" y="1157444"/>
            <a:ext cx="8400787" cy="2615659"/>
          </a:xfrm>
        </p:spPr>
        <p:txBody>
          <a:bodyPr>
            <a:noAutofit/>
          </a:bodyPr>
          <a:lstStyle/>
          <a:p>
            <a:r>
              <a:rPr lang="en-US" b="1" dirty="0"/>
              <a:t>Layer 1:</a:t>
            </a:r>
            <a:r>
              <a:rPr lang="en-US" dirty="0"/>
              <a:t> Low-level features (edges, colors)</a:t>
            </a:r>
          </a:p>
          <a:p>
            <a:r>
              <a:rPr lang="en-US" b="1" dirty="0"/>
              <a:t>Layer 2-3:</a:t>
            </a:r>
            <a:r>
              <a:rPr lang="en-US" dirty="0"/>
              <a:t> Mid-level features (textures, patterns)</a:t>
            </a:r>
          </a:p>
          <a:p>
            <a:r>
              <a:rPr lang="en-US" b="1" dirty="0"/>
              <a:t>Layer 4-5:</a:t>
            </a:r>
            <a:r>
              <a:rPr lang="en-US" dirty="0"/>
              <a:t> High-level features (object parts)</a:t>
            </a:r>
          </a:p>
          <a:p>
            <a:r>
              <a:rPr lang="en-US" b="1" dirty="0"/>
              <a:t>Final layers:</a:t>
            </a:r>
            <a:r>
              <a:rPr lang="en-US" dirty="0"/>
              <a:t> Semantic concepts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F070B8-0123-3886-03EC-257B0B43C7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1"/>
          <a:stretch>
            <a:fillRect/>
          </a:stretch>
        </p:blipFill>
        <p:spPr>
          <a:xfrm>
            <a:off x="1340761" y="2956560"/>
            <a:ext cx="8046631" cy="36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72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5FAE-0EB9-B076-C342-469BA345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1231-35F5-8647-3AEF-E37827DB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Convolutional vs Fully Connected Layers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41674A-8FE4-43EB-70BC-A5381A77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5" y="930275"/>
            <a:ext cx="4762500" cy="56084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Each neuron connected to a small range of input, instead of all the inputs.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Performs the convolution operation to extract features.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 has fewer parameters compared to fully connected layers because of weight sharing.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Primarily used for feature extraction</a:t>
            </a:r>
          </a:p>
        </p:txBody>
      </p:sp>
      <p:pic>
        <p:nvPicPr>
          <p:cNvPr id="1026" name="Picture 2" descr="Chiustin: A Beginner Intro to Neural Networks">
            <a:extLst>
              <a:ext uri="{FF2B5EF4-FFF2-40B4-BE49-F238E27FC236}">
                <a16:creationId xmlns:a16="http://schemas.microsoft.com/office/drawing/2014/main" id="{97E8A966-FB26-31EB-FE47-7DAD1FF08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542" y="998281"/>
            <a:ext cx="4461062" cy="251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s Convolutional Neural Networks Gif creating convolutional neural network">
            <a:extLst>
              <a:ext uri="{FF2B5EF4-FFF2-40B4-BE49-F238E27FC236}">
                <a16:creationId xmlns:a16="http://schemas.microsoft.com/office/drawing/2014/main" id="{193D43E7-F29B-63C0-D899-71D3F8DF5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090" y="3729318"/>
            <a:ext cx="4472957" cy="25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83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1E3D-D801-3755-73EF-13BB9E09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Grayscale Images :: Introduction (Image Processing Toolbox User's Guide)">
            <a:extLst>
              <a:ext uri="{FF2B5EF4-FFF2-40B4-BE49-F238E27FC236}">
                <a16:creationId xmlns:a16="http://schemas.microsoft.com/office/drawing/2014/main" id="{D1FF83C6-6FCE-F66D-D661-46FD5649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17" y="93629"/>
            <a:ext cx="4530489" cy="291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DAB7DF-4C2C-FF47-3BE7-798B7018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Images and Tensors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E3B92E-541A-CD2D-02EA-91EA0A42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5" y="930275"/>
            <a:ext cx="4762500" cy="56084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 digital image is a grid of pixel values, each pixel containing intensity information.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Grayscale images are represented as a 2D matrix of pixels (Height x Width), while color images have channels as well (Height, Width, Channels).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Tensors are generalization of matrices to higher dimensions.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5350F-6FCD-650A-8471-AF309161A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328" y="4631873"/>
            <a:ext cx="6581236" cy="1749067"/>
          </a:xfrm>
          <a:prstGeom prst="rect">
            <a:avLst/>
          </a:prstGeom>
        </p:spPr>
      </p:pic>
      <p:pic>
        <p:nvPicPr>
          <p:cNvPr id="3076" name="Picture 4" descr="3rd-order Tensor representation of a color image | Download Scientific ...">
            <a:extLst>
              <a:ext uri="{FF2B5EF4-FFF2-40B4-BE49-F238E27FC236}">
                <a16:creationId xmlns:a16="http://schemas.microsoft.com/office/drawing/2014/main" id="{9105C567-D71F-105B-C307-336D94077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209" y="2660006"/>
            <a:ext cx="3057286" cy="223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38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C33A-F235-4472-0875-66C90E5B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6E88-DCF8-A075-7C4B-C1112D6E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A00E3-E63C-8146-1542-89D4B076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98" y="2311434"/>
            <a:ext cx="9103102" cy="316294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EDB09F3-ED13-8985-2019-1405AA11DA9B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Let’s say we want to detect the intensity of yellow color in each pixel</a:t>
            </a:r>
          </a:p>
        </p:txBody>
      </p:sp>
    </p:spTree>
    <p:extLst>
      <p:ext uri="{BB962C8B-B14F-4D97-AF65-F5344CB8AC3E}">
        <p14:creationId xmlns:p14="http://schemas.microsoft.com/office/powerpoint/2010/main" val="428575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4AD7-F0CC-1D82-0120-54A1952E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1442-1237-E87D-4E61-9E200120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D9DF8DF-1B3D-195A-F7EB-A3D0D8FD85E9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We can create a yellow detector as an artificial neuron like so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BC9D4E-5D0C-DE04-11D8-855421ED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909" y="2129531"/>
            <a:ext cx="5432834" cy="431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24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1E9B-C9D5-8AA6-A37B-55279ED4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70ED-1D8A-8B10-EC99-95832947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EB95974-2F39-D2F1-6DFA-9ACCD019C678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We can apply the yellow detector to every pixel in the color input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8AD1B2-2257-11B8-21BA-E2686DF0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0426" y="2129531"/>
            <a:ext cx="5175799" cy="431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64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B77B-2DB1-B686-7AD5-1ACDBBEE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2DF0-8E98-C95A-ABD8-D3F2A79D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C130ED-DF09-BEDC-E9AE-3BCE996EA9CA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As a result, we get a grayscale image where each pixel corresponds to the intensity of yellow color in the input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C301D-E6FA-C5A8-CCF1-F8B61F752C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8901" y="2537012"/>
            <a:ext cx="6538850" cy="350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33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8952-5EC6-AF0F-95D5-0E8F898B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215E-675E-2D95-5E84-89267BCE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1A77EE4-BAC2-FCF5-80D8-4336DC6C6306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Instead of processing a single pixel at a time, we can process a small region around the pixel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9693DF-6D36-53CA-2647-7E71B0DA20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318599"/>
            <a:ext cx="4514714" cy="3006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94CC66-8285-7452-6525-324FC16AA1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2111" y="1973968"/>
            <a:ext cx="3774360" cy="4580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74F92-F99D-B7F6-0B00-A816FCE7E18D}"/>
              </a:ext>
            </a:extLst>
          </p:cNvPr>
          <p:cNvSpPr txBox="1"/>
          <p:nvPr/>
        </p:nvSpPr>
        <p:spPr>
          <a:xfrm rot="19703414">
            <a:off x="5975365" y="2510117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Input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A5043E-A978-4997-B779-88BDCA27BB97}"/>
              </a:ext>
            </a:extLst>
          </p:cNvPr>
          <p:cNvSpPr txBox="1"/>
          <p:nvPr/>
        </p:nvSpPr>
        <p:spPr>
          <a:xfrm rot="19703414">
            <a:off x="8874523" y="2510118"/>
            <a:ext cx="146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Feature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52DFE-1E39-193C-D90B-9C6F6530AC8D}"/>
              </a:ext>
            </a:extLst>
          </p:cNvPr>
          <p:cNvSpPr txBox="1"/>
          <p:nvPr/>
        </p:nvSpPr>
        <p:spPr>
          <a:xfrm>
            <a:off x="7846473" y="4451431"/>
            <a:ext cx="68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3348579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17</a:t>
            </a:fld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C05E6FF-4573-42EF-8850-39F16D76705D}"/>
              </a:ext>
            </a:extLst>
          </p:cNvPr>
          <p:cNvGrpSpPr/>
          <p:nvPr/>
        </p:nvGrpSpPr>
        <p:grpSpPr>
          <a:xfrm>
            <a:off x="1092468" y="2782759"/>
            <a:ext cx="8780755" cy="3746622"/>
            <a:chOff x="1092468" y="2782759"/>
            <a:chExt cx="8780755" cy="3746622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A25C274-A7E9-4AAB-A6AC-D578AF82727D}"/>
                </a:ext>
              </a:extLst>
            </p:cNvPr>
            <p:cNvGrpSpPr/>
            <p:nvPr/>
          </p:nvGrpSpPr>
          <p:grpSpPr>
            <a:xfrm>
              <a:off x="1092468" y="2782759"/>
              <a:ext cx="8780755" cy="2917797"/>
              <a:chOff x="600974" y="2455993"/>
              <a:chExt cx="8780755" cy="291779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2392EEE-559A-48D7-9198-119777665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974" y="2569387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0D24608-7912-4276-B9DC-389481066CC8}"/>
                  </a:ext>
                </a:extLst>
              </p:cNvPr>
              <p:cNvGrpSpPr/>
              <p:nvPr/>
            </p:nvGrpSpPr>
            <p:grpSpPr>
              <a:xfrm>
                <a:off x="1498132" y="2455993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EDF284C0-9D1A-499D-8E47-BB7BCE199E4F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387A30CB-3790-4111-8838-78B349598F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0CC0624-B13E-4F68-9342-F07494C716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C470B9F8-C79E-4094-81E7-08F8F230BA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01CB3994-322D-479A-8BCF-6861972789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1E0AF218-3120-4181-A57E-FDCE05B80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A355A79E-F529-4DCF-B51C-B3CFA4829D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D5CB4695-3073-40AA-A26E-543FA11694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94638A19-ABFA-498B-85BE-BD6B35C69C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A965825E-B0A0-4E3C-AE4A-8A5ECE78FB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0FFBF4A0-53B9-4E13-B3C8-7F4D1D8DEF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1534" y="2612062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34E9246-F5F7-44B3-9A11-D86229E8A9B2}"/>
                  </a:ext>
                </a:extLst>
              </p:cNvPr>
              <p:cNvSpPr txBox="1"/>
              <p:nvPr/>
            </p:nvSpPr>
            <p:spPr>
              <a:xfrm>
                <a:off x="3254613" y="3298496"/>
                <a:ext cx="4657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2F02E36-52BA-46CF-A275-62F41CF1B7A1}"/>
                  </a:ext>
                </a:extLst>
              </p:cNvPr>
              <p:cNvSpPr txBox="1"/>
              <p:nvPr/>
            </p:nvSpPr>
            <p:spPr>
              <a:xfrm>
                <a:off x="5423362" y="3332057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8C84771-4528-4DF9-8E55-B5B59D6FFA9C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EB6AAEB-6D40-4452-A39E-7AC0005CB0A3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BC93229-C221-4A36-837E-6B2FC2B7D5E4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31696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18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DFD173-EE01-464F-AF8F-264C03420460}"/>
              </a:ext>
            </a:extLst>
          </p:cNvPr>
          <p:cNvGrpSpPr/>
          <p:nvPr/>
        </p:nvGrpSpPr>
        <p:grpSpPr>
          <a:xfrm>
            <a:off x="1111895" y="2651529"/>
            <a:ext cx="8752181" cy="3877852"/>
            <a:chOff x="1111895" y="2651529"/>
            <a:chExt cx="8752181" cy="3877852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2EB9FEC-B43B-4322-A5AA-287A6238DEFA}"/>
                </a:ext>
              </a:extLst>
            </p:cNvPr>
            <p:cNvGrpSpPr/>
            <p:nvPr/>
          </p:nvGrpSpPr>
          <p:grpSpPr>
            <a:xfrm>
              <a:off x="1111895" y="2651529"/>
              <a:ext cx="8752181" cy="3059265"/>
              <a:chOff x="54952" y="2013673"/>
              <a:chExt cx="8752181" cy="3059265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4F6F948B-1E8C-44A3-858A-FCA9CED99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52" y="2268535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081A195-DCA0-4A84-A7C3-430644E4A296}"/>
                  </a:ext>
                </a:extLst>
              </p:cNvPr>
              <p:cNvGrpSpPr/>
              <p:nvPr/>
            </p:nvGrpSpPr>
            <p:grpSpPr>
              <a:xfrm>
                <a:off x="1229687" y="2013673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34E0B9-5094-406D-A998-5B7FC088C9E1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2EC54720-880F-47AE-A857-D450DDDA59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E11F40C6-1D91-457C-A2B3-91B5C5CD89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E444737F-73C8-4796-B1E4-A642805940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E1BD3EC9-7AF5-4D3C-973A-6DE02EAE9C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8E85B091-949D-4512-BE8C-142F767664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9A6471C5-692A-4B38-882D-2F60C8DA8B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EFC21849-DF2C-4D8E-88D2-35460C4A6A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DE30D711-D1BC-4C97-93E0-49DAD3A068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03E101B0-E365-46FA-B5CE-85362D0180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FCD69A32-B71E-48F5-8A21-66F1E2CDD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6938" y="2311210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8E1E2D9-BAA0-4FE4-AA01-40A31834D9D2}"/>
                  </a:ext>
                </a:extLst>
              </p:cNvPr>
              <p:cNvSpPr txBox="1"/>
              <p:nvPr/>
            </p:nvSpPr>
            <p:spPr>
              <a:xfrm>
                <a:off x="2904759" y="2844225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7C2632-6F7D-45DC-BA94-FED85A49EA59}"/>
                  </a:ext>
                </a:extLst>
              </p:cNvPr>
              <p:cNvSpPr txBox="1"/>
              <p:nvPr/>
            </p:nvSpPr>
            <p:spPr>
              <a:xfrm>
                <a:off x="5089682" y="2890570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829EDDD-F691-4436-9A9D-802641AFF4D4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DDE6181-1CE8-442F-BB02-BCEB5B55947D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0D317E8-98D9-43A2-8A56-1F626A007BD3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10970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3CE5D0-3FD7-44A9-9C05-996881183832}"/>
              </a:ext>
            </a:extLst>
          </p:cNvPr>
          <p:cNvGrpSpPr/>
          <p:nvPr/>
        </p:nvGrpSpPr>
        <p:grpSpPr>
          <a:xfrm>
            <a:off x="1114259" y="2509644"/>
            <a:ext cx="8756235" cy="4019737"/>
            <a:chOff x="1114259" y="2509644"/>
            <a:chExt cx="8756235" cy="4019737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A8AC41D-38FD-4C42-8EDD-B3127F8DB746}"/>
                </a:ext>
              </a:extLst>
            </p:cNvPr>
            <p:cNvGrpSpPr/>
            <p:nvPr/>
          </p:nvGrpSpPr>
          <p:grpSpPr>
            <a:xfrm>
              <a:off x="1114259" y="2509644"/>
              <a:ext cx="8756235" cy="3210479"/>
              <a:chOff x="745326" y="1688128"/>
              <a:chExt cx="8756235" cy="3210479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60BA0BD4-F2E5-4039-8825-9327110AB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326" y="2094204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3B47DB09-D5F9-4932-A6A4-77863738C62C}"/>
                  </a:ext>
                </a:extLst>
              </p:cNvPr>
              <p:cNvGrpSpPr/>
              <p:nvPr/>
            </p:nvGrpSpPr>
            <p:grpSpPr>
              <a:xfrm>
                <a:off x="2194414" y="1688128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1FAC35D-E051-4E70-BDA5-6A1F64122BEB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84FE859E-731F-418D-9360-777CBA24A7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C8082B95-B74D-4510-AF19-769376C161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92C5CEE7-A777-485B-BF71-0DEC9E304D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35F09C81-87DC-4752-A27F-154F98AB77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CB56ABFA-1423-469E-87D8-203C58FDD1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79C686D8-3B3E-4042-B2DB-B34C8B29FF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2D59C147-B2BB-42F8-9780-EBEE55F96F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C42F3FAD-6FA4-44C1-A674-C2F80EB9F4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F5CD802F-8F71-4CF2-866B-D265E6C90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2E1D4868-F7BC-4A7A-8876-0FEFF5514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1366" y="2129176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ACC4E2-E621-4FA0-9152-457F16E94112}"/>
                  </a:ext>
                </a:extLst>
              </p:cNvPr>
              <p:cNvSpPr txBox="1"/>
              <p:nvPr/>
            </p:nvSpPr>
            <p:spPr>
              <a:xfrm>
                <a:off x="3671567" y="2503267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64212F-5EA7-44C7-B897-99E2B08743E7}"/>
                  </a:ext>
                </a:extLst>
              </p:cNvPr>
              <p:cNvSpPr txBox="1"/>
              <p:nvPr/>
            </p:nvSpPr>
            <p:spPr>
              <a:xfrm>
                <a:off x="5991659" y="2634945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7BEB1D4-6034-4632-95DB-C86990020B5F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CDA7283-8533-4003-8AE3-7CD9EAA2A58F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C094927-368F-457D-AF30-6950EA0B2E9A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111468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C4F679-C010-4671-B33C-821CA05321E9}"/>
              </a:ext>
            </a:extLst>
          </p:cNvPr>
          <p:cNvGrpSpPr/>
          <p:nvPr/>
        </p:nvGrpSpPr>
        <p:grpSpPr>
          <a:xfrm>
            <a:off x="1116799" y="2903828"/>
            <a:ext cx="8764107" cy="3625553"/>
            <a:chOff x="1116799" y="2903828"/>
            <a:chExt cx="8764107" cy="3625553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3AF3BEC-90CA-46F5-8D74-7A031E9FBD9C}"/>
                </a:ext>
              </a:extLst>
            </p:cNvPr>
            <p:cNvGrpSpPr/>
            <p:nvPr/>
          </p:nvGrpSpPr>
          <p:grpSpPr>
            <a:xfrm>
              <a:off x="1116799" y="2903828"/>
              <a:ext cx="8764107" cy="2804403"/>
              <a:chOff x="528001" y="1954831"/>
              <a:chExt cx="8764107" cy="2804403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334909C2-47F6-4B01-9B83-1B30553551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001" y="1954831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4422415-79FB-40A4-8B6E-111688405FFF}"/>
                  </a:ext>
                </a:extLst>
              </p:cNvPr>
              <p:cNvGrpSpPr/>
              <p:nvPr/>
            </p:nvGrpSpPr>
            <p:grpSpPr>
              <a:xfrm>
                <a:off x="1427544" y="2367419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C0F8455A-29E0-4BC2-AA98-C3DA188C9B95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59FE8AD-4E9C-44C5-B092-07F7E08915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CBC199A-2F0C-48F6-AD1B-9ABDF7AA82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4018D72E-91D6-41B7-8B92-28118DC3F7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DA5F2D5D-A659-4146-AE36-CE26E7A546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7B5DB87A-ECFB-44E6-9D36-323BDE0055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E6A57E66-6F11-42AD-8296-CEC7EE744E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7CB84F44-3C67-4887-B173-7A95A4E5A2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58B0662D-BA8C-40EF-A251-05C1F2469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D2883BA3-37B2-4D4B-9C66-7E2C33432F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8EEFDAF-93CC-477D-80BD-AD0907411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1913" y="1999337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2D72A99-732D-4EA5-BD8E-D877420F20FE}"/>
                  </a:ext>
                </a:extLst>
              </p:cNvPr>
              <p:cNvSpPr txBox="1"/>
              <p:nvPr/>
            </p:nvSpPr>
            <p:spPr>
              <a:xfrm>
                <a:off x="3170853" y="3133461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0D9614-98EE-48BD-BBB4-22358D19AB8F}"/>
                  </a:ext>
                </a:extLst>
              </p:cNvPr>
              <p:cNvSpPr txBox="1"/>
              <p:nvPr/>
            </p:nvSpPr>
            <p:spPr>
              <a:xfrm>
                <a:off x="5267545" y="3248400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25EED28-0611-474E-A482-5DF299FCE94D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392C56-9C3E-420D-9338-BFEC930E4F44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30EA4BE-68CD-4F78-8791-5D669491F741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11328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21</a:t>
            </a:fld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1F0ACE-687F-4538-A6A5-90D0C4859061}"/>
              </a:ext>
            </a:extLst>
          </p:cNvPr>
          <p:cNvSpPr txBox="1"/>
          <p:nvPr/>
        </p:nvSpPr>
        <p:spPr>
          <a:xfrm>
            <a:off x="2025746" y="6160049"/>
            <a:ext cx="1576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Image</a:t>
            </a:r>
            <a:endParaRPr lang="en-PK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BEE99B-DAE4-4066-AD9D-1604F08E77E0}"/>
              </a:ext>
            </a:extLst>
          </p:cNvPr>
          <p:cNvGrpSpPr/>
          <p:nvPr/>
        </p:nvGrpSpPr>
        <p:grpSpPr>
          <a:xfrm>
            <a:off x="1113675" y="2900064"/>
            <a:ext cx="8766497" cy="3615773"/>
            <a:chOff x="1113675" y="2900064"/>
            <a:chExt cx="8766497" cy="3615773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F34E606-177E-409E-A19C-D88DB572AEFF}"/>
                </a:ext>
              </a:extLst>
            </p:cNvPr>
            <p:cNvGrpSpPr/>
            <p:nvPr/>
          </p:nvGrpSpPr>
          <p:grpSpPr>
            <a:xfrm>
              <a:off x="1113675" y="2900064"/>
              <a:ext cx="8766497" cy="2804403"/>
              <a:chOff x="455028" y="2246931"/>
              <a:chExt cx="8766497" cy="2804403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70F9E83-1103-4650-9100-65C42EE00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028" y="2246931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0E91127D-55AA-4B4E-8414-BDC2DF62C72E}"/>
                  </a:ext>
                </a:extLst>
              </p:cNvPr>
              <p:cNvGrpSpPr/>
              <p:nvPr/>
            </p:nvGrpSpPr>
            <p:grpSpPr>
              <a:xfrm>
                <a:off x="1629863" y="2512546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F18B93D-5C01-4553-BEC1-B7B074D5DBA2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86171DDD-6348-472D-9568-70437AF631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FB93D7B6-E0AD-4713-A603-AD3CB16091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6EF816A5-6C32-468D-A34B-359133FD1B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7988A21-B29C-46E0-A648-D4DF7CAD09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2662E62D-70CF-4AA9-B2AB-B731EAFFAC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B1F112BA-7DCD-4E8B-AF74-8D50F922F6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810A76B6-E202-425A-BE09-5CD6795440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4F64CD35-CB48-42A7-9213-DF944BABD9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65E36B92-075D-466C-A9C0-AB5B6E148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CA800430-F10C-4670-8C3C-D30824F30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1330" y="2289208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C1B5374-AA06-4583-B73D-614AE5A1FE36}"/>
                  </a:ext>
                </a:extLst>
              </p:cNvPr>
              <p:cNvSpPr txBox="1"/>
              <p:nvPr/>
            </p:nvSpPr>
            <p:spPr>
              <a:xfrm>
                <a:off x="3276908" y="3354111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8805CC-30D4-42E2-AD90-3AF57F75BF85}"/>
                  </a:ext>
                </a:extLst>
              </p:cNvPr>
              <p:cNvSpPr txBox="1"/>
              <p:nvPr/>
            </p:nvSpPr>
            <p:spPr>
              <a:xfrm>
                <a:off x="5458460" y="3429000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71C3773-A5E8-40E3-9F3D-EFD2F0964D2A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62A9774-749D-4712-9545-36B25F333450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418362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055F58-609A-476E-9BB4-936856EAD288}"/>
              </a:ext>
            </a:extLst>
          </p:cNvPr>
          <p:cNvGrpSpPr/>
          <p:nvPr/>
        </p:nvGrpSpPr>
        <p:grpSpPr>
          <a:xfrm>
            <a:off x="1116131" y="2894267"/>
            <a:ext cx="8755197" cy="3635114"/>
            <a:chOff x="1116131" y="2894267"/>
            <a:chExt cx="8755197" cy="3635114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01140DC-79A2-48D8-8FC0-E3D08A6607DB}"/>
                </a:ext>
              </a:extLst>
            </p:cNvPr>
            <p:cNvGrpSpPr/>
            <p:nvPr/>
          </p:nvGrpSpPr>
          <p:grpSpPr>
            <a:xfrm>
              <a:off x="1116131" y="2894267"/>
              <a:ext cx="8755197" cy="2804403"/>
              <a:chOff x="290413" y="2124165"/>
              <a:chExt cx="8755197" cy="2804403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11355F1-FE14-4EAE-BDD0-654C66F66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413" y="2124165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5833FE2-DAD6-4D25-8C75-371BA5C5F588}"/>
                  </a:ext>
                </a:extLst>
              </p:cNvPr>
              <p:cNvGrpSpPr/>
              <p:nvPr/>
            </p:nvGrpSpPr>
            <p:grpSpPr>
              <a:xfrm>
                <a:off x="1739432" y="2243268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C6E550F4-C9FD-4230-9F79-D9B4D6AF7DC7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886F5296-585E-4F2E-95DC-590FCA0027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F5874709-2EDC-42AA-AE5E-A005BB38B5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D33CF0B2-65AF-4DE7-9AB4-A45BB9BB8C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30F3EA05-23AF-4302-9478-FCA3664D1D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D5C23994-A88E-415A-8D6C-EF6B6F632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B4FEDF0B-5E28-48EC-87CC-6985A55C85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560E5135-03B3-4036-A640-F4236D22B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45B80469-45C8-4294-B809-8ED99CAFBB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382F747B-6FF1-40A2-9E67-3D14160D44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63869F0-AEEE-4F5F-8FAC-D2A70FD1A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75415" y="2173190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AC5C1E-3B7E-4828-BAB9-13BA5AB4C76E}"/>
                  </a:ext>
                </a:extLst>
              </p:cNvPr>
              <p:cNvSpPr txBox="1"/>
              <p:nvPr/>
            </p:nvSpPr>
            <p:spPr>
              <a:xfrm>
                <a:off x="3253846" y="3060559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2C95F8-41EA-4563-95B5-40821BFFF123}"/>
                  </a:ext>
                </a:extLst>
              </p:cNvPr>
              <p:cNvSpPr txBox="1"/>
              <p:nvPr/>
            </p:nvSpPr>
            <p:spPr>
              <a:xfrm>
                <a:off x="5531168" y="3153576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F200E2-C9A0-4ADD-AA5F-BE041D564F8D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77E812E-E752-42E5-AF41-AC256E3413A7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C4D8C34-5CB9-4A4A-944D-F58875F1A6A9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85838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54CBA3-B305-4EA8-9A04-46EB09387EBA}"/>
              </a:ext>
            </a:extLst>
          </p:cNvPr>
          <p:cNvGrpSpPr/>
          <p:nvPr/>
        </p:nvGrpSpPr>
        <p:grpSpPr>
          <a:xfrm>
            <a:off x="1110615" y="2893611"/>
            <a:ext cx="8767307" cy="3635770"/>
            <a:chOff x="1110615" y="2893611"/>
            <a:chExt cx="8767307" cy="3635770"/>
          </a:xfrm>
        </p:grpSpPr>
        <p:sp>
          <p:nvSpPr>
            <p:cNvPr id="10" name="Rectangle 9"/>
            <p:cNvSpPr/>
            <p:nvPr/>
          </p:nvSpPr>
          <p:spPr>
            <a:xfrm>
              <a:off x="7541051" y="4010166"/>
              <a:ext cx="215019" cy="285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582F8CC-D3DC-4ECF-97EA-6B5E58F54D74}"/>
                </a:ext>
              </a:extLst>
            </p:cNvPr>
            <p:cNvGrpSpPr/>
            <p:nvPr/>
          </p:nvGrpSpPr>
          <p:grpSpPr>
            <a:xfrm>
              <a:off x="1110615" y="2893611"/>
              <a:ext cx="8767307" cy="3038133"/>
              <a:chOff x="549187" y="1819365"/>
              <a:chExt cx="8767307" cy="3038133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A3D13DC8-C66F-4388-ADE2-C5E4FA55BE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187" y="1819365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89B46902-B4D3-4AA5-8FB4-F9E2856BB650}"/>
                  </a:ext>
                </a:extLst>
              </p:cNvPr>
              <p:cNvGrpSpPr/>
              <p:nvPr/>
            </p:nvGrpSpPr>
            <p:grpSpPr>
              <a:xfrm>
                <a:off x="1450507" y="2751268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2D231D5-D63E-4DD6-9612-BD30EE0ADD82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A839BD90-2EB4-40E2-8CBD-FAAAC4E3F6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5214D42D-DD4F-4614-A48C-80239AD3D2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9CA1C05-B825-423E-BB83-0702FA6FD2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53DB13CB-32BE-46F6-939E-B9BB510291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56A9D82F-AA09-46B3-8AFF-2127F160E9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802552CF-3BF4-448F-A229-78F81965B1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AA42DAAC-7F59-4129-9E54-C70BC280E2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2776978F-C35E-48F1-804A-BE047DD49E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52E4BDA4-223F-4623-AC8B-44FAE4A2B2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01ADCB30-6AEF-4913-B068-227B8AC94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6299" y="1865242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93B46F0-FF17-411A-BF86-500533EDEB4D}"/>
                  </a:ext>
                </a:extLst>
              </p:cNvPr>
              <p:cNvSpPr txBox="1"/>
              <p:nvPr/>
            </p:nvSpPr>
            <p:spPr>
              <a:xfrm>
                <a:off x="3193816" y="3568124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064D784-F61C-47B6-9C03-784906EAE26D}"/>
                  </a:ext>
                </a:extLst>
              </p:cNvPr>
              <p:cNvSpPr txBox="1"/>
              <p:nvPr/>
            </p:nvSpPr>
            <p:spPr>
              <a:xfrm>
                <a:off x="5311215" y="3668276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0748D12-9659-4057-BC82-29397E598793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9420FC-E8FC-4E2B-8743-C98670EDD674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CF6DAF9-6954-46BE-BBE0-6ACFF220D952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5126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75CF82-9E1B-4E81-A544-56E361A117BF}"/>
              </a:ext>
            </a:extLst>
          </p:cNvPr>
          <p:cNvGrpSpPr/>
          <p:nvPr/>
        </p:nvGrpSpPr>
        <p:grpSpPr>
          <a:xfrm>
            <a:off x="1108974" y="2892990"/>
            <a:ext cx="8766588" cy="3636391"/>
            <a:chOff x="1108974" y="2892990"/>
            <a:chExt cx="8766588" cy="3636391"/>
          </a:xfrm>
        </p:grpSpPr>
        <p:sp>
          <p:nvSpPr>
            <p:cNvPr id="12" name="Rectangle 11"/>
            <p:cNvSpPr/>
            <p:nvPr/>
          </p:nvSpPr>
          <p:spPr>
            <a:xfrm>
              <a:off x="7943850" y="5637193"/>
              <a:ext cx="419100" cy="240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B32B55A-16E6-4B78-B200-BFCC1F561735}"/>
                </a:ext>
              </a:extLst>
            </p:cNvPr>
            <p:cNvGrpSpPr/>
            <p:nvPr/>
          </p:nvGrpSpPr>
          <p:grpSpPr>
            <a:xfrm>
              <a:off x="1108974" y="2892990"/>
              <a:ext cx="8766588" cy="2896317"/>
              <a:chOff x="92487" y="2310431"/>
              <a:chExt cx="8766588" cy="2896317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8E8B8FA1-D493-46C8-9082-E2B83F3BA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487" y="2310431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9DF6B14-5BAA-4BB6-A30F-77C684E9229D}"/>
                  </a:ext>
                </a:extLst>
              </p:cNvPr>
              <p:cNvGrpSpPr/>
              <p:nvPr/>
            </p:nvGrpSpPr>
            <p:grpSpPr>
              <a:xfrm>
                <a:off x="1269532" y="3100518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0D63DBD1-1EA3-40C0-9E11-16861ED41F71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FFF294CF-A0CA-438D-89FA-299846FEA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447993E6-3F91-4191-AB5D-72FDD0E1EA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E4F77A45-0A71-4B45-B2F5-28EEB15496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B476214F-03D1-46D2-8D0B-B1E944CDCD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1B009062-511E-4CE0-87A7-A3F5F208F6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23198ED8-AD19-4B42-BE08-5E07525094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22E5E648-C665-4721-977A-31A9A88451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7A5022D4-7CBD-4F78-83B2-9A4ECE681D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65EDA5A2-5A70-460A-9385-6F292BCE82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C5C51613-A785-467A-B6AE-819F07AC3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88880" y="2359456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7EAB9DE-19D9-4116-8080-70AEBE5A9452}"/>
                  </a:ext>
                </a:extLst>
              </p:cNvPr>
              <p:cNvSpPr txBox="1"/>
              <p:nvPr/>
            </p:nvSpPr>
            <p:spPr>
              <a:xfrm>
                <a:off x="2884186" y="3905336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992C17-FCE6-42C3-A5CA-C821042515FF}"/>
                  </a:ext>
                </a:extLst>
              </p:cNvPr>
              <p:cNvSpPr txBox="1"/>
              <p:nvPr/>
            </p:nvSpPr>
            <p:spPr>
              <a:xfrm>
                <a:off x="5096010" y="4016419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DB9C6F-6400-4404-8555-DB7036018202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C6E178-2D38-4C96-9A0B-79B9905B3CF8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EDAD790-0AF2-4015-BC3F-B5C12AF038D3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18410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Example of  Convolution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44793BE-4CEF-4B09-81EE-FA4820392AD0}"/>
              </a:ext>
            </a:extLst>
          </p:cNvPr>
          <p:cNvGrpSpPr/>
          <p:nvPr/>
        </p:nvGrpSpPr>
        <p:grpSpPr>
          <a:xfrm>
            <a:off x="1110894" y="2897989"/>
            <a:ext cx="8758274" cy="3631392"/>
            <a:chOff x="1110894" y="2897989"/>
            <a:chExt cx="8758274" cy="36313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6DEE59F-0057-4151-AAD5-FE01DC2C9A92}"/>
                </a:ext>
              </a:extLst>
            </p:cNvPr>
            <p:cNvGrpSpPr/>
            <p:nvPr/>
          </p:nvGrpSpPr>
          <p:grpSpPr>
            <a:xfrm>
              <a:off x="1110894" y="2897989"/>
              <a:ext cx="8758274" cy="2804403"/>
              <a:chOff x="267142" y="2193097"/>
              <a:chExt cx="8758274" cy="280440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90D82404-5A20-407A-8E17-E4696D84F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142" y="2193097"/>
                <a:ext cx="3176291" cy="2804403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D8A93F87-99E8-495C-AC1C-2C0DD555907A}"/>
                  </a:ext>
                </a:extLst>
              </p:cNvPr>
              <p:cNvGrpSpPr/>
              <p:nvPr/>
            </p:nvGrpSpPr>
            <p:grpSpPr>
              <a:xfrm>
                <a:off x="1710857" y="2827468"/>
                <a:ext cx="6121973" cy="2106230"/>
                <a:chOff x="1498132" y="2455993"/>
                <a:chExt cx="6121973" cy="2106230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1C649480-DC1D-4D39-AAAB-400372BC868C}"/>
                    </a:ext>
                  </a:extLst>
                </p:cNvPr>
                <p:cNvGrpSpPr/>
                <p:nvPr/>
              </p:nvGrpSpPr>
              <p:grpSpPr>
                <a:xfrm>
                  <a:off x="1498132" y="2455993"/>
                  <a:ext cx="6121973" cy="2106230"/>
                  <a:chOff x="1498132" y="2455993"/>
                  <a:chExt cx="6121973" cy="2106230"/>
                </a:xfrm>
              </p:grpSpPr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B46DF724-BF45-4704-98AE-49357A6C32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21048" y="3769774"/>
                    <a:ext cx="2599057" cy="24039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B416D160-3EF1-4F22-8AA4-F605E47866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2899833"/>
                    <a:ext cx="2684401" cy="84528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5564F09B-E95F-47AF-93D9-BA70DCAB12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3918" y="2455993"/>
                    <a:ext cx="2662949" cy="9755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BED6210D-27CB-4183-B42D-C82D6EEC1E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22528" y="4010166"/>
                    <a:ext cx="2689258" cy="103387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DE24978D-4E1F-4E33-A4CF-4E6D4B1F5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98132" y="4455583"/>
                    <a:ext cx="2684401" cy="10664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09693FC0-E7CB-4170-ACF0-FB72CEE64D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82072" y="3930579"/>
                    <a:ext cx="3177578" cy="5253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5CA0614C-7A2B-4975-B230-1DC36A2FC9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3425" y="2899054"/>
                    <a:ext cx="3186225" cy="504589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A9CD7EB7-FA80-457E-A2C0-07C2A8D87F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7556" y="2458476"/>
                    <a:ext cx="2602549" cy="80233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0CB370CE-D7B4-4EAF-AB1A-5FFC0ACE7A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8490" y="2642309"/>
                  <a:ext cx="1920406" cy="1719221"/>
                </a:xfrm>
                <a:prstGeom prst="rect">
                  <a:avLst/>
                </a:prstGeom>
                <a:effectLst>
                  <a:outerShdw sx="1000" sy="1000" algn="ctr" rotWithShape="0">
                    <a:srgbClr val="000000"/>
                  </a:outerShdw>
                  <a:reflection endPos="0" dir="5400000" sy="-100000" algn="bl" rotWithShape="0"/>
                </a:effectLst>
                <a:scene3d>
                  <a:camera prst="isometricOffAxis2Right">
                    <a:rot lat="900000" lon="17760000" rev="0"/>
                  </a:camera>
                  <a:lightRig rig="freezing" dir="t">
                    <a:rot lat="0" lon="0" rev="0"/>
                  </a:lightRig>
                </a:scene3d>
                <a:sp3d/>
              </p:spPr>
            </p:pic>
          </p:grp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4D162D73-A334-4019-8355-BC4D785A5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5221" y="2235772"/>
                <a:ext cx="3170195" cy="2719052"/>
              </a:xfrm>
              <a:prstGeom prst="rect">
                <a:avLst/>
              </a:prstGeom>
              <a:effectLst>
                <a:outerShdw sx="1000" sy="1000" algn="ctr" rotWithShape="0">
                  <a:srgbClr val="000000"/>
                </a:outerShdw>
                <a:reflection endPos="0" dir="5400000" sy="-100000" algn="bl" rotWithShape="0"/>
              </a:effectLst>
              <a:scene3d>
                <a:camera prst="isometricOffAxis2Right">
                  <a:rot lat="900000" lon="17760000" rev="0"/>
                </a:camera>
                <a:lightRig rig="freezing" dir="t">
                  <a:rot lat="0" lon="0" rev="0"/>
                </a:lightRig>
              </a:scene3d>
              <a:sp3d/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CFBC55F-1202-4B93-A5B1-02AF02337231}"/>
                  </a:ext>
                </a:extLst>
              </p:cNvPr>
              <p:cNvSpPr txBox="1"/>
              <p:nvPr/>
            </p:nvSpPr>
            <p:spPr>
              <a:xfrm>
                <a:off x="3230222" y="3658444"/>
                <a:ext cx="42571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*</a:t>
                </a:r>
                <a:endParaRPr lang="en-PK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C6D755-BDFE-496C-AE2C-A8687D94C843}"/>
                  </a:ext>
                </a:extLst>
              </p:cNvPr>
              <p:cNvSpPr txBox="1"/>
              <p:nvPr/>
            </p:nvSpPr>
            <p:spPr>
              <a:xfrm>
                <a:off x="5490060" y="3721043"/>
                <a:ext cx="1114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=</a:t>
                </a:r>
                <a:endParaRPr lang="en-PK" dirty="0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9747D6-0F49-4C89-91A2-C7A2DD553B15}"/>
                </a:ext>
              </a:extLst>
            </p:cNvPr>
            <p:cNvSpPr txBox="1"/>
            <p:nvPr/>
          </p:nvSpPr>
          <p:spPr>
            <a:xfrm>
              <a:off x="2025746" y="6160049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Image</a:t>
              </a:r>
              <a:endParaRPr lang="en-PK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0D20BC-EEC8-4005-8D06-95E27B75A850}"/>
                </a:ext>
              </a:extLst>
            </p:cNvPr>
            <p:cNvSpPr txBox="1"/>
            <p:nvPr/>
          </p:nvSpPr>
          <p:spPr>
            <a:xfrm>
              <a:off x="4664919" y="6142258"/>
              <a:ext cx="1576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</a:t>
              </a:r>
              <a:endParaRPr lang="en-PK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22CD3D-CE56-4D22-A97A-9A6ECEB69432}"/>
                </a:ext>
              </a:extLst>
            </p:cNvPr>
            <p:cNvSpPr txBox="1"/>
            <p:nvPr/>
          </p:nvSpPr>
          <p:spPr>
            <a:xfrm>
              <a:off x="7541051" y="6146505"/>
              <a:ext cx="171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Image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200241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487B-4EE9-5434-1887-42F36C3A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AA87-59C9-0786-93BA-282FDA84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 as Feature Extractor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E9D9D-2054-486D-C178-EE8AC072921B}"/>
              </a:ext>
            </a:extLst>
          </p:cNvPr>
          <p:cNvSpPr txBox="1">
            <a:spLocks/>
          </p:cNvSpPr>
          <p:nvPr/>
        </p:nvSpPr>
        <p:spPr>
          <a:xfrm>
            <a:off x="403193" y="1145428"/>
            <a:ext cx="10390314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We sweep the filter across the entire image to detect these different patterns as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5082E8-F3C5-D13E-483C-8501973F3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65" y="2781114"/>
            <a:ext cx="8996568" cy="30569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87010A-0881-D7FE-064D-D418969A4BD3}"/>
              </a:ext>
            </a:extLst>
          </p:cNvPr>
          <p:cNvSpPr txBox="1"/>
          <p:nvPr/>
        </p:nvSpPr>
        <p:spPr>
          <a:xfrm>
            <a:off x="8286856" y="2009277"/>
            <a:ext cx="935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Vertical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AC37C-B0D7-B79B-53BA-EBE8A1F7CEF1}"/>
              </a:ext>
            </a:extLst>
          </p:cNvPr>
          <p:cNvSpPr txBox="1"/>
          <p:nvPr/>
        </p:nvSpPr>
        <p:spPr>
          <a:xfrm>
            <a:off x="4978629" y="2009277"/>
            <a:ext cx="12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Horizontal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E01A94-0903-B3E9-247A-F8EB5F424989}"/>
              </a:ext>
            </a:extLst>
          </p:cNvPr>
          <p:cNvSpPr txBox="1"/>
          <p:nvPr/>
        </p:nvSpPr>
        <p:spPr>
          <a:xfrm>
            <a:off x="2079149" y="2286276"/>
            <a:ext cx="58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Blur</a:t>
            </a:r>
          </a:p>
        </p:txBody>
      </p:sp>
    </p:spTree>
    <p:extLst>
      <p:ext uri="{BB962C8B-B14F-4D97-AF65-F5344CB8AC3E}">
        <p14:creationId xmlns:p14="http://schemas.microsoft.com/office/powerpoint/2010/main" val="2925979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4686-BE48-4574-AE47-FA561EA7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D658-DFC4-4695-56CA-0364BDF2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 as Feature Extractor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613AC57-2658-EBD3-3FBA-ECDDC4F24419}"/>
              </a:ext>
            </a:extLst>
          </p:cNvPr>
          <p:cNvSpPr txBox="1">
            <a:spLocks/>
          </p:cNvSpPr>
          <p:nvPr/>
        </p:nvSpPr>
        <p:spPr>
          <a:xfrm>
            <a:off x="394228" y="1145428"/>
            <a:ext cx="10408244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Process of sweeping the filter across the image and getting a feature map is called convolution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470CC-B230-5330-77E6-66A9A851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73" y="2339006"/>
            <a:ext cx="3821792" cy="33735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CE531A-21DB-5593-2220-9EA8445A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34"/>
          <a:stretch>
            <a:fillRect/>
          </a:stretch>
        </p:blipFill>
        <p:spPr>
          <a:xfrm>
            <a:off x="5199531" y="4596684"/>
            <a:ext cx="5602941" cy="1108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ED562-AA6A-2742-5403-58E022F6B4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34"/>
          <a:stretch>
            <a:fillRect/>
          </a:stretch>
        </p:blipFill>
        <p:spPr>
          <a:xfrm>
            <a:off x="5199530" y="3088639"/>
            <a:ext cx="5602941" cy="1108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D16D16-BB01-716F-B797-E7D3E7F23A10}"/>
              </a:ext>
            </a:extLst>
          </p:cNvPr>
          <p:cNvSpPr txBox="1"/>
          <p:nvPr/>
        </p:nvSpPr>
        <p:spPr>
          <a:xfrm>
            <a:off x="5460987" y="2436128"/>
            <a:ext cx="68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551E9-FEB9-2063-7069-377181ED0801}"/>
              </a:ext>
            </a:extLst>
          </p:cNvPr>
          <p:cNvSpPr txBox="1"/>
          <p:nvPr/>
        </p:nvSpPr>
        <p:spPr>
          <a:xfrm>
            <a:off x="6491808" y="243612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2C5D7-716C-6DDA-8B03-230F499D2088}"/>
              </a:ext>
            </a:extLst>
          </p:cNvPr>
          <p:cNvSpPr txBox="1"/>
          <p:nvPr/>
        </p:nvSpPr>
        <p:spPr>
          <a:xfrm>
            <a:off x="7527436" y="2194391"/>
            <a:ext cx="93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Feature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E5156-84B5-09CA-941C-D3AD723BA119}"/>
              </a:ext>
            </a:extLst>
          </p:cNvPr>
          <p:cNvSpPr txBox="1"/>
          <p:nvPr/>
        </p:nvSpPr>
        <p:spPr>
          <a:xfrm>
            <a:off x="8633693" y="2194391"/>
            <a:ext cx="920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Largest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F756-A918-5C17-3989-DD014AF713B0}"/>
              </a:ext>
            </a:extLst>
          </p:cNvPr>
          <p:cNvSpPr txBox="1"/>
          <p:nvPr/>
        </p:nvSpPr>
        <p:spPr>
          <a:xfrm>
            <a:off x="9780029" y="2436128"/>
            <a:ext cx="821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Match</a:t>
            </a:r>
          </a:p>
        </p:txBody>
      </p:sp>
    </p:spTree>
    <p:extLst>
      <p:ext uri="{BB962C8B-B14F-4D97-AF65-F5344CB8AC3E}">
        <p14:creationId xmlns:p14="http://schemas.microsoft.com/office/powerpoint/2010/main" val="1385483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A532-C1FD-31EC-9559-0BC9939F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7872-F288-11D8-6E4E-A7C94979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Multichannel 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BADB8E-598D-A883-53AB-D9C27250E50F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While performing convolution on input with more than one channel, our filter must also have the same number of channels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5B416-72B8-4F7C-5DAA-0019CB3CE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561" y="3179292"/>
            <a:ext cx="1192150" cy="1365814"/>
          </a:xfrm>
          <a:prstGeom prst="rect">
            <a:avLst/>
          </a:prstGeom>
        </p:spPr>
      </p:pic>
      <p:pic>
        <p:nvPicPr>
          <p:cNvPr id="4098" name="Picture 2" descr="Color image representation | Download Scientific Diagram">
            <a:extLst>
              <a:ext uri="{FF2B5EF4-FFF2-40B4-BE49-F238E27FC236}">
                <a16:creationId xmlns:a16="http://schemas.microsoft.com/office/drawing/2014/main" id="{97995529-07CA-7A07-8AAD-F008AEE27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70"/>
          <a:stretch>
            <a:fillRect/>
          </a:stretch>
        </p:blipFill>
        <p:spPr bwMode="auto">
          <a:xfrm>
            <a:off x="2438400" y="2482024"/>
            <a:ext cx="2780809" cy="260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1E0434-E6C8-341C-3A9C-83771F8F750D}"/>
              </a:ext>
            </a:extLst>
          </p:cNvPr>
          <p:cNvSpPr txBox="1"/>
          <p:nvPr/>
        </p:nvSpPr>
        <p:spPr>
          <a:xfrm>
            <a:off x="6294951" y="4636097"/>
            <a:ext cx="2318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 with 3 channels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BE3AF-BCFE-3685-8C94-0B78191EF8FC}"/>
              </a:ext>
            </a:extLst>
          </p:cNvPr>
          <p:cNvSpPr txBox="1"/>
          <p:nvPr/>
        </p:nvSpPr>
        <p:spPr>
          <a:xfrm>
            <a:off x="2705572" y="523673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Color Image</a:t>
            </a:r>
          </a:p>
        </p:txBody>
      </p:sp>
    </p:spTree>
    <p:extLst>
      <p:ext uri="{BB962C8B-B14F-4D97-AF65-F5344CB8AC3E}">
        <p14:creationId xmlns:p14="http://schemas.microsoft.com/office/powerpoint/2010/main" val="4270326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CE5A-365D-9754-F80E-3425A8ED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748704-FFE3-CB32-780F-41E104248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699" y="2031689"/>
            <a:ext cx="5567302" cy="4432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44E6E-8631-396C-0454-148B5071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Multichannel Convolution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C2EF62-D924-89B2-2A53-14ADD183E191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Each filter will then apply to the corresponding channel and results are added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CA73D-9678-6430-24F6-3CBF029FCCE0}"/>
              </a:ext>
            </a:extLst>
          </p:cNvPr>
          <p:cNvSpPr txBox="1"/>
          <p:nvPr/>
        </p:nvSpPr>
        <p:spPr>
          <a:xfrm>
            <a:off x="6590786" y="2134946"/>
            <a:ext cx="2318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Filter with 3 channels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8E5E4-79AB-CD9B-8D2F-1231A552FF92}"/>
              </a:ext>
            </a:extLst>
          </p:cNvPr>
          <p:cNvSpPr txBox="1"/>
          <p:nvPr/>
        </p:nvSpPr>
        <p:spPr>
          <a:xfrm>
            <a:off x="2715107" y="4034591"/>
            <a:ext cx="817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Color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177947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Padding in 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30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6866626" cy="1560711"/>
          </a:xfrm>
        </p:spPr>
        <p:txBody>
          <a:bodyPr>
            <a:noAutofit/>
          </a:bodyPr>
          <a:lstStyle/>
          <a:p>
            <a:pPr>
              <a:spcBef>
                <a:spcPts val="700"/>
              </a:spcBef>
            </a:pPr>
            <a:r>
              <a:rPr lang="en-US" dirty="0"/>
              <a:t>What is padding?</a:t>
            </a:r>
          </a:p>
          <a:p>
            <a:pPr>
              <a:spcBef>
                <a:spcPts val="700"/>
              </a:spcBef>
            </a:pPr>
            <a:r>
              <a:rPr lang="en-US" dirty="0"/>
              <a:t>Why we use padding in </a:t>
            </a:r>
            <a:r>
              <a:rPr lang="en-US" b="1" dirty="0"/>
              <a:t>Convolution</a:t>
            </a:r>
            <a:r>
              <a:rPr lang="en-US" dirty="0"/>
              <a:t>?</a:t>
            </a:r>
          </a:p>
          <a:p>
            <a:pPr>
              <a:spcBef>
                <a:spcPts val="700"/>
              </a:spcBef>
            </a:pPr>
            <a:r>
              <a:rPr lang="en-US" dirty="0"/>
              <a:t>In the figure shown, part of the filter 'w' lies outside the image 'f' when processing the edge pixels. As a result, the sum of the products is undefined in that area.</a:t>
            </a:r>
          </a:p>
          <a:p>
            <a:pPr>
              <a:spcBef>
                <a:spcPts val="700"/>
              </a:spcBef>
            </a:pPr>
            <a:r>
              <a:rPr lang="en-US" dirty="0"/>
              <a:t>In the figure shown, the size of the output decreased when we didn’t process the edge pixels.</a:t>
            </a:r>
          </a:p>
          <a:p>
            <a:pPr>
              <a:spcBef>
                <a:spcPts val="700"/>
              </a:spcBef>
            </a:pPr>
            <a:r>
              <a:rPr lang="en-US" dirty="0"/>
              <a:t>Padding ensures that the filter can be applied evenly across all pixels.</a:t>
            </a:r>
          </a:p>
          <a:p>
            <a:pPr>
              <a:spcBef>
                <a:spcPts val="700"/>
              </a:spcBef>
              <a:buFont typeface="Wingdings" panose="05000000000000000000" pitchFamily="2" charset="2"/>
              <a:buChar char="Ø"/>
            </a:pP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893CA-6E01-59C2-04B0-D635EE352097}"/>
              </a:ext>
            </a:extLst>
          </p:cNvPr>
          <p:cNvSpPr txBox="1"/>
          <p:nvPr/>
        </p:nvSpPr>
        <p:spPr>
          <a:xfrm>
            <a:off x="2480311" y="6344721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(no padding)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635C4-B201-8B31-08D1-1617B0F11B85}"/>
              </a:ext>
            </a:extLst>
          </p:cNvPr>
          <p:cNvSpPr txBox="1"/>
          <p:nvPr/>
        </p:nvSpPr>
        <p:spPr>
          <a:xfrm>
            <a:off x="1413016" y="634472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D8F94E-3039-3BA6-271A-8EC23F34953D}"/>
              </a:ext>
            </a:extLst>
          </p:cNvPr>
          <p:cNvGraphicFramePr>
            <a:graphicFrameLocks noGrp="1"/>
          </p:cNvGraphicFramePr>
          <p:nvPr/>
        </p:nvGraphicFramePr>
        <p:xfrm>
          <a:off x="2480311" y="4376541"/>
          <a:ext cx="2047240" cy="185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8">
                  <a:extLst>
                    <a:ext uri="{9D8B030D-6E8A-4147-A177-3AD203B41FA5}">
                      <a16:colId xmlns:a16="http://schemas.microsoft.com/office/drawing/2014/main" val="57661939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66951788"/>
                    </a:ext>
                  </a:extLst>
                </a:gridCol>
              </a:tblGrid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7995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85815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B6F879-989E-A301-8717-87EA7F11734E}"/>
              </a:ext>
            </a:extLst>
          </p:cNvPr>
          <p:cNvGraphicFramePr>
            <a:graphicFrameLocks noGrp="1"/>
          </p:cNvGraphicFramePr>
          <p:nvPr/>
        </p:nvGraphicFramePr>
        <p:xfrm>
          <a:off x="988057" y="5134256"/>
          <a:ext cx="12141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707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</a:tblGrid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B9F6C5-1883-FE14-9C4A-5B162905CD41}"/>
              </a:ext>
            </a:extLst>
          </p:cNvPr>
          <p:cNvGraphicFramePr>
            <a:graphicFrameLocks noGrp="1"/>
          </p:cNvGraphicFramePr>
          <p:nvPr/>
        </p:nvGraphicFramePr>
        <p:xfrm>
          <a:off x="5799241" y="4376541"/>
          <a:ext cx="2047240" cy="185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8">
                  <a:extLst>
                    <a:ext uri="{9D8B030D-6E8A-4147-A177-3AD203B41FA5}">
                      <a16:colId xmlns:a16="http://schemas.microsoft.com/office/drawing/2014/main" val="57661939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66951788"/>
                    </a:ext>
                  </a:extLst>
                </a:gridCol>
              </a:tblGrid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7995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85815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6E8B0BC-1BBA-C172-655A-604F4752AA17}"/>
              </a:ext>
            </a:extLst>
          </p:cNvPr>
          <p:cNvGraphicFramePr>
            <a:graphicFrameLocks noGrp="1"/>
          </p:cNvGraphicFramePr>
          <p:nvPr/>
        </p:nvGraphicFramePr>
        <p:xfrm>
          <a:off x="8427094" y="2391487"/>
          <a:ext cx="12141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707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</a:tblGrid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14C8FF-A78A-03C4-0AD6-3B623446D6AB}"/>
              </a:ext>
            </a:extLst>
          </p:cNvPr>
          <p:cNvGraphicFramePr>
            <a:graphicFrameLocks noGrp="1"/>
          </p:cNvGraphicFramePr>
          <p:nvPr/>
        </p:nvGraphicFramePr>
        <p:xfrm>
          <a:off x="9233706" y="4910916"/>
          <a:ext cx="140042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808">
                  <a:extLst>
                    <a:ext uri="{9D8B030D-6E8A-4147-A177-3AD203B41FA5}">
                      <a16:colId xmlns:a16="http://schemas.microsoft.com/office/drawing/2014/main" val="3897106542"/>
                    </a:ext>
                  </a:extLst>
                </a:gridCol>
                <a:gridCol w="466808">
                  <a:extLst>
                    <a:ext uri="{9D8B030D-6E8A-4147-A177-3AD203B41FA5}">
                      <a16:colId xmlns:a16="http://schemas.microsoft.com/office/drawing/2014/main" val="1760536009"/>
                    </a:ext>
                  </a:extLst>
                </a:gridCol>
                <a:gridCol w="466808">
                  <a:extLst>
                    <a:ext uri="{9D8B030D-6E8A-4147-A177-3AD203B41FA5}">
                      <a16:colId xmlns:a16="http://schemas.microsoft.com/office/drawing/2014/main" val="21722315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786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7813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607664"/>
                  </a:ext>
                </a:extLst>
              </a:tr>
            </a:tbl>
          </a:graphicData>
        </a:graphic>
      </p:graphicFrame>
      <p:sp>
        <p:nvSpPr>
          <p:cNvPr id="17" name="Arrow: Right 16">
            <a:extLst>
              <a:ext uri="{FF2B5EF4-FFF2-40B4-BE49-F238E27FC236}">
                <a16:creationId xmlns:a16="http://schemas.microsoft.com/office/drawing/2014/main" id="{8F059B17-C0E0-40F1-B319-AD680B140732}"/>
              </a:ext>
            </a:extLst>
          </p:cNvPr>
          <p:cNvSpPr/>
          <p:nvPr/>
        </p:nvSpPr>
        <p:spPr>
          <a:xfrm>
            <a:off x="8477833" y="5394491"/>
            <a:ext cx="226122" cy="13012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1E214D-C590-61EE-48F3-00F4AB4B7582}"/>
              </a:ext>
            </a:extLst>
          </p:cNvPr>
          <p:cNvSpPr txBox="1"/>
          <p:nvPr/>
        </p:nvSpPr>
        <p:spPr>
          <a:xfrm>
            <a:off x="10205877" y="5611360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A1BA13-F010-E809-D8A1-EE6058983FB7}"/>
              </a:ext>
            </a:extLst>
          </p:cNvPr>
          <p:cNvSpPr txBox="1"/>
          <p:nvPr/>
        </p:nvSpPr>
        <p:spPr>
          <a:xfrm>
            <a:off x="9680645" y="561540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76968D-9AB9-5B12-CC25-46EC5B7499A2}"/>
              </a:ext>
            </a:extLst>
          </p:cNvPr>
          <p:cNvSpPr txBox="1"/>
          <p:nvPr/>
        </p:nvSpPr>
        <p:spPr>
          <a:xfrm>
            <a:off x="9323843" y="564569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F6FB7-A7EF-2435-7599-7CDDF92B7C54}"/>
              </a:ext>
            </a:extLst>
          </p:cNvPr>
          <p:cNvSpPr txBox="1"/>
          <p:nvPr/>
        </p:nvSpPr>
        <p:spPr>
          <a:xfrm>
            <a:off x="10165749" y="5256792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75B96-EFC0-6A58-C889-FEF42E1CEBFF}"/>
              </a:ext>
            </a:extLst>
          </p:cNvPr>
          <p:cNvSpPr txBox="1"/>
          <p:nvPr/>
        </p:nvSpPr>
        <p:spPr>
          <a:xfrm>
            <a:off x="9699470" y="5263162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0EFAA4-930C-5F26-3850-0753D639EF8C}"/>
              </a:ext>
            </a:extLst>
          </p:cNvPr>
          <p:cNvSpPr txBox="1"/>
          <p:nvPr/>
        </p:nvSpPr>
        <p:spPr>
          <a:xfrm>
            <a:off x="9310135" y="525679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802206-5509-5302-8813-B26759B6397F}"/>
              </a:ext>
            </a:extLst>
          </p:cNvPr>
          <p:cNvSpPr txBox="1"/>
          <p:nvPr/>
        </p:nvSpPr>
        <p:spPr>
          <a:xfrm>
            <a:off x="10179205" y="4887460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CD0178-8F03-9623-647F-7C0E4F7E0DF0}"/>
              </a:ext>
            </a:extLst>
          </p:cNvPr>
          <p:cNvSpPr txBox="1"/>
          <p:nvPr/>
        </p:nvSpPr>
        <p:spPr>
          <a:xfrm>
            <a:off x="9777465" y="488746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71A498-2D81-03E3-8890-EBC11B11255F}"/>
              </a:ext>
            </a:extLst>
          </p:cNvPr>
          <p:cNvSpPr txBox="1"/>
          <p:nvPr/>
        </p:nvSpPr>
        <p:spPr>
          <a:xfrm>
            <a:off x="9310135" y="488746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207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L 0.08958 -0.15995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5 -3.7037E-6 L -0.21433 0.29445 " pathEditMode="relative" rAng="0" ptsTypes="AA">
                                      <p:cBhvr>
                                        <p:cTn id="3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99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50"/>
                            </p:stCondLst>
                            <p:childTnLst>
                              <p:par>
                                <p:cTn id="5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433 0.29445 L -0.18399 0.29422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7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99 0.29422 L -0.14896 0.2963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75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896 0.2963 L -0.21641 0.35047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2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250"/>
                            </p:stCondLst>
                            <p:childTnLst>
                              <p:par>
                                <p:cTn id="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641 0.35047 L -0.18308 0.34885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2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750"/>
                            </p:stCondLst>
                            <p:childTnLst>
                              <p:par>
                                <p:cTn id="7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08 0.34885 L -0.14935 0.34815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75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250"/>
                            </p:stCondLst>
                            <p:childTnLst>
                              <p:par>
                                <p:cTn id="8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35 0.34815 L -0.21732 0.40301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750"/>
                            </p:stCondLst>
                            <p:childTnLst>
                              <p:par>
                                <p:cTn id="9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732 0.40301 L -0.18269 0.40301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275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269 0.40162 L -0.14974 0.40162 " pathEditMode="relative" rAng="0" ptsTypes="AA">
                                      <p:cBhvr>
                                        <p:cTn id="10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425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4750"/>
                            </p:stCondLst>
                            <p:childTnLst>
                              <p:par>
                                <p:cTn id="10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74 0.40162 L 4.58333E-6 -3.7037E-6 " pathEditMode="relative" rAng="0" ptsTypes="AA">
                                      <p:cBhvr>
                                        <p:cTn id="10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7" y="-2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7" grpId="0" animBg="1"/>
      <p:bldP spid="26" grpId="0"/>
      <p:bldP spid="27" grpId="0"/>
      <p:bldP spid="28" grpId="0"/>
      <p:bldP spid="29" grpId="0" build="allAtOnce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BA0A-26E5-0ED4-397A-C25F68CC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DD1A-6979-F3F8-D9A2-BDE218D9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Padding in Convolution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29A70-C698-B363-FCD4-60FA22F1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31</a:t>
            </a:fld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85AA991-EC00-DDD4-61E0-43684081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5" y="1157444"/>
            <a:ext cx="5403585" cy="1560711"/>
          </a:xfrm>
        </p:spPr>
        <p:txBody>
          <a:bodyPr>
            <a:no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Zero Padding</a:t>
            </a:r>
          </a:p>
          <a:p>
            <a:pPr lvl="1">
              <a:spcBef>
                <a:spcPts val="700"/>
              </a:spcBef>
            </a:pPr>
            <a:r>
              <a:rPr lang="en-US" sz="1800" dirty="0"/>
              <a:t>Zero padding adds zeros around the image border to maintain the same size after filtering.</a:t>
            </a:r>
          </a:p>
          <a:p>
            <a:pPr lvl="1">
              <a:spcBef>
                <a:spcPts val="700"/>
              </a:spcBef>
            </a:pPr>
            <a:r>
              <a:rPr lang="en-US" sz="1800" b="1" dirty="0"/>
              <a:t>Use cases</a:t>
            </a:r>
            <a:r>
              <a:rPr lang="en-US" sz="1800" dirty="0"/>
              <a:t>: Commonly used in deep learning to ensure output feature maps match input dimensions, especially in multi-layer networks.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b="1" dirty="0"/>
              <a:t>Replicate Padding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 lvl="1">
              <a:spcBef>
                <a:spcPts val="700"/>
              </a:spcBef>
            </a:pPr>
            <a:r>
              <a:rPr lang="en-US" sz="1800" dirty="0"/>
              <a:t>Replicate padding copies border pixel values as padding to preserve edge information.</a:t>
            </a:r>
          </a:p>
          <a:p>
            <a:pPr lvl="1">
              <a:spcBef>
                <a:spcPts val="700"/>
              </a:spcBef>
            </a:pPr>
            <a:r>
              <a:rPr lang="en-US" sz="1800" b="1" dirty="0"/>
              <a:t>Use cases</a:t>
            </a:r>
            <a:r>
              <a:rPr lang="en-US" sz="1800" dirty="0"/>
              <a:t>: Useful in smoothing filters (e.g., Gaussian blur) to avoid artificial edges from zero padding.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  <a:p>
            <a:pPr>
              <a:spcBef>
                <a:spcPts val="700"/>
              </a:spcBef>
              <a:buFont typeface="Wingdings" panose="05000000000000000000" pitchFamily="2" charset="2"/>
              <a:buChar char="Ø"/>
            </a:pP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0D577C60-D218-A24B-E964-69CADE826017}"/>
              </a:ext>
            </a:extLst>
          </p:cNvPr>
          <p:cNvGraphicFramePr>
            <a:graphicFrameLocks noGrp="1"/>
          </p:cNvGraphicFramePr>
          <p:nvPr/>
        </p:nvGraphicFramePr>
        <p:xfrm>
          <a:off x="7020561" y="803716"/>
          <a:ext cx="1381758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586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60586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60586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DB512DD-47B4-3F05-0CBF-B49B05B7C02E}"/>
              </a:ext>
            </a:extLst>
          </p:cNvPr>
          <p:cNvSpPr txBox="1"/>
          <p:nvPr/>
        </p:nvSpPr>
        <p:spPr>
          <a:xfrm>
            <a:off x="6869420" y="2110498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(no padding)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FD15FB-4221-624B-C7B5-422CCABAE692}"/>
              </a:ext>
            </a:extLst>
          </p:cNvPr>
          <p:cNvSpPr txBox="1"/>
          <p:nvPr/>
        </p:nvSpPr>
        <p:spPr>
          <a:xfrm>
            <a:off x="9810889" y="190099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194F99D4-9049-F844-97A7-6EB160B60ECE}"/>
              </a:ext>
            </a:extLst>
          </p:cNvPr>
          <p:cNvGraphicFramePr>
            <a:graphicFrameLocks noGrp="1"/>
          </p:cNvGraphicFramePr>
          <p:nvPr/>
        </p:nvGraphicFramePr>
        <p:xfrm>
          <a:off x="6690361" y="2821270"/>
          <a:ext cx="2047240" cy="185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8">
                  <a:extLst>
                    <a:ext uri="{9D8B030D-6E8A-4147-A177-3AD203B41FA5}">
                      <a16:colId xmlns:a16="http://schemas.microsoft.com/office/drawing/2014/main" val="57661939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66951788"/>
                    </a:ext>
                  </a:extLst>
                </a:gridCol>
              </a:tblGrid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7995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858151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2A9C1FA2-07B7-7D2A-30F3-FF5B8F085F04}"/>
              </a:ext>
            </a:extLst>
          </p:cNvPr>
          <p:cNvGraphicFramePr>
            <a:graphicFrameLocks noGrp="1"/>
          </p:cNvGraphicFramePr>
          <p:nvPr/>
        </p:nvGraphicFramePr>
        <p:xfrm>
          <a:off x="6716391" y="4839810"/>
          <a:ext cx="2047240" cy="185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8">
                  <a:extLst>
                    <a:ext uri="{9D8B030D-6E8A-4147-A177-3AD203B41FA5}">
                      <a16:colId xmlns:a16="http://schemas.microsoft.com/office/drawing/2014/main" val="57661939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  <a:gridCol w="409448">
                  <a:extLst>
                    <a:ext uri="{9D8B030D-6E8A-4147-A177-3AD203B41FA5}">
                      <a16:colId xmlns:a16="http://schemas.microsoft.com/office/drawing/2014/main" val="3166951788"/>
                    </a:ext>
                  </a:extLst>
                </a:gridCol>
              </a:tblGrid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7995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  <a:tr h="370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858151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27126E19-ABC2-11D7-1EB4-BB849D7C5078}"/>
              </a:ext>
            </a:extLst>
          </p:cNvPr>
          <p:cNvSpPr txBox="1"/>
          <p:nvPr/>
        </p:nvSpPr>
        <p:spPr>
          <a:xfrm>
            <a:off x="9033500" y="4287815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Zero Padding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9E2A9B-BB72-D402-7848-0E4FB6C79EF1}"/>
              </a:ext>
            </a:extLst>
          </p:cNvPr>
          <p:cNvSpPr txBox="1"/>
          <p:nvPr/>
        </p:nvSpPr>
        <p:spPr>
          <a:xfrm>
            <a:off x="8828227" y="5653761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Replicate Padding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FF9B3AA6-2F7C-50A8-E7F2-72E3E2506ED9}"/>
              </a:ext>
            </a:extLst>
          </p:cNvPr>
          <p:cNvGraphicFramePr>
            <a:graphicFrameLocks noGrp="1"/>
          </p:cNvGraphicFramePr>
          <p:nvPr/>
        </p:nvGraphicFramePr>
        <p:xfrm>
          <a:off x="9337039" y="803713"/>
          <a:ext cx="12141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707">
                  <a:extLst>
                    <a:ext uri="{9D8B030D-6E8A-4147-A177-3AD203B41FA5}">
                      <a16:colId xmlns:a16="http://schemas.microsoft.com/office/drawing/2014/main" val="3660653560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837079754"/>
                    </a:ext>
                  </a:extLst>
                </a:gridCol>
                <a:gridCol w="404707">
                  <a:extLst>
                    <a:ext uri="{9D8B030D-6E8A-4147-A177-3AD203B41FA5}">
                      <a16:colId xmlns:a16="http://schemas.microsoft.com/office/drawing/2014/main" val="311501969"/>
                    </a:ext>
                  </a:extLst>
                </a:gridCol>
              </a:tblGrid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75866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48615"/>
                  </a:ext>
                </a:extLst>
              </a:tr>
              <a:tr h="36540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2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-7.40741E-7 L -0.21432 0.29445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29" y="1472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433 0.29445 L -0.18399 0.2942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99 0.29421 L -0.14896 0.296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896 0.2963 L -0.21641 0.3504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2" y="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641 0.35046 L -0.18308 0.34884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08 0.34884 L -0.14935 0.34815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35 0.34815 L -0.21732 0.40301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750"/>
                            </p:stCondLst>
                            <p:childTnLst>
                              <p:par>
                                <p:cTn id="4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732 0.40301 L -0.18269 0.40301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50"/>
                            </p:stCondLst>
                            <p:childTnLst>
                              <p:par>
                                <p:cTn id="4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269 0.40162 L -0.14974 0.40162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750"/>
                            </p:stCondLst>
                            <p:childTnLst>
                              <p:par>
                                <p:cTn id="5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74 0.40162 L -2.5E-6 -2.96296E-6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09" y="-2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1D70-8A1A-C79D-31C0-52BD6A12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F4A4-84F7-D4B2-1013-832B1A77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Convolutional Layer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0E9C80-C568-4CD9-A445-1ADF73520915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We bundle up multiple filters together, each looking for a different pattern, forming a convolutional layer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400D8-23B2-0110-5AFE-42F25EA29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611" y="2510119"/>
            <a:ext cx="6326684" cy="293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BD4B9-EE31-4FAE-2FE8-63DBABC192F6}"/>
              </a:ext>
            </a:extLst>
          </p:cNvPr>
          <p:cNvSpPr txBox="1"/>
          <p:nvPr/>
        </p:nvSpPr>
        <p:spPr>
          <a:xfrm rot="19079545">
            <a:off x="4220112" y="2307521"/>
            <a:ext cx="873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E16D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A4884-166E-7809-F784-DDB30362F054}"/>
              </a:ext>
            </a:extLst>
          </p:cNvPr>
          <p:cNvSpPr txBox="1"/>
          <p:nvPr/>
        </p:nvSpPr>
        <p:spPr>
          <a:xfrm rot="19079545">
            <a:off x="5609678" y="2307521"/>
            <a:ext cx="873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CC9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03EC2-5A71-FE1A-B588-18C0E3AA9C46}"/>
              </a:ext>
            </a:extLst>
          </p:cNvPr>
          <p:cNvSpPr txBox="1"/>
          <p:nvPr/>
        </p:nvSpPr>
        <p:spPr>
          <a:xfrm rot="19079545">
            <a:off x="6981314" y="2307520"/>
            <a:ext cx="873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66ACB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4EA75-DE07-7203-E470-FC460547DC16}"/>
              </a:ext>
            </a:extLst>
          </p:cNvPr>
          <p:cNvSpPr txBox="1"/>
          <p:nvPr/>
        </p:nvSpPr>
        <p:spPr>
          <a:xfrm rot="19079545">
            <a:off x="8308637" y="2307520"/>
            <a:ext cx="873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B16AA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B5E8A-B73B-5F89-2049-725584305FB5}"/>
              </a:ext>
            </a:extLst>
          </p:cNvPr>
          <p:cNvSpPr txBox="1"/>
          <p:nvPr/>
        </p:nvSpPr>
        <p:spPr>
          <a:xfrm rot="17631395">
            <a:off x="4897100" y="5881139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E16D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023390-DEE1-4283-3FDB-C0679CC5042D}"/>
              </a:ext>
            </a:extLst>
          </p:cNvPr>
          <p:cNvSpPr txBox="1"/>
          <p:nvPr/>
        </p:nvSpPr>
        <p:spPr>
          <a:xfrm rot="17631395">
            <a:off x="5264089" y="5881138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CC9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DCF599-C88C-E0A6-8132-C753DD03ED13}"/>
              </a:ext>
            </a:extLst>
          </p:cNvPr>
          <p:cNvSpPr txBox="1"/>
          <p:nvPr/>
        </p:nvSpPr>
        <p:spPr>
          <a:xfrm rot="17631395">
            <a:off x="5631078" y="5881138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66ACB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2B2A1-715C-BD99-CA02-9F490DCF9D6A}"/>
              </a:ext>
            </a:extLst>
          </p:cNvPr>
          <p:cNvSpPr txBox="1"/>
          <p:nvPr/>
        </p:nvSpPr>
        <p:spPr>
          <a:xfrm rot="17631395">
            <a:off x="5998068" y="5881138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B16AA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7B8673-4079-6F1D-42A3-E19A6AABCF54}"/>
              </a:ext>
            </a:extLst>
          </p:cNvPr>
          <p:cNvSpPr txBox="1"/>
          <p:nvPr/>
        </p:nvSpPr>
        <p:spPr>
          <a:xfrm>
            <a:off x="8219850" y="5116162"/>
            <a:ext cx="1879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Output of Conv Layer</a:t>
            </a:r>
          </a:p>
        </p:txBody>
      </p:sp>
    </p:spTree>
    <p:extLst>
      <p:ext uri="{BB962C8B-B14F-4D97-AF65-F5344CB8AC3E}">
        <p14:creationId xmlns:p14="http://schemas.microsoft.com/office/powerpoint/2010/main" val="511803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FC7E-96B1-A185-4B88-24B21076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30A00-EB6B-F13F-FB44-5E77197A8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286" y="2447233"/>
            <a:ext cx="6374126" cy="2917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9CF13-1CA3-E556-F000-510C6E31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Convolutional Layer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0F175F7-156B-6E47-C739-6130C2879D3C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 convolutional layer can have many filters, but each one will produce a single feature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A1DDB-86EA-6F25-7BB0-5A210896473C}"/>
              </a:ext>
            </a:extLst>
          </p:cNvPr>
          <p:cNvSpPr txBox="1"/>
          <p:nvPr/>
        </p:nvSpPr>
        <p:spPr>
          <a:xfrm>
            <a:off x="4811067" y="2209150"/>
            <a:ext cx="721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19A9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CCE61-B773-782E-2A88-FF093AA249BE}"/>
              </a:ext>
            </a:extLst>
          </p:cNvPr>
          <p:cNvSpPr txBox="1"/>
          <p:nvPr/>
        </p:nvSpPr>
        <p:spPr>
          <a:xfrm>
            <a:off x="4811067" y="2987488"/>
            <a:ext cx="721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AEA9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376A2-84D2-EBFE-B824-980C1E8C4654}"/>
              </a:ext>
            </a:extLst>
          </p:cNvPr>
          <p:cNvSpPr txBox="1"/>
          <p:nvPr/>
        </p:nvSpPr>
        <p:spPr>
          <a:xfrm>
            <a:off x="4811067" y="3765826"/>
            <a:ext cx="721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7AB2B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5D61F-D62D-6098-207C-DC31F63A14AB}"/>
              </a:ext>
            </a:extLst>
          </p:cNvPr>
          <p:cNvSpPr txBox="1"/>
          <p:nvPr/>
        </p:nvSpPr>
        <p:spPr>
          <a:xfrm>
            <a:off x="4811067" y="4544164"/>
            <a:ext cx="721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AC91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091FE-2918-0908-240F-060B3B31583B}"/>
              </a:ext>
            </a:extLst>
          </p:cNvPr>
          <p:cNvSpPr txBox="1"/>
          <p:nvPr/>
        </p:nvSpPr>
        <p:spPr>
          <a:xfrm>
            <a:off x="6010271" y="2154278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19A9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542E8-C8C6-761B-ECD8-BA35A45FC0EA}"/>
              </a:ext>
            </a:extLst>
          </p:cNvPr>
          <p:cNvSpPr txBox="1"/>
          <p:nvPr/>
        </p:nvSpPr>
        <p:spPr>
          <a:xfrm>
            <a:off x="6010271" y="2974813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AEA9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CF761-932E-AC48-CED7-53EB7EC4D477}"/>
              </a:ext>
            </a:extLst>
          </p:cNvPr>
          <p:cNvSpPr txBox="1"/>
          <p:nvPr/>
        </p:nvSpPr>
        <p:spPr>
          <a:xfrm>
            <a:off x="6010271" y="3750523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7AB2B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DC411-4C42-48C4-CC46-2A2FB4FD2321}"/>
              </a:ext>
            </a:extLst>
          </p:cNvPr>
          <p:cNvSpPr txBox="1"/>
          <p:nvPr/>
        </p:nvSpPr>
        <p:spPr>
          <a:xfrm>
            <a:off x="6010271" y="4517269"/>
            <a:ext cx="1322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AC91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 map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EF729-ECF7-4726-C5D4-C31992573664}"/>
              </a:ext>
            </a:extLst>
          </p:cNvPr>
          <p:cNvSpPr txBox="1"/>
          <p:nvPr/>
        </p:nvSpPr>
        <p:spPr>
          <a:xfrm>
            <a:off x="8785412" y="3550382"/>
            <a:ext cx="2226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Output of Conv Layer</a:t>
            </a:r>
          </a:p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As many feature maps as there are filters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5883A-1109-245B-DAF6-8EF63492EDD9}"/>
              </a:ext>
            </a:extLst>
          </p:cNvPr>
          <p:cNvSpPr txBox="1"/>
          <p:nvPr/>
        </p:nvSpPr>
        <p:spPr>
          <a:xfrm>
            <a:off x="2202147" y="4390321"/>
            <a:ext cx="1261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Input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Feature Maps</a:t>
            </a:r>
          </a:p>
        </p:txBody>
      </p:sp>
    </p:spTree>
    <p:extLst>
      <p:ext uri="{BB962C8B-B14F-4D97-AF65-F5344CB8AC3E}">
        <p14:creationId xmlns:p14="http://schemas.microsoft.com/office/powerpoint/2010/main" val="1239787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4932-FB83-4F90-2525-719D9A2D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66CDA7-56D3-10B1-0CDB-187123FC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797" b="17273"/>
          <a:stretch>
            <a:fillRect/>
          </a:stretch>
        </p:blipFill>
        <p:spPr>
          <a:xfrm>
            <a:off x="3797023" y="1959413"/>
            <a:ext cx="3602652" cy="974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02D05-0194-78D0-389E-C96A2CB9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Pooling Layer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0605941-6144-C757-DD2E-21D0287A3371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Pooling frees our filters to be precisely in the right place and also reduce the feature map size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E447F-134E-7060-1254-FF29F4297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753" y="3178428"/>
            <a:ext cx="6071192" cy="337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24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A652-4EF1-EEFB-66BA-923E5901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EAD5-F456-9AE7-35CB-C480FF04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Striding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E6BA4B4-1D0D-9A98-96C0-B3A95820661B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Instead of sweeping our filters over one pixel at a time, we can move more than one pixel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CEB2B-6F3C-5881-B3FE-53147FF2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032" y="2198564"/>
            <a:ext cx="4539372" cy="3608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03A8F7-9CB0-324A-3775-564A3A355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947" y="2428912"/>
            <a:ext cx="3909726" cy="23883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FC9733-0CC2-6824-5A9F-F6AF261BB570}"/>
              </a:ext>
            </a:extLst>
          </p:cNvPr>
          <p:cNvSpPr txBox="1"/>
          <p:nvPr/>
        </p:nvSpPr>
        <p:spPr>
          <a:xfrm>
            <a:off x="6714288" y="5012366"/>
            <a:ext cx="1775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Stride = 2</a:t>
            </a:r>
            <a:b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Center Filter over every other pixel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93E83-EEE5-0087-9A0F-1152DD9CF38E}"/>
              </a:ext>
            </a:extLst>
          </p:cNvPr>
          <p:cNvSpPr txBox="1"/>
          <p:nvPr/>
        </p:nvSpPr>
        <p:spPr>
          <a:xfrm>
            <a:off x="8914076" y="5012366"/>
            <a:ext cx="19228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Stride = 3</a:t>
            </a:r>
            <a:b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Center Filter over every third pixel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E7DC7-3A9B-8B06-6773-1E875D0ED9C4}"/>
              </a:ext>
            </a:extLst>
          </p:cNvPr>
          <p:cNvSpPr txBox="1"/>
          <p:nvPr/>
        </p:nvSpPr>
        <p:spPr>
          <a:xfrm>
            <a:off x="1395263" y="1860578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Moving 3 pixels while moving to the right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E157D7-CD3E-FC03-2F78-C8FD4C56A16B}"/>
              </a:ext>
            </a:extLst>
          </p:cNvPr>
          <p:cNvSpPr txBox="1"/>
          <p:nvPr/>
        </p:nvSpPr>
        <p:spPr>
          <a:xfrm>
            <a:off x="1395263" y="5842005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Moving 2 pixels while moving down</a:t>
            </a:r>
          </a:p>
        </p:txBody>
      </p:sp>
    </p:spTree>
    <p:extLst>
      <p:ext uri="{BB962C8B-B14F-4D97-AF65-F5344CB8AC3E}">
        <p14:creationId xmlns:p14="http://schemas.microsoft.com/office/powerpoint/2010/main" val="530640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7D8B9-4140-B321-2DEF-E0DBC3EB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EBAB-8A14-C58D-671A-6A4A3BB6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Striding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E949FC-FC8D-5142-6893-B0AB5A9076C8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Instead of sweeping our filters over one pixel at a time, we can move more than one pixel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B9D5F9-079F-8FBF-235F-35D06716C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656" y="2372375"/>
            <a:ext cx="4299310" cy="2620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0670E8-5398-BD62-6B39-4E9F5C876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28" y="2372375"/>
            <a:ext cx="4109598" cy="26209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F4D2CC-29C2-51E8-8545-C8169ABD9762}"/>
              </a:ext>
            </a:extLst>
          </p:cNvPr>
          <p:cNvSpPr txBox="1"/>
          <p:nvPr/>
        </p:nvSpPr>
        <p:spPr>
          <a:xfrm>
            <a:off x="1686961" y="5133537"/>
            <a:ext cx="340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Stride = 2</a:t>
            </a:r>
            <a:b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Center Filter over every other pixel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C87E7-6DAA-9FD7-39D5-864B83BD66DA}"/>
              </a:ext>
            </a:extLst>
          </p:cNvPr>
          <p:cNvSpPr txBox="1"/>
          <p:nvPr/>
        </p:nvSpPr>
        <p:spPr>
          <a:xfrm>
            <a:off x="6440838" y="5133537"/>
            <a:ext cx="3686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Stride = 3</a:t>
            </a:r>
            <a:b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rgbClr val="F3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Center Filter over every third pixel</a:t>
            </a:r>
          </a:p>
        </p:txBody>
      </p:sp>
    </p:spTree>
    <p:extLst>
      <p:ext uri="{BB962C8B-B14F-4D97-AF65-F5344CB8AC3E}">
        <p14:creationId xmlns:p14="http://schemas.microsoft.com/office/powerpoint/2010/main" val="2731675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D679-4566-E4F3-88C1-F1B85F2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23D2-359D-404A-21B4-89E7F09D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Convnets in Practice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BD3B9D7-7577-EA30-5ED6-1E9603A942D8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Convolutional Neural Networks (CNNs) are made of convolutional layers and pooling layers (along with others)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C35950-3200-0C82-465A-53BC6737D6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341058" y="2989729"/>
            <a:ext cx="5120640" cy="1306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7235F-F2AB-ED71-E054-7F34CBC8F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442" y="2647780"/>
            <a:ext cx="5120640" cy="199347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6EC4F1-D52E-850C-9096-E18C03007B08}"/>
              </a:ext>
            </a:extLst>
          </p:cNvPr>
          <p:cNvCxnSpPr>
            <a:cxnSpLocks/>
          </p:cNvCxnSpPr>
          <p:nvPr/>
        </p:nvCxnSpPr>
        <p:spPr>
          <a:xfrm>
            <a:off x="5661104" y="2106706"/>
            <a:ext cx="0" cy="37562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A47FE4-8AA5-1354-3BEA-DDE4B4224CBC}"/>
              </a:ext>
            </a:extLst>
          </p:cNvPr>
          <p:cNvSpPr txBox="1"/>
          <p:nvPr/>
        </p:nvSpPr>
        <p:spPr>
          <a:xfrm>
            <a:off x="657109" y="4932401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LeNet Architecture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50237-36A2-0ED6-EA09-31CDCF9AA965}"/>
              </a:ext>
            </a:extLst>
          </p:cNvPr>
          <p:cNvSpPr txBox="1"/>
          <p:nvPr/>
        </p:nvSpPr>
        <p:spPr>
          <a:xfrm>
            <a:off x="6241493" y="4932401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VGG16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85823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3D6E-F9CD-9AC2-E42B-5059E86D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F771-7B96-6A94-0660-9522DC88B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Visualizing Feature Maps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F39ECF4-5B57-A043-E601-50F5DC2A7A81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Let’s visualize the feature maps obtained from various CNN blocks of VGG16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1E2855-2F91-52CE-F44D-50CB6AFB5BD0}"/>
              </a:ext>
            </a:extLst>
          </p:cNvPr>
          <p:cNvSpPr txBox="1"/>
          <p:nvPr/>
        </p:nvSpPr>
        <p:spPr>
          <a:xfrm>
            <a:off x="4960893" y="5297960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Feature map of a single filter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84D10-D51A-726E-9D73-B70315429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252" y="2147957"/>
            <a:ext cx="3663703" cy="3081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EF4C1-FB94-D708-AF0C-D71EB28B8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356" y="2147957"/>
            <a:ext cx="3014478" cy="3017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EE6A3-8D93-0E84-3384-75366A59FDE0}"/>
              </a:ext>
            </a:extLst>
          </p:cNvPr>
          <p:cNvSpPr txBox="1"/>
          <p:nvPr/>
        </p:nvSpPr>
        <p:spPr>
          <a:xfrm>
            <a:off x="1478326" y="5297960"/>
            <a:ext cx="4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Input Image</a:t>
            </a:r>
          </a:p>
        </p:txBody>
      </p:sp>
    </p:spTree>
    <p:extLst>
      <p:ext uri="{BB962C8B-B14F-4D97-AF65-F5344CB8AC3E}">
        <p14:creationId xmlns:p14="http://schemas.microsoft.com/office/powerpoint/2010/main" val="2093855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EB16-CCB5-B507-65FF-C04B5229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6FCE-A140-DFA2-FAD1-73F9CBDE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Visualizing Feature Maps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9C48A5-91E1-20C1-4D62-D69000D8ECEF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Let’s visualize the feature maps obtained from various CNN blocks of VGG16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2FFF60-9F50-56CE-B822-CEA5CF018F73}"/>
              </a:ext>
            </a:extLst>
          </p:cNvPr>
          <p:cNvGrpSpPr/>
          <p:nvPr/>
        </p:nvGrpSpPr>
        <p:grpSpPr>
          <a:xfrm>
            <a:off x="1091063" y="3502832"/>
            <a:ext cx="1322294" cy="1277725"/>
            <a:chOff x="705581" y="3171746"/>
            <a:chExt cx="1322294" cy="12777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B05386-ADB2-4AC3-3450-5A0210C91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244" y="3171746"/>
              <a:ext cx="968968" cy="969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35EFDD-E879-293A-A0F1-56D3C8DADA17}"/>
                </a:ext>
              </a:extLst>
            </p:cNvPr>
            <p:cNvSpPr txBox="1"/>
            <p:nvPr/>
          </p:nvSpPr>
          <p:spPr>
            <a:xfrm>
              <a:off x="705581" y="4141694"/>
              <a:ext cx="1322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Input Image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6D6539D-70E6-308E-9461-686BD1818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59" y="2079812"/>
            <a:ext cx="7340908" cy="412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84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8A1C-9B3E-AF6B-D703-B8EE3D30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F558-852C-6BE9-839E-EFFAC7A3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Visualizing Feature Maps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26134C-F4AE-3781-2B10-F29251790A08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Let’s visualize the feature maps obtained from various CNN blocks of VGG16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FE8BC2-FEB3-EB20-5464-BC79F8B880E8}"/>
              </a:ext>
            </a:extLst>
          </p:cNvPr>
          <p:cNvGrpSpPr/>
          <p:nvPr/>
        </p:nvGrpSpPr>
        <p:grpSpPr>
          <a:xfrm>
            <a:off x="1091063" y="3502832"/>
            <a:ext cx="1322294" cy="1277725"/>
            <a:chOff x="705581" y="3171746"/>
            <a:chExt cx="1322294" cy="12777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2233B9-98B3-D045-1A24-764E4E39F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244" y="3171746"/>
              <a:ext cx="968968" cy="969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629D6C-235F-34A1-98EB-BF29FA1424A4}"/>
                </a:ext>
              </a:extLst>
            </p:cNvPr>
            <p:cNvSpPr txBox="1"/>
            <p:nvPr/>
          </p:nvSpPr>
          <p:spPr>
            <a:xfrm>
              <a:off x="705581" y="4141694"/>
              <a:ext cx="1322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Input Image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4C006A9-EB0E-326A-7AD9-C52E0E712D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81359" y="2080887"/>
            <a:ext cx="7340908" cy="412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49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CE11-31A2-A84A-89FA-5ED39860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25F6-523F-DBE3-82B4-37E9BCEB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Visualizing Feature Maps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01C7FFB-61B4-9747-033C-EECD34EE5A74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Let’s visualize the feature maps obtained from various CNN blocks of VGG16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5F4689-7309-BF75-67BB-E6366F4D9CCC}"/>
              </a:ext>
            </a:extLst>
          </p:cNvPr>
          <p:cNvGrpSpPr/>
          <p:nvPr/>
        </p:nvGrpSpPr>
        <p:grpSpPr>
          <a:xfrm>
            <a:off x="1091063" y="3502832"/>
            <a:ext cx="1322294" cy="1277725"/>
            <a:chOff x="705581" y="3171746"/>
            <a:chExt cx="1322294" cy="12777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AD9EB6-452E-42E0-A065-4AA2538C7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244" y="3171746"/>
              <a:ext cx="968968" cy="969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44A184-5F55-5E68-43E4-ED8CEDFC54C0}"/>
                </a:ext>
              </a:extLst>
            </p:cNvPr>
            <p:cNvSpPr txBox="1"/>
            <p:nvPr/>
          </p:nvSpPr>
          <p:spPr>
            <a:xfrm>
              <a:off x="705581" y="4141694"/>
              <a:ext cx="1322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Input Image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32AB66E-61BF-ECD2-63A3-D9F91592D5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81359" y="2088534"/>
            <a:ext cx="7340908" cy="41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31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2639</TotalTime>
  <Words>2421</Words>
  <Application>Microsoft Office PowerPoint</Application>
  <PresentationFormat>Widescreen</PresentationFormat>
  <Paragraphs>548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Arial</vt:lpstr>
      <vt:lpstr>Century Schoolbook</vt:lpstr>
      <vt:lpstr>Segoe UI</vt:lpstr>
      <vt:lpstr>Tahoma</vt:lpstr>
      <vt:lpstr>Times New Roman</vt:lpstr>
      <vt:lpstr>Wingdings</vt:lpstr>
      <vt:lpstr>Wingdings 2</vt:lpstr>
      <vt:lpstr>View</vt:lpstr>
      <vt:lpstr>Spring of Code Artificial Intelligence (Machine Learning &amp; Deep Learning)</vt:lpstr>
      <vt:lpstr>Day 01 – Deep Learning (Convolutional Neural Networks)</vt:lpstr>
      <vt:lpstr>What Are Features in Images?</vt:lpstr>
      <vt:lpstr>Why Do We Need Features?</vt:lpstr>
      <vt:lpstr>Types of Features</vt:lpstr>
      <vt:lpstr>PowerPoint Presentation</vt:lpstr>
      <vt:lpstr>Enter Deep Learning - CNNs</vt:lpstr>
      <vt:lpstr>CNN Architecture Overview</vt:lpstr>
      <vt:lpstr>How CNNs Bridge the Semantic Gap</vt:lpstr>
      <vt:lpstr>Convolutional vs Fully Connected Layers</vt:lpstr>
      <vt:lpstr>Images and Tensors</vt:lpstr>
      <vt:lpstr>Convolution</vt:lpstr>
      <vt:lpstr>Convolution</vt:lpstr>
      <vt:lpstr>Convolution</vt:lpstr>
      <vt:lpstr>Convolution</vt:lpstr>
      <vt:lpstr>Convolution</vt:lpstr>
      <vt:lpstr>Example of  Convolution Operation</vt:lpstr>
      <vt:lpstr>Example of  Convolution Operation</vt:lpstr>
      <vt:lpstr>Example of  Convolution Operation</vt:lpstr>
      <vt:lpstr>Example of  Convolution Operation</vt:lpstr>
      <vt:lpstr>Example of  Convolution Operation</vt:lpstr>
      <vt:lpstr>Example of  Convolution Operation</vt:lpstr>
      <vt:lpstr>Example of  Convolution Operation</vt:lpstr>
      <vt:lpstr>Example of  Convolution Operation</vt:lpstr>
      <vt:lpstr>Example of  Convolution Operation</vt:lpstr>
      <vt:lpstr>Convolution as Feature Extractor</vt:lpstr>
      <vt:lpstr>Convolution as Feature Extractor</vt:lpstr>
      <vt:lpstr>Multichannel Convolution</vt:lpstr>
      <vt:lpstr>Multichannel Convolution</vt:lpstr>
      <vt:lpstr>Padding in Convolution</vt:lpstr>
      <vt:lpstr>Padding in Convolution</vt:lpstr>
      <vt:lpstr>Convolutional Layer</vt:lpstr>
      <vt:lpstr>Convolutional Layer</vt:lpstr>
      <vt:lpstr>Pooling Layer</vt:lpstr>
      <vt:lpstr>Striding</vt:lpstr>
      <vt:lpstr>Striding</vt:lpstr>
      <vt:lpstr>Convnets in Practice</vt:lpstr>
      <vt:lpstr>Visualizing Feature Maps</vt:lpstr>
      <vt:lpstr>Visualizing Feature Maps</vt:lpstr>
      <vt:lpstr>Visualizing Feature Maps</vt:lpstr>
      <vt:lpstr>Visualizing Feature Maps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Wajahat Ullah</dc:creator>
  <cp:keywords/>
  <dc:description>generated using python-pptx</dc:description>
  <cp:lastModifiedBy>Asad Afridi</cp:lastModifiedBy>
  <cp:revision>70</cp:revision>
  <dcterms:created xsi:type="dcterms:W3CDTF">2013-01-27T09:14:16Z</dcterms:created>
  <dcterms:modified xsi:type="dcterms:W3CDTF">2026-04-19T17:16:21Z</dcterms:modified>
  <cp:category/>
</cp:coreProperties>
</file>