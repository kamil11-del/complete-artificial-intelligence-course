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78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9" r:id="rId1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892" indent="0" algn="ctr">
              <a:buNone/>
              <a:defRPr sz="1650"/>
            </a:lvl2pPr>
            <a:lvl3pPr marL="685783" indent="0" algn="ctr">
              <a:buNone/>
              <a:defRPr sz="1650"/>
            </a:lvl3pPr>
            <a:lvl4pPr marL="1028675" indent="0" algn="ctr">
              <a:buNone/>
              <a:defRPr sz="1500"/>
            </a:lvl4pPr>
            <a:lvl5pPr marL="1371566" indent="0" algn="ctr">
              <a:buNone/>
              <a:defRPr sz="1500"/>
            </a:lvl5pPr>
            <a:lvl6pPr marL="1714457" indent="0" algn="ctr">
              <a:buNone/>
              <a:defRPr sz="1500"/>
            </a:lvl6pPr>
            <a:lvl7pPr marL="2057348" indent="0" algn="ctr">
              <a:buNone/>
              <a:defRPr sz="1500"/>
            </a:lvl7pPr>
            <a:lvl8pPr marL="2400240" indent="0" algn="ctr">
              <a:buNone/>
              <a:defRPr sz="1500"/>
            </a:lvl8pPr>
            <a:lvl9pPr marL="2743132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83456"/>
            <a:ext cx="2103120" cy="276999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94987" y="5012007"/>
            <a:ext cx="353853" cy="276999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75580" y="4795501"/>
            <a:ext cx="518159" cy="276999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45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762500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1000"/>
                </a:lnTo>
                <a:lnTo>
                  <a:pt x="9144000" y="381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8B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7487" y="193674"/>
            <a:ext cx="408622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82744" y="892111"/>
            <a:ext cx="4133215" cy="1487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469758" y="4809347"/>
            <a:ext cx="1307465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28920" y="4809347"/>
            <a:ext cx="1026795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28920" y="4805623"/>
            <a:ext cx="1518030" cy="322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22.png"/><Relationship Id="rId2" Type="http://schemas.openxmlformats.org/officeDocument/2006/relationships/image" Target="../media/image19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11.png"/><Relationship Id="rId15" Type="http://schemas.openxmlformats.org/officeDocument/2006/relationships/image" Target="../media/image25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1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22.png"/><Relationship Id="rId2" Type="http://schemas.openxmlformats.org/officeDocument/2006/relationships/image" Target="../media/image19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11.png"/><Relationship Id="rId15" Type="http://schemas.openxmlformats.org/officeDocument/2006/relationships/image" Target="../media/image25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1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22.png"/><Relationship Id="rId2" Type="http://schemas.openxmlformats.org/officeDocument/2006/relationships/image" Target="../media/image19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11.png"/><Relationship Id="rId15" Type="http://schemas.openxmlformats.org/officeDocument/2006/relationships/image" Target="../media/image25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1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17" Type="http://schemas.openxmlformats.org/officeDocument/2006/relationships/image" Target="../media/image26.png"/><Relationship Id="rId2" Type="http://schemas.openxmlformats.org/officeDocument/2006/relationships/image" Target="../media/image29.jp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2.png"/><Relationship Id="rId18" Type="http://schemas.openxmlformats.org/officeDocument/2006/relationships/image" Target="../media/image26.png"/><Relationship Id="rId3" Type="http://schemas.openxmlformats.org/officeDocument/2006/relationships/image" Target="../media/image2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5.png"/><Relationship Id="rId2" Type="http://schemas.openxmlformats.org/officeDocument/2006/relationships/image" Target="../media/image27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5" Type="http://schemas.openxmlformats.org/officeDocument/2006/relationships/image" Target="../media/image23.png"/><Relationship Id="rId10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1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2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2.png"/><Relationship Id="rId7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5.png"/><Relationship Id="rId7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47.png"/><Relationship Id="rId9" Type="http://schemas.openxmlformats.org/officeDocument/2006/relationships/image" Target="../media/image50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6.png"/><Relationship Id="rId5" Type="http://schemas.openxmlformats.org/officeDocument/2006/relationships/image" Target="../media/image49.png"/><Relationship Id="rId10" Type="http://schemas.openxmlformats.org/officeDocument/2006/relationships/image" Target="../media/image55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56.png"/><Relationship Id="rId5" Type="http://schemas.openxmlformats.org/officeDocument/2006/relationships/image" Target="../media/image49.png"/><Relationship Id="rId10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g"/><Relationship Id="rId13" Type="http://schemas.openxmlformats.org/officeDocument/2006/relationships/image" Target="../media/image73.jpg"/><Relationship Id="rId3" Type="http://schemas.openxmlformats.org/officeDocument/2006/relationships/image" Target="../media/image63.png"/><Relationship Id="rId7" Type="http://schemas.openxmlformats.org/officeDocument/2006/relationships/image" Target="../media/image67.jpg"/><Relationship Id="rId12" Type="http://schemas.openxmlformats.org/officeDocument/2006/relationships/image" Target="../media/image72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g"/><Relationship Id="rId11" Type="http://schemas.openxmlformats.org/officeDocument/2006/relationships/image" Target="../media/image71.jpg"/><Relationship Id="rId5" Type="http://schemas.openxmlformats.org/officeDocument/2006/relationships/image" Target="../media/image65.jpg"/><Relationship Id="rId10" Type="http://schemas.openxmlformats.org/officeDocument/2006/relationships/image" Target="../media/image70.jpg"/><Relationship Id="rId4" Type="http://schemas.openxmlformats.org/officeDocument/2006/relationships/image" Target="../media/image64.png"/><Relationship Id="rId9" Type="http://schemas.openxmlformats.org/officeDocument/2006/relationships/image" Target="../media/image69.jp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g"/><Relationship Id="rId13" Type="http://schemas.openxmlformats.org/officeDocument/2006/relationships/image" Target="../media/image73.jpg"/><Relationship Id="rId3" Type="http://schemas.openxmlformats.org/officeDocument/2006/relationships/image" Target="../media/image63.png"/><Relationship Id="rId7" Type="http://schemas.openxmlformats.org/officeDocument/2006/relationships/image" Target="../media/image67.jpg"/><Relationship Id="rId12" Type="http://schemas.openxmlformats.org/officeDocument/2006/relationships/image" Target="../media/image72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g"/><Relationship Id="rId11" Type="http://schemas.openxmlformats.org/officeDocument/2006/relationships/image" Target="../media/image71.jpg"/><Relationship Id="rId5" Type="http://schemas.openxmlformats.org/officeDocument/2006/relationships/image" Target="../media/image65.jpg"/><Relationship Id="rId10" Type="http://schemas.openxmlformats.org/officeDocument/2006/relationships/image" Target="../media/image70.jpg"/><Relationship Id="rId4" Type="http://schemas.openxmlformats.org/officeDocument/2006/relationships/image" Target="../media/image64.png"/><Relationship Id="rId9" Type="http://schemas.openxmlformats.org/officeDocument/2006/relationships/image" Target="../media/image69.jp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g"/><Relationship Id="rId13" Type="http://schemas.openxmlformats.org/officeDocument/2006/relationships/image" Target="../media/image73.jpg"/><Relationship Id="rId3" Type="http://schemas.openxmlformats.org/officeDocument/2006/relationships/image" Target="../media/image63.png"/><Relationship Id="rId7" Type="http://schemas.openxmlformats.org/officeDocument/2006/relationships/image" Target="../media/image67.jpg"/><Relationship Id="rId12" Type="http://schemas.openxmlformats.org/officeDocument/2006/relationships/image" Target="../media/image72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g"/><Relationship Id="rId11" Type="http://schemas.openxmlformats.org/officeDocument/2006/relationships/image" Target="../media/image71.jpg"/><Relationship Id="rId5" Type="http://schemas.openxmlformats.org/officeDocument/2006/relationships/image" Target="../media/image65.jpg"/><Relationship Id="rId10" Type="http://schemas.openxmlformats.org/officeDocument/2006/relationships/image" Target="../media/image70.jpg"/><Relationship Id="rId4" Type="http://schemas.openxmlformats.org/officeDocument/2006/relationships/image" Target="../media/image64.png"/><Relationship Id="rId9" Type="http://schemas.openxmlformats.org/officeDocument/2006/relationships/image" Target="../media/image69.jp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g"/><Relationship Id="rId13" Type="http://schemas.openxmlformats.org/officeDocument/2006/relationships/image" Target="../media/image73.jpg"/><Relationship Id="rId3" Type="http://schemas.openxmlformats.org/officeDocument/2006/relationships/image" Target="../media/image63.png"/><Relationship Id="rId7" Type="http://schemas.openxmlformats.org/officeDocument/2006/relationships/image" Target="../media/image67.jpg"/><Relationship Id="rId12" Type="http://schemas.openxmlformats.org/officeDocument/2006/relationships/image" Target="../media/image72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g"/><Relationship Id="rId11" Type="http://schemas.openxmlformats.org/officeDocument/2006/relationships/image" Target="../media/image71.jpg"/><Relationship Id="rId5" Type="http://schemas.openxmlformats.org/officeDocument/2006/relationships/image" Target="../media/image65.jpg"/><Relationship Id="rId10" Type="http://schemas.openxmlformats.org/officeDocument/2006/relationships/image" Target="../media/image70.jpg"/><Relationship Id="rId4" Type="http://schemas.openxmlformats.org/officeDocument/2006/relationships/image" Target="../media/image64.png"/><Relationship Id="rId9" Type="http://schemas.openxmlformats.org/officeDocument/2006/relationships/image" Target="../media/image69.jp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g"/><Relationship Id="rId13" Type="http://schemas.openxmlformats.org/officeDocument/2006/relationships/image" Target="../media/image72.jpg"/><Relationship Id="rId3" Type="http://schemas.openxmlformats.org/officeDocument/2006/relationships/image" Target="../media/image62.png"/><Relationship Id="rId7" Type="http://schemas.openxmlformats.org/officeDocument/2006/relationships/image" Target="../media/image66.jpg"/><Relationship Id="rId12" Type="http://schemas.openxmlformats.org/officeDocument/2006/relationships/image" Target="../media/image71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jpg"/><Relationship Id="rId11" Type="http://schemas.openxmlformats.org/officeDocument/2006/relationships/image" Target="../media/image70.jpg"/><Relationship Id="rId5" Type="http://schemas.openxmlformats.org/officeDocument/2006/relationships/image" Target="../media/image64.png"/><Relationship Id="rId10" Type="http://schemas.openxmlformats.org/officeDocument/2006/relationships/image" Target="../media/image69.jpg"/><Relationship Id="rId4" Type="http://schemas.openxmlformats.org/officeDocument/2006/relationships/image" Target="../media/image63.png"/><Relationship Id="rId9" Type="http://schemas.openxmlformats.org/officeDocument/2006/relationships/image" Target="../media/image68.jpg"/><Relationship Id="rId14" Type="http://schemas.openxmlformats.org/officeDocument/2006/relationships/image" Target="../media/image73.jp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g"/><Relationship Id="rId13" Type="http://schemas.openxmlformats.org/officeDocument/2006/relationships/image" Target="../media/image72.jpg"/><Relationship Id="rId3" Type="http://schemas.openxmlformats.org/officeDocument/2006/relationships/image" Target="../media/image62.png"/><Relationship Id="rId7" Type="http://schemas.openxmlformats.org/officeDocument/2006/relationships/image" Target="../media/image66.jpg"/><Relationship Id="rId12" Type="http://schemas.openxmlformats.org/officeDocument/2006/relationships/image" Target="../media/image71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jpg"/><Relationship Id="rId11" Type="http://schemas.openxmlformats.org/officeDocument/2006/relationships/image" Target="../media/image70.jpg"/><Relationship Id="rId5" Type="http://schemas.openxmlformats.org/officeDocument/2006/relationships/image" Target="../media/image64.png"/><Relationship Id="rId10" Type="http://schemas.openxmlformats.org/officeDocument/2006/relationships/image" Target="../media/image69.jpg"/><Relationship Id="rId4" Type="http://schemas.openxmlformats.org/officeDocument/2006/relationships/image" Target="../media/image63.png"/><Relationship Id="rId9" Type="http://schemas.openxmlformats.org/officeDocument/2006/relationships/image" Target="../media/image68.jpg"/><Relationship Id="rId14" Type="http://schemas.openxmlformats.org/officeDocument/2006/relationships/image" Target="../media/image73.jp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g"/><Relationship Id="rId13" Type="http://schemas.openxmlformats.org/officeDocument/2006/relationships/image" Target="../media/image72.jpg"/><Relationship Id="rId3" Type="http://schemas.openxmlformats.org/officeDocument/2006/relationships/image" Target="../media/image62.png"/><Relationship Id="rId7" Type="http://schemas.openxmlformats.org/officeDocument/2006/relationships/image" Target="../media/image66.jpg"/><Relationship Id="rId12" Type="http://schemas.openxmlformats.org/officeDocument/2006/relationships/image" Target="../media/image71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jpg"/><Relationship Id="rId11" Type="http://schemas.openxmlformats.org/officeDocument/2006/relationships/image" Target="../media/image70.jpg"/><Relationship Id="rId5" Type="http://schemas.openxmlformats.org/officeDocument/2006/relationships/image" Target="../media/image64.png"/><Relationship Id="rId10" Type="http://schemas.openxmlformats.org/officeDocument/2006/relationships/image" Target="../media/image69.jpg"/><Relationship Id="rId4" Type="http://schemas.openxmlformats.org/officeDocument/2006/relationships/image" Target="../media/image63.png"/><Relationship Id="rId9" Type="http://schemas.openxmlformats.org/officeDocument/2006/relationships/image" Target="../media/image68.jpg"/><Relationship Id="rId14" Type="http://schemas.openxmlformats.org/officeDocument/2006/relationships/image" Target="../media/image73.jp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g"/><Relationship Id="rId13" Type="http://schemas.openxmlformats.org/officeDocument/2006/relationships/image" Target="../media/image72.jpg"/><Relationship Id="rId3" Type="http://schemas.openxmlformats.org/officeDocument/2006/relationships/image" Target="../media/image62.png"/><Relationship Id="rId7" Type="http://schemas.openxmlformats.org/officeDocument/2006/relationships/image" Target="../media/image66.jpg"/><Relationship Id="rId12" Type="http://schemas.openxmlformats.org/officeDocument/2006/relationships/image" Target="../media/image71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jpg"/><Relationship Id="rId11" Type="http://schemas.openxmlformats.org/officeDocument/2006/relationships/image" Target="../media/image70.jpg"/><Relationship Id="rId5" Type="http://schemas.openxmlformats.org/officeDocument/2006/relationships/image" Target="../media/image64.png"/><Relationship Id="rId10" Type="http://schemas.openxmlformats.org/officeDocument/2006/relationships/image" Target="../media/image69.jpg"/><Relationship Id="rId4" Type="http://schemas.openxmlformats.org/officeDocument/2006/relationships/image" Target="../media/image63.png"/><Relationship Id="rId9" Type="http://schemas.openxmlformats.org/officeDocument/2006/relationships/image" Target="../media/image68.jpg"/><Relationship Id="rId14" Type="http://schemas.openxmlformats.org/officeDocument/2006/relationships/image" Target="../media/image73.jp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g"/><Relationship Id="rId13" Type="http://schemas.openxmlformats.org/officeDocument/2006/relationships/image" Target="../media/image72.jpg"/><Relationship Id="rId3" Type="http://schemas.openxmlformats.org/officeDocument/2006/relationships/image" Target="../media/image62.png"/><Relationship Id="rId7" Type="http://schemas.openxmlformats.org/officeDocument/2006/relationships/image" Target="../media/image66.jpg"/><Relationship Id="rId12" Type="http://schemas.openxmlformats.org/officeDocument/2006/relationships/image" Target="../media/image71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jpg"/><Relationship Id="rId11" Type="http://schemas.openxmlformats.org/officeDocument/2006/relationships/image" Target="../media/image70.jpg"/><Relationship Id="rId5" Type="http://schemas.openxmlformats.org/officeDocument/2006/relationships/image" Target="../media/image64.png"/><Relationship Id="rId10" Type="http://schemas.openxmlformats.org/officeDocument/2006/relationships/image" Target="../media/image69.jpg"/><Relationship Id="rId4" Type="http://schemas.openxmlformats.org/officeDocument/2006/relationships/image" Target="../media/image63.png"/><Relationship Id="rId9" Type="http://schemas.openxmlformats.org/officeDocument/2006/relationships/image" Target="../media/image68.jpg"/><Relationship Id="rId14" Type="http://schemas.openxmlformats.org/officeDocument/2006/relationships/image" Target="../media/image73.jp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56.png"/><Relationship Id="rId5" Type="http://schemas.openxmlformats.org/officeDocument/2006/relationships/image" Target="../media/image49.png"/><Relationship Id="rId10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56.png"/><Relationship Id="rId5" Type="http://schemas.openxmlformats.org/officeDocument/2006/relationships/image" Target="../media/image49.png"/><Relationship Id="rId10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7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77.png"/><Relationship Id="rId5" Type="http://schemas.openxmlformats.org/officeDocument/2006/relationships/image" Target="../media/image49.png"/><Relationship Id="rId10" Type="http://schemas.openxmlformats.org/officeDocument/2006/relationships/image" Target="../media/image7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7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7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7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7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7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7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76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130" y="1710772"/>
            <a:ext cx="7063740" cy="1455611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0130" y="3517893"/>
            <a:ext cx="3531870" cy="805253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4572000" y="3517893"/>
            <a:ext cx="3531870" cy="80525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sz="16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068" y="54343"/>
            <a:ext cx="1157865" cy="161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4629" y="1550669"/>
            <a:ext cx="7071995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4800" dirty="0">
                <a:latin typeface="Source Sans 3"/>
                <a:cs typeface="Source Sans 3"/>
              </a:rPr>
              <a:t>Attention</a:t>
            </a:r>
            <a:r>
              <a:rPr sz="4800" spc="-55" dirty="0">
                <a:latin typeface="Source Sans 3"/>
                <a:cs typeface="Source Sans 3"/>
              </a:rPr>
              <a:t> </a:t>
            </a:r>
            <a:r>
              <a:rPr sz="4800" dirty="0">
                <a:latin typeface="Source Sans 3"/>
                <a:cs typeface="Source Sans 3"/>
              </a:rPr>
              <a:t>and</a:t>
            </a:r>
            <a:r>
              <a:rPr sz="4800" spc="-70" dirty="0">
                <a:latin typeface="Source Sans 3"/>
                <a:cs typeface="Source Sans 3"/>
              </a:rPr>
              <a:t> </a:t>
            </a:r>
            <a:r>
              <a:rPr sz="4800" spc="-10" dirty="0">
                <a:latin typeface="Source Sans 3"/>
                <a:cs typeface="Source Sans 3"/>
              </a:rPr>
              <a:t>Transformers</a:t>
            </a:r>
            <a:endParaRPr sz="4800" dirty="0">
              <a:latin typeface="Source Sans 3"/>
              <a:cs typeface="Source Sans 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129" y="4809347"/>
            <a:ext cx="3212465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575" y="374713"/>
            <a:ext cx="605917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Source Sans 3"/>
                <a:cs typeface="Source Sans 3"/>
              </a:rPr>
              <a:t>Last</a:t>
            </a:r>
            <a:r>
              <a:rPr sz="3000" spc="-105" dirty="0">
                <a:latin typeface="Source Sans 3"/>
                <a:cs typeface="Source Sans 3"/>
              </a:rPr>
              <a:t> </a:t>
            </a:r>
            <a:r>
              <a:rPr sz="3000" dirty="0">
                <a:latin typeface="Source Sans 3"/>
                <a:cs typeface="Source Sans 3"/>
              </a:rPr>
              <a:t>Time:</a:t>
            </a:r>
            <a:r>
              <a:rPr sz="3000" spc="-65" dirty="0">
                <a:latin typeface="Source Sans 3"/>
                <a:cs typeface="Source Sans 3"/>
              </a:rPr>
              <a:t> </a:t>
            </a:r>
            <a:r>
              <a:rPr sz="3000" dirty="0">
                <a:latin typeface="Source Sans 3"/>
                <a:cs typeface="Source Sans 3"/>
              </a:rPr>
              <a:t>Recurrent</a:t>
            </a:r>
            <a:r>
              <a:rPr sz="3000" spc="-35" dirty="0">
                <a:latin typeface="Source Sans 3"/>
                <a:cs typeface="Source Sans 3"/>
              </a:rPr>
              <a:t> </a:t>
            </a:r>
            <a:r>
              <a:rPr sz="3000" dirty="0">
                <a:latin typeface="Source Sans 3"/>
                <a:cs typeface="Source Sans 3"/>
              </a:rPr>
              <a:t>Neural</a:t>
            </a:r>
            <a:r>
              <a:rPr sz="3000" spc="-15" dirty="0">
                <a:latin typeface="Source Sans 3"/>
                <a:cs typeface="Source Sans 3"/>
              </a:rPr>
              <a:t> </a:t>
            </a:r>
            <a:r>
              <a:rPr sz="3000" spc="-10" dirty="0">
                <a:latin typeface="Source Sans 3"/>
                <a:cs typeface="Source Sans 3"/>
              </a:rPr>
              <a:t>Networks</a:t>
            </a:r>
            <a:endParaRPr sz="3000">
              <a:latin typeface="Source Sans 3"/>
              <a:cs typeface="Source Sans 3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1209675"/>
            <a:ext cx="8686800" cy="2667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1129" y="4809347"/>
            <a:ext cx="3212465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575" y="374713"/>
            <a:ext cx="517398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Source Sans 3"/>
                <a:cs typeface="Source Sans 3"/>
              </a:rPr>
              <a:t>Today:</a:t>
            </a:r>
            <a:r>
              <a:rPr sz="3000" spc="-50" dirty="0">
                <a:latin typeface="Source Sans 3"/>
                <a:cs typeface="Source Sans 3"/>
              </a:rPr>
              <a:t> </a:t>
            </a:r>
            <a:r>
              <a:rPr sz="3000" dirty="0">
                <a:latin typeface="Source Sans 3"/>
                <a:cs typeface="Source Sans 3"/>
              </a:rPr>
              <a:t>Attention</a:t>
            </a:r>
            <a:r>
              <a:rPr sz="3000" spc="-35" dirty="0">
                <a:latin typeface="Source Sans 3"/>
                <a:cs typeface="Source Sans 3"/>
              </a:rPr>
              <a:t> </a:t>
            </a:r>
            <a:r>
              <a:rPr sz="3000" dirty="0">
                <a:latin typeface="Source Sans 3"/>
                <a:cs typeface="Source Sans 3"/>
              </a:rPr>
              <a:t>+</a:t>
            </a:r>
            <a:r>
              <a:rPr sz="3000" spc="-95" dirty="0">
                <a:latin typeface="Source Sans 3"/>
                <a:cs typeface="Source Sans 3"/>
              </a:rPr>
              <a:t> </a:t>
            </a:r>
            <a:r>
              <a:rPr sz="3000" spc="-10" dirty="0">
                <a:latin typeface="Source Sans 3"/>
                <a:cs typeface="Source Sans 3"/>
              </a:rPr>
              <a:t>Transformers</a:t>
            </a:r>
            <a:endParaRPr sz="3000">
              <a:latin typeface="Source Sans 3"/>
              <a:cs typeface="Source Sans 3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1812088"/>
            <a:ext cx="1876023" cy="27972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9164" y="1088961"/>
            <a:ext cx="3150235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latin typeface="Arial"/>
                <a:cs typeface="Arial"/>
              </a:rPr>
              <a:t>Attention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new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primitive</a:t>
            </a:r>
            <a:r>
              <a:rPr sz="1800" spc="-20" dirty="0">
                <a:latin typeface="Arial"/>
                <a:cs typeface="Arial"/>
              </a:rPr>
              <a:t> that </a:t>
            </a:r>
            <a:r>
              <a:rPr sz="1800" dirty="0">
                <a:latin typeface="Arial"/>
                <a:cs typeface="Arial"/>
              </a:rPr>
              <a:t>operates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4240" y="1088961"/>
            <a:ext cx="2701290" cy="8540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b="1" dirty="0">
                <a:latin typeface="Arial"/>
                <a:cs typeface="Arial"/>
              </a:rPr>
              <a:t>Transformer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neural </a:t>
            </a:r>
            <a:r>
              <a:rPr sz="1800" dirty="0">
                <a:latin typeface="Arial"/>
                <a:cs typeface="Arial"/>
              </a:rPr>
              <a:t>network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architecture</a:t>
            </a:r>
            <a:r>
              <a:rPr sz="1800" spc="-20" dirty="0">
                <a:latin typeface="Arial"/>
                <a:cs typeface="Arial"/>
              </a:rPr>
              <a:t> that </a:t>
            </a:r>
            <a:r>
              <a:rPr sz="1800" dirty="0">
                <a:latin typeface="Arial"/>
                <a:cs typeface="Arial"/>
              </a:rPr>
              <a:t>uses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attention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everywhere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5050" y="1990728"/>
            <a:ext cx="1380849" cy="24762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1129" y="4809347"/>
            <a:ext cx="3212465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575" y="374713"/>
            <a:ext cx="517398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Source Sans 3"/>
                <a:cs typeface="Source Sans 3"/>
              </a:rPr>
              <a:t>Today:</a:t>
            </a:r>
            <a:r>
              <a:rPr sz="3000" spc="-50" dirty="0">
                <a:latin typeface="Source Sans 3"/>
                <a:cs typeface="Source Sans 3"/>
              </a:rPr>
              <a:t> </a:t>
            </a:r>
            <a:r>
              <a:rPr sz="3000" dirty="0">
                <a:latin typeface="Source Sans 3"/>
                <a:cs typeface="Source Sans 3"/>
              </a:rPr>
              <a:t>Attention</a:t>
            </a:r>
            <a:r>
              <a:rPr sz="3000" spc="-35" dirty="0">
                <a:latin typeface="Source Sans 3"/>
                <a:cs typeface="Source Sans 3"/>
              </a:rPr>
              <a:t> </a:t>
            </a:r>
            <a:r>
              <a:rPr sz="3000" dirty="0">
                <a:latin typeface="Source Sans 3"/>
                <a:cs typeface="Source Sans 3"/>
              </a:rPr>
              <a:t>+</a:t>
            </a:r>
            <a:r>
              <a:rPr sz="3000" spc="-95" dirty="0">
                <a:latin typeface="Source Sans 3"/>
                <a:cs typeface="Source Sans 3"/>
              </a:rPr>
              <a:t> </a:t>
            </a:r>
            <a:r>
              <a:rPr sz="3000" spc="-10" dirty="0">
                <a:latin typeface="Source Sans 3"/>
                <a:cs typeface="Source Sans 3"/>
              </a:rPr>
              <a:t>Transformers</a:t>
            </a:r>
            <a:endParaRPr sz="3000">
              <a:latin typeface="Source Sans 3"/>
              <a:cs typeface="Source Sans 3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1812088"/>
            <a:ext cx="1876023" cy="27972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9164" y="1088961"/>
            <a:ext cx="3150235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latin typeface="Arial"/>
                <a:cs typeface="Arial"/>
              </a:rPr>
              <a:t>Attention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new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primitive</a:t>
            </a:r>
            <a:r>
              <a:rPr sz="1800" spc="-20" dirty="0">
                <a:latin typeface="Arial"/>
                <a:cs typeface="Arial"/>
              </a:rPr>
              <a:t> that </a:t>
            </a:r>
            <a:r>
              <a:rPr sz="1800" dirty="0">
                <a:latin typeface="Arial"/>
                <a:cs typeface="Arial"/>
              </a:rPr>
              <a:t>operates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2128" y="2595181"/>
            <a:ext cx="2333625" cy="16744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Transformers</a:t>
            </a:r>
            <a:r>
              <a:rPr sz="18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sz="1800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C00000"/>
                </a:solidFill>
                <a:latin typeface="Arial"/>
                <a:cs typeface="Arial"/>
              </a:rPr>
              <a:t>used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everywhere</a:t>
            </a:r>
            <a:r>
              <a:rPr sz="18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today!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800">
              <a:latin typeface="Arial"/>
              <a:cs typeface="Arial"/>
            </a:endParaRPr>
          </a:p>
          <a:p>
            <a:pPr marL="12700" marR="55880">
              <a:lnSpc>
                <a:spcPct val="99100"/>
              </a:lnSpc>
            </a:pP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But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they</a:t>
            </a:r>
            <a:r>
              <a:rPr sz="18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developed</a:t>
            </a:r>
            <a:r>
              <a:rPr sz="18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Arial"/>
                <a:cs typeface="Arial"/>
              </a:rPr>
              <a:t>as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an</a:t>
            </a:r>
            <a:r>
              <a:rPr sz="18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offshoot</a:t>
            </a:r>
            <a:r>
              <a:rPr sz="18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C00000"/>
                </a:solidFill>
                <a:latin typeface="Arial"/>
                <a:cs typeface="Arial"/>
              </a:rPr>
              <a:t>RNNs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so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let’s</a:t>
            </a:r>
            <a:r>
              <a:rPr sz="18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start</a:t>
            </a:r>
            <a:r>
              <a:rPr sz="1800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there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4240" y="1088961"/>
            <a:ext cx="2701290" cy="8540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b="1" dirty="0">
                <a:latin typeface="Arial"/>
                <a:cs typeface="Arial"/>
              </a:rPr>
              <a:t>Transformer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neural </a:t>
            </a:r>
            <a:r>
              <a:rPr sz="1800" dirty="0">
                <a:latin typeface="Arial"/>
                <a:cs typeface="Arial"/>
              </a:rPr>
              <a:t>network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architecture</a:t>
            </a:r>
            <a:r>
              <a:rPr sz="1800" spc="-20" dirty="0">
                <a:latin typeface="Arial"/>
                <a:cs typeface="Arial"/>
              </a:rPr>
              <a:t> that </a:t>
            </a:r>
            <a:r>
              <a:rPr sz="1800" dirty="0">
                <a:latin typeface="Arial"/>
                <a:cs typeface="Arial"/>
              </a:rPr>
              <a:t>uses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attention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everywhere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5050" y="1990728"/>
            <a:ext cx="1380849" cy="24762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1129" y="4809347"/>
            <a:ext cx="3212465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spc="-50" dirty="0"/>
              <a:t>-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01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586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125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610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5332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711" y="63500"/>
                </a:moveTo>
                <a:lnTo>
                  <a:pt x="25311" y="63500"/>
                </a:lnTo>
                <a:lnTo>
                  <a:pt x="27608" y="418338"/>
                </a:lnTo>
                <a:lnTo>
                  <a:pt x="27609" y="418465"/>
                </a:lnTo>
                <a:lnTo>
                  <a:pt x="53009" y="418338"/>
                </a:lnTo>
                <a:lnTo>
                  <a:pt x="50794" y="76326"/>
                </a:lnTo>
                <a:lnTo>
                  <a:pt x="50711" y="63500"/>
                </a:lnTo>
                <a:close/>
              </a:path>
              <a:path w="76200" h="418464">
                <a:moveTo>
                  <a:pt x="37604" y="0"/>
                </a:moveTo>
                <a:lnTo>
                  <a:pt x="0" y="76326"/>
                </a:lnTo>
                <a:lnTo>
                  <a:pt x="25394" y="76326"/>
                </a:lnTo>
                <a:lnTo>
                  <a:pt x="25311" y="63500"/>
                </a:lnTo>
                <a:lnTo>
                  <a:pt x="69875" y="63500"/>
                </a:lnTo>
                <a:lnTo>
                  <a:pt x="37604" y="0"/>
                </a:lnTo>
                <a:close/>
              </a:path>
              <a:path w="76200" h="418464">
                <a:moveTo>
                  <a:pt x="69875" y="63500"/>
                </a:moveTo>
                <a:lnTo>
                  <a:pt x="50711" y="63500"/>
                </a:lnTo>
                <a:lnTo>
                  <a:pt x="50794" y="76326"/>
                </a:lnTo>
                <a:lnTo>
                  <a:pt x="0" y="76326"/>
                </a:lnTo>
                <a:lnTo>
                  <a:pt x="76200" y="75946"/>
                </a:lnTo>
                <a:lnTo>
                  <a:pt x="6987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9624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4862" y="2757551"/>
            <a:ext cx="375920" cy="76200"/>
          </a:xfrm>
          <a:custGeom>
            <a:avLst/>
            <a:gdLst/>
            <a:ahLst/>
            <a:cxnLst/>
            <a:rect l="l" t="t" r="r" b="b"/>
            <a:pathLst>
              <a:path w="375919" h="76200">
                <a:moveTo>
                  <a:pt x="299402" y="0"/>
                </a:moveTo>
                <a:lnTo>
                  <a:pt x="299402" y="76200"/>
                </a:lnTo>
                <a:lnTo>
                  <a:pt x="350202" y="50800"/>
                </a:lnTo>
                <a:lnTo>
                  <a:pt x="312102" y="50800"/>
                </a:lnTo>
                <a:lnTo>
                  <a:pt x="312102" y="25400"/>
                </a:lnTo>
                <a:lnTo>
                  <a:pt x="350202" y="25400"/>
                </a:lnTo>
                <a:lnTo>
                  <a:pt x="299402" y="0"/>
                </a:lnTo>
                <a:close/>
              </a:path>
              <a:path w="375919" h="76200">
                <a:moveTo>
                  <a:pt x="2994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9402" y="50800"/>
                </a:lnTo>
                <a:lnTo>
                  <a:pt x="299402" y="25400"/>
                </a:lnTo>
                <a:close/>
              </a:path>
              <a:path w="375919" h="76200">
                <a:moveTo>
                  <a:pt x="350202" y="25400"/>
                </a:moveTo>
                <a:lnTo>
                  <a:pt x="312102" y="25400"/>
                </a:lnTo>
                <a:lnTo>
                  <a:pt x="312102" y="50800"/>
                </a:lnTo>
                <a:lnTo>
                  <a:pt x="350202" y="50800"/>
                </a:lnTo>
                <a:lnTo>
                  <a:pt x="375602" y="38100"/>
                </a:lnTo>
                <a:lnTo>
                  <a:pt x="3502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09775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672" y="0"/>
                </a:moveTo>
                <a:lnTo>
                  <a:pt x="296672" y="76200"/>
                </a:lnTo>
                <a:lnTo>
                  <a:pt x="347472" y="50800"/>
                </a:lnTo>
                <a:lnTo>
                  <a:pt x="309372" y="50800"/>
                </a:lnTo>
                <a:lnTo>
                  <a:pt x="309372" y="25400"/>
                </a:lnTo>
                <a:lnTo>
                  <a:pt x="347472" y="25400"/>
                </a:lnTo>
                <a:lnTo>
                  <a:pt x="296672" y="0"/>
                </a:lnTo>
                <a:close/>
              </a:path>
              <a:path w="373380" h="76200">
                <a:moveTo>
                  <a:pt x="29667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672" y="50800"/>
                </a:lnTo>
                <a:lnTo>
                  <a:pt x="296672" y="25400"/>
                </a:lnTo>
                <a:close/>
              </a:path>
              <a:path w="373380" h="76200">
                <a:moveTo>
                  <a:pt x="347472" y="25400"/>
                </a:moveTo>
                <a:lnTo>
                  <a:pt x="309372" y="25400"/>
                </a:lnTo>
                <a:lnTo>
                  <a:pt x="309372" y="50800"/>
                </a:lnTo>
                <a:lnTo>
                  <a:pt x="347472" y="50800"/>
                </a:lnTo>
                <a:lnTo>
                  <a:pt x="372872" y="38100"/>
                </a:lnTo>
                <a:lnTo>
                  <a:pt x="34747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14498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799" y="0"/>
                </a:moveTo>
                <a:lnTo>
                  <a:pt x="296799" y="76200"/>
                </a:lnTo>
                <a:lnTo>
                  <a:pt x="347599" y="50800"/>
                </a:lnTo>
                <a:lnTo>
                  <a:pt x="309499" y="50800"/>
                </a:lnTo>
                <a:lnTo>
                  <a:pt x="309499" y="25400"/>
                </a:lnTo>
                <a:lnTo>
                  <a:pt x="347599" y="25400"/>
                </a:lnTo>
                <a:lnTo>
                  <a:pt x="296799" y="0"/>
                </a:lnTo>
                <a:close/>
              </a:path>
              <a:path w="373380" h="76200">
                <a:moveTo>
                  <a:pt x="29679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799" y="50800"/>
                </a:lnTo>
                <a:lnTo>
                  <a:pt x="296799" y="25400"/>
                </a:lnTo>
                <a:close/>
              </a:path>
              <a:path w="373380" h="76200">
                <a:moveTo>
                  <a:pt x="347599" y="25400"/>
                </a:moveTo>
                <a:lnTo>
                  <a:pt x="309499" y="25400"/>
                </a:lnTo>
                <a:lnTo>
                  <a:pt x="309499" y="50800"/>
                </a:lnTo>
                <a:lnTo>
                  <a:pt x="347599" y="50800"/>
                </a:lnTo>
                <a:lnTo>
                  <a:pt x="372999" y="38100"/>
                </a:lnTo>
                <a:lnTo>
                  <a:pt x="34759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14473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0979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1194" y="840486"/>
            <a:ext cx="2974975" cy="577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 </a:t>
            </a: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T</a:t>
            </a:r>
            <a:endParaRPr sz="1800" baseline="-18518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T’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739" y="4639125"/>
            <a:ext cx="3637279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Sutskever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“Sequence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with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neural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networks”,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NeurIPS </a:t>
            </a:r>
            <a:r>
              <a:rPr sz="750" spc="-20" dirty="0">
                <a:latin typeface="Arial"/>
                <a:cs typeface="Arial"/>
              </a:rPr>
              <a:t>2014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30" baseline="1543" dirty="0"/>
              <a:t> </a:t>
            </a:r>
            <a:r>
              <a:rPr sz="2700" baseline="1543" dirty="0"/>
              <a:t>8</a:t>
            </a:r>
            <a:r>
              <a:rPr sz="2700" spc="-7" baseline="1543" dirty="0"/>
              <a:t> </a:t>
            </a:r>
            <a:r>
              <a:rPr sz="2700" baseline="1543" dirty="0"/>
              <a:t>-</a:t>
            </a:r>
            <a:r>
              <a:rPr sz="2700" spc="427" baseline="1543" dirty="0"/>
              <a:t> </a:t>
            </a:r>
            <a:fld id="{81D60167-4931-47E6-BA6A-407CBD079E47}" type="slidenum">
              <a:rPr sz="2000" spc="-50" dirty="0">
                <a:latin typeface="Arial"/>
                <a:cs typeface="Arial"/>
              </a:rPr>
              <a:t>6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7057" y="1920557"/>
            <a:ext cx="2512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Encoder: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</a:t>
            </a:r>
            <a:r>
              <a:rPr sz="1800" baseline="-18518" dirty="0">
                <a:latin typeface="Arial"/>
                <a:cs typeface="Arial"/>
              </a:rPr>
              <a:t>t</a:t>
            </a:r>
            <a:r>
              <a:rPr sz="1800" spc="232" baseline="-1851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</a:t>
            </a:r>
            <a:r>
              <a:rPr sz="1800" baseline="-18518" dirty="0">
                <a:latin typeface="Arial"/>
                <a:cs typeface="Arial"/>
              </a:rPr>
              <a:t>W</a:t>
            </a:r>
            <a:r>
              <a:rPr sz="1800" dirty="0">
                <a:latin typeface="Arial"/>
                <a:cs typeface="Arial"/>
              </a:rPr>
              <a:t>(x</a:t>
            </a:r>
            <a:r>
              <a:rPr sz="1800" baseline="-18518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</a:t>
            </a:r>
            <a:r>
              <a:rPr sz="1800" baseline="-18518" dirty="0">
                <a:latin typeface="Arial"/>
                <a:cs typeface="Arial"/>
              </a:rPr>
              <a:t>t-</a:t>
            </a:r>
            <a:r>
              <a:rPr sz="1800" spc="-37" baseline="-18518" dirty="0">
                <a:latin typeface="Arial"/>
                <a:cs typeface="Arial"/>
              </a:rPr>
              <a:t>1</a:t>
            </a:r>
            <a:r>
              <a:rPr sz="1800" spc="-2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87020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25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RNNs:</a:t>
            </a:r>
            <a:r>
              <a:rPr spc="70" dirty="0"/>
              <a:t> </a:t>
            </a:r>
            <a:r>
              <a:rPr dirty="0"/>
              <a:t>Encoder</a:t>
            </a:r>
            <a:r>
              <a:rPr spc="250" dirty="0"/>
              <a:t> </a:t>
            </a:r>
            <a:r>
              <a:rPr dirty="0"/>
              <a:t>-</a:t>
            </a:r>
            <a:r>
              <a:rPr spc="145" dirty="0"/>
              <a:t> </a:t>
            </a:r>
            <a:r>
              <a:rPr spc="-10" dirty="0"/>
              <a:t>Decoder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5565" y="840803"/>
            <a:ext cx="3938904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motivating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example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for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today’s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discussion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–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b="1" dirty="0">
                <a:latin typeface="Arial"/>
                <a:cs typeface="Arial"/>
              </a:rPr>
              <a:t>machine</a:t>
            </a:r>
            <a:r>
              <a:rPr sz="1400" b="1" spc="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translation!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English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spc="-110" dirty="0">
                <a:latin typeface="Wingdings"/>
                <a:cs typeface="Wingdings"/>
              </a:rPr>
              <a:t>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Arial"/>
                <a:cs typeface="Arial"/>
              </a:rPr>
              <a:t>Italian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01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586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125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48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610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5332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711" y="63500"/>
                </a:moveTo>
                <a:lnTo>
                  <a:pt x="25311" y="63500"/>
                </a:lnTo>
                <a:lnTo>
                  <a:pt x="27608" y="418338"/>
                </a:lnTo>
                <a:lnTo>
                  <a:pt x="27609" y="418465"/>
                </a:lnTo>
                <a:lnTo>
                  <a:pt x="53009" y="418338"/>
                </a:lnTo>
                <a:lnTo>
                  <a:pt x="50794" y="76326"/>
                </a:lnTo>
                <a:lnTo>
                  <a:pt x="50711" y="63500"/>
                </a:lnTo>
                <a:close/>
              </a:path>
              <a:path w="76200" h="418464">
                <a:moveTo>
                  <a:pt x="37604" y="0"/>
                </a:moveTo>
                <a:lnTo>
                  <a:pt x="0" y="76326"/>
                </a:lnTo>
                <a:lnTo>
                  <a:pt x="25394" y="76326"/>
                </a:lnTo>
                <a:lnTo>
                  <a:pt x="25311" y="63500"/>
                </a:lnTo>
                <a:lnTo>
                  <a:pt x="69875" y="63500"/>
                </a:lnTo>
                <a:lnTo>
                  <a:pt x="37604" y="0"/>
                </a:lnTo>
                <a:close/>
              </a:path>
              <a:path w="76200" h="418464">
                <a:moveTo>
                  <a:pt x="69875" y="63500"/>
                </a:moveTo>
                <a:lnTo>
                  <a:pt x="50711" y="63500"/>
                </a:lnTo>
                <a:lnTo>
                  <a:pt x="50794" y="76326"/>
                </a:lnTo>
                <a:lnTo>
                  <a:pt x="0" y="76326"/>
                </a:lnTo>
                <a:lnTo>
                  <a:pt x="76200" y="75946"/>
                </a:lnTo>
                <a:lnTo>
                  <a:pt x="6987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9624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4862" y="2757551"/>
            <a:ext cx="375920" cy="76200"/>
          </a:xfrm>
          <a:custGeom>
            <a:avLst/>
            <a:gdLst/>
            <a:ahLst/>
            <a:cxnLst/>
            <a:rect l="l" t="t" r="r" b="b"/>
            <a:pathLst>
              <a:path w="375919" h="76200">
                <a:moveTo>
                  <a:pt x="299402" y="0"/>
                </a:moveTo>
                <a:lnTo>
                  <a:pt x="299402" y="76200"/>
                </a:lnTo>
                <a:lnTo>
                  <a:pt x="350202" y="50800"/>
                </a:lnTo>
                <a:lnTo>
                  <a:pt x="312102" y="50800"/>
                </a:lnTo>
                <a:lnTo>
                  <a:pt x="312102" y="25400"/>
                </a:lnTo>
                <a:lnTo>
                  <a:pt x="350202" y="25400"/>
                </a:lnTo>
                <a:lnTo>
                  <a:pt x="299402" y="0"/>
                </a:lnTo>
                <a:close/>
              </a:path>
              <a:path w="375919" h="76200">
                <a:moveTo>
                  <a:pt x="2994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9402" y="50800"/>
                </a:lnTo>
                <a:lnTo>
                  <a:pt x="299402" y="25400"/>
                </a:lnTo>
                <a:close/>
              </a:path>
              <a:path w="375919" h="76200">
                <a:moveTo>
                  <a:pt x="350202" y="25400"/>
                </a:moveTo>
                <a:lnTo>
                  <a:pt x="312102" y="25400"/>
                </a:lnTo>
                <a:lnTo>
                  <a:pt x="312102" y="50800"/>
                </a:lnTo>
                <a:lnTo>
                  <a:pt x="350202" y="50800"/>
                </a:lnTo>
                <a:lnTo>
                  <a:pt x="375602" y="38100"/>
                </a:lnTo>
                <a:lnTo>
                  <a:pt x="3502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09775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672" y="0"/>
                </a:moveTo>
                <a:lnTo>
                  <a:pt x="296672" y="76200"/>
                </a:lnTo>
                <a:lnTo>
                  <a:pt x="347472" y="50800"/>
                </a:lnTo>
                <a:lnTo>
                  <a:pt x="309372" y="50800"/>
                </a:lnTo>
                <a:lnTo>
                  <a:pt x="309372" y="25400"/>
                </a:lnTo>
                <a:lnTo>
                  <a:pt x="347472" y="25400"/>
                </a:lnTo>
                <a:lnTo>
                  <a:pt x="296672" y="0"/>
                </a:lnTo>
                <a:close/>
              </a:path>
              <a:path w="373380" h="76200">
                <a:moveTo>
                  <a:pt x="29667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672" y="50800"/>
                </a:lnTo>
                <a:lnTo>
                  <a:pt x="296672" y="25400"/>
                </a:lnTo>
                <a:close/>
              </a:path>
              <a:path w="373380" h="76200">
                <a:moveTo>
                  <a:pt x="347472" y="25400"/>
                </a:moveTo>
                <a:lnTo>
                  <a:pt x="309372" y="25400"/>
                </a:lnTo>
                <a:lnTo>
                  <a:pt x="309372" y="50800"/>
                </a:lnTo>
                <a:lnTo>
                  <a:pt x="347472" y="50800"/>
                </a:lnTo>
                <a:lnTo>
                  <a:pt x="372872" y="38100"/>
                </a:lnTo>
                <a:lnTo>
                  <a:pt x="34747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14498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799" y="0"/>
                </a:moveTo>
                <a:lnTo>
                  <a:pt x="296799" y="76200"/>
                </a:lnTo>
                <a:lnTo>
                  <a:pt x="347599" y="50800"/>
                </a:lnTo>
                <a:lnTo>
                  <a:pt x="309499" y="50800"/>
                </a:lnTo>
                <a:lnTo>
                  <a:pt x="309499" y="25400"/>
                </a:lnTo>
                <a:lnTo>
                  <a:pt x="347599" y="25400"/>
                </a:lnTo>
                <a:lnTo>
                  <a:pt x="296799" y="0"/>
                </a:lnTo>
                <a:close/>
              </a:path>
              <a:path w="373380" h="76200">
                <a:moveTo>
                  <a:pt x="29679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799" y="50800"/>
                </a:lnTo>
                <a:lnTo>
                  <a:pt x="296799" y="25400"/>
                </a:lnTo>
                <a:close/>
              </a:path>
              <a:path w="373380" h="76200">
                <a:moveTo>
                  <a:pt x="347599" y="25400"/>
                </a:moveTo>
                <a:lnTo>
                  <a:pt x="309499" y="25400"/>
                </a:lnTo>
                <a:lnTo>
                  <a:pt x="309499" y="50800"/>
                </a:lnTo>
                <a:lnTo>
                  <a:pt x="347599" y="50800"/>
                </a:lnTo>
                <a:lnTo>
                  <a:pt x="372999" y="38100"/>
                </a:lnTo>
                <a:lnTo>
                  <a:pt x="34759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14473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0979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14876" y="3414776"/>
            <a:ext cx="323850" cy="4476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50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19476" y="2782951"/>
            <a:ext cx="1293495" cy="894715"/>
          </a:xfrm>
          <a:custGeom>
            <a:avLst/>
            <a:gdLst/>
            <a:ahLst/>
            <a:cxnLst/>
            <a:rect l="l" t="t" r="r" b="b"/>
            <a:pathLst>
              <a:path w="1293495" h="894714">
                <a:moveTo>
                  <a:pt x="1217295" y="818134"/>
                </a:moveTo>
                <a:lnTo>
                  <a:pt x="1217295" y="894334"/>
                </a:lnTo>
                <a:lnTo>
                  <a:pt x="1268095" y="868934"/>
                </a:lnTo>
                <a:lnTo>
                  <a:pt x="1229995" y="868934"/>
                </a:lnTo>
                <a:lnTo>
                  <a:pt x="1229995" y="843534"/>
                </a:lnTo>
                <a:lnTo>
                  <a:pt x="1268095" y="843534"/>
                </a:lnTo>
                <a:lnTo>
                  <a:pt x="1217295" y="818134"/>
                </a:lnTo>
                <a:close/>
              </a:path>
              <a:path w="1293495" h="894714">
                <a:moveTo>
                  <a:pt x="633984" y="12700"/>
                </a:moveTo>
                <a:lnTo>
                  <a:pt x="633984" y="863219"/>
                </a:lnTo>
                <a:lnTo>
                  <a:pt x="639699" y="868934"/>
                </a:lnTo>
                <a:lnTo>
                  <a:pt x="1217295" y="868934"/>
                </a:lnTo>
                <a:lnTo>
                  <a:pt x="1217295" y="856234"/>
                </a:lnTo>
                <a:lnTo>
                  <a:pt x="659384" y="856234"/>
                </a:lnTo>
                <a:lnTo>
                  <a:pt x="646684" y="843534"/>
                </a:lnTo>
                <a:lnTo>
                  <a:pt x="659384" y="843534"/>
                </a:lnTo>
                <a:lnTo>
                  <a:pt x="659384" y="25400"/>
                </a:lnTo>
                <a:lnTo>
                  <a:pt x="646684" y="25400"/>
                </a:lnTo>
                <a:lnTo>
                  <a:pt x="633984" y="12700"/>
                </a:lnTo>
                <a:close/>
              </a:path>
              <a:path w="1293495" h="894714">
                <a:moveTo>
                  <a:pt x="1268095" y="843534"/>
                </a:moveTo>
                <a:lnTo>
                  <a:pt x="1229995" y="843534"/>
                </a:lnTo>
                <a:lnTo>
                  <a:pt x="1229995" y="868934"/>
                </a:lnTo>
                <a:lnTo>
                  <a:pt x="1268095" y="868934"/>
                </a:lnTo>
                <a:lnTo>
                  <a:pt x="1293495" y="856234"/>
                </a:lnTo>
                <a:lnTo>
                  <a:pt x="1268095" y="843534"/>
                </a:lnTo>
                <a:close/>
              </a:path>
              <a:path w="1293495" h="894714">
                <a:moveTo>
                  <a:pt x="659384" y="843534"/>
                </a:moveTo>
                <a:lnTo>
                  <a:pt x="646684" y="843534"/>
                </a:lnTo>
                <a:lnTo>
                  <a:pt x="659384" y="856234"/>
                </a:lnTo>
                <a:lnTo>
                  <a:pt x="659384" y="843534"/>
                </a:lnTo>
                <a:close/>
              </a:path>
              <a:path w="1293495" h="894714">
                <a:moveTo>
                  <a:pt x="1217295" y="843534"/>
                </a:moveTo>
                <a:lnTo>
                  <a:pt x="659384" y="843534"/>
                </a:lnTo>
                <a:lnTo>
                  <a:pt x="659384" y="856234"/>
                </a:lnTo>
                <a:lnTo>
                  <a:pt x="1217295" y="856234"/>
                </a:lnTo>
                <a:lnTo>
                  <a:pt x="1217295" y="843534"/>
                </a:lnTo>
                <a:close/>
              </a:path>
              <a:path w="1293495" h="894714">
                <a:moveTo>
                  <a:pt x="653669" y="0"/>
                </a:moveTo>
                <a:lnTo>
                  <a:pt x="0" y="0"/>
                </a:lnTo>
                <a:lnTo>
                  <a:pt x="0" y="25400"/>
                </a:lnTo>
                <a:lnTo>
                  <a:pt x="633984" y="25400"/>
                </a:lnTo>
                <a:lnTo>
                  <a:pt x="633984" y="12700"/>
                </a:lnTo>
                <a:lnTo>
                  <a:pt x="659384" y="12700"/>
                </a:lnTo>
                <a:lnTo>
                  <a:pt x="659384" y="5587"/>
                </a:lnTo>
                <a:lnTo>
                  <a:pt x="653669" y="0"/>
                </a:lnTo>
                <a:close/>
              </a:path>
              <a:path w="1293495" h="894714">
                <a:moveTo>
                  <a:pt x="659384" y="12700"/>
                </a:moveTo>
                <a:lnTo>
                  <a:pt x="633984" y="12700"/>
                </a:lnTo>
                <a:lnTo>
                  <a:pt x="646684" y="25400"/>
                </a:lnTo>
                <a:lnTo>
                  <a:pt x="659384" y="25400"/>
                </a:lnTo>
                <a:lnTo>
                  <a:pt x="65938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61657" y="840486"/>
            <a:ext cx="5269230" cy="1524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 </a:t>
            </a: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T</a:t>
            </a:r>
            <a:endParaRPr sz="1800" baseline="-18518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T’</a:t>
            </a:r>
            <a:endParaRPr sz="1800" baseline="-18518">
              <a:latin typeface="Arial"/>
              <a:cs typeface="Arial"/>
            </a:endParaRPr>
          </a:p>
          <a:p>
            <a:pPr marL="2603500">
              <a:lnSpc>
                <a:spcPts val="1650"/>
              </a:lnSpc>
              <a:spcBef>
                <a:spcPts val="205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 </a:t>
            </a:r>
            <a:r>
              <a:rPr sz="1500" spc="-10" dirty="0">
                <a:latin typeface="Arial"/>
                <a:cs typeface="Arial"/>
              </a:rPr>
              <a:t>hidden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state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predict:</a:t>
            </a:r>
            <a:endParaRPr sz="1500">
              <a:latin typeface="Arial"/>
              <a:cs typeface="Arial"/>
            </a:endParaRPr>
          </a:p>
          <a:p>
            <a:pPr marL="63500">
              <a:lnSpc>
                <a:spcPts val="1985"/>
              </a:lnSpc>
            </a:pPr>
            <a:r>
              <a:rPr sz="2700" b="1" baseline="-18518" dirty="0">
                <a:latin typeface="Arial"/>
                <a:cs typeface="Arial"/>
              </a:rPr>
              <a:t>Encoder:</a:t>
            </a:r>
            <a:r>
              <a:rPr sz="2700" b="1" spc="-37" baseline="-18518" dirty="0">
                <a:latin typeface="Arial"/>
                <a:cs typeface="Arial"/>
              </a:rPr>
              <a:t> </a:t>
            </a:r>
            <a:r>
              <a:rPr sz="2700" baseline="-18518" dirty="0">
                <a:latin typeface="Arial"/>
                <a:cs typeface="Arial"/>
              </a:rPr>
              <a:t>h</a:t>
            </a:r>
            <a:r>
              <a:rPr sz="1800" baseline="-46296" dirty="0">
                <a:latin typeface="Arial"/>
                <a:cs typeface="Arial"/>
              </a:rPr>
              <a:t>t</a:t>
            </a:r>
            <a:r>
              <a:rPr sz="1800" spc="232" baseline="-46296" dirty="0">
                <a:latin typeface="Arial"/>
                <a:cs typeface="Arial"/>
              </a:rPr>
              <a:t> </a:t>
            </a:r>
            <a:r>
              <a:rPr sz="2700" baseline="-18518" dirty="0">
                <a:latin typeface="Arial"/>
                <a:cs typeface="Arial"/>
              </a:rPr>
              <a:t>= f</a:t>
            </a:r>
            <a:r>
              <a:rPr sz="1800" baseline="-46296" dirty="0">
                <a:latin typeface="Arial"/>
                <a:cs typeface="Arial"/>
              </a:rPr>
              <a:t>W</a:t>
            </a:r>
            <a:r>
              <a:rPr sz="2700" baseline="-18518" dirty="0">
                <a:latin typeface="Arial"/>
                <a:cs typeface="Arial"/>
              </a:rPr>
              <a:t>(x</a:t>
            </a:r>
            <a:r>
              <a:rPr sz="1800" baseline="-46296" dirty="0">
                <a:latin typeface="Arial"/>
                <a:cs typeface="Arial"/>
              </a:rPr>
              <a:t>t</a:t>
            </a:r>
            <a:r>
              <a:rPr sz="2700" baseline="-18518" dirty="0">
                <a:latin typeface="Arial"/>
                <a:cs typeface="Arial"/>
              </a:rPr>
              <a:t>,</a:t>
            </a:r>
            <a:r>
              <a:rPr sz="2700" spc="-67" baseline="-18518" dirty="0">
                <a:latin typeface="Arial"/>
                <a:cs typeface="Arial"/>
              </a:rPr>
              <a:t> </a:t>
            </a:r>
            <a:r>
              <a:rPr sz="2700" baseline="-18518" dirty="0">
                <a:latin typeface="Arial"/>
                <a:cs typeface="Arial"/>
              </a:rPr>
              <a:t>h</a:t>
            </a:r>
            <a:r>
              <a:rPr sz="1800" baseline="-46296" dirty="0">
                <a:latin typeface="Arial"/>
                <a:cs typeface="Arial"/>
              </a:rPr>
              <a:t>t-1</a:t>
            </a:r>
            <a:r>
              <a:rPr sz="2700" baseline="-18518" dirty="0">
                <a:latin typeface="Arial"/>
                <a:cs typeface="Arial"/>
              </a:rPr>
              <a:t>)</a:t>
            </a:r>
            <a:r>
              <a:rPr sz="2700" spc="442" baseline="-1851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  <a:p>
            <a:pPr marL="2603500">
              <a:lnSpc>
                <a:spcPts val="1775"/>
              </a:lnSpc>
            </a:pPr>
            <a:r>
              <a:rPr sz="1500" b="1" dirty="0">
                <a:latin typeface="Arial"/>
                <a:cs typeface="Arial"/>
              </a:rPr>
              <a:t>Context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vector </a:t>
            </a:r>
            <a:r>
              <a:rPr sz="1500" dirty="0">
                <a:latin typeface="Arial"/>
                <a:cs typeface="Arial"/>
              </a:rPr>
              <a:t>c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(often</a:t>
            </a:r>
            <a:r>
              <a:rPr sz="1500" spc="-20" dirty="0">
                <a:latin typeface="Arial"/>
                <a:cs typeface="Arial"/>
              </a:rPr>
              <a:t> c=h</a:t>
            </a:r>
            <a:r>
              <a:rPr sz="1425" spc="-30" baseline="-17543" dirty="0">
                <a:latin typeface="Arial"/>
                <a:cs typeface="Arial"/>
              </a:rPr>
              <a:t>T</a:t>
            </a:r>
            <a:r>
              <a:rPr sz="1500" spc="-20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739" y="4639125"/>
            <a:ext cx="3637279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Sutskever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“Sequence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with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neural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networks”,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NeurIPS </a:t>
            </a:r>
            <a:r>
              <a:rPr sz="750" spc="-20" dirty="0">
                <a:latin typeface="Arial"/>
                <a:cs typeface="Arial"/>
              </a:rPr>
              <a:t>2014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30" baseline="1543" dirty="0"/>
              <a:t> </a:t>
            </a:r>
            <a:r>
              <a:rPr sz="2700" baseline="1543" dirty="0"/>
              <a:t>8</a:t>
            </a:r>
            <a:r>
              <a:rPr sz="2700" spc="-7" baseline="1543" dirty="0"/>
              <a:t> </a:t>
            </a:r>
            <a:r>
              <a:rPr sz="2700" baseline="1543" dirty="0"/>
              <a:t>-</a:t>
            </a:r>
            <a:r>
              <a:rPr sz="2700" spc="427" baseline="1543" dirty="0"/>
              <a:t> </a:t>
            </a:r>
            <a:fld id="{81D60167-4931-47E6-BA6A-407CBD079E47}" type="slidenum">
              <a:rPr sz="2000" spc="-50" dirty="0">
                <a:latin typeface="Arial"/>
                <a:cs typeface="Arial"/>
              </a:rPr>
              <a:t>7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550418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3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dirty="0"/>
              <a:t>Sequence</a:t>
            </a:r>
            <a:r>
              <a:rPr spc="130" dirty="0"/>
              <a:t> </a:t>
            </a:r>
            <a:r>
              <a:rPr dirty="0"/>
              <a:t>with</a:t>
            </a:r>
            <a:r>
              <a:rPr spc="135" dirty="0"/>
              <a:t> </a:t>
            </a:r>
            <a:r>
              <a:rPr spc="-20" dirty="0"/>
              <a:t>RNNs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50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01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586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125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48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1190" y="4027170"/>
            <a:ext cx="5410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24601" y="3443287"/>
            <a:ext cx="304800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8610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5332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711" y="63500"/>
                </a:moveTo>
                <a:lnTo>
                  <a:pt x="25311" y="63500"/>
                </a:lnTo>
                <a:lnTo>
                  <a:pt x="27608" y="418338"/>
                </a:lnTo>
                <a:lnTo>
                  <a:pt x="27609" y="418465"/>
                </a:lnTo>
                <a:lnTo>
                  <a:pt x="53009" y="418338"/>
                </a:lnTo>
                <a:lnTo>
                  <a:pt x="50794" y="76326"/>
                </a:lnTo>
                <a:lnTo>
                  <a:pt x="50711" y="63500"/>
                </a:lnTo>
                <a:close/>
              </a:path>
              <a:path w="76200" h="418464">
                <a:moveTo>
                  <a:pt x="37604" y="0"/>
                </a:moveTo>
                <a:lnTo>
                  <a:pt x="0" y="76326"/>
                </a:lnTo>
                <a:lnTo>
                  <a:pt x="25394" y="76326"/>
                </a:lnTo>
                <a:lnTo>
                  <a:pt x="25311" y="63500"/>
                </a:lnTo>
                <a:lnTo>
                  <a:pt x="69875" y="63500"/>
                </a:lnTo>
                <a:lnTo>
                  <a:pt x="37604" y="0"/>
                </a:lnTo>
                <a:close/>
              </a:path>
              <a:path w="76200" h="418464">
                <a:moveTo>
                  <a:pt x="69875" y="63500"/>
                </a:moveTo>
                <a:lnTo>
                  <a:pt x="50711" y="63500"/>
                </a:lnTo>
                <a:lnTo>
                  <a:pt x="50794" y="76326"/>
                </a:lnTo>
                <a:lnTo>
                  <a:pt x="0" y="76326"/>
                </a:lnTo>
                <a:lnTo>
                  <a:pt x="76200" y="75946"/>
                </a:lnTo>
                <a:lnTo>
                  <a:pt x="6987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09624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04862" y="2757551"/>
            <a:ext cx="375920" cy="76200"/>
          </a:xfrm>
          <a:custGeom>
            <a:avLst/>
            <a:gdLst/>
            <a:ahLst/>
            <a:cxnLst/>
            <a:rect l="l" t="t" r="r" b="b"/>
            <a:pathLst>
              <a:path w="375919" h="76200">
                <a:moveTo>
                  <a:pt x="299402" y="0"/>
                </a:moveTo>
                <a:lnTo>
                  <a:pt x="299402" y="76200"/>
                </a:lnTo>
                <a:lnTo>
                  <a:pt x="350202" y="50800"/>
                </a:lnTo>
                <a:lnTo>
                  <a:pt x="312102" y="50800"/>
                </a:lnTo>
                <a:lnTo>
                  <a:pt x="312102" y="25400"/>
                </a:lnTo>
                <a:lnTo>
                  <a:pt x="350202" y="25400"/>
                </a:lnTo>
                <a:lnTo>
                  <a:pt x="299402" y="0"/>
                </a:lnTo>
                <a:close/>
              </a:path>
              <a:path w="375919" h="76200">
                <a:moveTo>
                  <a:pt x="2994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9402" y="50800"/>
                </a:lnTo>
                <a:lnTo>
                  <a:pt x="299402" y="25400"/>
                </a:lnTo>
                <a:close/>
              </a:path>
              <a:path w="375919" h="76200">
                <a:moveTo>
                  <a:pt x="350202" y="25400"/>
                </a:moveTo>
                <a:lnTo>
                  <a:pt x="312102" y="25400"/>
                </a:lnTo>
                <a:lnTo>
                  <a:pt x="312102" y="50800"/>
                </a:lnTo>
                <a:lnTo>
                  <a:pt x="350202" y="50800"/>
                </a:lnTo>
                <a:lnTo>
                  <a:pt x="375602" y="38100"/>
                </a:lnTo>
                <a:lnTo>
                  <a:pt x="3502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09775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672" y="0"/>
                </a:moveTo>
                <a:lnTo>
                  <a:pt x="296672" y="76200"/>
                </a:lnTo>
                <a:lnTo>
                  <a:pt x="347472" y="50800"/>
                </a:lnTo>
                <a:lnTo>
                  <a:pt x="309372" y="50800"/>
                </a:lnTo>
                <a:lnTo>
                  <a:pt x="309372" y="25400"/>
                </a:lnTo>
                <a:lnTo>
                  <a:pt x="347472" y="25400"/>
                </a:lnTo>
                <a:lnTo>
                  <a:pt x="296672" y="0"/>
                </a:lnTo>
                <a:close/>
              </a:path>
              <a:path w="373380" h="76200">
                <a:moveTo>
                  <a:pt x="29667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672" y="50800"/>
                </a:lnTo>
                <a:lnTo>
                  <a:pt x="296672" y="25400"/>
                </a:lnTo>
                <a:close/>
              </a:path>
              <a:path w="373380" h="76200">
                <a:moveTo>
                  <a:pt x="347472" y="25400"/>
                </a:moveTo>
                <a:lnTo>
                  <a:pt x="309372" y="25400"/>
                </a:lnTo>
                <a:lnTo>
                  <a:pt x="309372" y="50800"/>
                </a:lnTo>
                <a:lnTo>
                  <a:pt x="347472" y="50800"/>
                </a:lnTo>
                <a:lnTo>
                  <a:pt x="372872" y="38100"/>
                </a:lnTo>
                <a:lnTo>
                  <a:pt x="34747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14498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799" y="0"/>
                </a:moveTo>
                <a:lnTo>
                  <a:pt x="296799" y="76200"/>
                </a:lnTo>
                <a:lnTo>
                  <a:pt x="347599" y="50800"/>
                </a:lnTo>
                <a:lnTo>
                  <a:pt x="309499" y="50800"/>
                </a:lnTo>
                <a:lnTo>
                  <a:pt x="309499" y="25400"/>
                </a:lnTo>
                <a:lnTo>
                  <a:pt x="347599" y="25400"/>
                </a:lnTo>
                <a:lnTo>
                  <a:pt x="296799" y="0"/>
                </a:lnTo>
                <a:close/>
              </a:path>
              <a:path w="373380" h="76200">
                <a:moveTo>
                  <a:pt x="29679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799" y="50800"/>
                </a:lnTo>
                <a:lnTo>
                  <a:pt x="296799" y="25400"/>
                </a:lnTo>
                <a:close/>
              </a:path>
              <a:path w="373380" h="76200">
                <a:moveTo>
                  <a:pt x="347599" y="25400"/>
                </a:moveTo>
                <a:lnTo>
                  <a:pt x="309499" y="25400"/>
                </a:lnTo>
                <a:lnTo>
                  <a:pt x="309499" y="50800"/>
                </a:lnTo>
                <a:lnTo>
                  <a:pt x="347599" y="50800"/>
                </a:lnTo>
                <a:lnTo>
                  <a:pt x="372999" y="38100"/>
                </a:lnTo>
                <a:lnTo>
                  <a:pt x="34759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14473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0979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214876" y="3414776"/>
            <a:ext cx="323850" cy="4476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50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38598" y="2757551"/>
            <a:ext cx="1273810" cy="76200"/>
          </a:xfrm>
          <a:custGeom>
            <a:avLst/>
            <a:gdLst/>
            <a:ahLst/>
            <a:cxnLst/>
            <a:rect l="l" t="t" r="r" b="b"/>
            <a:pathLst>
              <a:path w="1273810" h="76200">
                <a:moveTo>
                  <a:pt x="1197610" y="0"/>
                </a:moveTo>
                <a:lnTo>
                  <a:pt x="1197610" y="76200"/>
                </a:lnTo>
                <a:lnTo>
                  <a:pt x="1248410" y="50800"/>
                </a:lnTo>
                <a:lnTo>
                  <a:pt x="1210310" y="50800"/>
                </a:lnTo>
                <a:lnTo>
                  <a:pt x="1210310" y="25400"/>
                </a:lnTo>
                <a:lnTo>
                  <a:pt x="1248410" y="25400"/>
                </a:lnTo>
                <a:lnTo>
                  <a:pt x="1197610" y="0"/>
                </a:lnTo>
                <a:close/>
              </a:path>
              <a:path w="1273810" h="76200">
                <a:moveTo>
                  <a:pt x="119761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197610" y="50800"/>
                </a:lnTo>
                <a:lnTo>
                  <a:pt x="1197610" y="25400"/>
                </a:lnTo>
                <a:close/>
              </a:path>
              <a:path w="1273810" h="76200">
                <a:moveTo>
                  <a:pt x="1248410" y="25400"/>
                </a:moveTo>
                <a:lnTo>
                  <a:pt x="1210310" y="25400"/>
                </a:lnTo>
                <a:lnTo>
                  <a:pt x="1210310" y="50800"/>
                </a:lnTo>
                <a:lnTo>
                  <a:pt x="1248410" y="50800"/>
                </a:lnTo>
                <a:lnTo>
                  <a:pt x="1273810" y="38100"/>
                </a:lnTo>
                <a:lnTo>
                  <a:pt x="124841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938901" y="2147951"/>
            <a:ext cx="76200" cy="422275"/>
          </a:xfrm>
          <a:custGeom>
            <a:avLst/>
            <a:gdLst/>
            <a:ahLst/>
            <a:cxnLst/>
            <a:rect l="l" t="t" r="r" b="b"/>
            <a:pathLst>
              <a:path w="76200" h="422275">
                <a:moveTo>
                  <a:pt x="50673" y="63500"/>
                </a:moveTo>
                <a:lnTo>
                  <a:pt x="25273" y="63500"/>
                </a:lnTo>
                <a:lnTo>
                  <a:pt x="25400" y="421767"/>
                </a:lnTo>
                <a:lnTo>
                  <a:pt x="50800" y="421767"/>
                </a:lnTo>
                <a:lnTo>
                  <a:pt x="50673" y="63500"/>
                </a:lnTo>
                <a:close/>
              </a:path>
              <a:path w="76200" h="422275">
                <a:moveTo>
                  <a:pt x="37973" y="0"/>
                </a:moveTo>
                <a:lnTo>
                  <a:pt x="0" y="76200"/>
                </a:lnTo>
                <a:lnTo>
                  <a:pt x="25277" y="76200"/>
                </a:lnTo>
                <a:lnTo>
                  <a:pt x="25273" y="63500"/>
                </a:lnTo>
                <a:lnTo>
                  <a:pt x="69828" y="63500"/>
                </a:lnTo>
                <a:lnTo>
                  <a:pt x="37973" y="0"/>
                </a:lnTo>
                <a:close/>
              </a:path>
              <a:path w="76200" h="422275">
                <a:moveTo>
                  <a:pt x="69828" y="63500"/>
                </a:moveTo>
                <a:lnTo>
                  <a:pt x="50673" y="63500"/>
                </a:lnTo>
                <a:lnTo>
                  <a:pt x="50677" y="76200"/>
                </a:lnTo>
                <a:lnTo>
                  <a:pt x="76200" y="76200"/>
                </a:lnTo>
                <a:lnTo>
                  <a:pt x="69828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4526026" y="3024251"/>
            <a:ext cx="1489075" cy="625475"/>
            <a:chOff x="4526026" y="3024251"/>
            <a:chExt cx="1489075" cy="625475"/>
          </a:xfrm>
        </p:grpSpPr>
        <p:sp>
          <p:nvSpPr>
            <p:cNvPr id="27" name="object 27"/>
            <p:cNvSpPr/>
            <p:nvPr/>
          </p:nvSpPr>
          <p:spPr>
            <a:xfrm>
              <a:off x="5938901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673" y="63500"/>
                  </a:moveTo>
                  <a:lnTo>
                    <a:pt x="25273" y="63500"/>
                  </a:lnTo>
                  <a:lnTo>
                    <a:pt x="25400" y="418465"/>
                  </a:lnTo>
                  <a:lnTo>
                    <a:pt x="50800" y="418465"/>
                  </a:lnTo>
                  <a:lnTo>
                    <a:pt x="50673" y="63500"/>
                  </a:lnTo>
                  <a:close/>
                </a:path>
                <a:path w="76200" h="418464">
                  <a:moveTo>
                    <a:pt x="37973" y="0"/>
                  </a:moveTo>
                  <a:lnTo>
                    <a:pt x="0" y="76200"/>
                  </a:lnTo>
                  <a:lnTo>
                    <a:pt x="25277" y="76200"/>
                  </a:lnTo>
                  <a:lnTo>
                    <a:pt x="25273" y="63500"/>
                  </a:lnTo>
                  <a:lnTo>
                    <a:pt x="69828" y="63500"/>
                  </a:lnTo>
                  <a:lnTo>
                    <a:pt x="37973" y="0"/>
                  </a:lnTo>
                  <a:close/>
                </a:path>
                <a:path w="76200" h="418464">
                  <a:moveTo>
                    <a:pt x="69828" y="63500"/>
                  </a:moveTo>
                  <a:lnTo>
                    <a:pt x="50673" y="63500"/>
                  </a:lnTo>
                  <a:lnTo>
                    <a:pt x="50677" y="76200"/>
                  </a:lnTo>
                  <a:lnTo>
                    <a:pt x="76200" y="76200"/>
                  </a:lnTo>
                  <a:lnTo>
                    <a:pt x="69828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38726" y="3224276"/>
              <a:ext cx="376555" cy="412750"/>
            </a:xfrm>
            <a:custGeom>
              <a:avLst/>
              <a:gdLst/>
              <a:ahLst/>
              <a:cxnLst/>
              <a:rect l="l" t="t" r="r" b="b"/>
              <a:pathLst>
                <a:path w="376554" h="412750">
                  <a:moveTo>
                    <a:pt x="0" y="412750"/>
                  </a:moveTo>
                  <a:lnTo>
                    <a:pt x="376174" y="412750"/>
                  </a:lnTo>
                  <a:lnTo>
                    <a:pt x="376174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19599" y="3024251"/>
              <a:ext cx="1002665" cy="217170"/>
            </a:xfrm>
            <a:custGeom>
              <a:avLst/>
              <a:gdLst/>
              <a:ahLst/>
              <a:cxnLst/>
              <a:rect l="l" t="t" r="r" b="b"/>
              <a:pathLst>
                <a:path w="1002664" h="217169">
                  <a:moveTo>
                    <a:pt x="951864" y="191516"/>
                  </a:moveTo>
                  <a:lnTo>
                    <a:pt x="0" y="191516"/>
                  </a:lnTo>
                  <a:lnTo>
                    <a:pt x="0" y="216916"/>
                  </a:lnTo>
                  <a:lnTo>
                    <a:pt x="971550" y="216916"/>
                  </a:lnTo>
                  <a:lnTo>
                    <a:pt x="977264" y="211200"/>
                  </a:lnTo>
                  <a:lnTo>
                    <a:pt x="977264" y="204216"/>
                  </a:lnTo>
                  <a:lnTo>
                    <a:pt x="951864" y="204216"/>
                  </a:lnTo>
                  <a:lnTo>
                    <a:pt x="951864" y="191516"/>
                  </a:lnTo>
                  <a:close/>
                </a:path>
                <a:path w="1002664" h="217169">
                  <a:moveTo>
                    <a:pt x="977264" y="63500"/>
                  </a:moveTo>
                  <a:lnTo>
                    <a:pt x="951864" y="63500"/>
                  </a:lnTo>
                  <a:lnTo>
                    <a:pt x="951864" y="204216"/>
                  </a:lnTo>
                  <a:lnTo>
                    <a:pt x="964564" y="191516"/>
                  </a:lnTo>
                  <a:lnTo>
                    <a:pt x="977264" y="191516"/>
                  </a:lnTo>
                  <a:lnTo>
                    <a:pt x="977264" y="63500"/>
                  </a:lnTo>
                  <a:close/>
                </a:path>
                <a:path w="1002664" h="217169">
                  <a:moveTo>
                    <a:pt x="977264" y="191516"/>
                  </a:moveTo>
                  <a:lnTo>
                    <a:pt x="964564" y="191516"/>
                  </a:lnTo>
                  <a:lnTo>
                    <a:pt x="951864" y="204216"/>
                  </a:lnTo>
                  <a:lnTo>
                    <a:pt x="977264" y="204216"/>
                  </a:lnTo>
                  <a:lnTo>
                    <a:pt x="977264" y="191516"/>
                  </a:lnTo>
                  <a:close/>
                </a:path>
                <a:path w="1002664" h="217169">
                  <a:moveTo>
                    <a:pt x="964564" y="0"/>
                  </a:moveTo>
                  <a:lnTo>
                    <a:pt x="926464" y="76200"/>
                  </a:lnTo>
                  <a:lnTo>
                    <a:pt x="951864" y="76200"/>
                  </a:lnTo>
                  <a:lnTo>
                    <a:pt x="951864" y="63500"/>
                  </a:lnTo>
                  <a:lnTo>
                    <a:pt x="996314" y="63500"/>
                  </a:lnTo>
                  <a:lnTo>
                    <a:pt x="964564" y="0"/>
                  </a:lnTo>
                  <a:close/>
                </a:path>
                <a:path w="1002664" h="217169">
                  <a:moveTo>
                    <a:pt x="996314" y="63500"/>
                  </a:moveTo>
                  <a:lnTo>
                    <a:pt x="977264" y="63500"/>
                  </a:lnTo>
                  <a:lnTo>
                    <a:pt x="977264" y="76200"/>
                  </a:lnTo>
                  <a:lnTo>
                    <a:pt x="1002664" y="76200"/>
                  </a:lnTo>
                  <a:lnTo>
                    <a:pt x="996314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2919476" y="2782951"/>
            <a:ext cx="1293495" cy="894715"/>
          </a:xfrm>
          <a:custGeom>
            <a:avLst/>
            <a:gdLst/>
            <a:ahLst/>
            <a:cxnLst/>
            <a:rect l="l" t="t" r="r" b="b"/>
            <a:pathLst>
              <a:path w="1293495" h="894714">
                <a:moveTo>
                  <a:pt x="1217295" y="818134"/>
                </a:moveTo>
                <a:lnTo>
                  <a:pt x="1217295" y="894334"/>
                </a:lnTo>
                <a:lnTo>
                  <a:pt x="1268095" y="868934"/>
                </a:lnTo>
                <a:lnTo>
                  <a:pt x="1229995" y="868934"/>
                </a:lnTo>
                <a:lnTo>
                  <a:pt x="1229995" y="843534"/>
                </a:lnTo>
                <a:lnTo>
                  <a:pt x="1268095" y="843534"/>
                </a:lnTo>
                <a:lnTo>
                  <a:pt x="1217295" y="818134"/>
                </a:lnTo>
                <a:close/>
              </a:path>
              <a:path w="1293495" h="894714">
                <a:moveTo>
                  <a:pt x="633984" y="12700"/>
                </a:moveTo>
                <a:lnTo>
                  <a:pt x="633984" y="863219"/>
                </a:lnTo>
                <a:lnTo>
                  <a:pt x="639699" y="868934"/>
                </a:lnTo>
                <a:lnTo>
                  <a:pt x="1217295" y="868934"/>
                </a:lnTo>
                <a:lnTo>
                  <a:pt x="1217295" y="856234"/>
                </a:lnTo>
                <a:lnTo>
                  <a:pt x="659384" y="856234"/>
                </a:lnTo>
                <a:lnTo>
                  <a:pt x="646684" y="843534"/>
                </a:lnTo>
                <a:lnTo>
                  <a:pt x="659384" y="843534"/>
                </a:lnTo>
                <a:lnTo>
                  <a:pt x="659384" y="25400"/>
                </a:lnTo>
                <a:lnTo>
                  <a:pt x="646684" y="25400"/>
                </a:lnTo>
                <a:lnTo>
                  <a:pt x="633984" y="12700"/>
                </a:lnTo>
                <a:close/>
              </a:path>
              <a:path w="1293495" h="894714">
                <a:moveTo>
                  <a:pt x="1268095" y="843534"/>
                </a:moveTo>
                <a:lnTo>
                  <a:pt x="1229995" y="843534"/>
                </a:lnTo>
                <a:lnTo>
                  <a:pt x="1229995" y="868934"/>
                </a:lnTo>
                <a:lnTo>
                  <a:pt x="1268095" y="868934"/>
                </a:lnTo>
                <a:lnTo>
                  <a:pt x="1293495" y="856234"/>
                </a:lnTo>
                <a:lnTo>
                  <a:pt x="1268095" y="843534"/>
                </a:lnTo>
                <a:close/>
              </a:path>
              <a:path w="1293495" h="894714">
                <a:moveTo>
                  <a:pt x="659384" y="843534"/>
                </a:moveTo>
                <a:lnTo>
                  <a:pt x="646684" y="843534"/>
                </a:lnTo>
                <a:lnTo>
                  <a:pt x="659384" y="856234"/>
                </a:lnTo>
                <a:lnTo>
                  <a:pt x="659384" y="843534"/>
                </a:lnTo>
                <a:close/>
              </a:path>
              <a:path w="1293495" h="894714">
                <a:moveTo>
                  <a:pt x="1217295" y="843534"/>
                </a:moveTo>
                <a:lnTo>
                  <a:pt x="659384" y="843534"/>
                </a:lnTo>
                <a:lnTo>
                  <a:pt x="659384" y="856234"/>
                </a:lnTo>
                <a:lnTo>
                  <a:pt x="1217295" y="856234"/>
                </a:lnTo>
                <a:lnTo>
                  <a:pt x="1217295" y="843534"/>
                </a:lnTo>
                <a:close/>
              </a:path>
              <a:path w="1293495" h="894714">
                <a:moveTo>
                  <a:pt x="653669" y="0"/>
                </a:moveTo>
                <a:lnTo>
                  <a:pt x="0" y="0"/>
                </a:lnTo>
                <a:lnTo>
                  <a:pt x="0" y="25400"/>
                </a:lnTo>
                <a:lnTo>
                  <a:pt x="633984" y="25400"/>
                </a:lnTo>
                <a:lnTo>
                  <a:pt x="633984" y="12700"/>
                </a:lnTo>
                <a:lnTo>
                  <a:pt x="659384" y="12700"/>
                </a:lnTo>
                <a:lnTo>
                  <a:pt x="659384" y="5587"/>
                </a:lnTo>
                <a:lnTo>
                  <a:pt x="653669" y="0"/>
                </a:lnTo>
                <a:close/>
              </a:path>
              <a:path w="1293495" h="894714">
                <a:moveTo>
                  <a:pt x="659384" y="12700"/>
                </a:moveTo>
                <a:lnTo>
                  <a:pt x="633984" y="12700"/>
                </a:lnTo>
                <a:lnTo>
                  <a:pt x="646684" y="25400"/>
                </a:lnTo>
                <a:lnTo>
                  <a:pt x="659384" y="25400"/>
                </a:lnTo>
                <a:lnTo>
                  <a:pt x="65938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83894" y="840486"/>
            <a:ext cx="2949575" cy="577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 </a:t>
            </a: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T</a:t>
            </a:r>
            <a:endParaRPr sz="1800" baseline="-18518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T’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739" y="4639125"/>
            <a:ext cx="3637279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Sutskever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“Sequence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with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neural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networks”,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NeurIPS </a:t>
            </a:r>
            <a:r>
              <a:rPr sz="750" spc="-20" dirty="0">
                <a:latin typeface="Arial"/>
                <a:cs typeface="Arial"/>
              </a:rPr>
              <a:t>2014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30" baseline="1543" dirty="0"/>
              <a:t> </a:t>
            </a:r>
            <a:r>
              <a:rPr sz="2700" baseline="1543" dirty="0"/>
              <a:t>8</a:t>
            </a:r>
            <a:r>
              <a:rPr sz="2700" spc="-7" baseline="1543" dirty="0"/>
              <a:t> </a:t>
            </a:r>
            <a:r>
              <a:rPr sz="2700" baseline="1543" dirty="0"/>
              <a:t>-</a:t>
            </a:r>
            <a:r>
              <a:rPr sz="2700" spc="427" baseline="1543" dirty="0"/>
              <a:t> </a:t>
            </a:r>
            <a:fld id="{81D60167-4931-47E6-BA6A-407CBD079E47}" type="slidenum">
              <a:rPr sz="2000" spc="-50" dirty="0">
                <a:latin typeface="Arial"/>
                <a:cs typeface="Arial"/>
              </a:rPr>
              <a:t>8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794891" y="2044382"/>
            <a:ext cx="679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2457" y="1920557"/>
            <a:ext cx="22047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6880" algn="l"/>
              </a:tabLst>
            </a:pPr>
            <a:r>
              <a:rPr sz="1800" b="1" dirty="0">
                <a:latin typeface="Arial"/>
                <a:cs typeface="Arial"/>
              </a:rPr>
              <a:t>Encoder: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</a:t>
            </a:r>
            <a:r>
              <a:rPr sz="1800" spc="3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f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(x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62175" y="2044382"/>
            <a:ext cx="836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345" algn="l"/>
                <a:tab pos="644525" algn="l"/>
              </a:tabLst>
            </a:pPr>
            <a:r>
              <a:rPr sz="1200" spc="-50" dirty="0">
                <a:latin typeface="Arial"/>
                <a:cs typeface="Arial"/>
              </a:rPr>
              <a:t>W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t-</a:t>
            </a:r>
            <a:r>
              <a:rPr sz="1200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84875" y="779716"/>
            <a:ext cx="2888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Decoder: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</a:t>
            </a:r>
            <a:r>
              <a:rPr sz="1800" spc="247" baseline="-1851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</a:t>
            </a:r>
            <a:r>
              <a:rPr sz="1800" spc="-15" baseline="-18518" dirty="0">
                <a:latin typeface="Arial"/>
                <a:cs typeface="Arial"/>
              </a:rPr>
              <a:t>U</a:t>
            </a:r>
            <a:r>
              <a:rPr sz="1800" spc="-10" dirty="0">
                <a:latin typeface="Arial"/>
                <a:cs typeface="Arial"/>
              </a:rPr>
              <a:t>(y</a:t>
            </a:r>
            <a:r>
              <a:rPr sz="1800" spc="-15" baseline="-18518" dirty="0">
                <a:latin typeface="Arial"/>
                <a:cs typeface="Arial"/>
              </a:rPr>
              <a:t>t-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t-1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53029" y="1651952"/>
            <a:ext cx="26396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 </a:t>
            </a:r>
            <a:r>
              <a:rPr sz="1500" spc="-10" dirty="0">
                <a:latin typeface="Arial"/>
                <a:cs typeface="Arial"/>
              </a:rPr>
              <a:t>hidden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state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predict:</a:t>
            </a:r>
            <a:endParaRPr sz="15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47035" y="1842706"/>
            <a:ext cx="2263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18518" dirty="0">
                <a:latin typeface="Arial"/>
                <a:cs typeface="Arial"/>
              </a:rPr>
              <a:t>)</a:t>
            </a:r>
            <a:r>
              <a:rPr sz="2700" spc="434" baseline="-1851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27629" y="2110041"/>
            <a:ext cx="26079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Context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vector </a:t>
            </a:r>
            <a:r>
              <a:rPr sz="1500" dirty="0">
                <a:latin typeface="Arial"/>
                <a:cs typeface="Arial"/>
              </a:rPr>
              <a:t>c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(often</a:t>
            </a:r>
            <a:r>
              <a:rPr sz="1500" spc="-20" dirty="0">
                <a:latin typeface="Arial"/>
                <a:cs typeface="Arial"/>
              </a:rPr>
              <a:t> c=h</a:t>
            </a:r>
            <a:r>
              <a:rPr sz="1425" spc="-30" baseline="-17543" dirty="0">
                <a:latin typeface="Arial"/>
                <a:cs typeface="Arial"/>
              </a:rPr>
              <a:t>T</a:t>
            </a:r>
            <a:r>
              <a:rPr sz="1500" spc="-20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39" name="object 39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550418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3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dirty="0"/>
              <a:t>Sequence</a:t>
            </a:r>
            <a:r>
              <a:rPr spc="130" dirty="0"/>
              <a:t> </a:t>
            </a:r>
            <a:r>
              <a:rPr dirty="0"/>
              <a:t>with</a:t>
            </a:r>
            <a:r>
              <a:rPr spc="135" dirty="0"/>
              <a:t> </a:t>
            </a:r>
            <a:r>
              <a:rPr spc="-20" dirty="0"/>
              <a:t>RNNs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08726" y="2560701"/>
            <a:ext cx="992505" cy="469900"/>
            <a:chOff x="5808726" y="2560701"/>
            <a:chExt cx="992505" cy="469900"/>
          </a:xfrm>
        </p:grpSpPr>
        <p:sp>
          <p:nvSpPr>
            <p:cNvPr id="3" name="object 3"/>
            <p:cNvSpPr/>
            <p:nvPr/>
          </p:nvSpPr>
          <p:spPr>
            <a:xfrm>
              <a:off x="5815076" y="2786126"/>
              <a:ext cx="981075" cy="238125"/>
            </a:xfrm>
            <a:custGeom>
              <a:avLst/>
              <a:gdLst/>
              <a:ahLst/>
              <a:cxnLst/>
              <a:rect l="l" t="t" r="r" b="b"/>
              <a:pathLst>
                <a:path w="981075" h="238125">
                  <a:moveTo>
                    <a:pt x="0" y="238125"/>
                  </a:moveTo>
                  <a:lnTo>
                    <a:pt x="123825" y="238125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  <a:path w="981075" h="238125">
                  <a:moveTo>
                    <a:pt x="838200" y="238125"/>
                  </a:moveTo>
                  <a:lnTo>
                    <a:pt x="981075" y="238125"/>
                  </a:lnTo>
                  <a:lnTo>
                    <a:pt x="981075" y="9525"/>
                  </a:lnTo>
                  <a:lnTo>
                    <a:pt x="838200" y="9525"/>
                  </a:lnTo>
                  <a:lnTo>
                    <a:pt x="83820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89676" y="2713672"/>
            <a:ext cx="374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3712" y="3436937"/>
            <a:ext cx="298450" cy="460375"/>
            <a:chOff x="493712" y="3436937"/>
            <a:chExt cx="298450" cy="460375"/>
          </a:xfrm>
        </p:grpSpPr>
        <p:sp>
          <p:nvSpPr>
            <p:cNvPr id="8" name="object 8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74662" y="3587496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98562" y="3436937"/>
            <a:ext cx="298450" cy="460375"/>
            <a:chOff x="1198562" y="3436937"/>
            <a:chExt cx="298450" cy="460375"/>
          </a:xfrm>
        </p:grpSpPr>
        <p:sp>
          <p:nvSpPr>
            <p:cNvPr id="15" name="object 15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79512" y="3587496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903476" y="3436937"/>
            <a:ext cx="298450" cy="460375"/>
            <a:chOff x="1903476" y="3436937"/>
            <a:chExt cx="298450" cy="460375"/>
          </a:xfrm>
        </p:grpSpPr>
        <p:sp>
          <p:nvSpPr>
            <p:cNvPr id="19" name="object 19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84426" y="3587496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4662" y="2560701"/>
            <a:ext cx="336550" cy="469900"/>
            <a:chOff x="474662" y="2560701"/>
            <a:chExt cx="336550" cy="469900"/>
          </a:xfrm>
        </p:grpSpPr>
        <p:sp>
          <p:nvSpPr>
            <p:cNvPr id="23" name="object 23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5612" y="2713672"/>
            <a:ext cx="374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79512" y="2560701"/>
            <a:ext cx="336550" cy="469900"/>
            <a:chOff x="1179512" y="2560701"/>
            <a:chExt cx="336550" cy="469900"/>
          </a:xfrm>
        </p:grpSpPr>
        <p:sp>
          <p:nvSpPr>
            <p:cNvPr id="27" name="object 27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60462" y="2713672"/>
            <a:ext cx="374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31" name="object 31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55851" y="2713672"/>
            <a:ext cx="3841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35" name="object 35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189476" y="2713672"/>
            <a:ext cx="374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646926" y="2560701"/>
            <a:ext cx="346075" cy="469900"/>
            <a:chOff x="6646926" y="2560701"/>
            <a:chExt cx="346075" cy="469900"/>
          </a:xfrm>
        </p:grpSpPr>
        <p:sp>
          <p:nvSpPr>
            <p:cNvPr id="39" name="object 39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627876" y="2713672"/>
            <a:ext cx="3841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11190" y="4027170"/>
            <a:ext cx="5410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818251" y="3436937"/>
            <a:ext cx="317500" cy="460375"/>
            <a:chOff x="5818251" y="3436937"/>
            <a:chExt cx="317500" cy="460375"/>
          </a:xfrm>
        </p:grpSpPr>
        <p:sp>
          <p:nvSpPr>
            <p:cNvPr id="44" name="object 44"/>
            <p:cNvSpPr/>
            <p:nvPr/>
          </p:nvSpPr>
          <p:spPr>
            <a:xfrm>
              <a:off x="5824601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824601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799201" y="3587496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656451" y="3436937"/>
            <a:ext cx="327025" cy="460375"/>
            <a:chOff x="6656451" y="3436937"/>
            <a:chExt cx="327025" cy="460375"/>
          </a:xfrm>
        </p:grpSpPr>
        <p:sp>
          <p:nvSpPr>
            <p:cNvPr id="48" name="object 48"/>
            <p:cNvSpPr/>
            <p:nvPr/>
          </p:nvSpPr>
          <p:spPr>
            <a:xfrm>
              <a:off x="666280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3143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14325" y="4476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66280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0" y="447675"/>
                  </a:moveTo>
                  <a:lnTo>
                    <a:pt x="314325" y="447675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637401" y="3587496"/>
            <a:ext cx="365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62801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598801" y="3436937"/>
            <a:ext cx="298450" cy="460375"/>
            <a:chOff x="2598801" y="3436937"/>
            <a:chExt cx="298450" cy="460375"/>
          </a:xfrm>
        </p:grpSpPr>
        <p:sp>
          <p:nvSpPr>
            <p:cNvPr id="55" name="object 55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579751" y="3587496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579751" y="2560701"/>
            <a:ext cx="346075" cy="469900"/>
            <a:chOff x="2579751" y="2560701"/>
            <a:chExt cx="346075" cy="469900"/>
          </a:xfrm>
        </p:grpSpPr>
        <p:sp>
          <p:nvSpPr>
            <p:cNvPr id="59" name="object 59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2560701" y="2713672"/>
            <a:ext cx="3841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56629" y="4027170"/>
            <a:ext cx="5283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05332" y="2757551"/>
            <a:ext cx="3940175" cy="1111250"/>
            <a:chOff x="605332" y="2757551"/>
            <a:chExt cx="3940175" cy="1111250"/>
          </a:xfrm>
        </p:grpSpPr>
        <p:sp>
          <p:nvSpPr>
            <p:cNvPr id="65" name="object 65"/>
            <p:cNvSpPr/>
            <p:nvPr/>
          </p:nvSpPr>
          <p:spPr>
            <a:xfrm>
              <a:off x="605332" y="2757550"/>
              <a:ext cx="2181225" cy="685165"/>
            </a:xfrm>
            <a:custGeom>
              <a:avLst/>
              <a:gdLst/>
              <a:ahLst/>
              <a:cxnLst/>
              <a:rect l="l" t="t" r="r" b="b"/>
              <a:pathLst>
                <a:path w="2181225" h="685164">
                  <a:moveTo>
                    <a:pt x="53009" y="685038"/>
                  </a:moveTo>
                  <a:lnTo>
                    <a:pt x="50787" y="343027"/>
                  </a:lnTo>
                  <a:lnTo>
                    <a:pt x="25387" y="343027"/>
                  </a:lnTo>
                  <a:lnTo>
                    <a:pt x="27597" y="685038"/>
                  </a:lnTo>
                  <a:lnTo>
                    <a:pt x="27609" y="685165"/>
                  </a:lnTo>
                  <a:lnTo>
                    <a:pt x="53009" y="685038"/>
                  </a:lnTo>
                  <a:close/>
                </a:path>
                <a:path w="2181225" h="685164">
                  <a:moveTo>
                    <a:pt x="76200" y="342646"/>
                  </a:moveTo>
                  <a:lnTo>
                    <a:pt x="69862" y="330200"/>
                  </a:lnTo>
                  <a:lnTo>
                    <a:pt x="37604" y="266700"/>
                  </a:lnTo>
                  <a:lnTo>
                    <a:pt x="0" y="343027"/>
                  </a:lnTo>
                  <a:lnTo>
                    <a:pt x="25374" y="342912"/>
                  </a:lnTo>
                  <a:lnTo>
                    <a:pt x="50774" y="342785"/>
                  </a:lnTo>
                  <a:lnTo>
                    <a:pt x="76200" y="342646"/>
                  </a:lnTo>
                  <a:close/>
                </a:path>
                <a:path w="2181225" h="685164">
                  <a:moveTo>
                    <a:pt x="575132" y="38100"/>
                  </a:moveTo>
                  <a:lnTo>
                    <a:pt x="549732" y="25400"/>
                  </a:lnTo>
                  <a:lnTo>
                    <a:pt x="498932" y="0"/>
                  </a:lnTo>
                  <a:lnTo>
                    <a:pt x="498932" y="25400"/>
                  </a:lnTo>
                  <a:lnTo>
                    <a:pt x="199529" y="25400"/>
                  </a:lnTo>
                  <a:lnTo>
                    <a:pt x="199529" y="50800"/>
                  </a:lnTo>
                  <a:lnTo>
                    <a:pt x="498932" y="50800"/>
                  </a:lnTo>
                  <a:lnTo>
                    <a:pt x="498932" y="76200"/>
                  </a:lnTo>
                  <a:lnTo>
                    <a:pt x="549732" y="50800"/>
                  </a:lnTo>
                  <a:lnTo>
                    <a:pt x="575132" y="38100"/>
                  </a:lnTo>
                  <a:close/>
                </a:path>
                <a:path w="2181225" h="685164">
                  <a:moveTo>
                    <a:pt x="780491" y="342900"/>
                  </a:moveTo>
                  <a:lnTo>
                    <a:pt x="774141" y="330200"/>
                  </a:lnTo>
                  <a:lnTo>
                    <a:pt x="742391" y="266700"/>
                  </a:lnTo>
                  <a:lnTo>
                    <a:pt x="704291" y="342900"/>
                  </a:lnTo>
                  <a:lnTo>
                    <a:pt x="729691" y="342900"/>
                  </a:lnTo>
                  <a:lnTo>
                    <a:pt x="729818" y="685165"/>
                  </a:lnTo>
                  <a:lnTo>
                    <a:pt x="755218" y="685165"/>
                  </a:lnTo>
                  <a:lnTo>
                    <a:pt x="755091" y="342900"/>
                  </a:lnTo>
                  <a:lnTo>
                    <a:pt x="780491" y="342900"/>
                  </a:lnTo>
                  <a:close/>
                </a:path>
                <a:path w="2181225" h="685164">
                  <a:moveTo>
                    <a:pt x="1277315" y="38100"/>
                  </a:moveTo>
                  <a:lnTo>
                    <a:pt x="1251915" y="25400"/>
                  </a:lnTo>
                  <a:lnTo>
                    <a:pt x="1201115" y="0"/>
                  </a:lnTo>
                  <a:lnTo>
                    <a:pt x="1201115" y="25400"/>
                  </a:lnTo>
                  <a:lnTo>
                    <a:pt x="904443" y="25400"/>
                  </a:lnTo>
                  <a:lnTo>
                    <a:pt x="904443" y="50800"/>
                  </a:lnTo>
                  <a:lnTo>
                    <a:pt x="1201115" y="50800"/>
                  </a:lnTo>
                  <a:lnTo>
                    <a:pt x="1201115" y="76200"/>
                  </a:lnTo>
                  <a:lnTo>
                    <a:pt x="1251915" y="50800"/>
                  </a:lnTo>
                  <a:lnTo>
                    <a:pt x="1277315" y="38100"/>
                  </a:lnTo>
                  <a:close/>
                </a:path>
                <a:path w="2181225" h="685164">
                  <a:moveTo>
                    <a:pt x="1485341" y="342900"/>
                  </a:moveTo>
                  <a:lnTo>
                    <a:pt x="1478991" y="330200"/>
                  </a:lnTo>
                  <a:lnTo>
                    <a:pt x="1447241" y="266700"/>
                  </a:lnTo>
                  <a:lnTo>
                    <a:pt x="1409141" y="342900"/>
                  </a:lnTo>
                  <a:lnTo>
                    <a:pt x="1434541" y="342900"/>
                  </a:lnTo>
                  <a:lnTo>
                    <a:pt x="1434668" y="685165"/>
                  </a:lnTo>
                  <a:lnTo>
                    <a:pt x="1460068" y="685165"/>
                  </a:lnTo>
                  <a:lnTo>
                    <a:pt x="1459941" y="342900"/>
                  </a:lnTo>
                  <a:lnTo>
                    <a:pt x="1485341" y="342900"/>
                  </a:lnTo>
                  <a:close/>
                </a:path>
                <a:path w="2181225" h="685164">
                  <a:moveTo>
                    <a:pt x="1982165" y="38100"/>
                  </a:moveTo>
                  <a:lnTo>
                    <a:pt x="1956765" y="25400"/>
                  </a:lnTo>
                  <a:lnTo>
                    <a:pt x="1905965" y="0"/>
                  </a:lnTo>
                  <a:lnTo>
                    <a:pt x="1905965" y="25400"/>
                  </a:lnTo>
                  <a:lnTo>
                    <a:pt x="1609166" y="25400"/>
                  </a:lnTo>
                  <a:lnTo>
                    <a:pt x="1609166" y="50800"/>
                  </a:lnTo>
                  <a:lnTo>
                    <a:pt x="1905965" y="50800"/>
                  </a:lnTo>
                  <a:lnTo>
                    <a:pt x="1905965" y="76200"/>
                  </a:lnTo>
                  <a:lnTo>
                    <a:pt x="1956765" y="50800"/>
                  </a:lnTo>
                  <a:lnTo>
                    <a:pt x="1982165" y="38100"/>
                  </a:lnTo>
                  <a:close/>
                </a:path>
                <a:path w="2181225" h="685164">
                  <a:moveTo>
                    <a:pt x="2180666" y="342900"/>
                  </a:moveTo>
                  <a:lnTo>
                    <a:pt x="2174316" y="330200"/>
                  </a:lnTo>
                  <a:lnTo>
                    <a:pt x="2142566" y="266700"/>
                  </a:lnTo>
                  <a:lnTo>
                    <a:pt x="2104466" y="342900"/>
                  </a:lnTo>
                  <a:lnTo>
                    <a:pt x="2129866" y="342900"/>
                  </a:lnTo>
                  <a:lnTo>
                    <a:pt x="2129993" y="685165"/>
                  </a:lnTo>
                  <a:lnTo>
                    <a:pt x="2155393" y="685165"/>
                  </a:lnTo>
                  <a:lnTo>
                    <a:pt x="2155266" y="342900"/>
                  </a:lnTo>
                  <a:lnTo>
                    <a:pt x="2180666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214876" y="3414776"/>
              <a:ext cx="323850" cy="447675"/>
            </a:xfrm>
            <a:custGeom>
              <a:avLst/>
              <a:gdLst/>
              <a:ahLst/>
              <a:cxnLst/>
              <a:rect l="l" t="t" r="r" b="b"/>
              <a:pathLst>
                <a:path w="323850" h="447675">
                  <a:moveTo>
                    <a:pt x="3238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23850" y="4476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214876" y="3414776"/>
              <a:ext cx="323850" cy="447675"/>
            </a:xfrm>
            <a:custGeom>
              <a:avLst/>
              <a:gdLst/>
              <a:ahLst/>
              <a:cxnLst/>
              <a:rect l="l" t="t" r="r" b="b"/>
              <a:pathLst>
                <a:path w="323850" h="447675">
                  <a:moveTo>
                    <a:pt x="0" y="447675"/>
                  </a:moveTo>
                  <a:lnTo>
                    <a:pt x="323850" y="4476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333240" y="3558857"/>
            <a:ext cx="831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919476" y="2147951"/>
            <a:ext cx="3943350" cy="1529715"/>
            <a:chOff x="2919476" y="2147951"/>
            <a:chExt cx="3943350" cy="1529715"/>
          </a:xfrm>
        </p:grpSpPr>
        <p:sp>
          <p:nvSpPr>
            <p:cNvPr id="70" name="object 70"/>
            <p:cNvSpPr/>
            <p:nvPr/>
          </p:nvSpPr>
          <p:spPr>
            <a:xfrm>
              <a:off x="4538599" y="2147950"/>
              <a:ext cx="2324735" cy="1294765"/>
            </a:xfrm>
            <a:custGeom>
              <a:avLst/>
              <a:gdLst/>
              <a:ahLst/>
              <a:cxnLst/>
              <a:rect l="l" t="t" r="r" b="b"/>
              <a:pathLst>
                <a:path w="2324734" h="1294764">
                  <a:moveTo>
                    <a:pt x="1273810" y="647700"/>
                  </a:moveTo>
                  <a:lnTo>
                    <a:pt x="1248410" y="635000"/>
                  </a:lnTo>
                  <a:lnTo>
                    <a:pt x="1197610" y="609600"/>
                  </a:lnTo>
                  <a:lnTo>
                    <a:pt x="1197610" y="635000"/>
                  </a:lnTo>
                  <a:lnTo>
                    <a:pt x="0" y="635000"/>
                  </a:lnTo>
                  <a:lnTo>
                    <a:pt x="0" y="660400"/>
                  </a:lnTo>
                  <a:lnTo>
                    <a:pt x="1197610" y="660400"/>
                  </a:lnTo>
                  <a:lnTo>
                    <a:pt x="1197610" y="685800"/>
                  </a:lnTo>
                  <a:lnTo>
                    <a:pt x="1248410" y="660400"/>
                  </a:lnTo>
                  <a:lnTo>
                    <a:pt x="1273810" y="647700"/>
                  </a:lnTo>
                  <a:close/>
                </a:path>
                <a:path w="2324734" h="1294764">
                  <a:moveTo>
                    <a:pt x="1476502" y="952500"/>
                  </a:moveTo>
                  <a:lnTo>
                    <a:pt x="1470126" y="939800"/>
                  </a:lnTo>
                  <a:lnTo>
                    <a:pt x="1438275" y="876300"/>
                  </a:lnTo>
                  <a:lnTo>
                    <a:pt x="1400302" y="952500"/>
                  </a:lnTo>
                  <a:lnTo>
                    <a:pt x="1425575" y="952500"/>
                  </a:lnTo>
                  <a:lnTo>
                    <a:pt x="1425702" y="1294765"/>
                  </a:lnTo>
                  <a:lnTo>
                    <a:pt x="1451102" y="1294765"/>
                  </a:lnTo>
                  <a:lnTo>
                    <a:pt x="1450975" y="952500"/>
                  </a:lnTo>
                  <a:lnTo>
                    <a:pt x="1476502" y="952500"/>
                  </a:lnTo>
                  <a:close/>
                </a:path>
                <a:path w="2324734" h="1294764">
                  <a:moveTo>
                    <a:pt x="1476502" y="76200"/>
                  </a:moveTo>
                  <a:lnTo>
                    <a:pt x="1470126" y="63500"/>
                  </a:lnTo>
                  <a:lnTo>
                    <a:pt x="1438275" y="0"/>
                  </a:lnTo>
                  <a:lnTo>
                    <a:pt x="1400302" y="76200"/>
                  </a:lnTo>
                  <a:lnTo>
                    <a:pt x="1425575" y="76200"/>
                  </a:lnTo>
                  <a:lnTo>
                    <a:pt x="1425702" y="421767"/>
                  </a:lnTo>
                  <a:lnTo>
                    <a:pt x="1451102" y="421767"/>
                  </a:lnTo>
                  <a:lnTo>
                    <a:pt x="1450975" y="76200"/>
                  </a:lnTo>
                  <a:lnTo>
                    <a:pt x="1476502" y="76200"/>
                  </a:lnTo>
                  <a:close/>
                </a:path>
                <a:path w="2324734" h="1294764">
                  <a:moveTo>
                    <a:pt x="2113915" y="647700"/>
                  </a:moveTo>
                  <a:lnTo>
                    <a:pt x="2088515" y="635000"/>
                  </a:lnTo>
                  <a:lnTo>
                    <a:pt x="2037715" y="609600"/>
                  </a:lnTo>
                  <a:lnTo>
                    <a:pt x="2037715" y="635000"/>
                  </a:lnTo>
                  <a:lnTo>
                    <a:pt x="1600200" y="635000"/>
                  </a:lnTo>
                  <a:lnTo>
                    <a:pt x="1600200" y="660400"/>
                  </a:lnTo>
                  <a:lnTo>
                    <a:pt x="2037715" y="660400"/>
                  </a:lnTo>
                  <a:lnTo>
                    <a:pt x="2037715" y="685800"/>
                  </a:lnTo>
                  <a:lnTo>
                    <a:pt x="2088515" y="660400"/>
                  </a:lnTo>
                  <a:lnTo>
                    <a:pt x="2113915" y="647700"/>
                  </a:lnTo>
                  <a:close/>
                </a:path>
                <a:path w="2324734" h="1294764">
                  <a:moveTo>
                    <a:pt x="2324100" y="952500"/>
                  </a:moveTo>
                  <a:lnTo>
                    <a:pt x="2317750" y="939800"/>
                  </a:lnTo>
                  <a:lnTo>
                    <a:pt x="2286000" y="876300"/>
                  </a:lnTo>
                  <a:lnTo>
                    <a:pt x="2247900" y="952500"/>
                  </a:lnTo>
                  <a:lnTo>
                    <a:pt x="2273300" y="952500"/>
                  </a:lnTo>
                  <a:lnTo>
                    <a:pt x="2273427" y="1294765"/>
                  </a:lnTo>
                  <a:lnTo>
                    <a:pt x="2298827" y="1294765"/>
                  </a:lnTo>
                  <a:lnTo>
                    <a:pt x="2298700" y="952500"/>
                  </a:lnTo>
                  <a:lnTo>
                    <a:pt x="2324100" y="952500"/>
                  </a:lnTo>
                  <a:close/>
                </a:path>
                <a:path w="2324734" h="1294764">
                  <a:moveTo>
                    <a:pt x="2324163" y="76200"/>
                  </a:moveTo>
                  <a:lnTo>
                    <a:pt x="2317800" y="63500"/>
                  </a:lnTo>
                  <a:lnTo>
                    <a:pt x="2286000" y="0"/>
                  </a:lnTo>
                  <a:lnTo>
                    <a:pt x="2247900" y="76200"/>
                  </a:lnTo>
                  <a:lnTo>
                    <a:pt x="2273300" y="76200"/>
                  </a:lnTo>
                  <a:lnTo>
                    <a:pt x="2273427" y="421767"/>
                  </a:lnTo>
                  <a:lnTo>
                    <a:pt x="2298827" y="421767"/>
                  </a:lnTo>
                  <a:lnTo>
                    <a:pt x="2298700" y="76200"/>
                  </a:lnTo>
                  <a:lnTo>
                    <a:pt x="2324163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538726" y="3224276"/>
              <a:ext cx="376555" cy="412750"/>
            </a:xfrm>
            <a:custGeom>
              <a:avLst/>
              <a:gdLst/>
              <a:ahLst/>
              <a:cxnLst/>
              <a:rect l="l" t="t" r="r" b="b"/>
              <a:pathLst>
                <a:path w="376554" h="412750">
                  <a:moveTo>
                    <a:pt x="0" y="412750"/>
                  </a:moveTo>
                  <a:lnTo>
                    <a:pt x="376174" y="412750"/>
                  </a:lnTo>
                  <a:lnTo>
                    <a:pt x="376174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919476" y="2782950"/>
              <a:ext cx="3845560" cy="894715"/>
            </a:xfrm>
            <a:custGeom>
              <a:avLst/>
              <a:gdLst/>
              <a:ahLst/>
              <a:cxnLst/>
              <a:rect l="l" t="t" r="r" b="b"/>
              <a:pathLst>
                <a:path w="3845559" h="894714">
                  <a:moveTo>
                    <a:pt x="1293495" y="856234"/>
                  </a:moveTo>
                  <a:lnTo>
                    <a:pt x="1268095" y="843534"/>
                  </a:lnTo>
                  <a:lnTo>
                    <a:pt x="1217295" y="818134"/>
                  </a:lnTo>
                  <a:lnTo>
                    <a:pt x="1217295" y="843534"/>
                  </a:lnTo>
                  <a:lnTo>
                    <a:pt x="659384" y="843534"/>
                  </a:lnTo>
                  <a:lnTo>
                    <a:pt x="659384" y="25400"/>
                  </a:lnTo>
                  <a:lnTo>
                    <a:pt x="659384" y="12700"/>
                  </a:lnTo>
                  <a:lnTo>
                    <a:pt x="659384" y="5588"/>
                  </a:lnTo>
                  <a:lnTo>
                    <a:pt x="653669" y="0"/>
                  </a:lnTo>
                  <a:lnTo>
                    <a:pt x="0" y="0"/>
                  </a:lnTo>
                  <a:lnTo>
                    <a:pt x="0" y="25400"/>
                  </a:lnTo>
                  <a:lnTo>
                    <a:pt x="633984" y="25400"/>
                  </a:lnTo>
                  <a:lnTo>
                    <a:pt x="633984" y="863219"/>
                  </a:lnTo>
                  <a:lnTo>
                    <a:pt x="639699" y="868934"/>
                  </a:lnTo>
                  <a:lnTo>
                    <a:pt x="1217295" y="868934"/>
                  </a:lnTo>
                  <a:lnTo>
                    <a:pt x="1217295" y="894334"/>
                  </a:lnTo>
                  <a:lnTo>
                    <a:pt x="1268095" y="868934"/>
                  </a:lnTo>
                  <a:lnTo>
                    <a:pt x="1293495" y="856234"/>
                  </a:lnTo>
                  <a:close/>
                </a:path>
                <a:path w="3845559" h="894714">
                  <a:moveTo>
                    <a:pt x="3845179" y="317500"/>
                  </a:moveTo>
                  <a:lnTo>
                    <a:pt x="3838829" y="304800"/>
                  </a:lnTo>
                  <a:lnTo>
                    <a:pt x="3807079" y="241300"/>
                  </a:lnTo>
                  <a:lnTo>
                    <a:pt x="3768979" y="317500"/>
                  </a:lnTo>
                  <a:lnTo>
                    <a:pt x="3794379" y="317500"/>
                  </a:lnTo>
                  <a:lnTo>
                    <a:pt x="3794379" y="422783"/>
                  </a:lnTo>
                  <a:lnTo>
                    <a:pt x="2978023" y="422783"/>
                  </a:lnTo>
                  <a:lnTo>
                    <a:pt x="2978023" y="317500"/>
                  </a:lnTo>
                  <a:lnTo>
                    <a:pt x="3003423" y="317500"/>
                  </a:lnTo>
                  <a:lnTo>
                    <a:pt x="2997073" y="304800"/>
                  </a:lnTo>
                  <a:lnTo>
                    <a:pt x="2965323" y="241300"/>
                  </a:lnTo>
                  <a:lnTo>
                    <a:pt x="2927223" y="317500"/>
                  </a:lnTo>
                  <a:lnTo>
                    <a:pt x="2952623" y="317500"/>
                  </a:lnTo>
                  <a:lnTo>
                    <a:pt x="2952623" y="422783"/>
                  </a:lnTo>
                  <a:lnTo>
                    <a:pt x="2952623" y="428879"/>
                  </a:lnTo>
                  <a:lnTo>
                    <a:pt x="2000123" y="428879"/>
                  </a:lnTo>
                  <a:lnTo>
                    <a:pt x="2000123" y="454279"/>
                  </a:lnTo>
                  <a:lnTo>
                    <a:pt x="2972308" y="454279"/>
                  </a:lnTo>
                  <a:lnTo>
                    <a:pt x="2978023" y="448691"/>
                  </a:lnTo>
                  <a:lnTo>
                    <a:pt x="2978023" y="448183"/>
                  </a:lnTo>
                  <a:lnTo>
                    <a:pt x="3814064" y="448183"/>
                  </a:lnTo>
                  <a:lnTo>
                    <a:pt x="3819779" y="442468"/>
                  </a:lnTo>
                  <a:lnTo>
                    <a:pt x="3819779" y="435483"/>
                  </a:lnTo>
                  <a:lnTo>
                    <a:pt x="3819779" y="422783"/>
                  </a:lnTo>
                  <a:lnTo>
                    <a:pt x="3819779" y="317500"/>
                  </a:lnTo>
                  <a:lnTo>
                    <a:pt x="3845179" y="317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683894" y="840486"/>
            <a:ext cx="2949575" cy="577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 </a:t>
            </a: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T</a:t>
            </a:r>
            <a:endParaRPr sz="1800" baseline="-18518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T’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8739" y="4639125"/>
            <a:ext cx="3637279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Sutskever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“Sequence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with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neural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networks”,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NeurIPS </a:t>
            </a:r>
            <a:r>
              <a:rPr sz="750" spc="-20" dirty="0">
                <a:latin typeface="Arial"/>
                <a:cs typeface="Arial"/>
              </a:rPr>
              <a:t>2014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30" baseline="1543" dirty="0"/>
              <a:t> </a:t>
            </a:r>
            <a:r>
              <a:rPr sz="2700" baseline="1543" dirty="0"/>
              <a:t>8</a:t>
            </a:r>
            <a:r>
              <a:rPr sz="2700" spc="-7" baseline="1543" dirty="0"/>
              <a:t> </a:t>
            </a:r>
            <a:r>
              <a:rPr sz="2700" baseline="1543" dirty="0"/>
              <a:t>-</a:t>
            </a:r>
            <a:r>
              <a:rPr sz="2700" spc="427" baseline="1543" dirty="0"/>
              <a:t> </a:t>
            </a:r>
            <a:fld id="{81D60167-4931-47E6-BA6A-407CBD079E47}" type="slidenum">
              <a:rPr sz="2000" spc="-50" dirty="0">
                <a:latin typeface="Arial"/>
                <a:cs typeface="Arial"/>
              </a:rPr>
              <a:t>9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1794891" y="2044382"/>
            <a:ext cx="679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12457" y="1920557"/>
            <a:ext cx="22047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6880" algn="l"/>
              </a:tabLst>
            </a:pPr>
            <a:r>
              <a:rPr sz="1800" b="1" dirty="0">
                <a:latin typeface="Arial"/>
                <a:cs typeface="Arial"/>
              </a:rPr>
              <a:t>Encoder: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</a:t>
            </a:r>
            <a:r>
              <a:rPr sz="1800" spc="3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f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(x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162175" y="2044382"/>
            <a:ext cx="836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345" algn="l"/>
                <a:tab pos="644525" algn="l"/>
              </a:tabLst>
            </a:pPr>
            <a:r>
              <a:rPr sz="1200" spc="-50" dirty="0">
                <a:latin typeface="Arial"/>
                <a:cs typeface="Arial"/>
              </a:rPr>
              <a:t>W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t-</a:t>
            </a:r>
            <a:r>
              <a:rPr sz="1200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984875" y="779716"/>
            <a:ext cx="2888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Decoder: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</a:t>
            </a:r>
            <a:r>
              <a:rPr sz="1800" spc="247" baseline="-1851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</a:t>
            </a:r>
            <a:r>
              <a:rPr sz="1800" spc="-15" baseline="-18518" dirty="0">
                <a:latin typeface="Arial"/>
                <a:cs typeface="Arial"/>
              </a:rPr>
              <a:t>U</a:t>
            </a:r>
            <a:r>
              <a:rPr sz="1800" spc="-10" dirty="0">
                <a:latin typeface="Arial"/>
                <a:cs typeface="Arial"/>
              </a:rPr>
              <a:t>(y</a:t>
            </a:r>
            <a:r>
              <a:rPr sz="1800" spc="-15" baseline="-18518" dirty="0">
                <a:latin typeface="Arial"/>
                <a:cs typeface="Arial"/>
              </a:rPr>
              <a:t>t-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t-1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153029" y="1651952"/>
            <a:ext cx="26396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 </a:t>
            </a:r>
            <a:r>
              <a:rPr sz="1500" spc="-10" dirty="0">
                <a:latin typeface="Arial"/>
                <a:cs typeface="Arial"/>
              </a:rPr>
              <a:t>hidden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state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predict:</a:t>
            </a:r>
            <a:endParaRPr sz="15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947035" y="1842706"/>
            <a:ext cx="2263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18518" dirty="0">
                <a:latin typeface="Arial"/>
                <a:cs typeface="Arial"/>
              </a:rPr>
              <a:t>)</a:t>
            </a:r>
            <a:r>
              <a:rPr sz="2700" spc="434" baseline="-1851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27629" y="2110041"/>
            <a:ext cx="26079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Context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vector </a:t>
            </a:r>
            <a:r>
              <a:rPr sz="1500" dirty="0">
                <a:latin typeface="Arial"/>
                <a:cs typeface="Arial"/>
              </a:rPr>
              <a:t>c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(often</a:t>
            </a:r>
            <a:r>
              <a:rPr sz="1500" spc="-20" dirty="0">
                <a:latin typeface="Arial"/>
                <a:cs typeface="Arial"/>
              </a:rPr>
              <a:t> c=h</a:t>
            </a:r>
            <a:r>
              <a:rPr sz="1425" spc="-30" baseline="-17543" dirty="0">
                <a:latin typeface="Arial"/>
                <a:cs typeface="Arial"/>
              </a:rPr>
              <a:t>T</a:t>
            </a:r>
            <a:r>
              <a:rPr sz="1500" spc="-20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81" name="object 81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550418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3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dirty="0"/>
              <a:t>Sequence</a:t>
            </a:r>
            <a:r>
              <a:rPr spc="130" dirty="0"/>
              <a:t> </a:t>
            </a:r>
            <a:r>
              <a:rPr dirty="0"/>
              <a:t>with</a:t>
            </a:r>
            <a:r>
              <a:rPr spc="135" dirty="0"/>
              <a:t> </a:t>
            </a:r>
            <a:r>
              <a:rPr spc="-20" dirty="0"/>
              <a:t>RNNs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6779894" y="1315656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08726" y="2560701"/>
            <a:ext cx="2640330" cy="469900"/>
            <a:chOff x="5808726" y="2560701"/>
            <a:chExt cx="2640330" cy="469900"/>
          </a:xfrm>
        </p:grpSpPr>
        <p:sp>
          <p:nvSpPr>
            <p:cNvPr id="3" name="object 3"/>
            <p:cNvSpPr/>
            <p:nvPr/>
          </p:nvSpPr>
          <p:spPr>
            <a:xfrm>
              <a:off x="5815076" y="2786126"/>
              <a:ext cx="2628900" cy="238125"/>
            </a:xfrm>
            <a:custGeom>
              <a:avLst/>
              <a:gdLst/>
              <a:ahLst/>
              <a:cxnLst/>
              <a:rect l="l" t="t" r="r" b="b"/>
              <a:pathLst>
                <a:path w="2628900" h="238125">
                  <a:moveTo>
                    <a:pt x="0" y="238125"/>
                  </a:moveTo>
                  <a:lnTo>
                    <a:pt x="123825" y="238125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  <a:path w="2628900" h="238125">
                  <a:moveTo>
                    <a:pt x="838200" y="238125"/>
                  </a:moveTo>
                  <a:lnTo>
                    <a:pt x="981075" y="238125"/>
                  </a:lnTo>
                  <a:lnTo>
                    <a:pt x="981075" y="9525"/>
                  </a:lnTo>
                  <a:lnTo>
                    <a:pt x="838200" y="9525"/>
                  </a:lnTo>
                  <a:lnTo>
                    <a:pt x="838200" y="238125"/>
                  </a:lnTo>
                  <a:close/>
                </a:path>
                <a:path w="2628900" h="238125">
                  <a:moveTo>
                    <a:pt x="1676400" y="238125"/>
                  </a:moveTo>
                  <a:lnTo>
                    <a:pt x="1790700" y="238125"/>
                  </a:lnTo>
                  <a:lnTo>
                    <a:pt x="1790700" y="0"/>
                  </a:lnTo>
                  <a:lnTo>
                    <a:pt x="1676400" y="0"/>
                  </a:lnTo>
                  <a:lnTo>
                    <a:pt x="1676400" y="238125"/>
                  </a:lnTo>
                  <a:close/>
                </a:path>
                <a:path w="2628900" h="238125">
                  <a:moveTo>
                    <a:pt x="2533650" y="238125"/>
                  </a:moveTo>
                  <a:lnTo>
                    <a:pt x="2628900" y="238125"/>
                  </a:lnTo>
                  <a:lnTo>
                    <a:pt x="2628900" y="9525"/>
                  </a:lnTo>
                  <a:lnTo>
                    <a:pt x="2533650" y="9525"/>
                  </a:lnTo>
                  <a:lnTo>
                    <a:pt x="253365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89676" y="2713672"/>
            <a:ext cx="374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3712" y="3436937"/>
            <a:ext cx="298450" cy="460375"/>
            <a:chOff x="493712" y="3436937"/>
            <a:chExt cx="298450" cy="460375"/>
          </a:xfrm>
        </p:grpSpPr>
        <p:sp>
          <p:nvSpPr>
            <p:cNvPr id="8" name="object 8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74662" y="3587496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8562" y="3436937"/>
            <a:ext cx="298450" cy="460375"/>
            <a:chOff x="1198562" y="3436937"/>
            <a:chExt cx="298450" cy="460375"/>
          </a:xfrm>
        </p:grpSpPr>
        <p:sp>
          <p:nvSpPr>
            <p:cNvPr id="12" name="object 12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79512" y="3587496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03476" y="3436937"/>
            <a:ext cx="298450" cy="460375"/>
            <a:chOff x="1903476" y="3436937"/>
            <a:chExt cx="298450" cy="460375"/>
          </a:xfrm>
        </p:grpSpPr>
        <p:sp>
          <p:nvSpPr>
            <p:cNvPr id="16" name="object 16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84426" y="3587496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4662" y="2560701"/>
            <a:ext cx="336550" cy="469900"/>
            <a:chOff x="474662" y="2560701"/>
            <a:chExt cx="336550" cy="469900"/>
          </a:xfrm>
        </p:grpSpPr>
        <p:sp>
          <p:nvSpPr>
            <p:cNvPr id="20" name="object 20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5612" y="2713672"/>
            <a:ext cx="374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79512" y="2560701"/>
            <a:ext cx="336550" cy="469900"/>
            <a:chOff x="1179512" y="2560701"/>
            <a:chExt cx="336550" cy="469900"/>
          </a:xfrm>
        </p:grpSpPr>
        <p:sp>
          <p:nvSpPr>
            <p:cNvPr id="24" name="object 24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60462" y="2713672"/>
            <a:ext cx="374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28" name="object 28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855851" y="2713672"/>
            <a:ext cx="3841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32" name="object 32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189476" y="2713672"/>
            <a:ext cx="374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646926" y="2560701"/>
            <a:ext cx="346075" cy="469900"/>
            <a:chOff x="6646926" y="2560701"/>
            <a:chExt cx="346075" cy="469900"/>
          </a:xfrm>
        </p:grpSpPr>
        <p:sp>
          <p:nvSpPr>
            <p:cNvPr id="36" name="object 36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627876" y="2713672"/>
            <a:ext cx="3841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11190" y="4027170"/>
            <a:ext cx="5410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818251" y="3436937"/>
            <a:ext cx="317500" cy="460375"/>
            <a:chOff x="5818251" y="3436937"/>
            <a:chExt cx="317500" cy="460375"/>
          </a:xfrm>
        </p:grpSpPr>
        <p:sp>
          <p:nvSpPr>
            <p:cNvPr id="41" name="object 41"/>
            <p:cNvSpPr/>
            <p:nvPr/>
          </p:nvSpPr>
          <p:spPr>
            <a:xfrm>
              <a:off x="5824601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24601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799201" y="3587496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656451" y="3436937"/>
            <a:ext cx="327025" cy="460375"/>
            <a:chOff x="6656451" y="3436937"/>
            <a:chExt cx="327025" cy="460375"/>
          </a:xfrm>
        </p:grpSpPr>
        <p:sp>
          <p:nvSpPr>
            <p:cNvPr id="45" name="object 45"/>
            <p:cNvSpPr/>
            <p:nvPr/>
          </p:nvSpPr>
          <p:spPr>
            <a:xfrm>
              <a:off x="666280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3143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14325" y="4476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6280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0" y="447675"/>
                  </a:moveTo>
                  <a:lnTo>
                    <a:pt x="314325" y="447675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637401" y="3587496"/>
            <a:ext cx="365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62801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598801" y="3436937"/>
            <a:ext cx="298450" cy="460375"/>
            <a:chOff x="2598801" y="3436937"/>
            <a:chExt cx="298450" cy="460375"/>
          </a:xfrm>
        </p:grpSpPr>
        <p:sp>
          <p:nvSpPr>
            <p:cNvPr id="51" name="object 51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579751" y="3587496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579751" y="2560701"/>
            <a:ext cx="346075" cy="469900"/>
            <a:chOff x="2579751" y="2560701"/>
            <a:chExt cx="346075" cy="469900"/>
          </a:xfrm>
        </p:grpSpPr>
        <p:sp>
          <p:nvSpPr>
            <p:cNvPr id="55" name="object 55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560701" y="2713672"/>
            <a:ext cx="3841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779894" y="1315656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59393" y="4027170"/>
            <a:ext cx="3009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494651" y="3436937"/>
            <a:ext cx="317500" cy="460375"/>
            <a:chOff x="7494651" y="3436937"/>
            <a:chExt cx="317500" cy="460375"/>
          </a:xfrm>
        </p:grpSpPr>
        <p:sp>
          <p:nvSpPr>
            <p:cNvPr id="62" name="object 62"/>
            <p:cNvSpPr/>
            <p:nvPr/>
          </p:nvSpPr>
          <p:spPr>
            <a:xfrm>
              <a:off x="7501001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501001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475601" y="3587496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342376" y="3436937"/>
            <a:ext cx="327025" cy="460375"/>
            <a:chOff x="8342376" y="3436937"/>
            <a:chExt cx="327025" cy="460375"/>
          </a:xfrm>
        </p:grpSpPr>
        <p:sp>
          <p:nvSpPr>
            <p:cNvPr id="66" name="object 66"/>
            <p:cNvSpPr/>
            <p:nvPr/>
          </p:nvSpPr>
          <p:spPr>
            <a:xfrm>
              <a:off x="8348726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3143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14325" y="4476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348726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0" y="447675"/>
                  </a:moveTo>
                  <a:lnTo>
                    <a:pt x="314325" y="447675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8323326" y="3587496"/>
            <a:ext cx="365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556629" y="4027170"/>
            <a:ext cx="5283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633969" y="4027170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485126" y="2560701"/>
            <a:ext cx="336550" cy="469900"/>
            <a:chOff x="7485126" y="2560701"/>
            <a:chExt cx="336550" cy="469900"/>
          </a:xfrm>
        </p:grpSpPr>
        <p:sp>
          <p:nvSpPr>
            <p:cNvPr id="72" name="object 72"/>
            <p:cNvSpPr/>
            <p:nvPr/>
          </p:nvSpPr>
          <p:spPr>
            <a:xfrm>
              <a:off x="74914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4914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466076" y="2713672"/>
            <a:ext cx="374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8332851" y="2560701"/>
            <a:ext cx="346075" cy="469900"/>
            <a:chOff x="8332851" y="2560701"/>
            <a:chExt cx="346075" cy="469900"/>
          </a:xfrm>
        </p:grpSpPr>
        <p:sp>
          <p:nvSpPr>
            <p:cNvPr id="76" name="object 76"/>
            <p:cNvSpPr/>
            <p:nvPr/>
          </p:nvSpPr>
          <p:spPr>
            <a:xfrm>
              <a:off x="83392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3392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8313801" y="2713672"/>
            <a:ext cx="3841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5010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348726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504810" y="1314196"/>
            <a:ext cx="3009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280145" y="1315148"/>
            <a:ext cx="4629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[STOP]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05332" y="2757551"/>
            <a:ext cx="3940175" cy="1111250"/>
            <a:chOff x="605332" y="2757551"/>
            <a:chExt cx="3940175" cy="1111250"/>
          </a:xfrm>
        </p:grpSpPr>
        <p:sp>
          <p:nvSpPr>
            <p:cNvPr id="84" name="object 84"/>
            <p:cNvSpPr/>
            <p:nvPr/>
          </p:nvSpPr>
          <p:spPr>
            <a:xfrm>
              <a:off x="605332" y="2757550"/>
              <a:ext cx="2181225" cy="685165"/>
            </a:xfrm>
            <a:custGeom>
              <a:avLst/>
              <a:gdLst/>
              <a:ahLst/>
              <a:cxnLst/>
              <a:rect l="l" t="t" r="r" b="b"/>
              <a:pathLst>
                <a:path w="2181225" h="685164">
                  <a:moveTo>
                    <a:pt x="53009" y="685038"/>
                  </a:moveTo>
                  <a:lnTo>
                    <a:pt x="50787" y="343027"/>
                  </a:lnTo>
                  <a:lnTo>
                    <a:pt x="25387" y="343027"/>
                  </a:lnTo>
                  <a:lnTo>
                    <a:pt x="27597" y="685038"/>
                  </a:lnTo>
                  <a:lnTo>
                    <a:pt x="27609" y="685165"/>
                  </a:lnTo>
                  <a:lnTo>
                    <a:pt x="53009" y="685038"/>
                  </a:lnTo>
                  <a:close/>
                </a:path>
                <a:path w="2181225" h="685164">
                  <a:moveTo>
                    <a:pt x="76200" y="342646"/>
                  </a:moveTo>
                  <a:lnTo>
                    <a:pt x="69862" y="330200"/>
                  </a:lnTo>
                  <a:lnTo>
                    <a:pt x="37604" y="266700"/>
                  </a:lnTo>
                  <a:lnTo>
                    <a:pt x="0" y="343027"/>
                  </a:lnTo>
                  <a:lnTo>
                    <a:pt x="25374" y="342912"/>
                  </a:lnTo>
                  <a:lnTo>
                    <a:pt x="50774" y="342785"/>
                  </a:lnTo>
                  <a:lnTo>
                    <a:pt x="76200" y="342646"/>
                  </a:lnTo>
                  <a:close/>
                </a:path>
                <a:path w="2181225" h="685164">
                  <a:moveTo>
                    <a:pt x="575132" y="38100"/>
                  </a:moveTo>
                  <a:lnTo>
                    <a:pt x="549732" y="25400"/>
                  </a:lnTo>
                  <a:lnTo>
                    <a:pt x="498932" y="0"/>
                  </a:lnTo>
                  <a:lnTo>
                    <a:pt x="498932" y="25400"/>
                  </a:lnTo>
                  <a:lnTo>
                    <a:pt x="199529" y="25400"/>
                  </a:lnTo>
                  <a:lnTo>
                    <a:pt x="199529" y="50800"/>
                  </a:lnTo>
                  <a:lnTo>
                    <a:pt x="498932" y="50800"/>
                  </a:lnTo>
                  <a:lnTo>
                    <a:pt x="498932" y="76200"/>
                  </a:lnTo>
                  <a:lnTo>
                    <a:pt x="549732" y="50800"/>
                  </a:lnTo>
                  <a:lnTo>
                    <a:pt x="575132" y="38100"/>
                  </a:lnTo>
                  <a:close/>
                </a:path>
                <a:path w="2181225" h="685164">
                  <a:moveTo>
                    <a:pt x="780491" y="342900"/>
                  </a:moveTo>
                  <a:lnTo>
                    <a:pt x="774141" y="330200"/>
                  </a:lnTo>
                  <a:lnTo>
                    <a:pt x="742391" y="266700"/>
                  </a:lnTo>
                  <a:lnTo>
                    <a:pt x="704291" y="342900"/>
                  </a:lnTo>
                  <a:lnTo>
                    <a:pt x="729691" y="342900"/>
                  </a:lnTo>
                  <a:lnTo>
                    <a:pt x="729818" y="685165"/>
                  </a:lnTo>
                  <a:lnTo>
                    <a:pt x="755218" y="685165"/>
                  </a:lnTo>
                  <a:lnTo>
                    <a:pt x="755091" y="342900"/>
                  </a:lnTo>
                  <a:lnTo>
                    <a:pt x="780491" y="342900"/>
                  </a:lnTo>
                  <a:close/>
                </a:path>
                <a:path w="2181225" h="685164">
                  <a:moveTo>
                    <a:pt x="1277315" y="38100"/>
                  </a:moveTo>
                  <a:lnTo>
                    <a:pt x="1251915" y="25400"/>
                  </a:lnTo>
                  <a:lnTo>
                    <a:pt x="1201115" y="0"/>
                  </a:lnTo>
                  <a:lnTo>
                    <a:pt x="1201115" y="25400"/>
                  </a:lnTo>
                  <a:lnTo>
                    <a:pt x="904443" y="25400"/>
                  </a:lnTo>
                  <a:lnTo>
                    <a:pt x="904443" y="50800"/>
                  </a:lnTo>
                  <a:lnTo>
                    <a:pt x="1201115" y="50800"/>
                  </a:lnTo>
                  <a:lnTo>
                    <a:pt x="1201115" y="76200"/>
                  </a:lnTo>
                  <a:lnTo>
                    <a:pt x="1251915" y="50800"/>
                  </a:lnTo>
                  <a:lnTo>
                    <a:pt x="1277315" y="38100"/>
                  </a:lnTo>
                  <a:close/>
                </a:path>
                <a:path w="2181225" h="685164">
                  <a:moveTo>
                    <a:pt x="1485341" y="342900"/>
                  </a:moveTo>
                  <a:lnTo>
                    <a:pt x="1478991" y="330200"/>
                  </a:lnTo>
                  <a:lnTo>
                    <a:pt x="1447241" y="266700"/>
                  </a:lnTo>
                  <a:lnTo>
                    <a:pt x="1409141" y="342900"/>
                  </a:lnTo>
                  <a:lnTo>
                    <a:pt x="1434541" y="342900"/>
                  </a:lnTo>
                  <a:lnTo>
                    <a:pt x="1434668" y="685165"/>
                  </a:lnTo>
                  <a:lnTo>
                    <a:pt x="1460068" y="685165"/>
                  </a:lnTo>
                  <a:lnTo>
                    <a:pt x="1459941" y="342900"/>
                  </a:lnTo>
                  <a:lnTo>
                    <a:pt x="1485341" y="342900"/>
                  </a:lnTo>
                  <a:close/>
                </a:path>
                <a:path w="2181225" h="685164">
                  <a:moveTo>
                    <a:pt x="1982165" y="38100"/>
                  </a:moveTo>
                  <a:lnTo>
                    <a:pt x="1956765" y="25400"/>
                  </a:lnTo>
                  <a:lnTo>
                    <a:pt x="1905965" y="0"/>
                  </a:lnTo>
                  <a:lnTo>
                    <a:pt x="1905965" y="25400"/>
                  </a:lnTo>
                  <a:lnTo>
                    <a:pt x="1609166" y="25400"/>
                  </a:lnTo>
                  <a:lnTo>
                    <a:pt x="1609166" y="50800"/>
                  </a:lnTo>
                  <a:lnTo>
                    <a:pt x="1905965" y="50800"/>
                  </a:lnTo>
                  <a:lnTo>
                    <a:pt x="1905965" y="76200"/>
                  </a:lnTo>
                  <a:lnTo>
                    <a:pt x="1956765" y="50800"/>
                  </a:lnTo>
                  <a:lnTo>
                    <a:pt x="1982165" y="38100"/>
                  </a:lnTo>
                  <a:close/>
                </a:path>
                <a:path w="2181225" h="685164">
                  <a:moveTo>
                    <a:pt x="2180666" y="342900"/>
                  </a:moveTo>
                  <a:lnTo>
                    <a:pt x="2174316" y="330200"/>
                  </a:lnTo>
                  <a:lnTo>
                    <a:pt x="2142566" y="266700"/>
                  </a:lnTo>
                  <a:lnTo>
                    <a:pt x="2104466" y="342900"/>
                  </a:lnTo>
                  <a:lnTo>
                    <a:pt x="2129866" y="342900"/>
                  </a:lnTo>
                  <a:lnTo>
                    <a:pt x="2129993" y="685165"/>
                  </a:lnTo>
                  <a:lnTo>
                    <a:pt x="2155393" y="685165"/>
                  </a:lnTo>
                  <a:lnTo>
                    <a:pt x="2155266" y="342900"/>
                  </a:lnTo>
                  <a:lnTo>
                    <a:pt x="2180666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214876" y="3414776"/>
              <a:ext cx="323850" cy="447675"/>
            </a:xfrm>
            <a:custGeom>
              <a:avLst/>
              <a:gdLst/>
              <a:ahLst/>
              <a:cxnLst/>
              <a:rect l="l" t="t" r="r" b="b"/>
              <a:pathLst>
                <a:path w="323850" h="447675">
                  <a:moveTo>
                    <a:pt x="3238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23850" y="4476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214876" y="3414776"/>
              <a:ext cx="323850" cy="447675"/>
            </a:xfrm>
            <a:custGeom>
              <a:avLst/>
              <a:gdLst/>
              <a:ahLst/>
              <a:cxnLst/>
              <a:rect l="l" t="t" r="r" b="b"/>
              <a:pathLst>
                <a:path w="323850" h="447675">
                  <a:moveTo>
                    <a:pt x="0" y="447675"/>
                  </a:moveTo>
                  <a:lnTo>
                    <a:pt x="323850" y="4476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4333240" y="3558857"/>
            <a:ext cx="831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2919476" y="2147951"/>
            <a:ext cx="5629275" cy="1529715"/>
            <a:chOff x="2919476" y="2147951"/>
            <a:chExt cx="5629275" cy="1529715"/>
          </a:xfrm>
        </p:grpSpPr>
        <p:sp>
          <p:nvSpPr>
            <p:cNvPr id="89" name="object 89"/>
            <p:cNvSpPr/>
            <p:nvPr/>
          </p:nvSpPr>
          <p:spPr>
            <a:xfrm>
              <a:off x="4538599" y="2147950"/>
              <a:ext cx="4010025" cy="1294765"/>
            </a:xfrm>
            <a:custGeom>
              <a:avLst/>
              <a:gdLst/>
              <a:ahLst/>
              <a:cxnLst/>
              <a:rect l="l" t="t" r="r" b="b"/>
              <a:pathLst>
                <a:path w="4010025" h="1294764">
                  <a:moveTo>
                    <a:pt x="1273810" y="647700"/>
                  </a:moveTo>
                  <a:lnTo>
                    <a:pt x="1248410" y="635000"/>
                  </a:lnTo>
                  <a:lnTo>
                    <a:pt x="1197610" y="609600"/>
                  </a:lnTo>
                  <a:lnTo>
                    <a:pt x="1197610" y="635000"/>
                  </a:lnTo>
                  <a:lnTo>
                    <a:pt x="0" y="635000"/>
                  </a:lnTo>
                  <a:lnTo>
                    <a:pt x="0" y="660400"/>
                  </a:lnTo>
                  <a:lnTo>
                    <a:pt x="1197610" y="660400"/>
                  </a:lnTo>
                  <a:lnTo>
                    <a:pt x="1197610" y="685800"/>
                  </a:lnTo>
                  <a:lnTo>
                    <a:pt x="1248410" y="660400"/>
                  </a:lnTo>
                  <a:lnTo>
                    <a:pt x="1273810" y="647700"/>
                  </a:lnTo>
                  <a:close/>
                </a:path>
                <a:path w="4010025" h="1294764">
                  <a:moveTo>
                    <a:pt x="1476502" y="952500"/>
                  </a:moveTo>
                  <a:lnTo>
                    <a:pt x="1470126" y="939800"/>
                  </a:lnTo>
                  <a:lnTo>
                    <a:pt x="1438275" y="876300"/>
                  </a:lnTo>
                  <a:lnTo>
                    <a:pt x="1400302" y="952500"/>
                  </a:lnTo>
                  <a:lnTo>
                    <a:pt x="1425575" y="952500"/>
                  </a:lnTo>
                  <a:lnTo>
                    <a:pt x="1425702" y="1294765"/>
                  </a:lnTo>
                  <a:lnTo>
                    <a:pt x="1451102" y="1294765"/>
                  </a:lnTo>
                  <a:lnTo>
                    <a:pt x="1450975" y="952500"/>
                  </a:lnTo>
                  <a:lnTo>
                    <a:pt x="1476502" y="952500"/>
                  </a:lnTo>
                  <a:close/>
                </a:path>
                <a:path w="4010025" h="1294764">
                  <a:moveTo>
                    <a:pt x="1476502" y="76200"/>
                  </a:moveTo>
                  <a:lnTo>
                    <a:pt x="1470126" y="63500"/>
                  </a:lnTo>
                  <a:lnTo>
                    <a:pt x="1438275" y="0"/>
                  </a:lnTo>
                  <a:lnTo>
                    <a:pt x="1400302" y="76200"/>
                  </a:lnTo>
                  <a:lnTo>
                    <a:pt x="1425575" y="76200"/>
                  </a:lnTo>
                  <a:lnTo>
                    <a:pt x="1425702" y="421767"/>
                  </a:lnTo>
                  <a:lnTo>
                    <a:pt x="1451102" y="421767"/>
                  </a:lnTo>
                  <a:lnTo>
                    <a:pt x="1450975" y="76200"/>
                  </a:lnTo>
                  <a:lnTo>
                    <a:pt x="1476502" y="76200"/>
                  </a:lnTo>
                  <a:close/>
                </a:path>
                <a:path w="4010025" h="1294764">
                  <a:moveTo>
                    <a:pt x="2113915" y="647700"/>
                  </a:moveTo>
                  <a:lnTo>
                    <a:pt x="2088515" y="635000"/>
                  </a:lnTo>
                  <a:lnTo>
                    <a:pt x="2037715" y="609600"/>
                  </a:lnTo>
                  <a:lnTo>
                    <a:pt x="2037715" y="635000"/>
                  </a:lnTo>
                  <a:lnTo>
                    <a:pt x="1600200" y="635000"/>
                  </a:lnTo>
                  <a:lnTo>
                    <a:pt x="1600200" y="660400"/>
                  </a:lnTo>
                  <a:lnTo>
                    <a:pt x="2037715" y="660400"/>
                  </a:lnTo>
                  <a:lnTo>
                    <a:pt x="2037715" y="685800"/>
                  </a:lnTo>
                  <a:lnTo>
                    <a:pt x="2088515" y="660400"/>
                  </a:lnTo>
                  <a:lnTo>
                    <a:pt x="2113915" y="647700"/>
                  </a:lnTo>
                  <a:close/>
                </a:path>
                <a:path w="4010025" h="1294764">
                  <a:moveTo>
                    <a:pt x="2324100" y="952500"/>
                  </a:moveTo>
                  <a:lnTo>
                    <a:pt x="2317750" y="939800"/>
                  </a:lnTo>
                  <a:lnTo>
                    <a:pt x="2286000" y="876300"/>
                  </a:lnTo>
                  <a:lnTo>
                    <a:pt x="2247900" y="952500"/>
                  </a:lnTo>
                  <a:lnTo>
                    <a:pt x="2273300" y="952500"/>
                  </a:lnTo>
                  <a:lnTo>
                    <a:pt x="2273427" y="1294765"/>
                  </a:lnTo>
                  <a:lnTo>
                    <a:pt x="2298827" y="1294765"/>
                  </a:lnTo>
                  <a:lnTo>
                    <a:pt x="2298700" y="952500"/>
                  </a:lnTo>
                  <a:lnTo>
                    <a:pt x="2324100" y="952500"/>
                  </a:lnTo>
                  <a:close/>
                </a:path>
                <a:path w="4010025" h="1294764">
                  <a:moveTo>
                    <a:pt x="2324163" y="76200"/>
                  </a:moveTo>
                  <a:lnTo>
                    <a:pt x="2317800" y="63500"/>
                  </a:lnTo>
                  <a:lnTo>
                    <a:pt x="2286000" y="0"/>
                  </a:lnTo>
                  <a:lnTo>
                    <a:pt x="2247900" y="76200"/>
                  </a:lnTo>
                  <a:lnTo>
                    <a:pt x="2273300" y="76200"/>
                  </a:lnTo>
                  <a:lnTo>
                    <a:pt x="2273427" y="421767"/>
                  </a:lnTo>
                  <a:lnTo>
                    <a:pt x="2298827" y="421767"/>
                  </a:lnTo>
                  <a:lnTo>
                    <a:pt x="2298700" y="76200"/>
                  </a:lnTo>
                  <a:lnTo>
                    <a:pt x="2324163" y="76200"/>
                  </a:lnTo>
                  <a:close/>
                </a:path>
                <a:path w="4010025" h="1294764">
                  <a:moveTo>
                    <a:pt x="2950845" y="647700"/>
                  </a:moveTo>
                  <a:lnTo>
                    <a:pt x="2925445" y="635000"/>
                  </a:lnTo>
                  <a:lnTo>
                    <a:pt x="2874645" y="609600"/>
                  </a:lnTo>
                  <a:lnTo>
                    <a:pt x="2874645" y="635000"/>
                  </a:lnTo>
                  <a:lnTo>
                    <a:pt x="2447925" y="635000"/>
                  </a:lnTo>
                  <a:lnTo>
                    <a:pt x="2447925" y="660400"/>
                  </a:lnTo>
                  <a:lnTo>
                    <a:pt x="2874645" y="660400"/>
                  </a:lnTo>
                  <a:lnTo>
                    <a:pt x="2874645" y="685800"/>
                  </a:lnTo>
                  <a:lnTo>
                    <a:pt x="2925445" y="660400"/>
                  </a:lnTo>
                  <a:lnTo>
                    <a:pt x="2950845" y="647700"/>
                  </a:lnTo>
                  <a:close/>
                </a:path>
                <a:path w="4010025" h="1294764">
                  <a:moveTo>
                    <a:pt x="3152775" y="952500"/>
                  </a:moveTo>
                  <a:lnTo>
                    <a:pt x="3146425" y="939800"/>
                  </a:lnTo>
                  <a:lnTo>
                    <a:pt x="3114675" y="876300"/>
                  </a:lnTo>
                  <a:lnTo>
                    <a:pt x="3076575" y="952500"/>
                  </a:lnTo>
                  <a:lnTo>
                    <a:pt x="3101975" y="952500"/>
                  </a:lnTo>
                  <a:lnTo>
                    <a:pt x="3102102" y="1294765"/>
                  </a:lnTo>
                  <a:lnTo>
                    <a:pt x="3127502" y="1294765"/>
                  </a:lnTo>
                  <a:lnTo>
                    <a:pt x="3127375" y="952500"/>
                  </a:lnTo>
                  <a:lnTo>
                    <a:pt x="3152775" y="952500"/>
                  </a:lnTo>
                  <a:close/>
                </a:path>
                <a:path w="4010025" h="1294764">
                  <a:moveTo>
                    <a:pt x="3152838" y="76200"/>
                  </a:moveTo>
                  <a:lnTo>
                    <a:pt x="3146475" y="63500"/>
                  </a:lnTo>
                  <a:lnTo>
                    <a:pt x="3114675" y="0"/>
                  </a:lnTo>
                  <a:lnTo>
                    <a:pt x="3076575" y="76200"/>
                  </a:lnTo>
                  <a:lnTo>
                    <a:pt x="3101975" y="76200"/>
                  </a:lnTo>
                  <a:lnTo>
                    <a:pt x="3102102" y="421767"/>
                  </a:lnTo>
                  <a:lnTo>
                    <a:pt x="3127502" y="421767"/>
                  </a:lnTo>
                  <a:lnTo>
                    <a:pt x="3127375" y="76200"/>
                  </a:lnTo>
                  <a:lnTo>
                    <a:pt x="3152838" y="76200"/>
                  </a:lnTo>
                  <a:close/>
                </a:path>
                <a:path w="4010025" h="1294764">
                  <a:moveTo>
                    <a:pt x="3801364" y="647700"/>
                  </a:moveTo>
                  <a:lnTo>
                    <a:pt x="3775964" y="635000"/>
                  </a:lnTo>
                  <a:lnTo>
                    <a:pt x="3725164" y="609600"/>
                  </a:lnTo>
                  <a:lnTo>
                    <a:pt x="3725164" y="635000"/>
                  </a:lnTo>
                  <a:lnTo>
                    <a:pt x="3276600" y="635000"/>
                  </a:lnTo>
                  <a:lnTo>
                    <a:pt x="3276600" y="660400"/>
                  </a:lnTo>
                  <a:lnTo>
                    <a:pt x="3725164" y="660400"/>
                  </a:lnTo>
                  <a:lnTo>
                    <a:pt x="3725164" y="685800"/>
                  </a:lnTo>
                  <a:lnTo>
                    <a:pt x="3775964" y="660400"/>
                  </a:lnTo>
                  <a:lnTo>
                    <a:pt x="3801364" y="647700"/>
                  </a:lnTo>
                  <a:close/>
                </a:path>
                <a:path w="4010025" h="1294764">
                  <a:moveTo>
                    <a:pt x="4010025" y="952500"/>
                  </a:moveTo>
                  <a:lnTo>
                    <a:pt x="4003675" y="939800"/>
                  </a:lnTo>
                  <a:lnTo>
                    <a:pt x="3971925" y="876300"/>
                  </a:lnTo>
                  <a:lnTo>
                    <a:pt x="3933825" y="952500"/>
                  </a:lnTo>
                  <a:lnTo>
                    <a:pt x="3959225" y="952500"/>
                  </a:lnTo>
                  <a:lnTo>
                    <a:pt x="3959352" y="1294765"/>
                  </a:lnTo>
                  <a:lnTo>
                    <a:pt x="3984752" y="1294765"/>
                  </a:lnTo>
                  <a:lnTo>
                    <a:pt x="3984625" y="952500"/>
                  </a:lnTo>
                  <a:lnTo>
                    <a:pt x="4010025" y="952500"/>
                  </a:lnTo>
                  <a:close/>
                </a:path>
                <a:path w="4010025" h="1294764">
                  <a:moveTo>
                    <a:pt x="4010025" y="76200"/>
                  </a:moveTo>
                  <a:lnTo>
                    <a:pt x="4003675" y="63500"/>
                  </a:lnTo>
                  <a:lnTo>
                    <a:pt x="3971925" y="0"/>
                  </a:lnTo>
                  <a:lnTo>
                    <a:pt x="3933825" y="76200"/>
                  </a:lnTo>
                  <a:lnTo>
                    <a:pt x="3959225" y="76200"/>
                  </a:lnTo>
                  <a:lnTo>
                    <a:pt x="3959352" y="421767"/>
                  </a:lnTo>
                  <a:lnTo>
                    <a:pt x="3984752" y="421767"/>
                  </a:lnTo>
                  <a:lnTo>
                    <a:pt x="3984625" y="76200"/>
                  </a:lnTo>
                  <a:lnTo>
                    <a:pt x="4010025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538726" y="3224276"/>
              <a:ext cx="376555" cy="412750"/>
            </a:xfrm>
            <a:custGeom>
              <a:avLst/>
              <a:gdLst/>
              <a:ahLst/>
              <a:cxnLst/>
              <a:rect l="l" t="t" r="r" b="b"/>
              <a:pathLst>
                <a:path w="376554" h="412750">
                  <a:moveTo>
                    <a:pt x="0" y="412750"/>
                  </a:moveTo>
                  <a:lnTo>
                    <a:pt x="376174" y="412750"/>
                  </a:lnTo>
                  <a:lnTo>
                    <a:pt x="376174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919476" y="2782950"/>
              <a:ext cx="5518150" cy="894715"/>
            </a:xfrm>
            <a:custGeom>
              <a:avLst/>
              <a:gdLst/>
              <a:ahLst/>
              <a:cxnLst/>
              <a:rect l="l" t="t" r="r" b="b"/>
              <a:pathLst>
                <a:path w="5518150" h="894714">
                  <a:moveTo>
                    <a:pt x="1293495" y="856234"/>
                  </a:moveTo>
                  <a:lnTo>
                    <a:pt x="1268095" y="843534"/>
                  </a:lnTo>
                  <a:lnTo>
                    <a:pt x="1217295" y="818134"/>
                  </a:lnTo>
                  <a:lnTo>
                    <a:pt x="1217295" y="843534"/>
                  </a:lnTo>
                  <a:lnTo>
                    <a:pt x="659384" y="843534"/>
                  </a:lnTo>
                  <a:lnTo>
                    <a:pt x="659384" y="25400"/>
                  </a:lnTo>
                  <a:lnTo>
                    <a:pt x="659384" y="12700"/>
                  </a:lnTo>
                  <a:lnTo>
                    <a:pt x="659384" y="5588"/>
                  </a:lnTo>
                  <a:lnTo>
                    <a:pt x="653669" y="0"/>
                  </a:lnTo>
                  <a:lnTo>
                    <a:pt x="0" y="0"/>
                  </a:lnTo>
                  <a:lnTo>
                    <a:pt x="0" y="25400"/>
                  </a:lnTo>
                  <a:lnTo>
                    <a:pt x="633984" y="25400"/>
                  </a:lnTo>
                  <a:lnTo>
                    <a:pt x="633984" y="863219"/>
                  </a:lnTo>
                  <a:lnTo>
                    <a:pt x="639699" y="868934"/>
                  </a:lnTo>
                  <a:lnTo>
                    <a:pt x="1217295" y="868934"/>
                  </a:lnTo>
                  <a:lnTo>
                    <a:pt x="1217295" y="894334"/>
                  </a:lnTo>
                  <a:lnTo>
                    <a:pt x="1268095" y="868934"/>
                  </a:lnTo>
                  <a:lnTo>
                    <a:pt x="1293495" y="856234"/>
                  </a:lnTo>
                  <a:close/>
                </a:path>
                <a:path w="5518150" h="894714">
                  <a:moveTo>
                    <a:pt x="5518023" y="327025"/>
                  </a:moveTo>
                  <a:lnTo>
                    <a:pt x="5511673" y="314325"/>
                  </a:lnTo>
                  <a:lnTo>
                    <a:pt x="5479923" y="250825"/>
                  </a:lnTo>
                  <a:lnTo>
                    <a:pt x="5441823" y="327025"/>
                  </a:lnTo>
                  <a:lnTo>
                    <a:pt x="5467223" y="327025"/>
                  </a:lnTo>
                  <a:lnTo>
                    <a:pt x="5467223" y="423799"/>
                  </a:lnTo>
                  <a:lnTo>
                    <a:pt x="4641596" y="423799"/>
                  </a:lnTo>
                  <a:lnTo>
                    <a:pt x="4641596" y="327025"/>
                  </a:lnTo>
                  <a:lnTo>
                    <a:pt x="4666996" y="327025"/>
                  </a:lnTo>
                  <a:lnTo>
                    <a:pt x="4660646" y="314325"/>
                  </a:lnTo>
                  <a:lnTo>
                    <a:pt x="4628896" y="250825"/>
                  </a:lnTo>
                  <a:lnTo>
                    <a:pt x="4590796" y="327025"/>
                  </a:lnTo>
                  <a:lnTo>
                    <a:pt x="4616196" y="327025"/>
                  </a:lnTo>
                  <a:lnTo>
                    <a:pt x="4616196" y="423799"/>
                  </a:lnTo>
                  <a:lnTo>
                    <a:pt x="4057523" y="423799"/>
                  </a:lnTo>
                  <a:lnTo>
                    <a:pt x="4057523" y="430022"/>
                  </a:lnTo>
                  <a:lnTo>
                    <a:pt x="3818890" y="430022"/>
                  </a:lnTo>
                  <a:lnTo>
                    <a:pt x="3818890" y="424307"/>
                  </a:lnTo>
                  <a:lnTo>
                    <a:pt x="3818890" y="317500"/>
                  </a:lnTo>
                  <a:lnTo>
                    <a:pt x="3844290" y="317500"/>
                  </a:lnTo>
                  <a:lnTo>
                    <a:pt x="3837940" y="304800"/>
                  </a:lnTo>
                  <a:lnTo>
                    <a:pt x="3806190" y="241300"/>
                  </a:lnTo>
                  <a:lnTo>
                    <a:pt x="3768090" y="317500"/>
                  </a:lnTo>
                  <a:lnTo>
                    <a:pt x="3793490" y="317500"/>
                  </a:lnTo>
                  <a:lnTo>
                    <a:pt x="3793490" y="424307"/>
                  </a:lnTo>
                  <a:lnTo>
                    <a:pt x="2978023" y="424307"/>
                  </a:lnTo>
                  <a:lnTo>
                    <a:pt x="2978023" y="317500"/>
                  </a:lnTo>
                  <a:lnTo>
                    <a:pt x="3003423" y="317500"/>
                  </a:lnTo>
                  <a:lnTo>
                    <a:pt x="2997073" y="304800"/>
                  </a:lnTo>
                  <a:lnTo>
                    <a:pt x="2965323" y="241300"/>
                  </a:lnTo>
                  <a:lnTo>
                    <a:pt x="2927223" y="317500"/>
                  </a:lnTo>
                  <a:lnTo>
                    <a:pt x="2952623" y="317500"/>
                  </a:lnTo>
                  <a:lnTo>
                    <a:pt x="2952623" y="424307"/>
                  </a:lnTo>
                  <a:lnTo>
                    <a:pt x="2943098" y="424307"/>
                  </a:lnTo>
                  <a:lnTo>
                    <a:pt x="2943098" y="428879"/>
                  </a:lnTo>
                  <a:lnTo>
                    <a:pt x="2000123" y="428879"/>
                  </a:lnTo>
                  <a:lnTo>
                    <a:pt x="2000123" y="454279"/>
                  </a:lnTo>
                  <a:lnTo>
                    <a:pt x="2972308" y="454279"/>
                  </a:lnTo>
                  <a:lnTo>
                    <a:pt x="2976981" y="449707"/>
                  </a:lnTo>
                  <a:lnTo>
                    <a:pt x="3771773" y="449707"/>
                  </a:lnTo>
                  <a:lnTo>
                    <a:pt x="3771773" y="455422"/>
                  </a:lnTo>
                  <a:lnTo>
                    <a:pt x="4636008" y="455422"/>
                  </a:lnTo>
                  <a:lnTo>
                    <a:pt x="4641596" y="449834"/>
                  </a:lnTo>
                  <a:lnTo>
                    <a:pt x="4641596" y="449199"/>
                  </a:lnTo>
                  <a:lnTo>
                    <a:pt x="5486908" y="449199"/>
                  </a:lnTo>
                  <a:lnTo>
                    <a:pt x="5492623" y="443484"/>
                  </a:lnTo>
                  <a:lnTo>
                    <a:pt x="5492623" y="436499"/>
                  </a:lnTo>
                  <a:lnTo>
                    <a:pt x="5492623" y="423799"/>
                  </a:lnTo>
                  <a:lnTo>
                    <a:pt x="5492623" y="327025"/>
                  </a:lnTo>
                  <a:lnTo>
                    <a:pt x="5518023" y="327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683894" y="840486"/>
            <a:ext cx="2949575" cy="577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 </a:t>
            </a: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T</a:t>
            </a:r>
            <a:endParaRPr sz="1800" baseline="-18518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T’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8739" y="4639125"/>
            <a:ext cx="3637279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Sutskever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“Sequence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with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neural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networks”,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NeurIPS </a:t>
            </a:r>
            <a:r>
              <a:rPr sz="750" spc="-20" dirty="0">
                <a:latin typeface="Arial"/>
                <a:cs typeface="Arial"/>
              </a:rPr>
              <a:t>2014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30" baseline="1543" dirty="0"/>
              <a:t> </a:t>
            </a:r>
            <a:r>
              <a:rPr sz="2700" baseline="1543" dirty="0"/>
              <a:t>8</a:t>
            </a:r>
            <a:r>
              <a:rPr sz="2700" spc="-7" baseline="1543" dirty="0"/>
              <a:t> </a:t>
            </a:r>
            <a:r>
              <a:rPr sz="2700" baseline="1543" dirty="0"/>
              <a:t>-</a:t>
            </a:r>
            <a:r>
              <a:rPr sz="2700" spc="427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10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07" name="object 10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93" name="object 93"/>
          <p:cNvSpPr txBox="1"/>
          <p:nvPr/>
        </p:nvSpPr>
        <p:spPr>
          <a:xfrm>
            <a:off x="1794891" y="2044382"/>
            <a:ext cx="679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12457" y="1920557"/>
            <a:ext cx="22047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6880" algn="l"/>
              </a:tabLst>
            </a:pPr>
            <a:r>
              <a:rPr sz="1800" b="1" dirty="0">
                <a:latin typeface="Arial"/>
                <a:cs typeface="Arial"/>
              </a:rPr>
              <a:t>Encoder: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</a:t>
            </a:r>
            <a:r>
              <a:rPr sz="1800" spc="3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f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(x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162175" y="2044382"/>
            <a:ext cx="836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345" algn="l"/>
                <a:tab pos="644525" algn="l"/>
              </a:tabLst>
            </a:pPr>
            <a:r>
              <a:rPr sz="1200" spc="-50" dirty="0">
                <a:latin typeface="Arial"/>
                <a:cs typeface="Arial"/>
              </a:rPr>
              <a:t>W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t-</a:t>
            </a:r>
            <a:r>
              <a:rPr sz="1200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984875" y="779716"/>
            <a:ext cx="2888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Decoder: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</a:t>
            </a:r>
            <a:r>
              <a:rPr sz="1800" spc="247" baseline="-1851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</a:t>
            </a:r>
            <a:r>
              <a:rPr sz="1800" spc="-15" baseline="-18518" dirty="0">
                <a:latin typeface="Arial"/>
                <a:cs typeface="Arial"/>
              </a:rPr>
              <a:t>U</a:t>
            </a:r>
            <a:r>
              <a:rPr sz="1800" spc="-10" dirty="0">
                <a:latin typeface="Arial"/>
                <a:cs typeface="Arial"/>
              </a:rPr>
              <a:t>(y</a:t>
            </a:r>
            <a:r>
              <a:rPr sz="1800" spc="-15" baseline="-18518" dirty="0">
                <a:latin typeface="Arial"/>
                <a:cs typeface="Arial"/>
              </a:rPr>
              <a:t>t-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t-1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153029" y="1651952"/>
            <a:ext cx="26396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 </a:t>
            </a:r>
            <a:r>
              <a:rPr sz="1500" spc="-10" dirty="0">
                <a:latin typeface="Arial"/>
                <a:cs typeface="Arial"/>
              </a:rPr>
              <a:t>hidden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state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predict:</a:t>
            </a:r>
            <a:endParaRPr sz="15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947035" y="1842706"/>
            <a:ext cx="2263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18518" dirty="0">
                <a:latin typeface="Arial"/>
                <a:cs typeface="Arial"/>
              </a:rPr>
              <a:t>)</a:t>
            </a:r>
            <a:r>
              <a:rPr sz="2700" spc="434" baseline="-1851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127629" y="2110041"/>
            <a:ext cx="26079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Context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vector </a:t>
            </a:r>
            <a:r>
              <a:rPr sz="1500" dirty="0">
                <a:latin typeface="Arial"/>
                <a:cs typeface="Arial"/>
              </a:rPr>
              <a:t>c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(often</a:t>
            </a:r>
            <a:r>
              <a:rPr sz="1500" spc="-20" dirty="0">
                <a:latin typeface="Arial"/>
                <a:cs typeface="Arial"/>
              </a:rPr>
              <a:t> c=h</a:t>
            </a:r>
            <a:r>
              <a:rPr sz="1425" spc="-30" baseline="-17543" dirty="0">
                <a:latin typeface="Arial"/>
                <a:cs typeface="Arial"/>
              </a:rPr>
              <a:t>T</a:t>
            </a:r>
            <a:r>
              <a:rPr sz="1500" spc="-20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0" name="object 100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550418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3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dirty="0"/>
              <a:t>Sequence</a:t>
            </a:r>
            <a:r>
              <a:rPr spc="130" dirty="0"/>
              <a:t> </a:t>
            </a:r>
            <a:r>
              <a:rPr dirty="0"/>
              <a:t>with</a:t>
            </a:r>
            <a:r>
              <a:rPr spc="135" dirty="0"/>
              <a:t> </a:t>
            </a:r>
            <a:r>
              <a:rPr spc="-20" dirty="0"/>
              <a:t>RNNs</a:t>
            </a:r>
          </a:p>
        </p:txBody>
      </p:sp>
      <p:sp>
        <p:nvSpPr>
          <p:cNvPr id="101" name="object 101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50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01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586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125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48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3276" y="2567051"/>
            <a:ext cx="333375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11190" y="4027170"/>
            <a:ext cx="5410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24601" y="3443287"/>
            <a:ext cx="304800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62801" y="3443287"/>
            <a:ext cx="314325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62801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610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01001" y="3443287"/>
            <a:ext cx="304800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8726" y="3443287"/>
            <a:ext cx="314325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914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39201" y="2567051"/>
            <a:ext cx="333375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825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010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48726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80145" y="1315148"/>
            <a:ext cx="4629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[STOP]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5332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711" y="63500"/>
                </a:moveTo>
                <a:lnTo>
                  <a:pt x="25311" y="63500"/>
                </a:lnTo>
                <a:lnTo>
                  <a:pt x="27608" y="418338"/>
                </a:lnTo>
                <a:lnTo>
                  <a:pt x="27609" y="418465"/>
                </a:lnTo>
                <a:lnTo>
                  <a:pt x="53009" y="418338"/>
                </a:lnTo>
                <a:lnTo>
                  <a:pt x="50794" y="76326"/>
                </a:lnTo>
                <a:lnTo>
                  <a:pt x="50711" y="63500"/>
                </a:lnTo>
                <a:close/>
              </a:path>
              <a:path w="76200" h="418464">
                <a:moveTo>
                  <a:pt x="37604" y="0"/>
                </a:moveTo>
                <a:lnTo>
                  <a:pt x="0" y="76326"/>
                </a:lnTo>
                <a:lnTo>
                  <a:pt x="25394" y="76326"/>
                </a:lnTo>
                <a:lnTo>
                  <a:pt x="25311" y="63500"/>
                </a:lnTo>
                <a:lnTo>
                  <a:pt x="69875" y="63500"/>
                </a:lnTo>
                <a:lnTo>
                  <a:pt x="37604" y="0"/>
                </a:lnTo>
                <a:close/>
              </a:path>
              <a:path w="76200" h="418464">
                <a:moveTo>
                  <a:pt x="69875" y="63500"/>
                </a:moveTo>
                <a:lnTo>
                  <a:pt x="50711" y="63500"/>
                </a:lnTo>
                <a:lnTo>
                  <a:pt x="50794" y="76326"/>
                </a:lnTo>
                <a:lnTo>
                  <a:pt x="0" y="76326"/>
                </a:lnTo>
                <a:lnTo>
                  <a:pt x="76200" y="75946"/>
                </a:lnTo>
                <a:lnTo>
                  <a:pt x="6987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09624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4862" y="2757551"/>
            <a:ext cx="375920" cy="76200"/>
          </a:xfrm>
          <a:custGeom>
            <a:avLst/>
            <a:gdLst/>
            <a:ahLst/>
            <a:cxnLst/>
            <a:rect l="l" t="t" r="r" b="b"/>
            <a:pathLst>
              <a:path w="375919" h="76200">
                <a:moveTo>
                  <a:pt x="299402" y="0"/>
                </a:moveTo>
                <a:lnTo>
                  <a:pt x="299402" y="76200"/>
                </a:lnTo>
                <a:lnTo>
                  <a:pt x="350202" y="50800"/>
                </a:lnTo>
                <a:lnTo>
                  <a:pt x="312102" y="50800"/>
                </a:lnTo>
                <a:lnTo>
                  <a:pt x="312102" y="25400"/>
                </a:lnTo>
                <a:lnTo>
                  <a:pt x="350202" y="25400"/>
                </a:lnTo>
                <a:lnTo>
                  <a:pt x="299402" y="0"/>
                </a:lnTo>
                <a:close/>
              </a:path>
              <a:path w="375919" h="76200">
                <a:moveTo>
                  <a:pt x="2994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9402" y="50800"/>
                </a:lnTo>
                <a:lnTo>
                  <a:pt x="299402" y="25400"/>
                </a:lnTo>
                <a:close/>
              </a:path>
              <a:path w="375919" h="76200">
                <a:moveTo>
                  <a:pt x="350202" y="25400"/>
                </a:moveTo>
                <a:lnTo>
                  <a:pt x="312102" y="25400"/>
                </a:lnTo>
                <a:lnTo>
                  <a:pt x="312102" y="50800"/>
                </a:lnTo>
                <a:lnTo>
                  <a:pt x="350202" y="50800"/>
                </a:lnTo>
                <a:lnTo>
                  <a:pt x="375602" y="38100"/>
                </a:lnTo>
                <a:lnTo>
                  <a:pt x="3502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09775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672" y="0"/>
                </a:moveTo>
                <a:lnTo>
                  <a:pt x="296672" y="76200"/>
                </a:lnTo>
                <a:lnTo>
                  <a:pt x="347472" y="50800"/>
                </a:lnTo>
                <a:lnTo>
                  <a:pt x="309372" y="50800"/>
                </a:lnTo>
                <a:lnTo>
                  <a:pt x="309372" y="25400"/>
                </a:lnTo>
                <a:lnTo>
                  <a:pt x="347472" y="25400"/>
                </a:lnTo>
                <a:lnTo>
                  <a:pt x="296672" y="0"/>
                </a:lnTo>
                <a:close/>
              </a:path>
              <a:path w="373380" h="76200">
                <a:moveTo>
                  <a:pt x="29667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672" y="50800"/>
                </a:lnTo>
                <a:lnTo>
                  <a:pt x="296672" y="25400"/>
                </a:lnTo>
                <a:close/>
              </a:path>
              <a:path w="373380" h="76200">
                <a:moveTo>
                  <a:pt x="347472" y="25400"/>
                </a:moveTo>
                <a:lnTo>
                  <a:pt x="309372" y="25400"/>
                </a:lnTo>
                <a:lnTo>
                  <a:pt x="309372" y="50800"/>
                </a:lnTo>
                <a:lnTo>
                  <a:pt x="347472" y="50800"/>
                </a:lnTo>
                <a:lnTo>
                  <a:pt x="372872" y="38100"/>
                </a:lnTo>
                <a:lnTo>
                  <a:pt x="34747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14498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799" y="0"/>
                </a:moveTo>
                <a:lnTo>
                  <a:pt x="296799" y="76200"/>
                </a:lnTo>
                <a:lnTo>
                  <a:pt x="347599" y="50800"/>
                </a:lnTo>
                <a:lnTo>
                  <a:pt x="309499" y="50800"/>
                </a:lnTo>
                <a:lnTo>
                  <a:pt x="309499" y="25400"/>
                </a:lnTo>
                <a:lnTo>
                  <a:pt x="347599" y="25400"/>
                </a:lnTo>
                <a:lnTo>
                  <a:pt x="296799" y="0"/>
                </a:lnTo>
                <a:close/>
              </a:path>
              <a:path w="373380" h="76200">
                <a:moveTo>
                  <a:pt x="29679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799" y="50800"/>
                </a:lnTo>
                <a:lnTo>
                  <a:pt x="296799" y="25400"/>
                </a:lnTo>
                <a:close/>
              </a:path>
              <a:path w="373380" h="76200">
                <a:moveTo>
                  <a:pt x="347599" y="25400"/>
                </a:moveTo>
                <a:lnTo>
                  <a:pt x="309499" y="25400"/>
                </a:lnTo>
                <a:lnTo>
                  <a:pt x="309499" y="50800"/>
                </a:lnTo>
                <a:lnTo>
                  <a:pt x="347599" y="50800"/>
                </a:lnTo>
                <a:lnTo>
                  <a:pt x="372999" y="38100"/>
                </a:lnTo>
                <a:lnTo>
                  <a:pt x="34759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14473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0979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214876" y="3414776"/>
            <a:ext cx="323850" cy="4476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50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38598" y="2757551"/>
            <a:ext cx="1273810" cy="76200"/>
          </a:xfrm>
          <a:custGeom>
            <a:avLst/>
            <a:gdLst/>
            <a:ahLst/>
            <a:cxnLst/>
            <a:rect l="l" t="t" r="r" b="b"/>
            <a:pathLst>
              <a:path w="1273810" h="76200">
                <a:moveTo>
                  <a:pt x="1197610" y="0"/>
                </a:moveTo>
                <a:lnTo>
                  <a:pt x="1197610" y="76200"/>
                </a:lnTo>
                <a:lnTo>
                  <a:pt x="1248410" y="50800"/>
                </a:lnTo>
                <a:lnTo>
                  <a:pt x="1210310" y="50800"/>
                </a:lnTo>
                <a:lnTo>
                  <a:pt x="1210310" y="25400"/>
                </a:lnTo>
                <a:lnTo>
                  <a:pt x="1248410" y="25400"/>
                </a:lnTo>
                <a:lnTo>
                  <a:pt x="1197610" y="0"/>
                </a:lnTo>
                <a:close/>
              </a:path>
              <a:path w="1273810" h="76200">
                <a:moveTo>
                  <a:pt x="119761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197610" y="50800"/>
                </a:lnTo>
                <a:lnTo>
                  <a:pt x="1197610" y="25400"/>
                </a:lnTo>
                <a:close/>
              </a:path>
              <a:path w="1273810" h="76200">
                <a:moveTo>
                  <a:pt x="1248410" y="25400"/>
                </a:moveTo>
                <a:lnTo>
                  <a:pt x="1210310" y="25400"/>
                </a:lnTo>
                <a:lnTo>
                  <a:pt x="1210310" y="50800"/>
                </a:lnTo>
                <a:lnTo>
                  <a:pt x="1248410" y="50800"/>
                </a:lnTo>
                <a:lnTo>
                  <a:pt x="1273810" y="38100"/>
                </a:lnTo>
                <a:lnTo>
                  <a:pt x="124841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38798" y="2757551"/>
            <a:ext cx="513715" cy="76200"/>
          </a:xfrm>
          <a:custGeom>
            <a:avLst/>
            <a:gdLst/>
            <a:ahLst/>
            <a:cxnLst/>
            <a:rect l="l" t="t" r="r" b="b"/>
            <a:pathLst>
              <a:path w="513715" h="76200">
                <a:moveTo>
                  <a:pt x="437515" y="0"/>
                </a:moveTo>
                <a:lnTo>
                  <a:pt x="437515" y="76200"/>
                </a:lnTo>
                <a:lnTo>
                  <a:pt x="488315" y="50800"/>
                </a:lnTo>
                <a:lnTo>
                  <a:pt x="450215" y="50800"/>
                </a:lnTo>
                <a:lnTo>
                  <a:pt x="450215" y="25400"/>
                </a:lnTo>
                <a:lnTo>
                  <a:pt x="488315" y="25400"/>
                </a:lnTo>
                <a:lnTo>
                  <a:pt x="437515" y="0"/>
                </a:lnTo>
                <a:close/>
              </a:path>
              <a:path w="513715" h="76200">
                <a:moveTo>
                  <a:pt x="437515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37515" y="50800"/>
                </a:lnTo>
                <a:lnTo>
                  <a:pt x="437515" y="25400"/>
                </a:lnTo>
                <a:close/>
              </a:path>
              <a:path w="513715" h="76200">
                <a:moveTo>
                  <a:pt x="488315" y="25400"/>
                </a:moveTo>
                <a:lnTo>
                  <a:pt x="450215" y="25400"/>
                </a:lnTo>
                <a:lnTo>
                  <a:pt x="450215" y="50800"/>
                </a:lnTo>
                <a:lnTo>
                  <a:pt x="488315" y="50800"/>
                </a:lnTo>
                <a:lnTo>
                  <a:pt x="513715" y="38100"/>
                </a:lnTo>
                <a:lnTo>
                  <a:pt x="488315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86523" y="2757551"/>
            <a:ext cx="502920" cy="76200"/>
          </a:xfrm>
          <a:custGeom>
            <a:avLst/>
            <a:gdLst/>
            <a:ahLst/>
            <a:cxnLst/>
            <a:rect l="l" t="t" r="r" b="b"/>
            <a:pathLst>
              <a:path w="502920" h="76200">
                <a:moveTo>
                  <a:pt x="426720" y="0"/>
                </a:moveTo>
                <a:lnTo>
                  <a:pt x="426720" y="76200"/>
                </a:lnTo>
                <a:lnTo>
                  <a:pt x="477520" y="50800"/>
                </a:lnTo>
                <a:lnTo>
                  <a:pt x="439420" y="50800"/>
                </a:lnTo>
                <a:lnTo>
                  <a:pt x="439420" y="25400"/>
                </a:lnTo>
                <a:lnTo>
                  <a:pt x="477520" y="25400"/>
                </a:lnTo>
                <a:lnTo>
                  <a:pt x="426720" y="0"/>
                </a:lnTo>
                <a:close/>
              </a:path>
              <a:path w="502920" h="76200">
                <a:moveTo>
                  <a:pt x="42672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26720" y="50800"/>
                </a:lnTo>
                <a:lnTo>
                  <a:pt x="426720" y="25400"/>
                </a:lnTo>
                <a:close/>
              </a:path>
              <a:path w="502920" h="76200">
                <a:moveTo>
                  <a:pt x="477520" y="25400"/>
                </a:moveTo>
                <a:lnTo>
                  <a:pt x="439420" y="25400"/>
                </a:lnTo>
                <a:lnTo>
                  <a:pt x="439420" y="50800"/>
                </a:lnTo>
                <a:lnTo>
                  <a:pt x="477520" y="50800"/>
                </a:lnTo>
                <a:lnTo>
                  <a:pt x="502920" y="38100"/>
                </a:lnTo>
                <a:lnTo>
                  <a:pt x="47752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815198" y="2757551"/>
            <a:ext cx="525145" cy="76200"/>
          </a:xfrm>
          <a:custGeom>
            <a:avLst/>
            <a:gdLst/>
            <a:ahLst/>
            <a:cxnLst/>
            <a:rect l="l" t="t" r="r" b="b"/>
            <a:pathLst>
              <a:path w="525145" h="76200">
                <a:moveTo>
                  <a:pt x="448564" y="0"/>
                </a:moveTo>
                <a:lnTo>
                  <a:pt x="448564" y="76200"/>
                </a:lnTo>
                <a:lnTo>
                  <a:pt x="499364" y="50800"/>
                </a:lnTo>
                <a:lnTo>
                  <a:pt x="461264" y="50800"/>
                </a:lnTo>
                <a:lnTo>
                  <a:pt x="461264" y="25400"/>
                </a:lnTo>
                <a:lnTo>
                  <a:pt x="499364" y="25400"/>
                </a:lnTo>
                <a:lnTo>
                  <a:pt x="448564" y="0"/>
                </a:lnTo>
                <a:close/>
              </a:path>
              <a:path w="525145" h="76200">
                <a:moveTo>
                  <a:pt x="44856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48564" y="50800"/>
                </a:lnTo>
                <a:lnTo>
                  <a:pt x="448564" y="25400"/>
                </a:lnTo>
                <a:close/>
              </a:path>
              <a:path w="525145" h="76200">
                <a:moveTo>
                  <a:pt x="499364" y="25400"/>
                </a:moveTo>
                <a:lnTo>
                  <a:pt x="461264" y="25400"/>
                </a:lnTo>
                <a:lnTo>
                  <a:pt x="461264" y="50800"/>
                </a:lnTo>
                <a:lnTo>
                  <a:pt x="499364" y="50800"/>
                </a:lnTo>
                <a:lnTo>
                  <a:pt x="524764" y="38100"/>
                </a:lnTo>
                <a:lnTo>
                  <a:pt x="49936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938901" y="2147951"/>
            <a:ext cx="76200" cy="422275"/>
          </a:xfrm>
          <a:custGeom>
            <a:avLst/>
            <a:gdLst/>
            <a:ahLst/>
            <a:cxnLst/>
            <a:rect l="l" t="t" r="r" b="b"/>
            <a:pathLst>
              <a:path w="76200" h="422275">
                <a:moveTo>
                  <a:pt x="50673" y="63500"/>
                </a:moveTo>
                <a:lnTo>
                  <a:pt x="25273" y="63500"/>
                </a:lnTo>
                <a:lnTo>
                  <a:pt x="25400" y="421767"/>
                </a:lnTo>
                <a:lnTo>
                  <a:pt x="50800" y="421767"/>
                </a:lnTo>
                <a:lnTo>
                  <a:pt x="50673" y="63500"/>
                </a:lnTo>
                <a:close/>
              </a:path>
              <a:path w="76200" h="422275">
                <a:moveTo>
                  <a:pt x="37973" y="0"/>
                </a:moveTo>
                <a:lnTo>
                  <a:pt x="0" y="76200"/>
                </a:lnTo>
                <a:lnTo>
                  <a:pt x="25277" y="76200"/>
                </a:lnTo>
                <a:lnTo>
                  <a:pt x="25273" y="63500"/>
                </a:lnTo>
                <a:lnTo>
                  <a:pt x="69828" y="63500"/>
                </a:lnTo>
                <a:lnTo>
                  <a:pt x="37973" y="0"/>
                </a:lnTo>
                <a:close/>
              </a:path>
              <a:path w="76200" h="422275">
                <a:moveTo>
                  <a:pt x="69828" y="63500"/>
                </a:moveTo>
                <a:lnTo>
                  <a:pt x="50673" y="63500"/>
                </a:lnTo>
                <a:lnTo>
                  <a:pt x="50677" y="76200"/>
                </a:lnTo>
                <a:lnTo>
                  <a:pt x="76200" y="76200"/>
                </a:lnTo>
                <a:lnTo>
                  <a:pt x="69828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86498" y="2147951"/>
            <a:ext cx="76835" cy="422275"/>
          </a:xfrm>
          <a:custGeom>
            <a:avLst/>
            <a:gdLst/>
            <a:ahLst/>
            <a:cxnLst/>
            <a:rect l="l" t="t" r="r" b="b"/>
            <a:pathLst>
              <a:path w="76834" h="422275">
                <a:moveTo>
                  <a:pt x="50800" y="63500"/>
                </a:moveTo>
                <a:lnTo>
                  <a:pt x="25400" y="63500"/>
                </a:lnTo>
                <a:lnTo>
                  <a:pt x="25526" y="421767"/>
                </a:lnTo>
                <a:lnTo>
                  <a:pt x="50926" y="421767"/>
                </a:lnTo>
                <a:lnTo>
                  <a:pt x="50800" y="63500"/>
                </a:lnTo>
                <a:close/>
              </a:path>
              <a:path w="76834" h="422275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903" y="63500"/>
                </a:lnTo>
                <a:lnTo>
                  <a:pt x="38100" y="0"/>
                </a:lnTo>
                <a:close/>
              </a:path>
              <a:path w="76834" h="422275">
                <a:moveTo>
                  <a:pt x="69903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63" y="76200"/>
                </a:lnTo>
                <a:lnTo>
                  <a:pt x="6990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615173" y="2147951"/>
            <a:ext cx="76835" cy="422275"/>
          </a:xfrm>
          <a:custGeom>
            <a:avLst/>
            <a:gdLst/>
            <a:ahLst/>
            <a:cxnLst/>
            <a:rect l="l" t="t" r="r" b="b"/>
            <a:pathLst>
              <a:path w="76834" h="422275">
                <a:moveTo>
                  <a:pt x="50800" y="63500"/>
                </a:moveTo>
                <a:lnTo>
                  <a:pt x="25400" y="63500"/>
                </a:lnTo>
                <a:lnTo>
                  <a:pt x="25526" y="421767"/>
                </a:lnTo>
                <a:lnTo>
                  <a:pt x="50926" y="421767"/>
                </a:lnTo>
                <a:lnTo>
                  <a:pt x="50800" y="63500"/>
                </a:lnTo>
                <a:close/>
              </a:path>
              <a:path w="76834" h="422275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903" y="63500"/>
                </a:lnTo>
                <a:lnTo>
                  <a:pt x="38100" y="0"/>
                </a:lnTo>
                <a:close/>
              </a:path>
              <a:path w="76834" h="422275">
                <a:moveTo>
                  <a:pt x="69903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63" y="76200"/>
                </a:lnTo>
                <a:lnTo>
                  <a:pt x="6990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72423" y="2147951"/>
            <a:ext cx="76200" cy="422275"/>
          </a:xfrm>
          <a:custGeom>
            <a:avLst/>
            <a:gdLst/>
            <a:ahLst/>
            <a:cxnLst/>
            <a:rect l="l" t="t" r="r" b="b"/>
            <a:pathLst>
              <a:path w="76200" h="422275">
                <a:moveTo>
                  <a:pt x="50800" y="63500"/>
                </a:moveTo>
                <a:lnTo>
                  <a:pt x="25400" y="63500"/>
                </a:lnTo>
                <a:lnTo>
                  <a:pt x="25526" y="421767"/>
                </a:lnTo>
                <a:lnTo>
                  <a:pt x="50926" y="421767"/>
                </a:lnTo>
                <a:lnTo>
                  <a:pt x="50800" y="63500"/>
                </a:lnTo>
                <a:close/>
              </a:path>
              <a:path w="76200" h="422275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22275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4526026" y="3024251"/>
            <a:ext cx="4022725" cy="625475"/>
            <a:chOff x="4526026" y="3024251"/>
            <a:chExt cx="4022725" cy="625475"/>
          </a:xfrm>
        </p:grpSpPr>
        <p:sp>
          <p:nvSpPr>
            <p:cNvPr id="42" name="object 42"/>
            <p:cNvSpPr/>
            <p:nvPr/>
          </p:nvSpPr>
          <p:spPr>
            <a:xfrm>
              <a:off x="5938901" y="3024250"/>
              <a:ext cx="2609850" cy="418465"/>
            </a:xfrm>
            <a:custGeom>
              <a:avLst/>
              <a:gdLst/>
              <a:ahLst/>
              <a:cxnLst/>
              <a:rect l="l" t="t" r="r" b="b"/>
              <a:pathLst>
                <a:path w="2609850" h="418464">
                  <a:moveTo>
                    <a:pt x="76200" y="76200"/>
                  </a:moveTo>
                  <a:lnTo>
                    <a:pt x="69824" y="63500"/>
                  </a:lnTo>
                  <a:lnTo>
                    <a:pt x="37973" y="0"/>
                  </a:lnTo>
                  <a:lnTo>
                    <a:pt x="0" y="76200"/>
                  </a:lnTo>
                  <a:lnTo>
                    <a:pt x="25273" y="76200"/>
                  </a:lnTo>
                  <a:lnTo>
                    <a:pt x="25400" y="418465"/>
                  </a:lnTo>
                  <a:lnTo>
                    <a:pt x="50800" y="418465"/>
                  </a:lnTo>
                  <a:lnTo>
                    <a:pt x="50673" y="76200"/>
                  </a:lnTo>
                  <a:lnTo>
                    <a:pt x="76200" y="76200"/>
                  </a:lnTo>
                  <a:close/>
                </a:path>
                <a:path w="2609850" h="418464">
                  <a:moveTo>
                    <a:pt x="923798" y="76200"/>
                  </a:moveTo>
                  <a:lnTo>
                    <a:pt x="917448" y="63500"/>
                  </a:lnTo>
                  <a:lnTo>
                    <a:pt x="885698" y="0"/>
                  </a:lnTo>
                  <a:lnTo>
                    <a:pt x="847598" y="76200"/>
                  </a:lnTo>
                  <a:lnTo>
                    <a:pt x="872998" y="76200"/>
                  </a:lnTo>
                  <a:lnTo>
                    <a:pt x="873125" y="418465"/>
                  </a:lnTo>
                  <a:lnTo>
                    <a:pt x="898525" y="418465"/>
                  </a:lnTo>
                  <a:lnTo>
                    <a:pt x="898398" y="76200"/>
                  </a:lnTo>
                  <a:lnTo>
                    <a:pt x="923798" y="76200"/>
                  </a:lnTo>
                  <a:close/>
                </a:path>
                <a:path w="2609850" h="418464">
                  <a:moveTo>
                    <a:pt x="1752473" y="76200"/>
                  </a:moveTo>
                  <a:lnTo>
                    <a:pt x="1746123" y="63500"/>
                  </a:lnTo>
                  <a:lnTo>
                    <a:pt x="1714373" y="0"/>
                  </a:lnTo>
                  <a:lnTo>
                    <a:pt x="1676273" y="76200"/>
                  </a:lnTo>
                  <a:lnTo>
                    <a:pt x="1701673" y="76200"/>
                  </a:lnTo>
                  <a:lnTo>
                    <a:pt x="1701800" y="418465"/>
                  </a:lnTo>
                  <a:lnTo>
                    <a:pt x="1727200" y="418465"/>
                  </a:lnTo>
                  <a:lnTo>
                    <a:pt x="1727073" y="76200"/>
                  </a:lnTo>
                  <a:lnTo>
                    <a:pt x="1752473" y="76200"/>
                  </a:lnTo>
                  <a:close/>
                </a:path>
                <a:path w="2609850" h="418464">
                  <a:moveTo>
                    <a:pt x="2609723" y="76200"/>
                  </a:moveTo>
                  <a:lnTo>
                    <a:pt x="2603373" y="63500"/>
                  </a:lnTo>
                  <a:lnTo>
                    <a:pt x="2571623" y="0"/>
                  </a:lnTo>
                  <a:lnTo>
                    <a:pt x="2533523" y="76200"/>
                  </a:lnTo>
                  <a:lnTo>
                    <a:pt x="2558923" y="76200"/>
                  </a:lnTo>
                  <a:lnTo>
                    <a:pt x="2559050" y="418465"/>
                  </a:lnTo>
                  <a:lnTo>
                    <a:pt x="2584450" y="418465"/>
                  </a:lnTo>
                  <a:lnTo>
                    <a:pt x="2584323" y="76200"/>
                  </a:lnTo>
                  <a:lnTo>
                    <a:pt x="2609723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38726" y="3224276"/>
              <a:ext cx="376555" cy="412750"/>
            </a:xfrm>
            <a:custGeom>
              <a:avLst/>
              <a:gdLst/>
              <a:ahLst/>
              <a:cxnLst/>
              <a:rect l="l" t="t" r="r" b="b"/>
              <a:pathLst>
                <a:path w="376554" h="412750">
                  <a:moveTo>
                    <a:pt x="0" y="412750"/>
                  </a:moveTo>
                  <a:lnTo>
                    <a:pt x="376174" y="412750"/>
                  </a:lnTo>
                  <a:lnTo>
                    <a:pt x="376174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19599" y="3024250"/>
              <a:ext cx="3517900" cy="214629"/>
            </a:xfrm>
            <a:custGeom>
              <a:avLst/>
              <a:gdLst/>
              <a:ahLst/>
              <a:cxnLst/>
              <a:rect l="l" t="t" r="r" b="b"/>
              <a:pathLst>
                <a:path w="3517900" h="214630">
                  <a:moveTo>
                    <a:pt x="3517900" y="85725"/>
                  </a:moveTo>
                  <a:lnTo>
                    <a:pt x="3511550" y="73025"/>
                  </a:lnTo>
                  <a:lnTo>
                    <a:pt x="3479800" y="9525"/>
                  </a:lnTo>
                  <a:lnTo>
                    <a:pt x="3441700" y="85725"/>
                  </a:lnTo>
                  <a:lnTo>
                    <a:pt x="3467100" y="85725"/>
                  </a:lnTo>
                  <a:lnTo>
                    <a:pt x="3467100" y="182499"/>
                  </a:lnTo>
                  <a:lnTo>
                    <a:pt x="2641473" y="182499"/>
                  </a:lnTo>
                  <a:lnTo>
                    <a:pt x="2641473" y="85725"/>
                  </a:lnTo>
                  <a:lnTo>
                    <a:pt x="2666873" y="85725"/>
                  </a:lnTo>
                  <a:lnTo>
                    <a:pt x="2660523" y="73025"/>
                  </a:lnTo>
                  <a:lnTo>
                    <a:pt x="2628773" y="9525"/>
                  </a:lnTo>
                  <a:lnTo>
                    <a:pt x="2590673" y="85725"/>
                  </a:lnTo>
                  <a:lnTo>
                    <a:pt x="2616073" y="85725"/>
                  </a:lnTo>
                  <a:lnTo>
                    <a:pt x="2616073" y="182499"/>
                  </a:lnTo>
                  <a:lnTo>
                    <a:pt x="2057400" y="182499"/>
                  </a:lnTo>
                  <a:lnTo>
                    <a:pt x="2057400" y="188722"/>
                  </a:lnTo>
                  <a:lnTo>
                    <a:pt x="1818767" y="188722"/>
                  </a:lnTo>
                  <a:lnTo>
                    <a:pt x="1818767" y="183007"/>
                  </a:lnTo>
                  <a:lnTo>
                    <a:pt x="1818767" y="76200"/>
                  </a:lnTo>
                  <a:lnTo>
                    <a:pt x="1844167" y="76200"/>
                  </a:lnTo>
                  <a:lnTo>
                    <a:pt x="1837817" y="63500"/>
                  </a:lnTo>
                  <a:lnTo>
                    <a:pt x="1806067" y="0"/>
                  </a:lnTo>
                  <a:lnTo>
                    <a:pt x="1767967" y="76200"/>
                  </a:lnTo>
                  <a:lnTo>
                    <a:pt x="1793367" y="76200"/>
                  </a:lnTo>
                  <a:lnTo>
                    <a:pt x="1793367" y="183007"/>
                  </a:lnTo>
                  <a:lnTo>
                    <a:pt x="977900" y="183007"/>
                  </a:lnTo>
                  <a:lnTo>
                    <a:pt x="977900" y="76200"/>
                  </a:lnTo>
                  <a:lnTo>
                    <a:pt x="1003300" y="76200"/>
                  </a:lnTo>
                  <a:lnTo>
                    <a:pt x="996950" y="63500"/>
                  </a:lnTo>
                  <a:lnTo>
                    <a:pt x="965200" y="0"/>
                  </a:lnTo>
                  <a:lnTo>
                    <a:pt x="927100" y="76200"/>
                  </a:lnTo>
                  <a:lnTo>
                    <a:pt x="952500" y="76200"/>
                  </a:lnTo>
                  <a:lnTo>
                    <a:pt x="952500" y="183007"/>
                  </a:lnTo>
                  <a:lnTo>
                    <a:pt x="942975" y="183007"/>
                  </a:lnTo>
                  <a:lnTo>
                    <a:pt x="942975" y="187579"/>
                  </a:lnTo>
                  <a:lnTo>
                    <a:pt x="0" y="187579"/>
                  </a:lnTo>
                  <a:lnTo>
                    <a:pt x="0" y="212979"/>
                  </a:lnTo>
                  <a:lnTo>
                    <a:pt x="972185" y="212979"/>
                  </a:lnTo>
                  <a:lnTo>
                    <a:pt x="976858" y="208407"/>
                  </a:lnTo>
                  <a:lnTo>
                    <a:pt x="1771650" y="208407"/>
                  </a:lnTo>
                  <a:lnTo>
                    <a:pt x="1771650" y="214122"/>
                  </a:lnTo>
                  <a:lnTo>
                    <a:pt x="2635885" y="214122"/>
                  </a:lnTo>
                  <a:lnTo>
                    <a:pt x="2641473" y="208534"/>
                  </a:lnTo>
                  <a:lnTo>
                    <a:pt x="2641473" y="207899"/>
                  </a:lnTo>
                  <a:lnTo>
                    <a:pt x="3486785" y="207899"/>
                  </a:lnTo>
                  <a:lnTo>
                    <a:pt x="3492500" y="202184"/>
                  </a:lnTo>
                  <a:lnTo>
                    <a:pt x="3492500" y="195199"/>
                  </a:lnTo>
                  <a:lnTo>
                    <a:pt x="3492500" y="182499"/>
                  </a:lnTo>
                  <a:lnTo>
                    <a:pt x="3492500" y="85725"/>
                  </a:lnTo>
                  <a:lnTo>
                    <a:pt x="3517900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2919476" y="2782951"/>
            <a:ext cx="1293495" cy="894715"/>
          </a:xfrm>
          <a:custGeom>
            <a:avLst/>
            <a:gdLst/>
            <a:ahLst/>
            <a:cxnLst/>
            <a:rect l="l" t="t" r="r" b="b"/>
            <a:pathLst>
              <a:path w="1293495" h="894714">
                <a:moveTo>
                  <a:pt x="1217295" y="818134"/>
                </a:moveTo>
                <a:lnTo>
                  <a:pt x="1217295" y="894334"/>
                </a:lnTo>
                <a:lnTo>
                  <a:pt x="1268095" y="868934"/>
                </a:lnTo>
                <a:lnTo>
                  <a:pt x="1229995" y="868934"/>
                </a:lnTo>
                <a:lnTo>
                  <a:pt x="1229995" y="843534"/>
                </a:lnTo>
                <a:lnTo>
                  <a:pt x="1268095" y="843534"/>
                </a:lnTo>
                <a:lnTo>
                  <a:pt x="1217295" y="818134"/>
                </a:lnTo>
                <a:close/>
              </a:path>
              <a:path w="1293495" h="894714">
                <a:moveTo>
                  <a:pt x="633984" y="12700"/>
                </a:moveTo>
                <a:lnTo>
                  <a:pt x="633984" y="863219"/>
                </a:lnTo>
                <a:lnTo>
                  <a:pt x="639699" y="868934"/>
                </a:lnTo>
                <a:lnTo>
                  <a:pt x="1217295" y="868934"/>
                </a:lnTo>
                <a:lnTo>
                  <a:pt x="1217295" y="856234"/>
                </a:lnTo>
                <a:lnTo>
                  <a:pt x="659384" y="856234"/>
                </a:lnTo>
                <a:lnTo>
                  <a:pt x="646684" y="843534"/>
                </a:lnTo>
                <a:lnTo>
                  <a:pt x="659384" y="843534"/>
                </a:lnTo>
                <a:lnTo>
                  <a:pt x="659384" y="25400"/>
                </a:lnTo>
                <a:lnTo>
                  <a:pt x="646684" y="25400"/>
                </a:lnTo>
                <a:lnTo>
                  <a:pt x="633984" y="12700"/>
                </a:lnTo>
                <a:close/>
              </a:path>
              <a:path w="1293495" h="894714">
                <a:moveTo>
                  <a:pt x="1268095" y="843534"/>
                </a:moveTo>
                <a:lnTo>
                  <a:pt x="1229995" y="843534"/>
                </a:lnTo>
                <a:lnTo>
                  <a:pt x="1229995" y="868934"/>
                </a:lnTo>
                <a:lnTo>
                  <a:pt x="1268095" y="868934"/>
                </a:lnTo>
                <a:lnTo>
                  <a:pt x="1293495" y="856234"/>
                </a:lnTo>
                <a:lnTo>
                  <a:pt x="1268095" y="843534"/>
                </a:lnTo>
                <a:close/>
              </a:path>
              <a:path w="1293495" h="894714">
                <a:moveTo>
                  <a:pt x="659384" y="843534"/>
                </a:moveTo>
                <a:lnTo>
                  <a:pt x="646684" y="843534"/>
                </a:lnTo>
                <a:lnTo>
                  <a:pt x="659384" y="856234"/>
                </a:lnTo>
                <a:lnTo>
                  <a:pt x="659384" y="843534"/>
                </a:lnTo>
                <a:close/>
              </a:path>
              <a:path w="1293495" h="894714">
                <a:moveTo>
                  <a:pt x="1217295" y="843534"/>
                </a:moveTo>
                <a:lnTo>
                  <a:pt x="659384" y="843534"/>
                </a:lnTo>
                <a:lnTo>
                  <a:pt x="659384" y="856234"/>
                </a:lnTo>
                <a:lnTo>
                  <a:pt x="1217295" y="856234"/>
                </a:lnTo>
                <a:lnTo>
                  <a:pt x="1217295" y="843534"/>
                </a:lnTo>
                <a:close/>
              </a:path>
              <a:path w="1293495" h="894714">
                <a:moveTo>
                  <a:pt x="653669" y="0"/>
                </a:moveTo>
                <a:lnTo>
                  <a:pt x="0" y="0"/>
                </a:lnTo>
                <a:lnTo>
                  <a:pt x="0" y="25400"/>
                </a:lnTo>
                <a:lnTo>
                  <a:pt x="633984" y="25400"/>
                </a:lnTo>
                <a:lnTo>
                  <a:pt x="633984" y="12700"/>
                </a:lnTo>
                <a:lnTo>
                  <a:pt x="659384" y="12700"/>
                </a:lnTo>
                <a:lnTo>
                  <a:pt x="659384" y="5587"/>
                </a:lnTo>
                <a:lnTo>
                  <a:pt x="653669" y="0"/>
                </a:lnTo>
                <a:close/>
              </a:path>
              <a:path w="1293495" h="894714">
                <a:moveTo>
                  <a:pt x="659384" y="12700"/>
                </a:moveTo>
                <a:lnTo>
                  <a:pt x="633984" y="12700"/>
                </a:lnTo>
                <a:lnTo>
                  <a:pt x="646684" y="25400"/>
                </a:lnTo>
                <a:lnTo>
                  <a:pt x="659384" y="25400"/>
                </a:lnTo>
                <a:lnTo>
                  <a:pt x="65938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83894" y="840486"/>
            <a:ext cx="2949575" cy="577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 </a:t>
            </a: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T</a:t>
            </a:r>
            <a:endParaRPr sz="1800" baseline="-18518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T’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8739" y="4639125"/>
            <a:ext cx="3637279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Sutskever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“Sequence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with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neural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networks”,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NeurIPS </a:t>
            </a:r>
            <a:r>
              <a:rPr sz="750" spc="-20" dirty="0">
                <a:latin typeface="Arial"/>
                <a:cs typeface="Arial"/>
              </a:rPr>
              <a:t>2014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30" baseline="1543" dirty="0"/>
              <a:t> </a:t>
            </a:r>
            <a:r>
              <a:rPr sz="2700" baseline="1543" dirty="0"/>
              <a:t>8</a:t>
            </a:r>
            <a:r>
              <a:rPr sz="2700" spc="-7" baseline="1543" dirty="0"/>
              <a:t> </a:t>
            </a:r>
            <a:r>
              <a:rPr sz="2700" baseline="1543" dirty="0"/>
              <a:t>-</a:t>
            </a:r>
            <a:r>
              <a:rPr sz="2700" spc="427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11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794891" y="2044382"/>
            <a:ext cx="679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12457" y="1920557"/>
            <a:ext cx="22047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6880" algn="l"/>
              </a:tabLst>
            </a:pPr>
            <a:r>
              <a:rPr sz="1800" b="1" dirty="0">
                <a:latin typeface="Arial"/>
                <a:cs typeface="Arial"/>
              </a:rPr>
              <a:t>Encoder: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</a:t>
            </a:r>
            <a:r>
              <a:rPr sz="1800" spc="3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f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(x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62175" y="2044382"/>
            <a:ext cx="836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345" algn="l"/>
                <a:tab pos="644525" algn="l"/>
              </a:tabLst>
            </a:pPr>
            <a:r>
              <a:rPr sz="1200" spc="-50" dirty="0">
                <a:latin typeface="Arial"/>
                <a:cs typeface="Arial"/>
              </a:rPr>
              <a:t>W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t-</a:t>
            </a:r>
            <a:r>
              <a:rPr sz="1200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84875" y="779716"/>
            <a:ext cx="2888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Decoder: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</a:t>
            </a:r>
            <a:r>
              <a:rPr sz="1800" spc="247" baseline="-1851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</a:t>
            </a:r>
            <a:r>
              <a:rPr sz="1800" spc="-15" baseline="-18518" dirty="0">
                <a:latin typeface="Arial"/>
                <a:cs typeface="Arial"/>
              </a:rPr>
              <a:t>U</a:t>
            </a:r>
            <a:r>
              <a:rPr sz="1800" spc="-10" dirty="0">
                <a:latin typeface="Arial"/>
                <a:cs typeface="Arial"/>
              </a:rPr>
              <a:t>(y</a:t>
            </a:r>
            <a:r>
              <a:rPr sz="1800" spc="-15" baseline="-18518" dirty="0">
                <a:latin typeface="Arial"/>
                <a:cs typeface="Arial"/>
              </a:rPr>
              <a:t>t-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t-1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153029" y="1651952"/>
            <a:ext cx="26396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 </a:t>
            </a:r>
            <a:r>
              <a:rPr sz="1500" spc="-10" dirty="0">
                <a:latin typeface="Arial"/>
                <a:cs typeface="Arial"/>
              </a:rPr>
              <a:t>hidden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state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predict:</a:t>
            </a:r>
            <a:endParaRPr sz="1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47035" y="1842706"/>
            <a:ext cx="2263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18518" dirty="0">
                <a:latin typeface="Arial"/>
                <a:cs typeface="Arial"/>
              </a:rPr>
              <a:t>)</a:t>
            </a:r>
            <a:r>
              <a:rPr sz="2700" spc="434" baseline="-1851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127629" y="2110041"/>
            <a:ext cx="26079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Context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vector </a:t>
            </a:r>
            <a:r>
              <a:rPr sz="1500" dirty="0">
                <a:latin typeface="Arial"/>
                <a:cs typeface="Arial"/>
              </a:rPr>
              <a:t>c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(often</a:t>
            </a:r>
            <a:r>
              <a:rPr sz="1500" spc="-20" dirty="0">
                <a:latin typeface="Arial"/>
                <a:cs typeface="Arial"/>
              </a:rPr>
              <a:t> c=h</a:t>
            </a:r>
            <a:r>
              <a:rPr sz="1425" spc="-30" baseline="-17543" dirty="0">
                <a:latin typeface="Arial"/>
                <a:cs typeface="Arial"/>
              </a:rPr>
              <a:t>T</a:t>
            </a:r>
            <a:r>
              <a:rPr sz="1500" spc="-20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550418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3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dirty="0"/>
              <a:t>Sequence</a:t>
            </a:r>
            <a:r>
              <a:rPr spc="130" dirty="0"/>
              <a:t> </a:t>
            </a:r>
            <a:r>
              <a:rPr dirty="0"/>
              <a:t>with</a:t>
            </a:r>
            <a:r>
              <a:rPr spc="135" dirty="0"/>
              <a:t> </a:t>
            </a:r>
            <a:r>
              <a:rPr spc="-20" dirty="0"/>
              <a:t>RNNs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3153029" y="3850640"/>
            <a:ext cx="2210435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Problem:</a:t>
            </a:r>
            <a:r>
              <a:rPr sz="15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Input</a:t>
            </a:r>
            <a:r>
              <a:rPr sz="15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Arial"/>
                <a:cs typeface="Arial"/>
              </a:rPr>
              <a:t>sequence </a:t>
            </a: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bottlenecks</a:t>
            </a:r>
            <a:r>
              <a:rPr sz="15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through</a:t>
            </a:r>
            <a:r>
              <a:rPr sz="15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FF0000"/>
                </a:solidFill>
                <a:latin typeface="Arial"/>
                <a:cs typeface="Arial"/>
              </a:rPr>
              <a:t>fixed </a:t>
            </a: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sized</a:t>
            </a:r>
            <a:r>
              <a:rPr sz="15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c.</a:t>
            </a:r>
            <a:r>
              <a:rPr sz="15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sz="15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sz="15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Arial"/>
                <a:cs typeface="Arial"/>
              </a:rPr>
              <a:t>T=1000?</a:t>
            </a:r>
            <a:endParaRPr sz="15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59393" y="4027170"/>
            <a:ext cx="3009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556629" y="4027170"/>
            <a:ext cx="5283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633969" y="4027170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779894" y="1315656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504810" y="1314196"/>
            <a:ext cx="3009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50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01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586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125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48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3276" y="2567051"/>
            <a:ext cx="333375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11190" y="4027170"/>
            <a:ext cx="5410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24601" y="3443287"/>
            <a:ext cx="304800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62801" y="3443287"/>
            <a:ext cx="314325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62801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610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01001" y="3443287"/>
            <a:ext cx="304800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8726" y="3443287"/>
            <a:ext cx="314325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914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39201" y="2567051"/>
            <a:ext cx="333375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825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010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48726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80145" y="1315148"/>
            <a:ext cx="4629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[STOP]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5332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711" y="63500"/>
                </a:moveTo>
                <a:lnTo>
                  <a:pt x="25311" y="63500"/>
                </a:lnTo>
                <a:lnTo>
                  <a:pt x="27608" y="418338"/>
                </a:lnTo>
                <a:lnTo>
                  <a:pt x="27609" y="418465"/>
                </a:lnTo>
                <a:lnTo>
                  <a:pt x="53009" y="418338"/>
                </a:lnTo>
                <a:lnTo>
                  <a:pt x="50794" y="76326"/>
                </a:lnTo>
                <a:lnTo>
                  <a:pt x="50711" y="63500"/>
                </a:lnTo>
                <a:close/>
              </a:path>
              <a:path w="76200" h="418464">
                <a:moveTo>
                  <a:pt x="37604" y="0"/>
                </a:moveTo>
                <a:lnTo>
                  <a:pt x="0" y="76326"/>
                </a:lnTo>
                <a:lnTo>
                  <a:pt x="25394" y="76326"/>
                </a:lnTo>
                <a:lnTo>
                  <a:pt x="25311" y="63500"/>
                </a:lnTo>
                <a:lnTo>
                  <a:pt x="69875" y="63500"/>
                </a:lnTo>
                <a:lnTo>
                  <a:pt x="37604" y="0"/>
                </a:lnTo>
                <a:close/>
              </a:path>
              <a:path w="76200" h="418464">
                <a:moveTo>
                  <a:pt x="69875" y="63500"/>
                </a:moveTo>
                <a:lnTo>
                  <a:pt x="50711" y="63500"/>
                </a:lnTo>
                <a:lnTo>
                  <a:pt x="50794" y="76326"/>
                </a:lnTo>
                <a:lnTo>
                  <a:pt x="0" y="76326"/>
                </a:lnTo>
                <a:lnTo>
                  <a:pt x="76200" y="75946"/>
                </a:lnTo>
                <a:lnTo>
                  <a:pt x="6987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09624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4862" y="2757551"/>
            <a:ext cx="375920" cy="76200"/>
          </a:xfrm>
          <a:custGeom>
            <a:avLst/>
            <a:gdLst/>
            <a:ahLst/>
            <a:cxnLst/>
            <a:rect l="l" t="t" r="r" b="b"/>
            <a:pathLst>
              <a:path w="375919" h="76200">
                <a:moveTo>
                  <a:pt x="299402" y="0"/>
                </a:moveTo>
                <a:lnTo>
                  <a:pt x="299402" y="76200"/>
                </a:lnTo>
                <a:lnTo>
                  <a:pt x="350202" y="50800"/>
                </a:lnTo>
                <a:lnTo>
                  <a:pt x="312102" y="50800"/>
                </a:lnTo>
                <a:lnTo>
                  <a:pt x="312102" y="25400"/>
                </a:lnTo>
                <a:lnTo>
                  <a:pt x="350202" y="25400"/>
                </a:lnTo>
                <a:lnTo>
                  <a:pt x="299402" y="0"/>
                </a:lnTo>
                <a:close/>
              </a:path>
              <a:path w="375919" h="76200">
                <a:moveTo>
                  <a:pt x="2994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9402" y="50800"/>
                </a:lnTo>
                <a:lnTo>
                  <a:pt x="299402" y="25400"/>
                </a:lnTo>
                <a:close/>
              </a:path>
              <a:path w="375919" h="76200">
                <a:moveTo>
                  <a:pt x="350202" y="25400"/>
                </a:moveTo>
                <a:lnTo>
                  <a:pt x="312102" y="25400"/>
                </a:lnTo>
                <a:lnTo>
                  <a:pt x="312102" y="50800"/>
                </a:lnTo>
                <a:lnTo>
                  <a:pt x="350202" y="50800"/>
                </a:lnTo>
                <a:lnTo>
                  <a:pt x="375602" y="38100"/>
                </a:lnTo>
                <a:lnTo>
                  <a:pt x="3502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09775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672" y="0"/>
                </a:moveTo>
                <a:lnTo>
                  <a:pt x="296672" y="76200"/>
                </a:lnTo>
                <a:lnTo>
                  <a:pt x="347472" y="50800"/>
                </a:lnTo>
                <a:lnTo>
                  <a:pt x="309372" y="50800"/>
                </a:lnTo>
                <a:lnTo>
                  <a:pt x="309372" y="25400"/>
                </a:lnTo>
                <a:lnTo>
                  <a:pt x="347472" y="25400"/>
                </a:lnTo>
                <a:lnTo>
                  <a:pt x="296672" y="0"/>
                </a:lnTo>
                <a:close/>
              </a:path>
              <a:path w="373380" h="76200">
                <a:moveTo>
                  <a:pt x="29667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672" y="50800"/>
                </a:lnTo>
                <a:lnTo>
                  <a:pt x="296672" y="25400"/>
                </a:lnTo>
                <a:close/>
              </a:path>
              <a:path w="373380" h="76200">
                <a:moveTo>
                  <a:pt x="347472" y="25400"/>
                </a:moveTo>
                <a:lnTo>
                  <a:pt x="309372" y="25400"/>
                </a:lnTo>
                <a:lnTo>
                  <a:pt x="309372" y="50800"/>
                </a:lnTo>
                <a:lnTo>
                  <a:pt x="347472" y="50800"/>
                </a:lnTo>
                <a:lnTo>
                  <a:pt x="372872" y="38100"/>
                </a:lnTo>
                <a:lnTo>
                  <a:pt x="34747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14498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799" y="0"/>
                </a:moveTo>
                <a:lnTo>
                  <a:pt x="296799" y="76200"/>
                </a:lnTo>
                <a:lnTo>
                  <a:pt x="347599" y="50800"/>
                </a:lnTo>
                <a:lnTo>
                  <a:pt x="309499" y="50800"/>
                </a:lnTo>
                <a:lnTo>
                  <a:pt x="309499" y="25400"/>
                </a:lnTo>
                <a:lnTo>
                  <a:pt x="347599" y="25400"/>
                </a:lnTo>
                <a:lnTo>
                  <a:pt x="296799" y="0"/>
                </a:lnTo>
                <a:close/>
              </a:path>
              <a:path w="373380" h="76200">
                <a:moveTo>
                  <a:pt x="29679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799" y="50800"/>
                </a:lnTo>
                <a:lnTo>
                  <a:pt x="296799" y="25400"/>
                </a:lnTo>
                <a:close/>
              </a:path>
              <a:path w="373380" h="76200">
                <a:moveTo>
                  <a:pt x="347599" y="25400"/>
                </a:moveTo>
                <a:lnTo>
                  <a:pt x="309499" y="25400"/>
                </a:lnTo>
                <a:lnTo>
                  <a:pt x="309499" y="50800"/>
                </a:lnTo>
                <a:lnTo>
                  <a:pt x="347599" y="50800"/>
                </a:lnTo>
                <a:lnTo>
                  <a:pt x="372999" y="38100"/>
                </a:lnTo>
                <a:lnTo>
                  <a:pt x="34759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14473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0979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214876" y="3414776"/>
            <a:ext cx="323850" cy="4476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50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38598" y="2757551"/>
            <a:ext cx="1273810" cy="76200"/>
          </a:xfrm>
          <a:custGeom>
            <a:avLst/>
            <a:gdLst/>
            <a:ahLst/>
            <a:cxnLst/>
            <a:rect l="l" t="t" r="r" b="b"/>
            <a:pathLst>
              <a:path w="1273810" h="76200">
                <a:moveTo>
                  <a:pt x="1197610" y="0"/>
                </a:moveTo>
                <a:lnTo>
                  <a:pt x="1197610" y="76200"/>
                </a:lnTo>
                <a:lnTo>
                  <a:pt x="1248410" y="50800"/>
                </a:lnTo>
                <a:lnTo>
                  <a:pt x="1210310" y="50800"/>
                </a:lnTo>
                <a:lnTo>
                  <a:pt x="1210310" y="25400"/>
                </a:lnTo>
                <a:lnTo>
                  <a:pt x="1248410" y="25400"/>
                </a:lnTo>
                <a:lnTo>
                  <a:pt x="1197610" y="0"/>
                </a:lnTo>
                <a:close/>
              </a:path>
              <a:path w="1273810" h="76200">
                <a:moveTo>
                  <a:pt x="119761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197610" y="50800"/>
                </a:lnTo>
                <a:lnTo>
                  <a:pt x="1197610" y="25400"/>
                </a:lnTo>
                <a:close/>
              </a:path>
              <a:path w="1273810" h="76200">
                <a:moveTo>
                  <a:pt x="1248410" y="25400"/>
                </a:moveTo>
                <a:lnTo>
                  <a:pt x="1210310" y="25400"/>
                </a:lnTo>
                <a:lnTo>
                  <a:pt x="1210310" y="50800"/>
                </a:lnTo>
                <a:lnTo>
                  <a:pt x="1248410" y="50800"/>
                </a:lnTo>
                <a:lnTo>
                  <a:pt x="1273810" y="38100"/>
                </a:lnTo>
                <a:lnTo>
                  <a:pt x="124841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38798" y="2757551"/>
            <a:ext cx="513715" cy="76200"/>
          </a:xfrm>
          <a:custGeom>
            <a:avLst/>
            <a:gdLst/>
            <a:ahLst/>
            <a:cxnLst/>
            <a:rect l="l" t="t" r="r" b="b"/>
            <a:pathLst>
              <a:path w="513715" h="76200">
                <a:moveTo>
                  <a:pt x="437515" y="0"/>
                </a:moveTo>
                <a:lnTo>
                  <a:pt x="437515" y="76200"/>
                </a:lnTo>
                <a:lnTo>
                  <a:pt x="488315" y="50800"/>
                </a:lnTo>
                <a:lnTo>
                  <a:pt x="450215" y="50800"/>
                </a:lnTo>
                <a:lnTo>
                  <a:pt x="450215" y="25400"/>
                </a:lnTo>
                <a:lnTo>
                  <a:pt x="488315" y="25400"/>
                </a:lnTo>
                <a:lnTo>
                  <a:pt x="437515" y="0"/>
                </a:lnTo>
                <a:close/>
              </a:path>
              <a:path w="513715" h="76200">
                <a:moveTo>
                  <a:pt x="437515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37515" y="50800"/>
                </a:lnTo>
                <a:lnTo>
                  <a:pt x="437515" y="25400"/>
                </a:lnTo>
                <a:close/>
              </a:path>
              <a:path w="513715" h="76200">
                <a:moveTo>
                  <a:pt x="488315" y="25400"/>
                </a:moveTo>
                <a:lnTo>
                  <a:pt x="450215" y="25400"/>
                </a:lnTo>
                <a:lnTo>
                  <a:pt x="450215" y="50800"/>
                </a:lnTo>
                <a:lnTo>
                  <a:pt x="488315" y="50800"/>
                </a:lnTo>
                <a:lnTo>
                  <a:pt x="513715" y="38100"/>
                </a:lnTo>
                <a:lnTo>
                  <a:pt x="488315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86523" y="2757551"/>
            <a:ext cx="502920" cy="76200"/>
          </a:xfrm>
          <a:custGeom>
            <a:avLst/>
            <a:gdLst/>
            <a:ahLst/>
            <a:cxnLst/>
            <a:rect l="l" t="t" r="r" b="b"/>
            <a:pathLst>
              <a:path w="502920" h="76200">
                <a:moveTo>
                  <a:pt x="426720" y="0"/>
                </a:moveTo>
                <a:lnTo>
                  <a:pt x="426720" y="76200"/>
                </a:lnTo>
                <a:lnTo>
                  <a:pt x="477520" y="50800"/>
                </a:lnTo>
                <a:lnTo>
                  <a:pt x="439420" y="50800"/>
                </a:lnTo>
                <a:lnTo>
                  <a:pt x="439420" y="25400"/>
                </a:lnTo>
                <a:lnTo>
                  <a:pt x="477520" y="25400"/>
                </a:lnTo>
                <a:lnTo>
                  <a:pt x="426720" y="0"/>
                </a:lnTo>
                <a:close/>
              </a:path>
              <a:path w="502920" h="76200">
                <a:moveTo>
                  <a:pt x="42672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26720" y="50800"/>
                </a:lnTo>
                <a:lnTo>
                  <a:pt x="426720" y="25400"/>
                </a:lnTo>
                <a:close/>
              </a:path>
              <a:path w="502920" h="76200">
                <a:moveTo>
                  <a:pt x="477520" y="25400"/>
                </a:moveTo>
                <a:lnTo>
                  <a:pt x="439420" y="25400"/>
                </a:lnTo>
                <a:lnTo>
                  <a:pt x="439420" y="50800"/>
                </a:lnTo>
                <a:lnTo>
                  <a:pt x="477520" y="50800"/>
                </a:lnTo>
                <a:lnTo>
                  <a:pt x="502920" y="38100"/>
                </a:lnTo>
                <a:lnTo>
                  <a:pt x="47752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815198" y="2757551"/>
            <a:ext cx="525145" cy="76200"/>
          </a:xfrm>
          <a:custGeom>
            <a:avLst/>
            <a:gdLst/>
            <a:ahLst/>
            <a:cxnLst/>
            <a:rect l="l" t="t" r="r" b="b"/>
            <a:pathLst>
              <a:path w="525145" h="76200">
                <a:moveTo>
                  <a:pt x="448564" y="0"/>
                </a:moveTo>
                <a:lnTo>
                  <a:pt x="448564" y="76200"/>
                </a:lnTo>
                <a:lnTo>
                  <a:pt x="499364" y="50800"/>
                </a:lnTo>
                <a:lnTo>
                  <a:pt x="461264" y="50800"/>
                </a:lnTo>
                <a:lnTo>
                  <a:pt x="461264" y="25400"/>
                </a:lnTo>
                <a:lnTo>
                  <a:pt x="499364" y="25400"/>
                </a:lnTo>
                <a:lnTo>
                  <a:pt x="448564" y="0"/>
                </a:lnTo>
                <a:close/>
              </a:path>
              <a:path w="525145" h="76200">
                <a:moveTo>
                  <a:pt x="44856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48564" y="50800"/>
                </a:lnTo>
                <a:lnTo>
                  <a:pt x="448564" y="25400"/>
                </a:lnTo>
                <a:close/>
              </a:path>
              <a:path w="525145" h="76200">
                <a:moveTo>
                  <a:pt x="499364" y="25400"/>
                </a:moveTo>
                <a:lnTo>
                  <a:pt x="461264" y="25400"/>
                </a:lnTo>
                <a:lnTo>
                  <a:pt x="461264" y="50800"/>
                </a:lnTo>
                <a:lnTo>
                  <a:pt x="499364" y="50800"/>
                </a:lnTo>
                <a:lnTo>
                  <a:pt x="524764" y="38100"/>
                </a:lnTo>
                <a:lnTo>
                  <a:pt x="49936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938901" y="2147951"/>
            <a:ext cx="76200" cy="422275"/>
          </a:xfrm>
          <a:custGeom>
            <a:avLst/>
            <a:gdLst/>
            <a:ahLst/>
            <a:cxnLst/>
            <a:rect l="l" t="t" r="r" b="b"/>
            <a:pathLst>
              <a:path w="76200" h="422275">
                <a:moveTo>
                  <a:pt x="50673" y="63500"/>
                </a:moveTo>
                <a:lnTo>
                  <a:pt x="25273" y="63500"/>
                </a:lnTo>
                <a:lnTo>
                  <a:pt x="25400" y="421767"/>
                </a:lnTo>
                <a:lnTo>
                  <a:pt x="50800" y="421767"/>
                </a:lnTo>
                <a:lnTo>
                  <a:pt x="50673" y="63500"/>
                </a:lnTo>
                <a:close/>
              </a:path>
              <a:path w="76200" h="422275">
                <a:moveTo>
                  <a:pt x="37973" y="0"/>
                </a:moveTo>
                <a:lnTo>
                  <a:pt x="0" y="76200"/>
                </a:lnTo>
                <a:lnTo>
                  <a:pt x="25277" y="76200"/>
                </a:lnTo>
                <a:lnTo>
                  <a:pt x="25273" y="63500"/>
                </a:lnTo>
                <a:lnTo>
                  <a:pt x="69828" y="63500"/>
                </a:lnTo>
                <a:lnTo>
                  <a:pt x="37973" y="0"/>
                </a:lnTo>
                <a:close/>
              </a:path>
              <a:path w="76200" h="422275">
                <a:moveTo>
                  <a:pt x="69828" y="63500"/>
                </a:moveTo>
                <a:lnTo>
                  <a:pt x="50673" y="63500"/>
                </a:lnTo>
                <a:lnTo>
                  <a:pt x="50677" y="76200"/>
                </a:lnTo>
                <a:lnTo>
                  <a:pt x="76200" y="76200"/>
                </a:lnTo>
                <a:lnTo>
                  <a:pt x="69828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86498" y="2147951"/>
            <a:ext cx="76835" cy="422275"/>
          </a:xfrm>
          <a:custGeom>
            <a:avLst/>
            <a:gdLst/>
            <a:ahLst/>
            <a:cxnLst/>
            <a:rect l="l" t="t" r="r" b="b"/>
            <a:pathLst>
              <a:path w="76834" h="422275">
                <a:moveTo>
                  <a:pt x="50800" y="63500"/>
                </a:moveTo>
                <a:lnTo>
                  <a:pt x="25400" y="63500"/>
                </a:lnTo>
                <a:lnTo>
                  <a:pt x="25526" y="421767"/>
                </a:lnTo>
                <a:lnTo>
                  <a:pt x="50926" y="421767"/>
                </a:lnTo>
                <a:lnTo>
                  <a:pt x="50800" y="63500"/>
                </a:lnTo>
                <a:close/>
              </a:path>
              <a:path w="76834" h="422275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903" y="63500"/>
                </a:lnTo>
                <a:lnTo>
                  <a:pt x="38100" y="0"/>
                </a:lnTo>
                <a:close/>
              </a:path>
              <a:path w="76834" h="422275">
                <a:moveTo>
                  <a:pt x="69903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63" y="76200"/>
                </a:lnTo>
                <a:lnTo>
                  <a:pt x="6990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615173" y="2147951"/>
            <a:ext cx="76835" cy="422275"/>
          </a:xfrm>
          <a:custGeom>
            <a:avLst/>
            <a:gdLst/>
            <a:ahLst/>
            <a:cxnLst/>
            <a:rect l="l" t="t" r="r" b="b"/>
            <a:pathLst>
              <a:path w="76834" h="422275">
                <a:moveTo>
                  <a:pt x="50800" y="63500"/>
                </a:moveTo>
                <a:lnTo>
                  <a:pt x="25400" y="63500"/>
                </a:lnTo>
                <a:lnTo>
                  <a:pt x="25526" y="421767"/>
                </a:lnTo>
                <a:lnTo>
                  <a:pt x="50926" y="421767"/>
                </a:lnTo>
                <a:lnTo>
                  <a:pt x="50800" y="63500"/>
                </a:lnTo>
                <a:close/>
              </a:path>
              <a:path w="76834" h="422275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903" y="63500"/>
                </a:lnTo>
                <a:lnTo>
                  <a:pt x="38100" y="0"/>
                </a:lnTo>
                <a:close/>
              </a:path>
              <a:path w="76834" h="422275">
                <a:moveTo>
                  <a:pt x="69903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63" y="76200"/>
                </a:lnTo>
                <a:lnTo>
                  <a:pt x="6990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72423" y="2147951"/>
            <a:ext cx="76200" cy="422275"/>
          </a:xfrm>
          <a:custGeom>
            <a:avLst/>
            <a:gdLst/>
            <a:ahLst/>
            <a:cxnLst/>
            <a:rect l="l" t="t" r="r" b="b"/>
            <a:pathLst>
              <a:path w="76200" h="422275">
                <a:moveTo>
                  <a:pt x="50800" y="63500"/>
                </a:moveTo>
                <a:lnTo>
                  <a:pt x="25400" y="63500"/>
                </a:lnTo>
                <a:lnTo>
                  <a:pt x="25526" y="421767"/>
                </a:lnTo>
                <a:lnTo>
                  <a:pt x="50926" y="421767"/>
                </a:lnTo>
                <a:lnTo>
                  <a:pt x="50800" y="63500"/>
                </a:lnTo>
                <a:close/>
              </a:path>
              <a:path w="76200" h="422275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22275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4526026" y="3024251"/>
            <a:ext cx="4022725" cy="625475"/>
            <a:chOff x="4526026" y="3024251"/>
            <a:chExt cx="4022725" cy="625475"/>
          </a:xfrm>
        </p:grpSpPr>
        <p:sp>
          <p:nvSpPr>
            <p:cNvPr id="42" name="object 42"/>
            <p:cNvSpPr/>
            <p:nvPr/>
          </p:nvSpPr>
          <p:spPr>
            <a:xfrm>
              <a:off x="5938901" y="3024250"/>
              <a:ext cx="2609850" cy="418465"/>
            </a:xfrm>
            <a:custGeom>
              <a:avLst/>
              <a:gdLst/>
              <a:ahLst/>
              <a:cxnLst/>
              <a:rect l="l" t="t" r="r" b="b"/>
              <a:pathLst>
                <a:path w="2609850" h="418464">
                  <a:moveTo>
                    <a:pt x="76200" y="76200"/>
                  </a:moveTo>
                  <a:lnTo>
                    <a:pt x="69824" y="63500"/>
                  </a:lnTo>
                  <a:lnTo>
                    <a:pt x="37973" y="0"/>
                  </a:lnTo>
                  <a:lnTo>
                    <a:pt x="0" y="76200"/>
                  </a:lnTo>
                  <a:lnTo>
                    <a:pt x="25273" y="76200"/>
                  </a:lnTo>
                  <a:lnTo>
                    <a:pt x="25400" y="418465"/>
                  </a:lnTo>
                  <a:lnTo>
                    <a:pt x="50800" y="418465"/>
                  </a:lnTo>
                  <a:lnTo>
                    <a:pt x="50673" y="76200"/>
                  </a:lnTo>
                  <a:lnTo>
                    <a:pt x="76200" y="76200"/>
                  </a:lnTo>
                  <a:close/>
                </a:path>
                <a:path w="2609850" h="418464">
                  <a:moveTo>
                    <a:pt x="923798" y="76200"/>
                  </a:moveTo>
                  <a:lnTo>
                    <a:pt x="917448" y="63500"/>
                  </a:lnTo>
                  <a:lnTo>
                    <a:pt x="885698" y="0"/>
                  </a:lnTo>
                  <a:lnTo>
                    <a:pt x="847598" y="76200"/>
                  </a:lnTo>
                  <a:lnTo>
                    <a:pt x="872998" y="76200"/>
                  </a:lnTo>
                  <a:lnTo>
                    <a:pt x="873125" y="418465"/>
                  </a:lnTo>
                  <a:lnTo>
                    <a:pt x="898525" y="418465"/>
                  </a:lnTo>
                  <a:lnTo>
                    <a:pt x="898398" y="76200"/>
                  </a:lnTo>
                  <a:lnTo>
                    <a:pt x="923798" y="76200"/>
                  </a:lnTo>
                  <a:close/>
                </a:path>
                <a:path w="2609850" h="418464">
                  <a:moveTo>
                    <a:pt x="1752473" y="76200"/>
                  </a:moveTo>
                  <a:lnTo>
                    <a:pt x="1746123" y="63500"/>
                  </a:lnTo>
                  <a:lnTo>
                    <a:pt x="1714373" y="0"/>
                  </a:lnTo>
                  <a:lnTo>
                    <a:pt x="1676273" y="76200"/>
                  </a:lnTo>
                  <a:lnTo>
                    <a:pt x="1701673" y="76200"/>
                  </a:lnTo>
                  <a:lnTo>
                    <a:pt x="1701800" y="418465"/>
                  </a:lnTo>
                  <a:lnTo>
                    <a:pt x="1727200" y="418465"/>
                  </a:lnTo>
                  <a:lnTo>
                    <a:pt x="1727073" y="76200"/>
                  </a:lnTo>
                  <a:lnTo>
                    <a:pt x="1752473" y="76200"/>
                  </a:lnTo>
                  <a:close/>
                </a:path>
                <a:path w="2609850" h="418464">
                  <a:moveTo>
                    <a:pt x="2609723" y="76200"/>
                  </a:moveTo>
                  <a:lnTo>
                    <a:pt x="2603373" y="63500"/>
                  </a:lnTo>
                  <a:lnTo>
                    <a:pt x="2571623" y="0"/>
                  </a:lnTo>
                  <a:lnTo>
                    <a:pt x="2533523" y="76200"/>
                  </a:lnTo>
                  <a:lnTo>
                    <a:pt x="2558923" y="76200"/>
                  </a:lnTo>
                  <a:lnTo>
                    <a:pt x="2559050" y="418465"/>
                  </a:lnTo>
                  <a:lnTo>
                    <a:pt x="2584450" y="418465"/>
                  </a:lnTo>
                  <a:lnTo>
                    <a:pt x="2584323" y="76200"/>
                  </a:lnTo>
                  <a:lnTo>
                    <a:pt x="2609723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38726" y="3224276"/>
              <a:ext cx="376555" cy="412750"/>
            </a:xfrm>
            <a:custGeom>
              <a:avLst/>
              <a:gdLst/>
              <a:ahLst/>
              <a:cxnLst/>
              <a:rect l="l" t="t" r="r" b="b"/>
              <a:pathLst>
                <a:path w="376554" h="412750">
                  <a:moveTo>
                    <a:pt x="0" y="412750"/>
                  </a:moveTo>
                  <a:lnTo>
                    <a:pt x="376174" y="412750"/>
                  </a:lnTo>
                  <a:lnTo>
                    <a:pt x="376174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19599" y="3024250"/>
              <a:ext cx="3517900" cy="214629"/>
            </a:xfrm>
            <a:custGeom>
              <a:avLst/>
              <a:gdLst/>
              <a:ahLst/>
              <a:cxnLst/>
              <a:rect l="l" t="t" r="r" b="b"/>
              <a:pathLst>
                <a:path w="3517900" h="214630">
                  <a:moveTo>
                    <a:pt x="3517900" y="85725"/>
                  </a:moveTo>
                  <a:lnTo>
                    <a:pt x="3511550" y="73025"/>
                  </a:lnTo>
                  <a:lnTo>
                    <a:pt x="3479800" y="9525"/>
                  </a:lnTo>
                  <a:lnTo>
                    <a:pt x="3441700" y="85725"/>
                  </a:lnTo>
                  <a:lnTo>
                    <a:pt x="3467100" y="85725"/>
                  </a:lnTo>
                  <a:lnTo>
                    <a:pt x="3467100" y="182499"/>
                  </a:lnTo>
                  <a:lnTo>
                    <a:pt x="2641473" y="182499"/>
                  </a:lnTo>
                  <a:lnTo>
                    <a:pt x="2641473" y="85725"/>
                  </a:lnTo>
                  <a:lnTo>
                    <a:pt x="2666873" y="85725"/>
                  </a:lnTo>
                  <a:lnTo>
                    <a:pt x="2660523" y="73025"/>
                  </a:lnTo>
                  <a:lnTo>
                    <a:pt x="2628773" y="9525"/>
                  </a:lnTo>
                  <a:lnTo>
                    <a:pt x="2590673" y="85725"/>
                  </a:lnTo>
                  <a:lnTo>
                    <a:pt x="2616073" y="85725"/>
                  </a:lnTo>
                  <a:lnTo>
                    <a:pt x="2616073" y="182499"/>
                  </a:lnTo>
                  <a:lnTo>
                    <a:pt x="2057400" y="182499"/>
                  </a:lnTo>
                  <a:lnTo>
                    <a:pt x="2057400" y="188722"/>
                  </a:lnTo>
                  <a:lnTo>
                    <a:pt x="1818767" y="188722"/>
                  </a:lnTo>
                  <a:lnTo>
                    <a:pt x="1818767" y="183007"/>
                  </a:lnTo>
                  <a:lnTo>
                    <a:pt x="1818767" y="76200"/>
                  </a:lnTo>
                  <a:lnTo>
                    <a:pt x="1844167" y="76200"/>
                  </a:lnTo>
                  <a:lnTo>
                    <a:pt x="1837817" y="63500"/>
                  </a:lnTo>
                  <a:lnTo>
                    <a:pt x="1806067" y="0"/>
                  </a:lnTo>
                  <a:lnTo>
                    <a:pt x="1767967" y="76200"/>
                  </a:lnTo>
                  <a:lnTo>
                    <a:pt x="1793367" y="76200"/>
                  </a:lnTo>
                  <a:lnTo>
                    <a:pt x="1793367" y="183007"/>
                  </a:lnTo>
                  <a:lnTo>
                    <a:pt x="977900" y="183007"/>
                  </a:lnTo>
                  <a:lnTo>
                    <a:pt x="977900" y="76200"/>
                  </a:lnTo>
                  <a:lnTo>
                    <a:pt x="1003300" y="76200"/>
                  </a:lnTo>
                  <a:lnTo>
                    <a:pt x="996950" y="63500"/>
                  </a:lnTo>
                  <a:lnTo>
                    <a:pt x="965200" y="0"/>
                  </a:lnTo>
                  <a:lnTo>
                    <a:pt x="927100" y="76200"/>
                  </a:lnTo>
                  <a:lnTo>
                    <a:pt x="952500" y="76200"/>
                  </a:lnTo>
                  <a:lnTo>
                    <a:pt x="952500" y="183007"/>
                  </a:lnTo>
                  <a:lnTo>
                    <a:pt x="942975" y="183007"/>
                  </a:lnTo>
                  <a:lnTo>
                    <a:pt x="942975" y="187579"/>
                  </a:lnTo>
                  <a:lnTo>
                    <a:pt x="0" y="187579"/>
                  </a:lnTo>
                  <a:lnTo>
                    <a:pt x="0" y="212979"/>
                  </a:lnTo>
                  <a:lnTo>
                    <a:pt x="972185" y="212979"/>
                  </a:lnTo>
                  <a:lnTo>
                    <a:pt x="976858" y="208407"/>
                  </a:lnTo>
                  <a:lnTo>
                    <a:pt x="1771650" y="208407"/>
                  </a:lnTo>
                  <a:lnTo>
                    <a:pt x="1771650" y="214122"/>
                  </a:lnTo>
                  <a:lnTo>
                    <a:pt x="2635885" y="214122"/>
                  </a:lnTo>
                  <a:lnTo>
                    <a:pt x="2641473" y="208534"/>
                  </a:lnTo>
                  <a:lnTo>
                    <a:pt x="2641473" y="207899"/>
                  </a:lnTo>
                  <a:lnTo>
                    <a:pt x="3486785" y="207899"/>
                  </a:lnTo>
                  <a:lnTo>
                    <a:pt x="3492500" y="202184"/>
                  </a:lnTo>
                  <a:lnTo>
                    <a:pt x="3492500" y="195199"/>
                  </a:lnTo>
                  <a:lnTo>
                    <a:pt x="3492500" y="182499"/>
                  </a:lnTo>
                  <a:lnTo>
                    <a:pt x="3492500" y="85725"/>
                  </a:lnTo>
                  <a:lnTo>
                    <a:pt x="3517900" y="85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2919476" y="2782951"/>
            <a:ext cx="1293495" cy="894715"/>
          </a:xfrm>
          <a:custGeom>
            <a:avLst/>
            <a:gdLst/>
            <a:ahLst/>
            <a:cxnLst/>
            <a:rect l="l" t="t" r="r" b="b"/>
            <a:pathLst>
              <a:path w="1293495" h="894714">
                <a:moveTo>
                  <a:pt x="1217295" y="818134"/>
                </a:moveTo>
                <a:lnTo>
                  <a:pt x="1217295" y="894334"/>
                </a:lnTo>
                <a:lnTo>
                  <a:pt x="1268095" y="868934"/>
                </a:lnTo>
                <a:lnTo>
                  <a:pt x="1229995" y="868934"/>
                </a:lnTo>
                <a:lnTo>
                  <a:pt x="1229995" y="843534"/>
                </a:lnTo>
                <a:lnTo>
                  <a:pt x="1268095" y="843534"/>
                </a:lnTo>
                <a:lnTo>
                  <a:pt x="1217295" y="818134"/>
                </a:lnTo>
                <a:close/>
              </a:path>
              <a:path w="1293495" h="894714">
                <a:moveTo>
                  <a:pt x="633984" y="12700"/>
                </a:moveTo>
                <a:lnTo>
                  <a:pt x="633984" y="863219"/>
                </a:lnTo>
                <a:lnTo>
                  <a:pt x="639699" y="868934"/>
                </a:lnTo>
                <a:lnTo>
                  <a:pt x="1217295" y="868934"/>
                </a:lnTo>
                <a:lnTo>
                  <a:pt x="1217295" y="856234"/>
                </a:lnTo>
                <a:lnTo>
                  <a:pt x="659384" y="856234"/>
                </a:lnTo>
                <a:lnTo>
                  <a:pt x="646684" y="843534"/>
                </a:lnTo>
                <a:lnTo>
                  <a:pt x="659384" y="843534"/>
                </a:lnTo>
                <a:lnTo>
                  <a:pt x="659384" y="25400"/>
                </a:lnTo>
                <a:lnTo>
                  <a:pt x="646684" y="25400"/>
                </a:lnTo>
                <a:lnTo>
                  <a:pt x="633984" y="12700"/>
                </a:lnTo>
                <a:close/>
              </a:path>
              <a:path w="1293495" h="894714">
                <a:moveTo>
                  <a:pt x="1268095" y="843534"/>
                </a:moveTo>
                <a:lnTo>
                  <a:pt x="1229995" y="843534"/>
                </a:lnTo>
                <a:lnTo>
                  <a:pt x="1229995" y="868934"/>
                </a:lnTo>
                <a:lnTo>
                  <a:pt x="1268095" y="868934"/>
                </a:lnTo>
                <a:lnTo>
                  <a:pt x="1293495" y="856234"/>
                </a:lnTo>
                <a:lnTo>
                  <a:pt x="1268095" y="843534"/>
                </a:lnTo>
                <a:close/>
              </a:path>
              <a:path w="1293495" h="894714">
                <a:moveTo>
                  <a:pt x="659384" y="843534"/>
                </a:moveTo>
                <a:lnTo>
                  <a:pt x="646684" y="843534"/>
                </a:lnTo>
                <a:lnTo>
                  <a:pt x="659384" y="856234"/>
                </a:lnTo>
                <a:lnTo>
                  <a:pt x="659384" y="843534"/>
                </a:lnTo>
                <a:close/>
              </a:path>
              <a:path w="1293495" h="894714">
                <a:moveTo>
                  <a:pt x="1217295" y="843534"/>
                </a:moveTo>
                <a:lnTo>
                  <a:pt x="659384" y="843534"/>
                </a:lnTo>
                <a:lnTo>
                  <a:pt x="659384" y="856234"/>
                </a:lnTo>
                <a:lnTo>
                  <a:pt x="1217295" y="856234"/>
                </a:lnTo>
                <a:lnTo>
                  <a:pt x="1217295" y="843534"/>
                </a:lnTo>
                <a:close/>
              </a:path>
              <a:path w="1293495" h="894714">
                <a:moveTo>
                  <a:pt x="653669" y="0"/>
                </a:moveTo>
                <a:lnTo>
                  <a:pt x="0" y="0"/>
                </a:lnTo>
                <a:lnTo>
                  <a:pt x="0" y="25400"/>
                </a:lnTo>
                <a:lnTo>
                  <a:pt x="633984" y="25400"/>
                </a:lnTo>
                <a:lnTo>
                  <a:pt x="633984" y="12700"/>
                </a:lnTo>
                <a:lnTo>
                  <a:pt x="659384" y="12700"/>
                </a:lnTo>
                <a:lnTo>
                  <a:pt x="659384" y="5587"/>
                </a:lnTo>
                <a:lnTo>
                  <a:pt x="653669" y="0"/>
                </a:lnTo>
                <a:close/>
              </a:path>
              <a:path w="1293495" h="894714">
                <a:moveTo>
                  <a:pt x="659384" y="12700"/>
                </a:moveTo>
                <a:lnTo>
                  <a:pt x="633984" y="12700"/>
                </a:lnTo>
                <a:lnTo>
                  <a:pt x="646684" y="25400"/>
                </a:lnTo>
                <a:lnTo>
                  <a:pt x="659384" y="25400"/>
                </a:lnTo>
                <a:lnTo>
                  <a:pt x="659384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83894" y="840486"/>
            <a:ext cx="2949575" cy="577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 </a:t>
            </a: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T</a:t>
            </a:r>
            <a:endParaRPr sz="1800" baseline="-18518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T’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8739" y="4639125"/>
            <a:ext cx="3637279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Sutskever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</a:t>
            </a:r>
            <a:r>
              <a:rPr sz="750" spc="-1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“Sequence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sequence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with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neural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networks”,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NeurIPS </a:t>
            </a:r>
            <a:r>
              <a:rPr sz="750" spc="-20" dirty="0">
                <a:latin typeface="Arial"/>
                <a:cs typeface="Arial"/>
              </a:rPr>
              <a:t>2014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328920" y="4805623"/>
            <a:ext cx="1396365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5"/>
              </a:lnSpc>
            </a:pP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Lecture</a:t>
            </a:r>
            <a:r>
              <a:rPr sz="2700" spc="-30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8</a:t>
            </a:r>
            <a:r>
              <a:rPr sz="2700" spc="-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r>
              <a:rPr sz="2700" spc="42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000">
              <a:latin typeface="Arial"/>
              <a:cs typeface="Arial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794891" y="2044382"/>
            <a:ext cx="679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12457" y="1920557"/>
            <a:ext cx="22047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6880" algn="l"/>
              </a:tabLst>
            </a:pPr>
            <a:r>
              <a:rPr sz="1800" b="1" dirty="0">
                <a:latin typeface="Arial"/>
                <a:cs typeface="Arial"/>
              </a:rPr>
              <a:t>Encoder: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</a:t>
            </a:r>
            <a:r>
              <a:rPr sz="1800" spc="3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f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(x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62175" y="2044382"/>
            <a:ext cx="836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345" algn="l"/>
                <a:tab pos="644525" algn="l"/>
              </a:tabLst>
            </a:pPr>
            <a:r>
              <a:rPr sz="1200" spc="-50" dirty="0">
                <a:latin typeface="Arial"/>
                <a:cs typeface="Arial"/>
              </a:rPr>
              <a:t>W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t-</a:t>
            </a:r>
            <a:r>
              <a:rPr sz="1200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84875" y="779716"/>
            <a:ext cx="2888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Decoder: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</a:t>
            </a:r>
            <a:r>
              <a:rPr sz="1800" spc="247" baseline="-1851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</a:t>
            </a:r>
            <a:r>
              <a:rPr sz="1800" spc="-15" baseline="-18518" dirty="0">
                <a:latin typeface="Arial"/>
                <a:cs typeface="Arial"/>
              </a:rPr>
              <a:t>U</a:t>
            </a:r>
            <a:r>
              <a:rPr sz="1800" spc="-10" dirty="0">
                <a:latin typeface="Arial"/>
                <a:cs typeface="Arial"/>
              </a:rPr>
              <a:t>(y</a:t>
            </a:r>
            <a:r>
              <a:rPr sz="1800" spc="-15" baseline="-18518" dirty="0">
                <a:latin typeface="Arial"/>
                <a:cs typeface="Arial"/>
              </a:rPr>
              <a:t>t-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18518" dirty="0">
                <a:latin typeface="Arial"/>
                <a:cs typeface="Arial"/>
              </a:rPr>
              <a:t>t-1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153029" y="1651952"/>
            <a:ext cx="26396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 </a:t>
            </a:r>
            <a:r>
              <a:rPr sz="1500" spc="-10" dirty="0">
                <a:latin typeface="Arial"/>
                <a:cs typeface="Arial"/>
              </a:rPr>
              <a:t>hidden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state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predict:</a:t>
            </a:r>
            <a:endParaRPr sz="1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47035" y="1842706"/>
            <a:ext cx="2263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18518" dirty="0">
                <a:latin typeface="Arial"/>
                <a:cs typeface="Arial"/>
              </a:rPr>
              <a:t>)</a:t>
            </a:r>
            <a:r>
              <a:rPr sz="2700" spc="434" baseline="-1851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127629" y="2110041"/>
            <a:ext cx="26079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Context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vector </a:t>
            </a:r>
            <a:r>
              <a:rPr sz="1500" dirty="0">
                <a:latin typeface="Arial"/>
                <a:cs typeface="Arial"/>
              </a:rPr>
              <a:t>c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(often</a:t>
            </a:r>
            <a:r>
              <a:rPr sz="1500" spc="-20" dirty="0">
                <a:latin typeface="Arial"/>
                <a:cs typeface="Arial"/>
              </a:rPr>
              <a:t> c=h</a:t>
            </a:r>
            <a:r>
              <a:rPr sz="1425" spc="-30" baseline="-17543" dirty="0">
                <a:latin typeface="Arial"/>
                <a:cs typeface="Arial"/>
              </a:rPr>
              <a:t>T</a:t>
            </a:r>
            <a:r>
              <a:rPr sz="1500" spc="-20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550418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3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dirty="0"/>
              <a:t>Sequence</a:t>
            </a:r>
            <a:r>
              <a:rPr spc="130" dirty="0"/>
              <a:t> </a:t>
            </a:r>
            <a:r>
              <a:rPr dirty="0"/>
              <a:t>with</a:t>
            </a:r>
            <a:r>
              <a:rPr spc="135" dirty="0"/>
              <a:t> </a:t>
            </a:r>
            <a:r>
              <a:rPr spc="-20" dirty="0"/>
              <a:t>RNNs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3153029" y="3850640"/>
            <a:ext cx="2294255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Solution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:</a:t>
            </a:r>
            <a:r>
              <a:rPr sz="15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Look</a:t>
            </a:r>
            <a:r>
              <a:rPr sz="15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back</a:t>
            </a:r>
            <a:r>
              <a:rPr sz="1500" spc="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at</a:t>
            </a:r>
            <a:r>
              <a:rPr sz="1500" spc="-25" dirty="0">
                <a:solidFill>
                  <a:srgbClr val="8AAB42"/>
                </a:solidFill>
                <a:latin typeface="Arial"/>
                <a:cs typeface="Arial"/>
              </a:rPr>
              <a:t> the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whole</a:t>
            </a:r>
            <a:r>
              <a:rPr sz="15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input</a:t>
            </a:r>
            <a:r>
              <a:rPr sz="15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sequence</a:t>
            </a:r>
            <a:r>
              <a:rPr sz="1500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8AAB42"/>
                </a:solidFill>
                <a:latin typeface="Arial"/>
                <a:cs typeface="Arial"/>
              </a:rPr>
              <a:t>on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each</a:t>
            </a:r>
            <a:r>
              <a:rPr sz="1500" spc="-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step</a:t>
            </a:r>
            <a:r>
              <a:rPr sz="1500" spc="-7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5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8AAB42"/>
                </a:solidFill>
                <a:latin typeface="Arial"/>
                <a:cs typeface="Arial"/>
              </a:rPr>
              <a:t>the</a:t>
            </a:r>
            <a:r>
              <a:rPr sz="1500" spc="-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8AAB42"/>
                </a:solidFill>
                <a:latin typeface="Arial"/>
                <a:cs typeface="Arial"/>
              </a:rPr>
              <a:t>output</a:t>
            </a:r>
            <a:endParaRPr sz="15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59393" y="4027170"/>
            <a:ext cx="3009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556629" y="4027170"/>
            <a:ext cx="5283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633969" y="4027170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779894" y="1315656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504810" y="1314196"/>
            <a:ext cx="3009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01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586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125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48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610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5332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711" y="63500"/>
                </a:moveTo>
                <a:lnTo>
                  <a:pt x="25311" y="63500"/>
                </a:lnTo>
                <a:lnTo>
                  <a:pt x="27608" y="418338"/>
                </a:lnTo>
                <a:lnTo>
                  <a:pt x="27609" y="418465"/>
                </a:lnTo>
                <a:lnTo>
                  <a:pt x="53009" y="418338"/>
                </a:lnTo>
                <a:lnTo>
                  <a:pt x="50794" y="76326"/>
                </a:lnTo>
                <a:lnTo>
                  <a:pt x="50711" y="63500"/>
                </a:lnTo>
                <a:close/>
              </a:path>
              <a:path w="76200" h="418464">
                <a:moveTo>
                  <a:pt x="37604" y="0"/>
                </a:moveTo>
                <a:lnTo>
                  <a:pt x="0" y="76326"/>
                </a:lnTo>
                <a:lnTo>
                  <a:pt x="25394" y="76326"/>
                </a:lnTo>
                <a:lnTo>
                  <a:pt x="25311" y="63500"/>
                </a:lnTo>
                <a:lnTo>
                  <a:pt x="69875" y="63500"/>
                </a:lnTo>
                <a:lnTo>
                  <a:pt x="37604" y="0"/>
                </a:lnTo>
                <a:close/>
              </a:path>
              <a:path w="76200" h="418464">
                <a:moveTo>
                  <a:pt x="69875" y="63500"/>
                </a:moveTo>
                <a:lnTo>
                  <a:pt x="50711" y="63500"/>
                </a:lnTo>
                <a:lnTo>
                  <a:pt x="50794" y="76326"/>
                </a:lnTo>
                <a:lnTo>
                  <a:pt x="0" y="76326"/>
                </a:lnTo>
                <a:lnTo>
                  <a:pt x="76200" y="75946"/>
                </a:lnTo>
                <a:lnTo>
                  <a:pt x="6987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9624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4862" y="2757551"/>
            <a:ext cx="375920" cy="76200"/>
          </a:xfrm>
          <a:custGeom>
            <a:avLst/>
            <a:gdLst/>
            <a:ahLst/>
            <a:cxnLst/>
            <a:rect l="l" t="t" r="r" b="b"/>
            <a:pathLst>
              <a:path w="375919" h="76200">
                <a:moveTo>
                  <a:pt x="299402" y="0"/>
                </a:moveTo>
                <a:lnTo>
                  <a:pt x="299402" y="76200"/>
                </a:lnTo>
                <a:lnTo>
                  <a:pt x="350202" y="50800"/>
                </a:lnTo>
                <a:lnTo>
                  <a:pt x="312102" y="50800"/>
                </a:lnTo>
                <a:lnTo>
                  <a:pt x="312102" y="25400"/>
                </a:lnTo>
                <a:lnTo>
                  <a:pt x="350202" y="25400"/>
                </a:lnTo>
                <a:lnTo>
                  <a:pt x="299402" y="0"/>
                </a:lnTo>
                <a:close/>
              </a:path>
              <a:path w="375919" h="76200">
                <a:moveTo>
                  <a:pt x="2994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9402" y="50800"/>
                </a:lnTo>
                <a:lnTo>
                  <a:pt x="299402" y="25400"/>
                </a:lnTo>
                <a:close/>
              </a:path>
              <a:path w="375919" h="76200">
                <a:moveTo>
                  <a:pt x="350202" y="25400"/>
                </a:moveTo>
                <a:lnTo>
                  <a:pt x="312102" y="25400"/>
                </a:lnTo>
                <a:lnTo>
                  <a:pt x="312102" y="50800"/>
                </a:lnTo>
                <a:lnTo>
                  <a:pt x="350202" y="50800"/>
                </a:lnTo>
                <a:lnTo>
                  <a:pt x="375602" y="38100"/>
                </a:lnTo>
                <a:lnTo>
                  <a:pt x="3502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09775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672" y="0"/>
                </a:moveTo>
                <a:lnTo>
                  <a:pt x="296672" y="76200"/>
                </a:lnTo>
                <a:lnTo>
                  <a:pt x="347472" y="50800"/>
                </a:lnTo>
                <a:lnTo>
                  <a:pt x="309372" y="50800"/>
                </a:lnTo>
                <a:lnTo>
                  <a:pt x="309372" y="25400"/>
                </a:lnTo>
                <a:lnTo>
                  <a:pt x="347472" y="25400"/>
                </a:lnTo>
                <a:lnTo>
                  <a:pt x="296672" y="0"/>
                </a:lnTo>
                <a:close/>
              </a:path>
              <a:path w="373380" h="76200">
                <a:moveTo>
                  <a:pt x="29667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672" y="50800"/>
                </a:lnTo>
                <a:lnTo>
                  <a:pt x="296672" y="25400"/>
                </a:lnTo>
                <a:close/>
              </a:path>
              <a:path w="373380" h="76200">
                <a:moveTo>
                  <a:pt x="347472" y="25400"/>
                </a:moveTo>
                <a:lnTo>
                  <a:pt x="309372" y="25400"/>
                </a:lnTo>
                <a:lnTo>
                  <a:pt x="309372" y="50800"/>
                </a:lnTo>
                <a:lnTo>
                  <a:pt x="347472" y="50800"/>
                </a:lnTo>
                <a:lnTo>
                  <a:pt x="372872" y="38100"/>
                </a:lnTo>
                <a:lnTo>
                  <a:pt x="34747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14498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799" y="0"/>
                </a:moveTo>
                <a:lnTo>
                  <a:pt x="296799" y="76200"/>
                </a:lnTo>
                <a:lnTo>
                  <a:pt x="347599" y="50800"/>
                </a:lnTo>
                <a:lnTo>
                  <a:pt x="309499" y="50800"/>
                </a:lnTo>
                <a:lnTo>
                  <a:pt x="309499" y="25400"/>
                </a:lnTo>
                <a:lnTo>
                  <a:pt x="347599" y="25400"/>
                </a:lnTo>
                <a:lnTo>
                  <a:pt x="296799" y="0"/>
                </a:lnTo>
                <a:close/>
              </a:path>
              <a:path w="373380" h="76200">
                <a:moveTo>
                  <a:pt x="29679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799" y="50800"/>
                </a:lnTo>
                <a:lnTo>
                  <a:pt x="296799" y="25400"/>
                </a:lnTo>
                <a:close/>
              </a:path>
              <a:path w="373380" h="76200">
                <a:moveTo>
                  <a:pt x="347599" y="25400"/>
                </a:moveTo>
                <a:lnTo>
                  <a:pt x="309499" y="25400"/>
                </a:lnTo>
                <a:lnTo>
                  <a:pt x="309499" y="50800"/>
                </a:lnTo>
                <a:lnTo>
                  <a:pt x="347599" y="50800"/>
                </a:lnTo>
                <a:lnTo>
                  <a:pt x="372999" y="38100"/>
                </a:lnTo>
                <a:lnTo>
                  <a:pt x="34759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14473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0979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83894" y="840486"/>
            <a:ext cx="2949575" cy="577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 </a:t>
            </a: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T</a:t>
            </a:r>
            <a:endParaRPr sz="1800" baseline="-18518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Sequence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baseline="-18518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T’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13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94891" y="2044382"/>
            <a:ext cx="679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62175" y="2044382"/>
            <a:ext cx="836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345" algn="l"/>
                <a:tab pos="644525" algn="l"/>
              </a:tabLst>
            </a:pPr>
            <a:r>
              <a:rPr sz="1200" spc="-50" dirty="0">
                <a:latin typeface="Arial"/>
                <a:cs typeface="Arial"/>
              </a:rPr>
              <a:t>W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t-</a:t>
            </a:r>
            <a:r>
              <a:rPr sz="1200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2457" y="1920557"/>
            <a:ext cx="2461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6880" algn="l"/>
                <a:tab pos="2372360" algn="l"/>
              </a:tabLst>
            </a:pPr>
            <a:r>
              <a:rPr sz="1800" b="1" dirty="0">
                <a:latin typeface="Arial"/>
                <a:cs typeface="Arial"/>
              </a:rPr>
              <a:t>Encoder: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</a:t>
            </a:r>
            <a:r>
              <a:rPr sz="1800" spc="3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f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(x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h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55314" y="1801812"/>
            <a:ext cx="208280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hidden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state: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01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586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125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9" name="object 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610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5332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711" y="63500"/>
                </a:moveTo>
                <a:lnTo>
                  <a:pt x="25311" y="63500"/>
                </a:lnTo>
                <a:lnTo>
                  <a:pt x="27608" y="418338"/>
                </a:lnTo>
                <a:lnTo>
                  <a:pt x="27609" y="418465"/>
                </a:lnTo>
                <a:lnTo>
                  <a:pt x="53009" y="418338"/>
                </a:lnTo>
                <a:lnTo>
                  <a:pt x="50794" y="76326"/>
                </a:lnTo>
                <a:lnTo>
                  <a:pt x="50711" y="63500"/>
                </a:lnTo>
                <a:close/>
              </a:path>
              <a:path w="76200" h="418464">
                <a:moveTo>
                  <a:pt x="37604" y="0"/>
                </a:moveTo>
                <a:lnTo>
                  <a:pt x="0" y="76326"/>
                </a:lnTo>
                <a:lnTo>
                  <a:pt x="25394" y="76326"/>
                </a:lnTo>
                <a:lnTo>
                  <a:pt x="25311" y="63500"/>
                </a:lnTo>
                <a:lnTo>
                  <a:pt x="69875" y="63500"/>
                </a:lnTo>
                <a:lnTo>
                  <a:pt x="37604" y="0"/>
                </a:lnTo>
                <a:close/>
              </a:path>
              <a:path w="76200" h="418464">
                <a:moveTo>
                  <a:pt x="69875" y="63500"/>
                </a:moveTo>
                <a:lnTo>
                  <a:pt x="50711" y="63500"/>
                </a:lnTo>
                <a:lnTo>
                  <a:pt x="50794" y="76326"/>
                </a:lnTo>
                <a:lnTo>
                  <a:pt x="0" y="76326"/>
                </a:lnTo>
                <a:lnTo>
                  <a:pt x="76200" y="75946"/>
                </a:lnTo>
                <a:lnTo>
                  <a:pt x="6987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9624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4862" y="2757551"/>
            <a:ext cx="375920" cy="76200"/>
          </a:xfrm>
          <a:custGeom>
            <a:avLst/>
            <a:gdLst/>
            <a:ahLst/>
            <a:cxnLst/>
            <a:rect l="l" t="t" r="r" b="b"/>
            <a:pathLst>
              <a:path w="375919" h="76200">
                <a:moveTo>
                  <a:pt x="299402" y="0"/>
                </a:moveTo>
                <a:lnTo>
                  <a:pt x="299402" y="76200"/>
                </a:lnTo>
                <a:lnTo>
                  <a:pt x="350202" y="50800"/>
                </a:lnTo>
                <a:lnTo>
                  <a:pt x="312102" y="50800"/>
                </a:lnTo>
                <a:lnTo>
                  <a:pt x="312102" y="25400"/>
                </a:lnTo>
                <a:lnTo>
                  <a:pt x="350202" y="25400"/>
                </a:lnTo>
                <a:lnTo>
                  <a:pt x="299402" y="0"/>
                </a:lnTo>
                <a:close/>
              </a:path>
              <a:path w="375919" h="76200">
                <a:moveTo>
                  <a:pt x="2994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9402" y="50800"/>
                </a:lnTo>
                <a:lnTo>
                  <a:pt x="299402" y="25400"/>
                </a:lnTo>
                <a:close/>
              </a:path>
              <a:path w="375919" h="76200">
                <a:moveTo>
                  <a:pt x="350202" y="25400"/>
                </a:moveTo>
                <a:lnTo>
                  <a:pt x="312102" y="25400"/>
                </a:lnTo>
                <a:lnTo>
                  <a:pt x="312102" y="50800"/>
                </a:lnTo>
                <a:lnTo>
                  <a:pt x="350202" y="50800"/>
                </a:lnTo>
                <a:lnTo>
                  <a:pt x="375602" y="38100"/>
                </a:lnTo>
                <a:lnTo>
                  <a:pt x="3502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09775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672" y="0"/>
                </a:moveTo>
                <a:lnTo>
                  <a:pt x="296672" y="76200"/>
                </a:lnTo>
                <a:lnTo>
                  <a:pt x="347472" y="50800"/>
                </a:lnTo>
                <a:lnTo>
                  <a:pt x="309372" y="50800"/>
                </a:lnTo>
                <a:lnTo>
                  <a:pt x="309372" y="25400"/>
                </a:lnTo>
                <a:lnTo>
                  <a:pt x="347472" y="25400"/>
                </a:lnTo>
                <a:lnTo>
                  <a:pt x="296672" y="0"/>
                </a:lnTo>
                <a:close/>
              </a:path>
              <a:path w="373380" h="76200">
                <a:moveTo>
                  <a:pt x="29667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672" y="50800"/>
                </a:lnTo>
                <a:lnTo>
                  <a:pt x="296672" y="25400"/>
                </a:lnTo>
                <a:close/>
              </a:path>
              <a:path w="373380" h="76200">
                <a:moveTo>
                  <a:pt x="347472" y="25400"/>
                </a:moveTo>
                <a:lnTo>
                  <a:pt x="309372" y="25400"/>
                </a:lnTo>
                <a:lnTo>
                  <a:pt x="309372" y="50800"/>
                </a:lnTo>
                <a:lnTo>
                  <a:pt x="347472" y="50800"/>
                </a:lnTo>
                <a:lnTo>
                  <a:pt x="372872" y="38100"/>
                </a:lnTo>
                <a:lnTo>
                  <a:pt x="34747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14498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799" y="0"/>
                </a:moveTo>
                <a:lnTo>
                  <a:pt x="296799" y="76200"/>
                </a:lnTo>
                <a:lnTo>
                  <a:pt x="347599" y="50800"/>
                </a:lnTo>
                <a:lnTo>
                  <a:pt x="309499" y="50800"/>
                </a:lnTo>
                <a:lnTo>
                  <a:pt x="309499" y="25400"/>
                </a:lnTo>
                <a:lnTo>
                  <a:pt x="347599" y="25400"/>
                </a:lnTo>
                <a:lnTo>
                  <a:pt x="296799" y="0"/>
                </a:lnTo>
                <a:close/>
              </a:path>
              <a:path w="373380" h="76200">
                <a:moveTo>
                  <a:pt x="29679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799" y="50800"/>
                </a:lnTo>
                <a:lnTo>
                  <a:pt x="296799" y="25400"/>
                </a:lnTo>
                <a:close/>
              </a:path>
              <a:path w="373380" h="76200">
                <a:moveTo>
                  <a:pt x="347599" y="25400"/>
                </a:moveTo>
                <a:lnTo>
                  <a:pt x="309499" y="25400"/>
                </a:lnTo>
                <a:lnTo>
                  <a:pt x="309499" y="50800"/>
                </a:lnTo>
                <a:lnTo>
                  <a:pt x="347599" y="50800"/>
                </a:lnTo>
                <a:lnTo>
                  <a:pt x="372999" y="38100"/>
                </a:lnTo>
                <a:lnTo>
                  <a:pt x="34759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14473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0979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52437" y="1966976"/>
            <a:ext cx="381000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7287" y="1966976"/>
            <a:ext cx="381000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62201" y="1966976"/>
            <a:ext cx="381000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13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67051" y="1966976"/>
            <a:ext cx="371475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4837" y="2243073"/>
            <a:ext cx="3782060" cy="339090"/>
            <a:chOff x="604837" y="2243073"/>
            <a:chExt cx="3782060" cy="339090"/>
          </a:xfrm>
        </p:grpSpPr>
        <p:sp>
          <p:nvSpPr>
            <p:cNvPr id="26" name="object 26"/>
            <p:cNvSpPr/>
            <p:nvPr/>
          </p:nvSpPr>
          <p:spPr>
            <a:xfrm>
              <a:off x="604837" y="2252725"/>
              <a:ext cx="76200" cy="314325"/>
            </a:xfrm>
            <a:custGeom>
              <a:avLst/>
              <a:gdLst/>
              <a:ahLst/>
              <a:cxnLst/>
              <a:rect l="l" t="t" r="r" b="b"/>
              <a:pathLst>
                <a:path w="76200" h="314325">
                  <a:moveTo>
                    <a:pt x="50800" y="63500"/>
                  </a:moveTo>
                  <a:lnTo>
                    <a:pt x="25400" y="635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63500"/>
                  </a:lnTo>
                  <a:close/>
                </a:path>
                <a:path w="76200" h="314325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4325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7237" y="2490850"/>
              <a:ext cx="3616960" cy="78740"/>
            </a:xfrm>
            <a:custGeom>
              <a:avLst/>
              <a:gdLst/>
              <a:ahLst/>
              <a:cxnLst/>
              <a:rect l="l" t="t" r="r" b="b"/>
              <a:pathLst>
                <a:path w="3616960" h="78739">
                  <a:moveTo>
                    <a:pt x="3616769" y="78486"/>
                  </a:moveTo>
                  <a:lnTo>
                    <a:pt x="361676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37" y="2252598"/>
              <a:ext cx="76200" cy="23596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309624" y="2252725"/>
              <a:ext cx="1477010" cy="314325"/>
            </a:xfrm>
            <a:custGeom>
              <a:avLst/>
              <a:gdLst/>
              <a:ahLst/>
              <a:cxnLst/>
              <a:rect l="l" t="t" r="r" b="b"/>
              <a:pathLst>
                <a:path w="1477010" h="31432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527" y="314325"/>
                  </a:lnTo>
                  <a:lnTo>
                    <a:pt x="50927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1477010" h="314325">
                  <a:moveTo>
                    <a:pt x="781812" y="76200"/>
                  </a:moveTo>
                  <a:lnTo>
                    <a:pt x="775500" y="63500"/>
                  </a:lnTo>
                  <a:lnTo>
                    <a:pt x="743966" y="0"/>
                  </a:lnTo>
                  <a:lnTo>
                    <a:pt x="705535" y="76200"/>
                  </a:lnTo>
                  <a:lnTo>
                    <a:pt x="730961" y="76200"/>
                  </a:lnTo>
                  <a:lnTo>
                    <a:pt x="730377" y="314325"/>
                  </a:lnTo>
                  <a:lnTo>
                    <a:pt x="755777" y="314325"/>
                  </a:lnTo>
                  <a:lnTo>
                    <a:pt x="756373" y="76200"/>
                  </a:lnTo>
                  <a:lnTo>
                    <a:pt x="781812" y="76200"/>
                  </a:lnTo>
                  <a:close/>
                </a:path>
                <a:path w="1477010" h="314325">
                  <a:moveTo>
                    <a:pt x="1476502" y="76200"/>
                  </a:moveTo>
                  <a:lnTo>
                    <a:pt x="1470126" y="63500"/>
                  </a:lnTo>
                  <a:lnTo>
                    <a:pt x="1438275" y="0"/>
                  </a:lnTo>
                  <a:lnTo>
                    <a:pt x="1400302" y="76200"/>
                  </a:lnTo>
                  <a:lnTo>
                    <a:pt x="1425575" y="76200"/>
                  </a:lnTo>
                  <a:lnTo>
                    <a:pt x="1425702" y="314325"/>
                  </a:lnTo>
                  <a:lnTo>
                    <a:pt x="1451102" y="314325"/>
                  </a:lnTo>
                  <a:lnTo>
                    <a:pt x="1450975" y="76200"/>
                  </a:lnTo>
                  <a:lnTo>
                    <a:pt x="1476502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774" y="2252598"/>
              <a:ext cx="76200" cy="23596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4398" y="2243073"/>
              <a:ext cx="76200" cy="23596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4226" y="2243073"/>
              <a:ext cx="76200" cy="23596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513704" y="816292"/>
            <a:ext cx="31064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(scalar)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alignment</a:t>
            </a:r>
            <a:r>
              <a:rPr sz="1500" b="1" spc="-7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14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488304" y="1083310"/>
            <a:ext cx="130048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50" baseline="11111" dirty="0">
                <a:latin typeface="Arial"/>
                <a:cs typeface="Arial"/>
              </a:rPr>
              <a:t>e</a:t>
            </a:r>
            <a:r>
              <a:rPr sz="950" dirty="0">
                <a:latin typeface="Arial"/>
                <a:cs typeface="Arial"/>
              </a:rPr>
              <a:t>t,i</a:t>
            </a:r>
            <a:r>
              <a:rPr sz="950" spc="210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 f</a:t>
            </a:r>
            <a:r>
              <a:rPr sz="950" dirty="0">
                <a:latin typeface="Arial"/>
                <a:cs typeface="Arial"/>
              </a:rPr>
              <a:t>att</a:t>
            </a:r>
            <a:r>
              <a:rPr sz="2250" baseline="11111" dirty="0">
                <a:latin typeface="Arial"/>
                <a:cs typeface="Arial"/>
              </a:rPr>
              <a:t>(s</a:t>
            </a:r>
            <a:r>
              <a:rPr sz="950" dirty="0">
                <a:latin typeface="Arial"/>
                <a:cs typeface="Arial"/>
              </a:rPr>
              <a:t>t-1</a:t>
            </a:r>
            <a:r>
              <a:rPr sz="2250" baseline="11111" dirty="0">
                <a:latin typeface="Arial"/>
                <a:cs typeface="Arial"/>
              </a:rPr>
              <a:t>,</a:t>
            </a:r>
            <a:r>
              <a:rPr sz="2250" spc="22" baseline="11111" dirty="0">
                <a:latin typeface="Arial"/>
                <a:cs typeface="Arial"/>
              </a:rPr>
              <a:t> </a:t>
            </a:r>
            <a:r>
              <a:rPr sz="2250" spc="-37" baseline="11111" dirty="0">
                <a:latin typeface="Arial"/>
                <a:cs typeface="Arial"/>
              </a:rPr>
              <a:t>h</a:t>
            </a:r>
            <a:r>
              <a:rPr sz="950" spc="-25" dirty="0">
                <a:latin typeface="Arial"/>
                <a:cs typeface="Arial"/>
              </a:rPr>
              <a:t>i</a:t>
            </a:r>
            <a:r>
              <a:rPr sz="2250" spc="-37" baseline="11111" dirty="0">
                <a:latin typeface="Arial"/>
                <a:cs typeface="Arial"/>
              </a:rPr>
              <a:t>)</a:t>
            </a:r>
            <a:endParaRPr sz="2250" baseline="11111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33168" y="1044955"/>
            <a:ext cx="1859914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(f</a:t>
            </a:r>
            <a:r>
              <a:rPr sz="1425" baseline="-17543" dirty="0">
                <a:latin typeface="Arial"/>
                <a:cs typeface="Arial"/>
              </a:rPr>
              <a:t>att</a:t>
            </a:r>
            <a:r>
              <a:rPr sz="1425" spc="21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Linear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Layer)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155314" y="1801812"/>
            <a:ext cx="208280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hidden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state: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01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5862" y="2567051"/>
            <a:ext cx="323850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125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9" name="object 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6101" y="2567051"/>
            <a:ext cx="333375" cy="457200"/>
          </a:xfrm>
          <a:prstGeom prst="rect">
            <a:avLst/>
          </a:prstGeom>
          <a:solidFill>
            <a:srgbClr val="D4E4F1"/>
          </a:solidFill>
          <a:ln w="12700">
            <a:solidFill>
              <a:srgbClr val="3981B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5332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711" y="63500"/>
                </a:moveTo>
                <a:lnTo>
                  <a:pt x="25311" y="63500"/>
                </a:lnTo>
                <a:lnTo>
                  <a:pt x="27608" y="418338"/>
                </a:lnTo>
                <a:lnTo>
                  <a:pt x="27609" y="418465"/>
                </a:lnTo>
                <a:lnTo>
                  <a:pt x="53009" y="418338"/>
                </a:lnTo>
                <a:lnTo>
                  <a:pt x="50794" y="76326"/>
                </a:lnTo>
                <a:lnTo>
                  <a:pt x="50711" y="63500"/>
                </a:lnTo>
                <a:close/>
              </a:path>
              <a:path w="76200" h="418464">
                <a:moveTo>
                  <a:pt x="37604" y="0"/>
                </a:moveTo>
                <a:lnTo>
                  <a:pt x="0" y="76326"/>
                </a:lnTo>
                <a:lnTo>
                  <a:pt x="25394" y="76326"/>
                </a:lnTo>
                <a:lnTo>
                  <a:pt x="25311" y="63500"/>
                </a:lnTo>
                <a:lnTo>
                  <a:pt x="69875" y="63500"/>
                </a:lnTo>
                <a:lnTo>
                  <a:pt x="37604" y="0"/>
                </a:lnTo>
                <a:close/>
              </a:path>
              <a:path w="76200" h="418464">
                <a:moveTo>
                  <a:pt x="69875" y="63500"/>
                </a:moveTo>
                <a:lnTo>
                  <a:pt x="50711" y="63500"/>
                </a:lnTo>
                <a:lnTo>
                  <a:pt x="50794" y="76326"/>
                </a:lnTo>
                <a:lnTo>
                  <a:pt x="0" y="76326"/>
                </a:lnTo>
                <a:lnTo>
                  <a:pt x="76200" y="75946"/>
                </a:lnTo>
                <a:lnTo>
                  <a:pt x="69875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9624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4862" y="2757551"/>
            <a:ext cx="375920" cy="76200"/>
          </a:xfrm>
          <a:custGeom>
            <a:avLst/>
            <a:gdLst/>
            <a:ahLst/>
            <a:cxnLst/>
            <a:rect l="l" t="t" r="r" b="b"/>
            <a:pathLst>
              <a:path w="375919" h="76200">
                <a:moveTo>
                  <a:pt x="299402" y="0"/>
                </a:moveTo>
                <a:lnTo>
                  <a:pt x="299402" y="76200"/>
                </a:lnTo>
                <a:lnTo>
                  <a:pt x="350202" y="50800"/>
                </a:lnTo>
                <a:lnTo>
                  <a:pt x="312102" y="50800"/>
                </a:lnTo>
                <a:lnTo>
                  <a:pt x="312102" y="25400"/>
                </a:lnTo>
                <a:lnTo>
                  <a:pt x="350202" y="25400"/>
                </a:lnTo>
                <a:lnTo>
                  <a:pt x="299402" y="0"/>
                </a:lnTo>
                <a:close/>
              </a:path>
              <a:path w="375919" h="76200">
                <a:moveTo>
                  <a:pt x="2994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9402" y="50800"/>
                </a:lnTo>
                <a:lnTo>
                  <a:pt x="299402" y="25400"/>
                </a:lnTo>
                <a:close/>
              </a:path>
              <a:path w="375919" h="76200">
                <a:moveTo>
                  <a:pt x="350202" y="25400"/>
                </a:moveTo>
                <a:lnTo>
                  <a:pt x="312102" y="25400"/>
                </a:lnTo>
                <a:lnTo>
                  <a:pt x="312102" y="50800"/>
                </a:lnTo>
                <a:lnTo>
                  <a:pt x="350202" y="50800"/>
                </a:lnTo>
                <a:lnTo>
                  <a:pt x="375602" y="38100"/>
                </a:lnTo>
                <a:lnTo>
                  <a:pt x="3502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09775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672" y="0"/>
                </a:moveTo>
                <a:lnTo>
                  <a:pt x="296672" y="76200"/>
                </a:lnTo>
                <a:lnTo>
                  <a:pt x="347472" y="50800"/>
                </a:lnTo>
                <a:lnTo>
                  <a:pt x="309372" y="50800"/>
                </a:lnTo>
                <a:lnTo>
                  <a:pt x="309372" y="25400"/>
                </a:lnTo>
                <a:lnTo>
                  <a:pt x="347472" y="25400"/>
                </a:lnTo>
                <a:lnTo>
                  <a:pt x="296672" y="0"/>
                </a:lnTo>
                <a:close/>
              </a:path>
              <a:path w="373380" h="76200">
                <a:moveTo>
                  <a:pt x="29667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672" y="50800"/>
                </a:lnTo>
                <a:lnTo>
                  <a:pt x="296672" y="25400"/>
                </a:lnTo>
                <a:close/>
              </a:path>
              <a:path w="373380" h="76200">
                <a:moveTo>
                  <a:pt x="347472" y="25400"/>
                </a:moveTo>
                <a:lnTo>
                  <a:pt x="309372" y="25400"/>
                </a:lnTo>
                <a:lnTo>
                  <a:pt x="309372" y="50800"/>
                </a:lnTo>
                <a:lnTo>
                  <a:pt x="347472" y="50800"/>
                </a:lnTo>
                <a:lnTo>
                  <a:pt x="372872" y="38100"/>
                </a:lnTo>
                <a:lnTo>
                  <a:pt x="34747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14498" y="2757551"/>
            <a:ext cx="373380" cy="76200"/>
          </a:xfrm>
          <a:custGeom>
            <a:avLst/>
            <a:gdLst/>
            <a:ahLst/>
            <a:cxnLst/>
            <a:rect l="l" t="t" r="r" b="b"/>
            <a:pathLst>
              <a:path w="373380" h="76200">
                <a:moveTo>
                  <a:pt x="296799" y="0"/>
                </a:moveTo>
                <a:lnTo>
                  <a:pt x="296799" y="76200"/>
                </a:lnTo>
                <a:lnTo>
                  <a:pt x="347599" y="50800"/>
                </a:lnTo>
                <a:lnTo>
                  <a:pt x="309499" y="50800"/>
                </a:lnTo>
                <a:lnTo>
                  <a:pt x="309499" y="25400"/>
                </a:lnTo>
                <a:lnTo>
                  <a:pt x="347599" y="25400"/>
                </a:lnTo>
                <a:lnTo>
                  <a:pt x="296799" y="0"/>
                </a:lnTo>
                <a:close/>
              </a:path>
              <a:path w="373380" h="76200">
                <a:moveTo>
                  <a:pt x="29679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799" y="50800"/>
                </a:lnTo>
                <a:lnTo>
                  <a:pt x="296799" y="25400"/>
                </a:lnTo>
                <a:close/>
              </a:path>
              <a:path w="373380" h="76200">
                <a:moveTo>
                  <a:pt x="347599" y="25400"/>
                </a:moveTo>
                <a:lnTo>
                  <a:pt x="309499" y="25400"/>
                </a:lnTo>
                <a:lnTo>
                  <a:pt x="309499" y="50800"/>
                </a:lnTo>
                <a:lnTo>
                  <a:pt x="347599" y="50800"/>
                </a:lnTo>
                <a:lnTo>
                  <a:pt x="372999" y="38100"/>
                </a:lnTo>
                <a:lnTo>
                  <a:pt x="34759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14473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0979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526" y="418465"/>
                </a:lnTo>
                <a:lnTo>
                  <a:pt x="50926" y="418465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4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80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52437" y="1966976"/>
            <a:ext cx="381000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7287" y="1966976"/>
            <a:ext cx="381000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62201" y="1966976"/>
            <a:ext cx="381000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13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67051" y="1966976"/>
            <a:ext cx="371475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4837" y="2243073"/>
            <a:ext cx="3782060" cy="339090"/>
            <a:chOff x="604837" y="2243073"/>
            <a:chExt cx="3782060" cy="339090"/>
          </a:xfrm>
        </p:grpSpPr>
        <p:sp>
          <p:nvSpPr>
            <p:cNvPr id="26" name="object 26"/>
            <p:cNvSpPr/>
            <p:nvPr/>
          </p:nvSpPr>
          <p:spPr>
            <a:xfrm>
              <a:off x="604837" y="2252725"/>
              <a:ext cx="76200" cy="314325"/>
            </a:xfrm>
            <a:custGeom>
              <a:avLst/>
              <a:gdLst/>
              <a:ahLst/>
              <a:cxnLst/>
              <a:rect l="l" t="t" r="r" b="b"/>
              <a:pathLst>
                <a:path w="76200" h="314325">
                  <a:moveTo>
                    <a:pt x="50800" y="63500"/>
                  </a:moveTo>
                  <a:lnTo>
                    <a:pt x="25400" y="635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63500"/>
                  </a:lnTo>
                  <a:close/>
                </a:path>
                <a:path w="76200" h="314325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4325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7237" y="2490850"/>
              <a:ext cx="3616960" cy="78740"/>
            </a:xfrm>
            <a:custGeom>
              <a:avLst/>
              <a:gdLst/>
              <a:ahLst/>
              <a:cxnLst/>
              <a:rect l="l" t="t" r="r" b="b"/>
              <a:pathLst>
                <a:path w="3616960" h="78739">
                  <a:moveTo>
                    <a:pt x="3616769" y="78486"/>
                  </a:moveTo>
                  <a:lnTo>
                    <a:pt x="361676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37" y="2252598"/>
              <a:ext cx="76200" cy="23596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309624" y="2252725"/>
              <a:ext cx="1477010" cy="314325"/>
            </a:xfrm>
            <a:custGeom>
              <a:avLst/>
              <a:gdLst/>
              <a:ahLst/>
              <a:cxnLst/>
              <a:rect l="l" t="t" r="r" b="b"/>
              <a:pathLst>
                <a:path w="1477010" h="31432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527" y="314325"/>
                  </a:lnTo>
                  <a:lnTo>
                    <a:pt x="50927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1477010" h="314325">
                  <a:moveTo>
                    <a:pt x="781812" y="76200"/>
                  </a:moveTo>
                  <a:lnTo>
                    <a:pt x="775500" y="63500"/>
                  </a:lnTo>
                  <a:lnTo>
                    <a:pt x="743966" y="0"/>
                  </a:lnTo>
                  <a:lnTo>
                    <a:pt x="705535" y="76200"/>
                  </a:lnTo>
                  <a:lnTo>
                    <a:pt x="730961" y="76200"/>
                  </a:lnTo>
                  <a:lnTo>
                    <a:pt x="730377" y="314325"/>
                  </a:lnTo>
                  <a:lnTo>
                    <a:pt x="755777" y="314325"/>
                  </a:lnTo>
                  <a:lnTo>
                    <a:pt x="756373" y="76200"/>
                  </a:lnTo>
                  <a:lnTo>
                    <a:pt x="781812" y="76200"/>
                  </a:lnTo>
                  <a:close/>
                </a:path>
                <a:path w="1477010" h="314325">
                  <a:moveTo>
                    <a:pt x="1476502" y="76200"/>
                  </a:moveTo>
                  <a:lnTo>
                    <a:pt x="1470126" y="63500"/>
                  </a:lnTo>
                  <a:lnTo>
                    <a:pt x="1438275" y="0"/>
                  </a:lnTo>
                  <a:lnTo>
                    <a:pt x="1400302" y="76200"/>
                  </a:lnTo>
                  <a:lnTo>
                    <a:pt x="1425575" y="76200"/>
                  </a:lnTo>
                  <a:lnTo>
                    <a:pt x="1425702" y="314325"/>
                  </a:lnTo>
                  <a:lnTo>
                    <a:pt x="1451102" y="314325"/>
                  </a:lnTo>
                  <a:lnTo>
                    <a:pt x="1450975" y="76200"/>
                  </a:lnTo>
                  <a:lnTo>
                    <a:pt x="1476502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774" y="2252598"/>
              <a:ext cx="76200" cy="23596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4398" y="2243073"/>
              <a:ext cx="76200" cy="23596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4226" y="2243073"/>
              <a:ext cx="76200" cy="23596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52437" y="1576450"/>
            <a:ext cx="2486025" cy="2381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2437" y="1147825"/>
            <a:ext cx="381000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57287" y="1147825"/>
            <a:ext cx="381000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6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62201" y="1147825"/>
            <a:ext cx="381000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6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  <a:spcBef>
                <a:spcPts val="5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13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7051" y="1138300"/>
            <a:ext cx="371475" cy="285750"/>
          </a:xfrm>
          <a:prstGeom prst="rect">
            <a:avLst/>
          </a:prstGeom>
          <a:solidFill>
            <a:srgbClr val="E7EED6"/>
          </a:solidFill>
          <a:ln w="12700">
            <a:solidFill>
              <a:srgbClr val="8AAB42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60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5421" y="1814448"/>
            <a:ext cx="76200" cy="15620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0386" y="1804923"/>
            <a:ext cx="76200" cy="15608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15235" y="1814448"/>
            <a:ext cx="76200" cy="15608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29610" y="1814448"/>
            <a:ext cx="76200" cy="15608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29610" y="1414525"/>
            <a:ext cx="76200" cy="15595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15235" y="1433575"/>
            <a:ext cx="76200" cy="15595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9911" y="1433575"/>
            <a:ext cx="76200" cy="15595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5960" y="1424050"/>
            <a:ext cx="76200" cy="155956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6415659" y="1446911"/>
            <a:ext cx="2453640" cy="713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Normalize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alignment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to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get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attention</a:t>
            </a:r>
            <a:r>
              <a:rPr sz="1500" b="1" spc="1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weights</a:t>
            </a:r>
            <a:endParaRPr sz="15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1119505" algn="l"/>
              </a:tabLst>
            </a:pPr>
            <a:r>
              <a:rPr sz="1500" dirty="0">
                <a:latin typeface="Arial"/>
                <a:cs typeface="Arial"/>
              </a:rPr>
              <a:t>0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&lt;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425" baseline="-17543" dirty="0">
                <a:latin typeface="Arial"/>
                <a:cs typeface="Arial"/>
              </a:rPr>
              <a:t>t,i</a:t>
            </a:r>
            <a:r>
              <a:rPr sz="1425" spc="24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&lt;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1</a:t>
            </a:r>
            <a:r>
              <a:rPr sz="1500" dirty="0">
                <a:latin typeface="Arial"/>
                <a:cs typeface="Arial"/>
              </a:rPr>
              <a:t>	∑</a:t>
            </a:r>
            <a:r>
              <a:rPr sz="1425" baseline="-17543" dirty="0">
                <a:latin typeface="Arial"/>
                <a:cs typeface="Arial"/>
              </a:rPr>
              <a:t>i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425" baseline="-17543" dirty="0">
                <a:latin typeface="Arial"/>
                <a:cs typeface="Arial"/>
              </a:rPr>
              <a:t>t,i</a:t>
            </a:r>
            <a:r>
              <a:rPr sz="1425" spc="27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=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15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47" name="object 47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513704" y="816292"/>
            <a:ext cx="31064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(scalar)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alignment</a:t>
            </a:r>
            <a:r>
              <a:rPr sz="1500" b="1" spc="-7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488304" y="1083310"/>
            <a:ext cx="130048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50" baseline="11111" dirty="0">
                <a:latin typeface="Arial"/>
                <a:cs typeface="Arial"/>
              </a:rPr>
              <a:t>e</a:t>
            </a:r>
            <a:r>
              <a:rPr sz="950" dirty="0">
                <a:latin typeface="Arial"/>
                <a:cs typeface="Arial"/>
              </a:rPr>
              <a:t>t,i</a:t>
            </a:r>
            <a:r>
              <a:rPr sz="950" spc="210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 f</a:t>
            </a:r>
            <a:r>
              <a:rPr sz="950" dirty="0">
                <a:latin typeface="Arial"/>
                <a:cs typeface="Arial"/>
              </a:rPr>
              <a:t>att</a:t>
            </a:r>
            <a:r>
              <a:rPr sz="2250" baseline="11111" dirty="0">
                <a:latin typeface="Arial"/>
                <a:cs typeface="Arial"/>
              </a:rPr>
              <a:t>(s</a:t>
            </a:r>
            <a:r>
              <a:rPr sz="950" dirty="0">
                <a:latin typeface="Arial"/>
                <a:cs typeface="Arial"/>
              </a:rPr>
              <a:t>t-1</a:t>
            </a:r>
            <a:r>
              <a:rPr sz="2250" baseline="11111" dirty="0">
                <a:latin typeface="Arial"/>
                <a:cs typeface="Arial"/>
              </a:rPr>
              <a:t>,</a:t>
            </a:r>
            <a:r>
              <a:rPr sz="2250" spc="22" baseline="11111" dirty="0">
                <a:latin typeface="Arial"/>
                <a:cs typeface="Arial"/>
              </a:rPr>
              <a:t> </a:t>
            </a:r>
            <a:r>
              <a:rPr sz="2250" spc="-37" baseline="11111" dirty="0">
                <a:latin typeface="Arial"/>
                <a:cs typeface="Arial"/>
              </a:rPr>
              <a:t>h</a:t>
            </a:r>
            <a:r>
              <a:rPr sz="950" spc="-25" dirty="0">
                <a:latin typeface="Arial"/>
                <a:cs typeface="Arial"/>
              </a:rPr>
              <a:t>i</a:t>
            </a:r>
            <a:r>
              <a:rPr sz="2250" spc="-37" baseline="11111" dirty="0">
                <a:latin typeface="Arial"/>
                <a:cs typeface="Arial"/>
              </a:rPr>
              <a:t>)</a:t>
            </a:r>
            <a:endParaRPr sz="2250" baseline="11111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133168" y="1044955"/>
            <a:ext cx="1859914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(f</a:t>
            </a:r>
            <a:r>
              <a:rPr sz="1425" baseline="-17543" dirty="0">
                <a:latin typeface="Arial"/>
                <a:cs typeface="Arial"/>
              </a:rPr>
              <a:t>att</a:t>
            </a:r>
            <a:r>
              <a:rPr sz="1425" spc="21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Linear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Layer)</a:t>
            </a:r>
            <a:endParaRPr sz="15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180714" y="1801812"/>
            <a:ext cx="20269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hidden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state:</a:t>
            </a:r>
            <a:endParaRPr sz="1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180714" y="2031047"/>
            <a:ext cx="19627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s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18100" y="2135822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030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5137" y="2560701"/>
            <a:ext cx="346075" cy="469900"/>
            <a:chOff x="465137" y="2560701"/>
            <a:chExt cx="346075" cy="469900"/>
          </a:xfrm>
        </p:grpSpPr>
        <p:sp>
          <p:nvSpPr>
            <p:cNvPr id="6" name="object 6"/>
            <p:cNvSpPr/>
            <p:nvPr/>
          </p:nvSpPr>
          <p:spPr>
            <a:xfrm>
              <a:off x="47148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148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2925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69987" y="2560701"/>
            <a:ext cx="346075" cy="469900"/>
            <a:chOff x="1169987" y="2560701"/>
            <a:chExt cx="346075" cy="469900"/>
          </a:xfrm>
        </p:grpSpPr>
        <p:sp>
          <p:nvSpPr>
            <p:cNvPr id="10" name="object 10"/>
            <p:cNvSpPr/>
            <p:nvPr/>
          </p:nvSpPr>
          <p:spPr>
            <a:xfrm>
              <a:off x="117633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7633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48663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14" name="object 14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51354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18" name="object 18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79751" y="2560701"/>
            <a:ext cx="336550" cy="469900"/>
            <a:chOff x="2579751" y="2560701"/>
            <a:chExt cx="336550" cy="469900"/>
          </a:xfrm>
        </p:grpSpPr>
        <p:sp>
          <p:nvSpPr>
            <p:cNvPr id="23" name="object 23"/>
            <p:cNvSpPr/>
            <p:nvPr/>
          </p:nvSpPr>
          <p:spPr>
            <a:xfrm>
              <a:off x="2586101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86101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54300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6087" y="1960626"/>
            <a:ext cx="2339975" cy="1482725"/>
            <a:chOff x="446087" y="1960626"/>
            <a:chExt cx="2339975" cy="1482725"/>
          </a:xfrm>
        </p:grpSpPr>
        <p:sp>
          <p:nvSpPr>
            <p:cNvPr id="27" name="object 27"/>
            <p:cNvSpPr/>
            <p:nvPr/>
          </p:nvSpPr>
          <p:spPr>
            <a:xfrm>
              <a:off x="606158" y="2757550"/>
              <a:ext cx="2179955" cy="685800"/>
            </a:xfrm>
            <a:custGeom>
              <a:avLst/>
              <a:gdLst/>
              <a:ahLst/>
              <a:cxnLst/>
              <a:rect l="l" t="t" r="r" b="b"/>
              <a:pathLst>
                <a:path w="2179955" h="685800">
                  <a:moveTo>
                    <a:pt x="76187" y="342138"/>
                  </a:moveTo>
                  <a:lnTo>
                    <a:pt x="69811" y="329946"/>
                  </a:lnTo>
                  <a:lnTo>
                    <a:pt x="36779" y="266700"/>
                  </a:lnTo>
                  <a:lnTo>
                    <a:pt x="0" y="343535"/>
                  </a:lnTo>
                  <a:lnTo>
                    <a:pt x="25387" y="343077"/>
                  </a:lnTo>
                  <a:lnTo>
                    <a:pt x="25171" y="330327"/>
                  </a:lnTo>
                  <a:lnTo>
                    <a:pt x="25374" y="342138"/>
                  </a:lnTo>
                  <a:lnTo>
                    <a:pt x="25387" y="343077"/>
                  </a:lnTo>
                  <a:lnTo>
                    <a:pt x="31267" y="684911"/>
                  </a:lnTo>
                  <a:lnTo>
                    <a:pt x="31280" y="685292"/>
                  </a:lnTo>
                  <a:lnTo>
                    <a:pt x="56680" y="684911"/>
                  </a:lnTo>
                  <a:lnTo>
                    <a:pt x="50800" y="343535"/>
                  </a:lnTo>
                  <a:lnTo>
                    <a:pt x="50787" y="342607"/>
                  </a:lnTo>
                  <a:lnTo>
                    <a:pt x="76187" y="342138"/>
                  </a:lnTo>
                  <a:close/>
                </a:path>
                <a:path w="2179955" h="685800">
                  <a:moveTo>
                    <a:pt x="574306" y="38100"/>
                  </a:moveTo>
                  <a:lnTo>
                    <a:pt x="548906" y="25400"/>
                  </a:lnTo>
                  <a:lnTo>
                    <a:pt x="498106" y="0"/>
                  </a:lnTo>
                  <a:lnTo>
                    <a:pt x="498106" y="25400"/>
                  </a:lnTo>
                  <a:lnTo>
                    <a:pt x="198704" y="25400"/>
                  </a:lnTo>
                  <a:lnTo>
                    <a:pt x="198704" y="50800"/>
                  </a:lnTo>
                  <a:lnTo>
                    <a:pt x="498106" y="50800"/>
                  </a:lnTo>
                  <a:lnTo>
                    <a:pt x="498106" y="76200"/>
                  </a:lnTo>
                  <a:lnTo>
                    <a:pt x="548906" y="50800"/>
                  </a:lnTo>
                  <a:lnTo>
                    <a:pt x="574306" y="38100"/>
                  </a:lnTo>
                  <a:close/>
                </a:path>
                <a:path w="2179955" h="685800">
                  <a:moveTo>
                    <a:pt x="779665" y="342900"/>
                  </a:moveTo>
                  <a:lnTo>
                    <a:pt x="773315" y="330200"/>
                  </a:lnTo>
                  <a:lnTo>
                    <a:pt x="741565" y="266700"/>
                  </a:lnTo>
                  <a:lnTo>
                    <a:pt x="703465" y="342900"/>
                  </a:lnTo>
                  <a:lnTo>
                    <a:pt x="728865" y="342900"/>
                  </a:lnTo>
                  <a:lnTo>
                    <a:pt x="728992" y="685165"/>
                  </a:lnTo>
                  <a:lnTo>
                    <a:pt x="754392" y="685165"/>
                  </a:lnTo>
                  <a:lnTo>
                    <a:pt x="754265" y="342900"/>
                  </a:lnTo>
                  <a:lnTo>
                    <a:pt x="779665" y="342900"/>
                  </a:lnTo>
                  <a:close/>
                </a:path>
                <a:path w="2179955" h="685800">
                  <a:moveTo>
                    <a:pt x="1276489" y="38100"/>
                  </a:moveTo>
                  <a:lnTo>
                    <a:pt x="1251089" y="25400"/>
                  </a:lnTo>
                  <a:lnTo>
                    <a:pt x="1200289" y="0"/>
                  </a:lnTo>
                  <a:lnTo>
                    <a:pt x="1200289" y="25400"/>
                  </a:lnTo>
                  <a:lnTo>
                    <a:pt x="903617" y="25400"/>
                  </a:lnTo>
                  <a:lnTo>
                    <a:pt x="903617" y="50800"/>
                  </a:lnTo>
                  <a:lnTo>
                    <a:pt x="1200289" y="50800"/>
                  </a:lnTo>
                  <a:lnTo>
                    <a:pt x="1200289" y="76200"/>
                  </a:lnTo>
                  <a:lnTo>
                    <a:pt x="1251089" y="50800"/>
                  </a:lnTo>
                  <a:lnTo>
                    <a:pt x="1276489" y="38100"/>
                  </a:lnTo>
                  <a:close/>
                </a:path>
                <a:path w="2179955" h="685800">
                  <a:moveTo>
                    <a:pt x="1474990" y="342900"/>
                  </a:moveTo>
                  <a:lnTo>
                    <a:pt x="1468640" y="330200"/>
                  </a:lnTo>
                  <a:lnTo>
                    <a:pt x="1436890" y="266700"/>
                  </a:lnTo>
                  <a:lnTo>
                    <a:pt x="1398790" y="342900"/>
                  </a:lnTo>
                  <a:lnTo>
                    <a:pt x="1424190" y="342900"/>
                  </a:lnTo>
                  <a:lnTo>
                    <a:pt x="1424317" y="685165"/>
                  </a:lnTo>
                  <a:lnTo>
                    <a:pt x="1449717" y="685165"/>
                  </a:lnTo>
                  <a:lnTo>
                    <a:pt x="1449590" y="342900"/>
                  </a:lnTo>
                  <a:lnTo>
                    <a:pt x="1474990" y="342900"/>
                  </a:lnTo>
                  <a:close/>
                </a:path>
                <a:path w="2179955" h="685800">
                  <a:moveTo>
                    <a:pt x="1981339" y="38100"/>
                  </a:moveTo>
                  <a:lnTo>
                    <a:pt x="1955939" y="25400"/>
                  </a:lnTo>
                  <a:lnTo>
                    <a:pt x="1905139" y="0"/>
                  </a:lnTo>
                  <a:lnTo>
                    <a:pt x="1905139" y="25400"/>
                  </a:lnTo>
                  <a:lnTo>
                    <a:pt x="1608340" y="25400"/>
                  </a:lnTo>
                  <a:lnTo>
                    <a:pt x="1608340" y="50800"/>
                  </a:lnTo>
                  <a:lnTo>
                    <a:pt x="1905139" y="50800"/>
                  </a:lnTo>
                  <a:lnTo>
                    <a:pt x="1905139" y="76200"/>
                  </a:lnTo>
                  <a:lnTo>
                    <a:pt x="1955939" y="50800"/>
                  </a:lnTo>
                  <a:lnTo>
                    <a:pt x="1981339" y="38100"/>
                  </a:lnTo>
                  <a:close/>
                </a:path>
                <a:path w="2179955" h="685800">
                  <a:moveTo>
                    <a:pt x="2179840" y="342900"/>
                  </a:moveTo>
                  <a:lnTo>
                    <a:pt x="2173490" y="330200"/>
                  </a:lnTo>
                  <a:lnTo>
                    <a:pt x="2141740" y="266700"/>
                  </a:lnTo>
                  <a:lnTo>
                    <a:pt x="2103640" y="342900"/>
                  </a:lnTo>
                  <a:lnTo>
                    <a:pt x="2129040" y="342900"/>
                  </a:lnTo>
                  <a:lnTo>
                    <a:pt x="2129167" y="685165"/>
                  </a:lnTo>
                  <a:lnTo>
                    <a:pt x="2154567" y="685165"/>
                  </a:lnTo>
                  <a:lnTo>
                    <a:pt x="2154440" y="342900"/>
                  </a:lnTo>
                  <a:lnTo>
                    <a:pt x="2179840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43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43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21652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50937" y="1960626"/>
            <a:ext cx="384175" cy="298450"/>
            <a:chOff x="1150937" y="1960626"/>
            <a:chExt cx="384175" cy="298450"/>
          </a:xfrm>
        </p:grpSpPr>
        <p:sp>
          <p:nvSpPr>
            <p:cNvPr id="32" name="object 32"/>
            <p:cNvSpPr/>
            <p:nvPr/>
          </p:nvSpPr>
          <p:spPr>
            <a:xfrm>
              <a:off x="115728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5728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27137" y="2047494"/>
            <a:ext cx="235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846326" y="1960626"/>
            <a:ext cx="393700" cy="298450"/>
            <a:chOff x="1846326" y="1960626"/>
            <a:chExt cx="393700" cy="298450"/>
          </a:xfrm>
        </p:grpSpPr>
        <p:sp>
          <p:nvSpPr>
            <p:cNvPr id="36" name="object 36"/>
            <p:cNvSpPr/>
            <p:nvPr/>
          </p:nvSpPr>
          <p:spPr>
            <a:xfrm>
              <a:off x="185267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5267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931035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551176" y="1960626"/>
            <a:ext cx="393700" cy="298450"/>
            <a:chOff x="2551176" y="1960626"/>
            <a:chExt cx="393700" cy="298450"/>
          </a:xfrm>
        </p:grpSpPr>
        <p:sp>
          <p:nvSpPr>
            <p:cNvPr id="40" name="object 40"/>
            <p:cNvSpPr/>
            <p:nvPr/>
          </p:nvSpPr>
          <p:spPr>
            <a:xfrm>
              <a:off x="255752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5752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633091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46087" y="1131950"/>
            <a:ext cx="3940810" cy="1450340"/>
            <a:chOff x="446087" y="1131950"/>
            <a:chExt cx="3940810" cy="1450340"/>
          </a:xfrm>
        </p:grpSpPr>
        <p:sp>
          <p:nvSpPr>
            <p:cNvPr id="44" name="object 44"/>
            <p:cNvSpPr/>
            <p:nvPr/>
          </p:nvSpPr>
          <p:spPr>
            <a:xfrm>
              <a:off x="604837" y="2252725"/>
              <a:ext cx="76200" cy="314325"/>
            </a:xfrm>
            <a:custGeom>
              <a:avLst/>
              <a:gdLst/>
              <a:ahLst/>
              <a:cxnLst/>
              <a:rect l="l" t="t" r="r" b="b"/>
              <a:pathLst>
                <a:path w="76200" h="314325">
                  <a:moveTo>
                    <a:pt x="50800" y="63500"/>
                  </a:moveTo>
                  <a:lnTo>
                    <a:pt x="25400" y="635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63500"/>
                  </a:lnTo>
                  <a:close/>
                </a:path>
                <a:path w="76200" h="314325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4325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7237" y="2490850"/>
              <a:ext cx="3616960" cy="78740"/>
            </a:xfrm>
            <a:custGeom>
              <a:avLst/>
              <a:gdLst/>
              <a:ahLst/>
              <a:cxnLst/>
              <a:rect l="l" t="t" r="r" b="b"/>
              <a:pathLst>
                <a:path w="3616960" h="78739">
                  <a:moveTo>
                    <a:pt x="3616769" y="78486"/>
                  </a:moveTo>
                  <a:lnTo>
                    <a:pt x="361676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37" y="2252598"/>
              <a:ext cx="76200" cy="23596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309624" y="2252725"/>
              <a:ext cx="1477010" cy="314325"/>
            </a:xfrm>
            <a:custGeom>
              <a:avLst/>
              <a:gdLst/>
              <a:ahLst/>
              <a:cxnLst/>
              <a:rect l="l" t="t" r="r" b="b"/>
              <a:pathLst>
                <a:path w="1477010" h="31432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527" y="314325"/>
                  </a:lnTo>
                  <a:lnTo>
                    <a:pt x="50927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1477010" h="314325">
                  <a:moveTo>
                    <a:pt x="772287" y="76200"/>
                  </a:moveTo>
                  <a:lnTo>
                    <a:pt x="765975" y="63500"/>
                  </a:lnTo>
                  <a:lnTo>
                    <a:pt x="734441" y="0"/>
                  </a:lnTo>
                  <a:lnTo>
                    <a:pt x="696010" y="76200"/>
                  </a:lnTo>
                  <a:lnTo>
                    <a:pt x="721436" y="76200"/>
                  </a:lnTo>
                  <a:lnTo>
                    <a:pt x="720852" y="314325"/>
                  </a:lnTo>
                  <a:lnTo>
                    <a:pt x="746252" y="314325"/>
                  </a:lnTo>
                  <a:lnTo>
                    <a:pt x="746848" y="76200"/>
                  </a:lnTo>
                  <a:lnTo>
                    <a:pt x="772287" y="76200"/>
                  </a:lnTo>
                  <a:close/>
                </a:path>
                <a:path w="1477010" h="314325">
                  <a:moveTo>
                    <a:pt x="1476502" y="76200"/>
                  </a:moveTo>
                  <a:lnTo>
                    <a:pt x="1470126" y="63500"/>
                  </a:lnTo>
                  <a:lnTo>
                    <a:pt x="1438275" y="0"/>
                  </a:lnTo>
                  <a:lnTo>
                    <a:pt x="1400302" y="76200"/>
                  </a:lnTo>
                  <a:lnTo>
                    <a:pt x="1425575" y="76200"/>
                  </a:lnTo>
                  <a:lnTo>
                    <a:pt x="1425702" y="314325"/>
                  </a:lnTo>
                  <a:lnTo>
                    <a:pt x="1451102" y="314325"/>
                  </a:lnTo>
                  <a:lnTo>
                    <a:pt x="1450975" y="76200"/>
                  </a:lnTo>
                  <a:lnTo>
                    <a:pt x="1476502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773" y="2252598"/>
              <a:ext cx="76200" cy="23596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4399" y="2243073"/>
              <a:ext cx="76200" cy="23596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4226" y="2243073"/>
              <a:ext cx="76200" cy="23596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52437" y="1576450"/>
              <a:ext cx="2486025" cy="238125"/>
            </a:xfrm>
            <a:custGeom>
              <a:avLst/>
              <a:gdLst/>
              <a:ahLst/>
              <a:cxnLst/>
              <a:rect l="l" t="t" r="r" b="b"/>
              <a:pathLst>
                <a:path w="2486025" h="238125">
                  <a:moveTo>
                    <a:pt x="0" y="238125"/>
                  </a:moveTo>
                  <a:lnTo>
                    <a:pt x="2486025" y="238125"/>
                  </a:lnTo>
                  <a:lnTo>
                    <a:pt x="24860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5243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243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5728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5728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852675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852675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57526" y="113830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57526" y="113830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83552" y="1228661"/>
            <a:ext cx="242316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704850" algn="l"/>
                <a:tab pos="1408430" algn="l"/>
                <a:tab pos="2111375" algn="l"/>
              </a:tabLst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11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12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13</a:t>
            </a:r>
            <a:r>
              <a:rPr sz="900" baseline="4629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14</a:t>
            </a:r>
            <a:endParaRPr sz="900" baseline="4629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6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81000" y="780986"/>
            <a:ext cx="5050155" cy="2135505"/>
            <a:chOff x="381000" y="780986"/>
            <a:chExt cx="5050155" cy="2135505"/>
          </a:xfrm>
        </p:grpSpPr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896" y="1814448"/>
              <a:ext cx="76200" cy="15620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0386" y="1804923"/>
              <a:ext cx="76200" cy="15608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5235" y="1814448"/>
              <a:ext cx="76200" cy="15608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9610" y="1814448"/>
              <a:ext cx="76200" cy="15608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29610" y="1414525"/>
              <a:ext cx="76200" cy="15595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15235" y="1433575"/>
              <a:ext cx="76200" cy="15595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9911" y="1433575"/>
              <a:ext cx="76200" cy="15595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5960" y="1424050"/>
              <a:ext cx="76200" cy="15595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000" y="780986"/>
              <a:ext cx="500062" cy="40481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157851" y="268135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228600"/>
                  </a:moveTo>
                  <a:lnTo>
                    <a:pt x="266700" y="228600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5624576" y="3443287"/>
            <a:ext cx="304800" cy="4476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221604" y="2657792"/>
            <a:ext cx="137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Arial"/>
                <a:cs typeface="Arial"/>
              </a:rPr>
              <a:t>+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30187" y="753998"/>
            <a:ext cx="5393055" cy="2953385"/>
            <a:chOff x="230187" y="753998"/>
            <a:chExt cx="5393055" cy="2953385"/>
          </a:xfrm>
        </p:grpSpPr>
        <p:pic>
          <p:nvPicPr>
            <p:cNvPr id="75" name="object 7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5375" y="780986"/>
              <a:ext cx="500062" cy="40481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0225" y="780986"/>
              <a:ext cx="490537" cy="40481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5550" y="790511"/>
              <a:ext cx="500062" cy="404812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230187" y="962913"/>
              <a:ext cx="2425700" cy="1849120"/>
            </a:xfrm>
            <a:custGeom>
              <a:avLst/>
              <a:gdLst/>
              <a:ahLst/>
              <a:cxnLst/>
              <a:rect l="l" t="t" r="r" b="b"/>
              <a:pathLst>
                <a:path w="2425700" h="1849120">
                  <a:moveTo>
                    <a:pt x="304927" y="3810"/>
                  </a:moveTo>
                  <a:lnTo>
                    <a:pt x="219748" y="2159"/>
                  </a:lnTo>
                  <a:lnTo>
                    <a:pt x="231622" y="27203"/>
                  </a:lnTo>
                  <a:lnTo>
                    <a:pt x="216027" y="38989"/>
                  </a:lnTo>
                  <a:lnTo>
                    <a:pt x="215265" y="39497"/>
                  </a:lnTo>
                  <a:lnTo>
                    <a:pt x="214579" y="40259"/>
                  </a:lnTo>
                  <a:lnTo>
                    <a:pt x="213956" y="40894"/>
                  </a:lnTo>
                  <a:lnTo>
                    <a:pt x="186893" y="75565"/>
                  </a:lnTo>
                  <a:lnTo>
                    <a:pt x="161175" y="117983"/>
                  </a:lnTo>
                  <a:lnTo>
                    <a:pt x="136575" y="167640"/>
                  </a:lnTo>
                  <a:lnTo>
                    <a:pt x="113436" y="223901"/>
                  </a:lnTo>
                  <a:lnTo>
                    <a:pt x="91909" y="286004"/>
                  </a:lnTo>
                  <a:lnTo>
                    <a:pt x="72021" y="353441"/>
                  </a:lnTo>
                  <a:lnTo>
                    <a:pt x="54203" y="425450"/>
                  </a:lnTo>
                  <a:lnTo>
                    <a:pt x="46050" y="463042"/>
                  </a:lnTo>
                  <a:lnTo>
                    <a:pt x="38582" y="501523"/>
                  </a:lnTo>
                  <a:lnTo>
                    <a:pt x="31584" y="540766"/>
                  </a:lnTo>
                  <a:lnTo>
                    <a:pt x="25273" y="580898"/>
                  </a:lnTo>
                  <a:lnTo>
                    <a:pt x="19519" y="621665"/>
                  </a:lnTo>
                  <a:lnTo>
                    <a:pt x="14541" y="662940"/>
                  </a:lnTo>
                  <a:lnTo>
                    <a:pt x="10236" y="704723"/>
                  </a:lnTo>
                  <a:lnTo>
                    <a:pt x="6604" y="747014"/>
                  </a:lnTo>
                  <a:lnTo>
                    <a:pt x="3733" y="789686"/>
                  </a:lnTo>
                  <a:lnTo>
                    <a:pt x="1714" y="832485"/>
                  </a:lnTo>
                  <a:lnTo>
                    <a:pt x="368" y="875665"/>
                  </a:lnTo>
                  <a:lnTo>
                    <a:pt x="0" y="918464"/>
                  </a:lnTo>
                  <a:lnTo>
                    <a:pt x="279" y="960882"/>
                  </a:lnTo>
                  <a:lnTo>
                    <a:pt x="1320" y="1003554"/>
                  </a:lnTo>
                  <a:lnTo>
                    <a:pt x="2908" y="1045972"/>
                  </a:lnTo>
                  <a:lnTo>
                    <a:pt x="5080" y="1088136"/>
                  </a:lnTo>
                  <a:lnTo>
                    <a:pt x="7950" y="1132078"/>
                  </a:lnTo>
                  <a:lnTo>
                    <a:pt x="11391" y="1173734"/>
                  </a:lnTo>
                  <a:lnTo>
                    <a:pt x="15316" y="1215136"/>
                  </a:lnTo>
                  <a:lnTo>
                    <a:pt x="19723" y="1255776"/>
                  </a:lnTo>
                  <a:lnTo>
                    <a:pt x="24701" y="1295908"/>
                  </a:lnTo>
                  <a:lnTo>
                    <a:pt x="30149" y="1335151"/>
                  </a:lnTo>
                  <a:lnTo>
                    <a:pt x="36080" y="1373632"/>
                  </a:lnTo>
                  <a:lnTo>
                    <a:pt x="49212" y="1447673"/>
                  </a:lnTo>
                  <a:lnTo>
                    <a:pt x="63881" y="1517396"/>
                  </a:lnTo>
                  <a:lnTo>
                    <a:pt x="80111" y="1582166"/>
                  </a:lnTo>
                  <a:lnTo>
                    <a:pt x="97624" y="1641348"/>
                  </a:lnTo>
                  <a:lnTo>
                    <a:pt x="116293" y="1694307"/>
                  </a:lnTo>
                  <a:lnTo>
                    <a:pt x="136042" y="1740408"/>
                  </a:lnTo>
                  <a:lnTo>
                    <a:pt x="156870" y="1779143"/>
                  </a:lnTo>
                  <a:lnTo>
                    <a:pt x="184289" y="1816100"/>
                  </a:lnTo>
                  <a:lnTo>
                    <a:pt x="214871" y="1839468"/>
                  </a:lnTo>
                  <a:lnTo>
                    <a:pt x="240626" y="1845691"/>
                  </a:lnTo>
                  <a:lnTo>
                    <a:pt x="241884" y="1821942"/>
                  </a:lnTo>
                  <a:lnTo>
                    <a:pt x="241973" y="1820418"/>
                  </a:lnTo>
                  <a:lnTo>
                    <a:pt x="207086" y="1803019"/>
                  </a:lnTo>
                  <a:lnTo>
                    <a:pt x="178092" y="1765173"/>
                  </a:lnTo>
                  <a:lnTo>
                    <a:pt x="158724" y="1728978"/>
                  </a:lnTo>
                  <a:lnTo>
                    <a:pt x="139801" y="1684655"/>
                  </a:lnTo>
                  <a:lnTo>
                    <a:pt x="121704" y="1633220"/>
                  </a:lnTo>
                  <a:lnTo>
                    <a:pt x="104546" y="1575308"/>
                  </a:lnTo>
                  <a:lnTo>
                    <a:pt x="88582" y="1511427"/>
                  </a:lnTo>
                  <a:lnTo>
                    <a:pt x="74104" y="1442593"/>
                  </a:lnTo>
                  <a:lnTo>
                    <a:pt x="61137" y="1369314"/>
                  </a:lnTo>
                  <a:lnTo>
                    <a:pt x="55257" y="1331214"/>
                  </a:lnTo>
                  <a:lnTo>
                    <a:pt x="49847" y="1292352"/>
                  </a:lnTo>
                  <a:lnTo>
                    <a:pt x="44919" y="1252601"/>
                  </a:lnTo>
                  <a:lnTo>
                    <a:pt x="40563" y="1212342"/>
                  </a:lnTo>
                  <a:lnTo>
                    <a:pt x="36677" y="1171448"/>
                  </a:lnTo>
                  <a:lnTo>
                    <a:pt x="33261" y="1130046"/>
                  </a:lnTo>
                  <a:lnTo>
                    <a:pt x="30619" y="1089787"/>
                  </a:lnTo>
                  <a:lnTo>
                    <a:pt x="28397" y="1047369"/>
                  </a:lnTo>
                  <a:lnTo>
                    <a:pt x="26746" y="1004443"/>
                  </a:lnTo>
                  <a:lnTo>
                    <a:pt x="25692" y="961517"/>
                  </a:lnTo>
                  <a:lnTo>
                    <a:pt x="25400" y="918464"/>
                  </a:lnTo>
                  <a:lnTo>
                    <a:pt x="25781" y="875665"/>
                  </a:lnTo>
                  <a:lnTo>
                    <a:pt x="27114" y="833247"/>
                  </a:lnTo>
                  <a:lnTo>
                    <a:pt x="29095" y="790829"/>
                  </a:lnTo>
                  <a:lnTo>
                    <a:pt x="31940" y="748665"/>
                  </a:lnTo>
                  <a:lnTo>
                    <a:pt x="35547" y="707009"/>
                  </a:lnTo>
                  <a:lnTo>
                    <a:pt x="39814" y="665480"/>
                  </a:lnTo>
                  <a:lnTo>
                    <a:pt x="44742" y="624713"/>
                  </a:lnTo>
                  <a:lnTo>
                    <a:pt x="50419" y="584327"/>
                  </a:lnTo>
                  <a:lnTo>
                    <a:pt x="56680" y="544830"/>
                  </a:lnTo>
                  <a:lnTo>
                    <a:pt x="63588" y="505968"/>
                  </a:lnTo>
                  <a:lnTo>
                    <a:pt x="70980" y="467868"/>
                  </a:lnTo>
                  <a:lnTo>
                    <a:pt x="87630" y="394716"/>
                  </a:lnTo>
                  <a:lnTo>
                    <a:pt x="106172" y="325882"/>
                  </a:lnTo>
                  <a:lnTo>
                    <a:pt x="126568" y="262255"/>
                  </a:lnTo>
                  <a:lnTo>
                    <a:pt x="148437" y="204216"/>
                  </a:lnTo>
                  <a:lnTo>
                    <a:pt x="171627" y="152781"/>
                  </a:lnTo>
                  <a:lnTo>
                    <a:pt x="195922" y="108458"/>
                  </a:lnTo>
                  <a:lnTo>
                    <a:pt x="220789" y="72263"/>
                  </a:lnTo>
                  <a:lnTo>
                    <a:pt x="242760" y="50673"/>
                  </a:lnTo>
                  <a:lnTo>
                    <a:pt x="252412" y="70993"/>
                  </a:lnTo>
                  <a:lnTo>
                    <a:pt x="291515" y="20955"/>
                  </a:lnTo>
                  <a:lnTo>
                    <a:pt x="304927" y="3810"/>
                  </a:lnTo>
                  <a:close/>
                </a:path>
                <a:path w="2425700" h="1849120">
                  <a:moveTo>
                    <a:pt x="1021207" y="3810"/>
                  </a:moveTo>
                  <a:lnTo>
                    <a:pt x="936104" y="0"/>
                  </a:lnTo>
                  <a:lnTo>
                    <a:pt x="946581" y="23583"/>
                  </a:lnTo>
                  <a:lnTo>
                    <a:pt x="945159" y="24257"/>
                  </a:lnTo>
                  <a:lnTo>
                    <a:pt x="913104" y="57150"/>
                  </a:lnTo>
                  <a:lnTo>
                    <a:pt x="885634" y="95758"/>
                  </a:lnTo>
                  <a:lnTo>
                    <a:pt x="859396" y="141986"/>
                  </a:lnTo>
                  <a:lnTo>
                    <a:pt x="834580" y="195199"/>
                  </a:lnTo>
                  <a:lnTo>
                    <a:pt x="811377" y="254508"/>
                  </a:lnTo>
                  <a:lnTo>
                    <a:pt x="789851" y="319532"/>
                  </a:lnTo>
                  <a:lnTo>
                    <a:pt x="770178" y="389382"/>
                  </a:lnTo>
                  <a:lnTo>
                    <a:pt x="752729" y="463677"/>
                  </a:lnTo>
                  <a:lnTo>
                    <a:pt x="744867" y="502285"/>
                  </a:lnTo>
                  <a:lnTo>
                    <a:pt x="737692" y="541655"/>
                  </a:lnTo>
                  <a:lnTo>
                    <a:pt x="731075" y="581787"/>
                  </a:lnTo>
                  <a:lnTo>
                    <a:pt x="725144" y="622554"/>
                  </a:lnTo>
                  <a:lnTo>
                    <a:pt x="719975" y="664083"/>
                  </a:lnTo>
                  <a:lnTo>
                    <a:pt x="715467" y="705866"/>
                  </a:lnTo>
                  <a:lnTo>
                    <a:pt x="711733" y="748284"/>
                  </a:lnTo>
                  <a:lnTo>
                    <a:pt x="708774" y="790829"/>
                  </a:lnTo>
                  <a:lnTo>
                    <a:pt x="706564" y="833755"/>
                  </a:lnTo>
                  <a:lnTo>
                    <a:pt x="705332" y="876935"/>
                  </a:lnTo>
                  <a:lnTo>
                    <a:pt x="704850" y="919619"/>
                  </a:lnTo>
                  <a:lnTo>
                    <a:pt x="705129" y="962152"/>
                  </a:lnTo>
                  <a:lnTo>
                    <a:pt x="706170" y="1004824"/>
                  </a:lnTo>
                  <a:lnTo>
                    <a:pt x="707771" y="1047496"/>
                  </a:lnTo>
                  <a:lnTo>
                    <a:pt x="709930" y="1089787"/>
                  </a:lnTo>
                  <a:lnTo>
                    <a:pt x="712800" y="1133729"/>
                  </a:lnTo>
                  <a:lnTo>
                    <a:pt x="716241" y="1175512"/>
                  </a:lnTo>
                  <a:lnTo>
                    <a:pt x="720166" y="1216914"/>
                  </a:lnTo>
                  <a:lnTo>
                    <a:pt x="724573" y="1257681"/>
                  </a:lnTo>
                  <a:lnTo>
                    <a:pt x="729538" y="1297813"/>
                  </a:lnTo>
                  <a:lnTo>
                    <a:pt x="734999" y="1337056"/>
                  </a:lnTo>
                  <a:lnTo>
                    <a:pt x="740930" y="1375664"/>
                  </a:lnTo>
                  <a:lnTo>
                    <a:pt x="747255" y="1413383"/>
                  </a:lnTo>
                  <a:lnTo>
                    <a:pt x="761238" y="1485265"/>
                  </a:lnTo>
                  <a:lnTo>
                    <a:pt x="776693" y="1552829"/>
                  </a:lnTo>
                  <a:lnTo>
                    <a:pt x="793521" y="1615059"/>
                  </a:lnTo>
                  <a:lnTo>
                    <a:pt x="811657" y="1671320"/>
                  </a:lnTo>
                  <a:lnTo>
                    <a:pt x="830922" y="1720977"/>
                  </a:lnTo>
                  <a:lnTo>
                    <a:pt x="851192" y="1763522"/>
                  </a:lnTo>
                  <a:lnTo>
                    <a:pt x="872540" y="1798447"/>
                  </a:lnTo>
                  <a:lnTo>
                    <a:pt x="900988" y="1830197"/>
                  </a:lnTo>
                  <a:lnTo>
                    <a:pt x="939914" y="1848231"/>
                  </a:lnTo>
                  <a:lnTo>
                    <a:pt x="945248" y="1848612"/>
                  </a:lnTo>
                  <a:lnTo>
                    <a:pt x="946937" y="1824863"/>
                  </a:lnTo>
                  <a:lnTo>
                    <a:pt x="947051" y="1823339"/>
                  </a:lnTo>
                  <a:lnTo>
                    <a:pt x="911936" y="1805940"/>
                  </a:lnTo>
                  <a:lnTo>
                    <a:pt x="882942" y="1768094"/>
                  </a:lnTo>
                  <a:lnTo>
                    <a:pt x="863561" y="1731772"/>
                  </a:lnTo>
                  <a:lnTo>
                    <a:pt x="844664" y="1687449"/>
                  </a:lnTo>
                  <a:lnTo>
                    <a:pt x="826554" y="1635887"/>
                  </a:lnTo>
                  <a:lnTo>
                    <a:pt x="809409" y="1577721"/>
                  </a:lnTo>
                  <a:lnTo>
                    <a:pt x="793432" y="1513840"/>
                  </a:lnTo>
                  <a:lnTo>
                    <a:pt x="778954" y="1444879"/>
                  </a:lnTo>
                  <a:lnTo>
                    <a:pt x="765987" y="1371473"/>
                  </a:lnTo>
                  <a:lnTo>
                    <a:pt x="760107" y="1333246"/>
                  </a:lnTo>
                  <a:lnTo>
                    <a:pt x="754710" y="1294257"/>
                  </a:lnTo>
                  <a:lnTo>
                    <a:pt x="749769" y="1254506"/>
                  </a:lnTo>
                  <a:lnTo>
                    <a:pt x="745413" y="1214247"/>
                  </a:lnTo>
                  <a:lnTo>
                    <a:pt x="741527" y="1173099"/>
                  </a:lnTo>
                  <a:lnTo>
                    <a:pt x="738111" y="1131697"/>
                  </a:lnTo>
                  <a:lnTo>
                    <a:pt x="735469" y="1091438"/>
                  </a:lnTo>
                  <a:lnTo>
                    <a:pt x="733247" y="1048766"/>
                  </a:lnTo>
                  <a:lnTo>
                    <a:pt x="731608" y="1005840"/>
                  </a:lnTo>
                  <a:lnTo>
                    <a:pt x="730542" y="962787"/>
                  </a:lnTo>
                  <a:lnTo>
                    <a:pt x="730250" y="919619"/>
                  </a:lnTo>
                  <a:lnTo>
                    <a:pt x="730719" y="877189"/>
                  </a:lnTo>
                  <a:lnTo>
                    <a:pt x="731964" y="834517"/>
                  </a:lnTo>
                  <a:lnTo>
                    <a:pt x="734136" y="792099"/>
                  </a:lnTo>
                  <a:lnTo>
                    <a:pt x="737082" y="749935"/>
                  </a:lnTo>
                  <a:lnTo>
                    <a:pt x="740778" y="708152"/>
                  </a:lnTo>
                  <a:lnTo>
                    <a:pt x="745223" y="666750"/>
                  </a:lnTo>
                  <a:lnTo>
                    <a:pt x="750341" y="625729"/>
                  </a:lnTo>
                  <a:lnTo>
                    <a:pt x="756221" y="585343"/>
                  </a:lnTo>
                  <a:lnTo>
                    <a:pt x="762749" y="545719"/>
                  </a:lnTo>
                  <a:lnTo>
                    <a:pt x="769861" y="506730"/>
                  </a:lnTo>
                  <a:lnTo>
                    <a:pt x="777621" y="468757"/>
                  </a:lnTo>
                  <a:lnTo>
                    <a:pt x="785952" y="431546"/>
                  </a:lnTo>
                  <a:lnTo>
                    <a:pt x="804291" y="360426"/>
                  </a:lnTo>
                  <a:lnTo>
                    <a:pt x="824534" y="294005"/>
                  </a:lnTo>
                  <a:lnTo>
                    <a:pt x="846505" y="233045"/>
                  </a:lnTo>
                  <a:lnTo>
                    <a:pt x="870013" y="178181"/>
                  </a:lnTo>
                  <a:lnTo>
                    <a:pt x="894651" y="130048"/>
                  </a:lnTo>
                  <a:lnTo>
                    <a:pt x="920254" y="89535"/>
                  </a:lnTo>
                  <a:lnTo>
                    <a:pt x="946416" y="57404"/>
                  </a:lnTo>
                  <a:lnTo>
                    <a:pt x="957059" y="47167"/>
                  </a:lnTo>
                  <a:lnTo>
                    <a:pt x="967092" y="69723"/>
                  </a:lnTo>
                  <a:lnTo>
                    <a:pt x="1009319" y="18288"/>
                  </a:lnTo>
                  <a:lnTo>
                    <a:pt x="1021207" y="3810"/>
                  </a:lnTo>
                  <a:close/>
                </a:path>
                <a:path w="2425700" h="1849120">
                  <a:moveTo>
                    <a:pt x="1725104" y="3810"/>
                  </a:moveTo>
                  <a:lnTo>
                    <a:pt x="1640014" y="254"/>
                  </a:lnTo>
                  <a:lnTo>
                    <a:pt x="1650492" y="23672"/>
                  </a:lnTo>
                  <a:lnTo>
                    <a:pt x="1649285" y="24257"/>
                  </a:lnTo>
                  <a:lnTo>
                    <a:pt x="1617281" y="57150"/>
                  </a:lnTo>
                  <a:lnTo>
                    <a:pt x="1589849" y="95885"/>
                  </a:lnTo>
                  <a:lnTo>
                    <a:pt x="1563814" y="141986"/>
                  </a:lnTo>
                  <a:lnTo>
                    <a:pt x="1539049" y="195199"/>
                  </a:lnTo>
                  <a:lnTo>
                    <a:pt x="1515808" y="254508"/>
                  </a:lnTo>
                  <a:lnTo>
                    <a:pt x="1494472" y="319532"/>
                  </a:lnTo>
                  <a:lnTo>
                    <a:pt x="1474787" y="389382"/>
                  </a:lnTo>
                  <a:lnTo>
                    <a:pt x="1457515" y="463677"/>
                  </a:lnTo>
                  <a:lnTo>
                    <a:pt x="1449641" y="502285"/>
                  </a:lnTo>
                  <a:lnTo>
                    <a:pt x="1442402" y="541655"/>
                  </a:lnTo>
                  <a:lnTo>
                    <a:pt x="1435798" y="581787"/>
                  </a:lnTo>
                  <a:lnTo>
                    <a:pt x="1429956" y="622554"/>
                  </a:lnTo>
                  <a:lnTo>
                    <a:pt x="1424749" y="664083"/>
                  </a:lnTo>
                  <a:lnTo>
                    <a:pt x="1420164" y="705866"/>
                  </a:lnTo>
                  <a:lnTo>
                    <a:pt x="1416494" y="748284"/>
                  </a:lnTo>
                  <a:lnTo>
                    <a:pt x="1413573" y="790829"/>
                  </a:lnTo>
                  <a:lnTo>
                    <a:pt x="1411401" y="833755"/>
                  </a:lnTo>
                  <a:lnTo>
                    <a:pt x="1410144" y="876935"/>
                  </a:lnTo>
                  <a:lnTo>
                    <a:pt x="1409763" y="919619"/>
                  </a:lnTo>
                  <a:lnTo>
                    <a:pt x="1410004" y="962152"/>
                  </a:lnTo>
                  <a:lnTo>
                    <a:pt x="1411008" y="1004824"/>
                  </a:lnTo>
                  <a:lnTo>
                    <a:pt x="1411020" y="1005840"/>
                  </a:lnTo>
                  <a:lnTo>
                    <a:pt x="1412633" y="1047496"/>
                  </a:lnTo>
                  <a:lnTo>
                    <a:pt x="1414754" y="1089787"/>
                  </a:lnTo>
                  <a:lnTo>
                    <a:pt x="1417637" y="1133729"/>
                  </a:lnTo>
                  <a:lnTo>
                    <a:pt x="1421066" y="1175512"/>
                  </a:lnTo>
                  <a:lnTo>
                    <a:pt x="1425003" y="1216914"/>
                  </a:lnTo>
                  <a:lnTo>
                    <a:pt x="1429448" y="1257681"/>
                  </a:lnTo>
                  <a:lnTo>
                    <a:pt x="1434401" y="1297813"/>
                  </a:lnTo>
                  <a:lnTo>
                    <a:pt x="1439862" y="1337056"/>
                  </a:lnTo>
                  <a:lnTo>
                    <a:pt x="1445831" y="1375664"/>
                  </a:lnTo>
                  <a:lnTo>
                    <a:pt x="1452054" y="1413383"/>
                  </a:lnTo>
                  <a:lnTo>
                    <a:pt x="1466151" y="1485265"/>
                  </a:lnTo>
                  <a:lnTo>
                    <a:pt x="1481518" y="1552829"/>
                  </a:lnTo>
                  <a:lnTo>
                    <a:pt x="1498409" y="1615059"/>
                  </a:lnTo>
                  <a:lnTo>
                    <a:pt x="1516443" y="1671320"/>
                  </a:lnTo>
                  <a:lnTo>
                    <a:pt x="1535747" y="1720977"/>
                  </a:lnTo>
                  <a:lnTo>
                    <a:pt x="1556067" y="1763522"/>
                  </a:lnTo>
                  <a:lnTo>
                    <a:pt x="1577403" y="1798447"/>
                  </a:lnTo>
                  <a:lnTo>
                    <a:pt x="1605851" y="1830197"/>
                  </a:lnTo>
                  <a:lnTo>
                    <a:pt x="1644713" y="1848231"/>
                  </a:lnTo>
                  <a:lnTo>
                    <a:pt x="1650047" y="1848612"/>
                  </a:lnTo>
                  <a:lnTo>
                    <a:pt x="1651825" y="1824863"/>
                  </a:lnTo>
                  <a:lnTo>
                    <a:pt x="1651952" y="1823339"/>
                  </a:lnTo>
                  <a:lnTo>
                    <a:pt x="1616773" y="1805940"/>
                  </a:lnTo>
                  <a:lnTo>
                    <a:pt x="1587817" y="1768094"/>
                  </a:lnTo>
                  <a:lnTo>
                    <a:pt x="1568386" y="1731772"/>
                  </a:lnTo>
                  <a:lnTo>
                    <a:pt x="1549463" y="1687449"/>
                  </a:lnTo>
                  <a:lnTo>
                    <a:pt x="1531429" y="1635887"/>
                  </a:lnTo>
                  <a:lnTo>
                    <a:pt x="1514284" y="1577721"/>
                  </a:lnTo>
                  <a:lnTo>
                    <a:pt x="1498282" y="1513840"/>
                  </a:lnTo>
                  <a:lnTo>
                    <a:pt x="1483804" y="1444879"/>
                  </a:lnTo>
                  <a:lnTo>
                    <a:pt x="1470850" y="1371473"/>
                  </a:lnTo>
                  <a:lnTo>
                    <a:pt x="1465008" y="1333246"/>
                  </a:lnTo>
                  <a:lnTo>
                    <a:pt x="1459547" y="1294257"/>
                  </a:lnTo>
                  <a:lnTo>
                    <a:pt x="1454594" y="1254506"/>
                  </a:lnTo>
                  <a:lnTo>
                    <a:pt x="1450276" y="1214247"/>
                  </a:lnTo>
                  <a:lnTo>
                    <a:pt x="1446339" y="1173099"/>
                  </a:lnTo>
                  <a:lnTo>
                    <a:pt x="1442910" y="1131697"/>
                  </a:lnTo>
                  <a:lnTo>
                    <a:pt x="1440345" y="1091438"/>
                  </a:lnTo>
                  <a:lnTo>
                    <a:pt x="1438148" y="1048766"/>
                  </a:lnTo>
                  <a:lnTo>
                    <a:pt x="1436471" y="1005840"/>
                  </a:lnTo>
                  <a:lnTo>
                    <a:pt x="1435430" y="962787"/>
                  </a:lnTo>
                  <a:lnTo>
                    <a:pt x="1435036" y="919619"/>
                  </a:lnTo>
                  <a:lnTo>
                    <a:pt x="1435544" y="877189"/>
                  </a:lnTo>
                  <a:lnTo>
                    <a:pt x="1436814" y="834517"/>
                  </a:lnTo>
                  <a:lnTo>
                    <a:pt x="1438973" y="792099"/>
                  </a:lnTo>
                  <a:lnTo>
                    <a:pt x="1441894" y="749935"/>
                  </a:lnTo>
                  <a:lnTo>
                    <a:pt x="1445577" y="708152"/>
                  </a:lnTo>
                  <a:lnTo>
                    <a:pt x="1450022" y="666750"/>
                  </a:lnTo>
                  <a:lnTo>
                    <a:pt x="1455102" y="625729"/>
                  </a:lnTo>
                  <a:lnTo>
                    <a:pt x="1460944" y="585343"/>
                  </a:lnTo>
                  <a:lnTo>
                    <a:pt x="1467548" y="545719"/>
                  </a:lnTo>
                  <a:lnTo>
                    <a:pt x="1474660" y="506730"/>
                  </a:lnTo>
                  <a:lnTo>
                    <a:pt x="1482407" y="468757"/>
                  </a:lnTo>
                  <a:lnTo>
                    <a:pt x="1490662" y="431546"/>
                  </a:lnTo>
                  <a:lnTo>
                    <a:pt x="1508823" y="360426"/>
                  </a:lnTo>
                  <a:lnTo>
                    <a:pt x="1529143" y="294005"/>
                  </a:lnTo>
                  <a:lnTo>
                    <a:pt x="1550987" y="233045"/>
                  </a:lnTo>
                  <a:lnTo>
                    <a:pt x="1574355" y="178054"/>
                  </a:lnTo>
                  <a:lnTo>
                    <a:pt x="1598993" y="130048"/>
                  </a:lnTo>
                  <a:lnTo>
                    <a:pt x="1624520" y="89535"/>
                  </a:lnTo>
                  <a:lnTo>
                    <a:pt x="1650555" y="57404"/>
                  </a:lnTo>
                  <a:lnTo>
                    <a:pt x="1661045" y="47218"/>
                  </a:lnTo>
                  <a:lnTo>
                    <a:pt x="1671129" y="69723"/>
                  </a:lnTo>
                  <a:lnTo>
                    <a:pt x="1713242" y="18288"/>
                  </a:lnTo>
                  <a:lnTo>
                    <a:pt x="1725104" y="3810"/>
                  </a:lnTo>
                  <a:close/>
                </a:path>
                <a:path w="2425700" h="1849120">
                  <a:moveTo>
                    <a:pt x="2425128" y="3810"/>
                  </a:moveTo>
                  <a:lnTo>
                    <a:pt x="2340038" y="889"/>
                  </a:lnTo>
                  <a:lnTo>
                    <a:pt x="2351633" y="26238"/>
                  </a:lnTo>
                  <a:lnTo>
                    <a:pt x="2334831" y="38862"/>
                  </a:lnTo>
                  <a:lnTo>
                    <a:pt x="2334069" y="39370"/>
                  </a:lnTo>
                  <a:lnTo>
                    <a:pt x="2333434" y="40005"/>
                  </a:lnTo>
                  <a:lnTo>
                    <a:pt x="2332799" y="40767"/>
                  </a:lnTo>
                  <a:lnTo>
                    <a:pt x="2318829" y="57023"/>
                  </a:lnTo>
                  <a:lnTo>
                    <a:pt x="2291905" y="95504"/>
                  </a:lnTo>
                  <a:lnTo>
                    <a:pt x="2266251" y="141605"/>
                  </a:lnTo>
                  <a:lnTo>
                    <a:pt x="2241867" y="194437"/>
                  </a:lnTo>
                  <a:lnTo>
                    <a:pt x="2219007" y="253619"/>
                  </a:lnTo>
                  <a:lnTo>
                    <a:pt x="2197925" y="318389"/>
                  </a:lnTo>
                  <a:lnTo>
                    <a:pt x="2178748" y="387985"/>
                  </a:lnTo>
                  <a:lnTo>
                    <a:pt x="2161603" y="462026"/>
                  </a:lnTo>
                  <a:lnTo>
                    <a:pt x="2153856" y="500380"/>
                  </a:lnTo>
                  <a:lnTo>
                    <a:pt x="2146744" y="539750"/>
                  </a:lnTo>
                  <a:lnTo>
                    <a:pt x="2140267" y="579628"/>
                  </a:lnTo>
                  <a:lnTo>
                    <a:pt x="2134425" y="620395"/>
                  </a:lnTo>
                  <a:lnTo>
                    <a:pt x="2129345" y="661670"/>
                  </a:lnTo>
                  <a:lnTo>
                    <a:pt x="2125027" y="703326"/>
                  </a:lnTo>
                  <a:lnTo>
                    <a:pt x="2121217" y="745617"/>
                  </a:lnTo>
                  <a:lnTo>
                    <a:pt x="2118423" y="788035"/>
                  </a:lnTo>
                  <a:lnTo>
                    <a:pt x="2116264" y="830834"/>
                  </a:lnTo>
                  <a:lnTo>
                    <a:pt x="2114994" y="873760"/>
                  </a:lnTo>
                  <a:lnTo>
                    <a:pt x="2114613" y="916178"/>
                  </a:lnTo>
                  <a:lnTo>
                    <a:pt x="2114854" y="958850"/>
                  </a:lnTo>
                  <a:lnTo>
                    <a:pt x="2115858" y="1001268"/>
                  </a:lnTo>
                  <a:lnTo>
                    <a:pt x="2117471" y="1043686"/>
                  </a:lnTo>
                  <a:lnTo>
                    <a:pt x="2119604" y="1085850"/>
                  </a:lnTo>
                  <a:lnTo>
                    <a:pt x="2122487" y="1129665"/>
                  </a:lnTo>
                  <a:lnTo>
                    <a:pt x="2125916" y="1171321"/>
                  </a:lnTo>
                  <a:lnTo>
                    <a:pt x="2129853" y="1212596"/>
                  </a:lnTo>
                  <a:lnTo>
                    <a:pt x="2134298" y="1253236"/>
                  </a:lnTo>
                  <a:lnTo>
                    <a:pt x="2139251" y="1293241"/>
                  </a:lnTo>
                  <a:lnTo>
                    <a:pt x="2144712" y="1332357"/>
                  </a:lnTo>
                  <a:lnTo>
                    <a:pt x="2150681" y="1370711"/>
                  </a:lnTo>
                  <a:lnTo>
                    <a:pt x="2156904" y="1408303"/>
                  </a:lnTo>
                  <a:lnTo>
                    <a:pt x="2171001" y="1480058"/>
                  </a:lnTo>
                  <a:lnTo>
                    <a:pt x="2186368" y="1547368"/>
                  </a:lnTo>
                  <a:lnTo>
                    <a:pt x="2203259" y="1609217"/>
                  </a:lnTo>
                  <a:lnTo>
                    <a:pt x="2221293" y="1665351"/>
                  </a:lnTo>
                  <a:lnTo>
                    <a:pt x="2240597" y="1714754"/>
                  </a:lnTo>
                  <a:lnTo>
                    <a:pt x="2260917" y="1757299"/>
                  </a:lnTo>
                  <a:lnTo>
                    <a:pt x="2282253" y="1792097"/>
                  </a:lnTo>
                  <a:lnTo>
                    <a:pt x="2310574" y="1823593"/>
                  </a:lnTo>
                  <a:lnTo>
                    <a:pt x="2349817" y="1841881"/>
                  </a:lnTo>
                  <a:lnTo>
                    <a:pt x="2355151" y="1842135"/>
                  </a:lnTo>
                  <a:lnTo>
                    <a:pt x="2356447" y="1818513"/>
                  </a:lnTo>
                  <a:lnTo>
                    <a:pt x="2356548" y="1816735"/>
                  </a:lnTo>
                  <a:lnTo>
                    <a:pt x="2321496" y="1799336"/>
                  </a:lnTo>
                  <a:lnTo>
                    <a:pt x="2292667" y="1761744"/>
                  </a:lnTo>
                  <a:lnTo>
                    <a:pt x="2273236" y="1725549"/>
                  </a:lnTo>
                  <a:lnTo>
                    <a:pt x="2254313" y="1681353"/>
                  </a:lnTo>
                  <a:lnTo>
                    <a:pt x="2236279" y="1630045"/>
                  </a:lnTo>
                  <a:lnTo>
                    <a:pt x="2219134" y="1572133"/>
                  </a:lnTo>
                  <a:lnTo>
                    <a:pt x="2203132" y="1508379"/>
                  </a:lnTo>
                  <a:lnTo>
                    <a:pt x="2188654" y="1439672"/>
                  </a:lnTo>
                  <a:lnTo>
                    <a:pt x="2175700" y="1366520"/>
                  </a:lnTo>
                  <a:lnTo>
                    <a:pt x="2169858" y="1328420"/>
                  </a:lnTo>
                  <a:lnTo>
                    <a:pt x="2164397" y="1289685"/>
                  </a:lnTo>
                  <a:lnTo>
                    <a:pt x="2159444" y="1250061"/>
                  </a:lnTo>
                  <a:lnTo>
                    <a:pt x="2155126" y="1209802"/>
                  </a:lnTo>
                  <a:lnTo>
                    <a:pt x="2151189" y="1168908"/>
                  </a:lnTo>
                  <a:lnTo>
                    <a:pt x="2147760" y="1127506"/>
                  </a:lnTo>
                  <a:lnTo>
                    <a:pt x="2145195" y="1087501"/>
                  </a:lnTo>
                  <a:lnTo>
                    <a:pt x="2142998" y="1045083"/>
                  </a:lnTo>
                  <a:lnTo>
                    <a:pt x="2141321" y="1002284"/>
                  </a:lnTo>
                  <a:lnTo>
                    <a:pt x="2140280" y="959485"/>
                  </a:lnTo>
                  <a:lnTo>
                    <a:pt x="2139886" y="916317"/>
                  </a:lnTo>
                  <a:lnTo>
                    <a:pt x="2140394" y="874014"/>
                  </a:lnTo>
                  <a:lnTo>
                    <a:pt x="2141664" y="831596"/>
                  </a:lnTo>
                  <a:lnTo>
                    <a:pt x="2143696" y="789305"/>
                  </a:lnTo>
                  <a:lnTo>
                    <a:pt x="2146617" y="747268"/>
                  </a:lnTo>
                  <a:lnTo>
                    <a:pt x="2150300" y="705612"/>
                  </a:lnTo>
                  <a:lnTo>
                    <a:pt x="2154618" y="664337"/>
                  </a:lnTo>
                  <a:lnTo>
                    <a:pt x="2159698" y="623443"/>
                  </a:lnTo>
                  <a:lnTo>
                    <a:pt x="2165413" y="583311"/>
                  </a:lnTo>
                  <a:lnTo>
                    <a:pt x="2171763" y="543814"/>
                  </a:lnTo>
                  <a:lnTo>
                    <a:pt x="2178748" y="504952"/>
                  </a:lnTo>
                  <a:lnTo>
                    <a:pt x="2186495" y="467106"/>
                  </a:lnTo>
                  <a:lnTo>
                    <a:pt x="2203386" y="394081"/>
                  </a:lnTo>
                  <a:lnTo>
                    <a:pt x="2222309" y="325374"/>
                  </a:lnTo>
                  <a:lnTo>
                    <a:pt x="2243137" y="261874"/>
                  </a:lnTo>
                  <a:lnTo>
                    <a:pt x="2265362" y="203962"/>
                  </a:lnTo>
                  <a:lnTo>
                    <a:pt x="2289111" y="152654"/>
                  </a:lnTo>
                  <a:lnTo>
                    <a:pt x="2313749" y="108458"/>
                  </a:lnTo>
                  <a:lnTo>
                    <a:pt x="2339149" y="72263"/>
                  </a:lnTo>
                  <a:lnTo>
                    <a:pt x="2350452" y="59182"/>
                  </a:lnTo>
                  <a:lnTo>
                    <a:pt x="2351163" y="58356"/>
                  </a:lnTo>
                  <a:lnTo>
                    <a:pt x="2352598" y="57277"/>
                  </a:lnTo>
                  <a:lnTo>
                    <a:pt x="2362454" y="49872"/>
                  </a:lnTo>
                  <a:lnTo>
                    <a:pt x="2371788" y="70231"/>
                  </a:lnTo>
                  <a:lnTo>
                    <a:pt x="2412073" y="20066"/>
                  </a:lnTo>
                  <a:lnTo>
                    <a:pt x="2425128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357375" y="766698"/>
              <a:ext cx="3935729" cy="1916430"/>
            </a:xfrm>
            <a:custGeom>
              <a:avLst/>
              <a:gdLst/>
              <a:ahLst/>
              <a:cxnLst/>
              <a:rect l="l" t="t" r="r" b="b"/>
              <a:pathLst>
                <a:path w="3935729" h="1916430">
                  <a:moveTo>
                    <a:pt x="1390650" y="114426"/>
                  </a:moveTo>
                  <a:lnTo>
                    <a:pt x="1390650" y="0"/>
                  </a:lnTo>
                  <a:lnTo>
                    <a:pt x="3927729" y="0"/>
                  </a:lnTo>
                  <a:lnTo>
                    <a:pt x="3927729" y="1909826"/>
                  </a:lnTo>
                </a:path>
                <a:path w="3935729" h="1916430">
                  <a:moveTo>
                    <a:pt x="695325" y="114426"/>
                  </a:moveTo>
                  <a:lnTo>
                    <a:pt x="695325" y="10413"/>
                  </a:lnTo>
                  <a:lnTo>
                    <a:pt x="3929507" y="10413"/>
                  </a:lnTo>
                  <a:lnTo>
                    <a:pt x="3929507" y="1916430"/>
                  </a:lnTo>
                </a:path>
                <a:path w="3935729" h="1916430">
                  <a:moveTo>
                    <a:pt x="0" y="114426"/>
                  </a:moveTo>
                  <a:lnTo>
                    <a:pt x="0" y="10413"/>
                  </a:lnTo>
                  <a:lnTo>
                    <a:pt x="3935603" y="10413"/>
                  </a:lnTo>
                  <a:lnTo>
                    <a:pt x="3935603" y="191643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20712" y="759205"/>
              <a:ext cx="5002530" cy="2948305"/>
            </a:xfrm>
            <a:custGeom>
              <a:avLst/>
              <a:gdLst/>
              <a:ahLst/>
              <a:cxnLst/>
              <a:rect l="l" t="t" r="r" b="b"/>
              <a:pathLst>
                <a:path w="5002530" h="2948304">
                  <a:moveTo>
                    <a:pt x="4702873" y="1844802"/>
                  </a:moveTo>
                  <a:lnTo>
                    <a:pt x="4677473" y="1844802"/>
                  </a:lnTo>
                  <a:lnTo>
                    <a:pt x="4677473" y="25400"/>
                  </a:lnTo>
                  <a:lnTo>
                    <a:pt x="4677473" y="12700"/>
                  </a:lnTo>
                  <a:lnTo>
                    <a:pt x="4677473" y="5715"/>
                  </a:lnTo>
                  <a:lnTo>
                    <a:pt x="4671758" y="0"/>
                  </a:lnTo>
                  <a:lnTo>
                    <a:pt x="5689" y="0"/>
                  </a:lnTo>
                  <a:lnTo>
                    <a:pt x="0" y="5715"/>
                  </a:lnTo>
                  <a:lnTo>
                    <a:pt x="0" y="121920"/>
                  </a:lnTo>
                  <a:lnTo>
                    <a:pt x="25400" y="121920"/>
                  </a:lnTo>
                  <a:lnTo>
                    <a:pt x="25400" y="25400"/>
                  </a:lnTo>
                  <a:lnTo>
                    <a:pt x="4652073" y="25400"/>
                  </a:lnTo>
                  <a:lnTo>
                    <a:pt x="4652073" y="1844802"/>
                  </a:lnTo>
                  <a:lnTo>
                    <a:pt x="4626673" y="1844802"/>
                  </a:lnTo>
                  <a:lnTo>
                    <a:pt x="4664773" y="1921002"/>
                  </a:lnTo>
                  <a:lnTo>
                    <a:pt x="4696523" y="1857502"/>
                  </a:lnTo>
                  <a:lnTo>
                    <a:pt x="4702873" y="1844802"/>
                  </a:lnTo>
                  <a:close/>
                </a:path>
                <a:path w="5002530" h="2948304">
                  <a:moveTo>
                    <a:pt x="5002466" y="2909697"/>
                  </a:moveTo>
                  <a:lnTo>
                    <a:pt x="4977066" y="2896997"/>
                  </a:lnTo>
                  <a:lnTo>
                    <a:pt x="4926266" y="2871597"/>
                  </a:lnTo>
                  <a:lnTo>
                    <a:pt x="4926266" y="2896997"/>
                  </a:lnTo>
                  <a:lnTo>
                    <a:pt x="4683188" y="2896997"/>
                  </a:lnTo>
                  <a:lnTo>
                    <a:pt x="4683188" y="2150745"/>
                  </a:lnTo>
                  <a:lnTo>
                    <a:pt x="4657788" y="2150745"/>
                  </a:lnTo>
                  <a:lnTo>
                    <a:pt x="4657788" y="2916682"/>
                  </a:lnTo>
                  <a:lnTo>
                    <a:pt x="4663376" y="2922397"/>
                  </a:lnTo>
                  <a:lnTo>
                    <a:pt x="4926266" y="2922397"/>
                  </a:lnTo>
                  <a:lnTo>
                    <a:pt x="4926266" y="2947797"/>
                  </a:lnTo>
                  <a:lnTo>
                    <a:pt x="4977066" y="2922397"/>
                  </a:lnTo>
                  <a:lnTo>
                    <a:pt x="5002466" y="2909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09926" y="1014475"/>
              <a:ext cx="76263" cy="12611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14727" y="1024000"/>
              <a:ext cx="76200" cy="12395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11275" y="1024000"/>
              <a:ext cx="76200" cy="1270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8525" y="1014475"/>
              <a:ext cx="76136" cy="139064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9" name="object 9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16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00" name="object 10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86" name="object 86"/>
          <p:cNvSpPr txBox="1"/>
          <p:nvPr/>
        </p:nvSpPr>
        <p:spPr>
          <a:xfrm>
            <a:off x="6402959" y="1446911"/>
            <a:ext cx="2586355" cy="1728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Normalize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alignment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to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get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attention</a:t>
            </a:r>
            <a:r>
              <a:rPr sz="1500" b="1" spc="1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weights</a:t>
            </a:r>
            <a:endParaRPr sz="15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  <a:tabLst>
                <a:tab pos="1132205" algn="l"/>
              </a:tabLst>
            </a:pPr>
            <a:r>
              <a:rPr sz="1500" dirty="0">
                <a:latin typeface="Arial"/>
                <a:cs typeface="Arial"/>
              </a:rPr>
              <a:t>0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&lt;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425" baseline="-17543" dirty="0">
                <a:latin typeface="Arial"/>
                <a:cs typeface="Arial"/>
              </a:rPr>
              <a:t>t,i</a:t>
            </a:r>
            <a:r>
              <a:rPr sz="1425" spc="24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&lt;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1</a:t>
            </a:r>
            <a:r>
              <a:rPr sz="1500" dirty="0">
                <a:latin typeface="Arial"/>
                <a:cs typeface="Arial"/>
              </a:rPr>
              <a:t>	∑</a:t>
            </a:r>
            <a:r>
              <a:rPr sz="1425" baseline="-17543" dirty="0">
                <a:latin typeface="Arial"/>
                <a:cs typeface="Arial"/>
              </a:rPr>
              <a:t>i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425" baseline="-17543" dirty="0">
                <a:latin typeface="Arial"/>
                <a:cs typeface="Arial"/>
              </a:rPr>
              <a:t>t,i</a:t>
            </a:r>
            <a:r>
              <a:rPr sz="1425" spc="27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=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267335" marR="43180">
              <a:lnSpc>
                <a:spcPct val="100000"/>
              </a:lnSpc>
              <a:spcBef>
                <a:spcPts val="484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vector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as </a:t>
            </a:r>
            <a:r>
              <a:rPr sz="1500" b="1" dirty="0">
                <a:solidFill>
                  <a:srgbClr val="C00000"/>
                </a:solidFill>
                <a:latin typeface="Arial"/>
                <a:cs typeface="Arial"/>
              </a:rPr>
              <a:t>weighted</a:t>
            </a:r>
            <a:r>
              <a:rPr sz="15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C00000"/>
                </a:solidFill>
                <a:latin typeface="Arial"/>
                <a:cs typeface="Arial"/>
              </a:rPr>
              <a:t>sum</a:t>
            </a:r>
            <a:r>
              <a:rPr sz="15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5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C00000"/>
                </a:solidFill>
                <a:latin typeface="Arial"/>
                <a:cs typeface="Arial"/>
              </a:rPr>
              <a:t>hidden states</a:t>
            </a:r>
            <a:endParaRPr sz="15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310"/>
              </a:spcBef>
            </a:pPr>
            <a:r>
              <a:rPr sz="2250" baseline="11111" dirty="0">
                <a:latin typeface="Arial"/>
                <a:cs typeface="Arial"/>
              </a:rPr>
              <a:t>c</a:t>
            </a:r>
            <a:r>
              <a:rPr sz="950" dirty="0">
                <a:latin typeface="Arial"/>
                <a:cs typeface="Arial"/>
              </a:rPr>
              <a:t>t</a:t>
            </a:r>
            <a:r>
              <a:rPr sz="950" spc="145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</a:t>
            </a:r>
            <a:r>
              <a:rPr sz="2250" spc="-37" baseline="11111" dirty="0">
                <a:latin typeface="Arial"/>
                <a:cs typeface="Arial"/>
              </a:rPr>
              <a:t> </a:t>
            </a:r>
            <a:r>
              <a:rPr sz="2250" spc="-15" baseline="11111" dirty="0">
                <a:latin typeface="Arial"/>
                <a:cs typeface="Arial"/>
              </a:rPr>
              <a:t>∑</a:t>
            </a:r>
            <a:r>
              <a:rPr sz="950" spc="-10" dirty="0">
                <a:latin typeface="Arial"/>
                <a:cs typeface="Arial"/>
              </a:rPr>
              <a:t>i</a:t>
            </a:r>
            <a:r>
              <a:rPr sz="2250" spc="-15" baseline="11111" dirty="0">
                <a:latin typeface="Arial"/>
                <a:cs typeface="Arial"/>
              </a:rPr>
              <a:t>a</a:t>
            </a:r>
            <a:r>
              <a:rPr sz="950" spc="-10" dirty="0">
                <a:latin typeface="Arial"/>
                <a:cs typeface="Arial"/>
              </a:rPr>
              <a:t>t,i</a:t>
            </a:r>
            <a:r>
              <a:rPr sz="2250" spc="-15" baseline="11111" dirty="0">
                <a:latin typeface="Arial"/>
                <a:cs typeface="Arial"/>
              </a:rPr>
              <a:t>h</a:t>
            </a:r>
            <a:r>
              <a:rPr sz="950" spc="-10" dirty="0"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87" name="object 87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88" name="object 88"/>
          <p:cNvSpPr txBox="1"/>
          <p:nvPr/>
        </p:nvSpPr>
        <p:spPr>
          <a:xfrm>
            <a:off x="3180714" y="1801812"/>
            <a:ext cx="20269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hidden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state: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180714" y="2031047"/>
            <a:ext cx="19627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118100" y="2135822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513704" y="806767"/>
            <a:ext cx="31064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(scalar)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alignment</a:t>
            </a:r>
            <a:r>
              <a:rPr sz="1500" b="1" spc="-7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488304" y="1073785"/>
            <a:ext cx="130048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50" baseline="11111" dirty="0">
                <a:latin typeface="Arial"/>
                <a:cs typeface="Arial"/>
              </a:rPr>
              <a:t>e</a:t>
            </a:r>
            <a:r>
              <a:rPr sz="950" dirty="0">
                <a:latin typeface="Arial"/>
                <a:cs typeface="Arial"/>
              </a:rPr>
              <a:t>t,i</a:t>
            </a:r>
            <a:r>
              <a:rPr sz="950" spc="210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 f</a:t>
            </a:r>
            <a:r>
              <a:rPr sz="950" dirty="0">
                <a:latin typeface="Arial"/>
                <a:cs typeface="Arial"/>
              </a:rPr>
              <a:t>att</a:t>
            </a:r>
            <a:r>
              <a:rPr sz="2250" baseline="11111" dirty="0">
                <a:latin typeface="Arial"/>
                <a:cs typeface="Arial"/>
              </a:rPr>
              <a:t>(s</a:t>
            </a:r>
            <a:r>
              <a:rPr sz="950" dirty="0">
                <a:latin typeface="Arial"/>
                <a:cs typeface="Arial"/>
              </a:rPr>
              <a:t>t-1</a:t>
            </a:r>
            <a:r>
              <a:rPr sz="2250" baseline="11111" dirty="0">
                <a:latin typeface="Arial"/>
                <a:cs typeface="Arial"/>
              </a:rPr>
              <a:t>,</a:t>
            </a:r>
            <a:r>
              <a:rPr sz="2250" spc="22" baseline="11111" dirty="0">
                <a:latin typeface="Arial"/>
                <a:cs typeface="Arial"/>
              </a:rPr>
              <a:t> </a:t>
            </a:r>
            <a:r>
              <a:rPr sz="2250" spc="-37" baseline="11111" dirty="0">
                <a:latin typeface="Arial"/>
                <a:cs typeface="Arial"/>
              </a:rPr>
              <a:t>h</a:t>
            </a:r>
            <a:r>
              <a:rPr sz="950" spc="-25" dirty="0">
                <a:latin typeface="Arial"/>
                <a:cs typeface="Arial"/>
              </a:rPr>
              <a:t>i</a:t>
            </a:r>
            <a:r>
              <a:rPr sz="2250" spc="-37" baseline="11111" dirty="0">
                <a:latin typeface="Arial"/>
                <a:cs typeface="Arial"/>
              </a:rPr>
              <a:t>)</a:t>
            </a:r>
            <a:endParaRPr sz="2250" baseline="11111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133168" y="1035430"/>
            <a:ext cx="1859914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(f</a:t>
            </a:r>
            <a:r>
              <a:rPr sz="1425" baseline="-17543" dirty="0">
                <a:latin typeface="Arial"/>
                <a:cs typeface="Arial"/>
              </a:rPr>
              <a:t>att</a:t>
            </a:r>
            <a:r>
              <a:rPr sz="1425" spc="21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Linear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Layer)</a:t>
            </a:r>
            <a:endParaRPr sz="15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9201" y="2481326"/>
            <a:ext cx="1247775" cy="342900"/>
          </a:xfrm>
          <a:custGeom>
            <a:avLst/>
            <a:gdLst/>
            <a:ahLst/>
            <a:cxnLst/>
            <a:rect l="l" t="t" r="r" b="b"/>
            <a:pathLst>
              <a:path w="1247775" h="342900">
                <a:moveTo>
                  <a:pt x="0" y="317881"/>
                </a:moveTo>
                <a:lnTo>
                  <a:pt x="44551" y="283433"/>
                </a:lnTo>
                <a:lnTo>
                  <a:pt x="89106" y="249347"/>
                </a:lnTo>
                <a:lnTo>
                  <a:pt x="133664" y="215983"/>
                </a:lnTo>
                <a:lnTo>
                  <a:pt x="178224" y="183703"/>
                </a:lnTo>
                <a:lnTo>
                  <a:pt x="222785" y="152869"/>
                </a:lnTo>
                <a:lnTo>
                  <a:pt x="267348" y="123840"/>
                </a:lnTo>
                <a:lnTo>
                  <a:pt x="311912" y="96980"/>
                </a:lnTo>
                <a:lnTo>
                  <a:pt x="356475" y="72648"/>
                </a:lnTo>
                <a:lnTo>
                  <a:pt x="401038" y="51207"/>
                </a:lnTo>
                <a:lnTo>
                  <a:pt x="445599" y="33017"/>
                </a:lnTo>
                <a:lnTo>
                  <a:pt x="490159" y="18440"/>
                </a:lnTo>
                <a:lnTo>
                  <a:pt x="534717" y="7838"/>
                </a:lnTo>
                <a:lnTo>
                  <a:pt x="579272" y="1570"/>
                </a:lnTo>
                <a:lnTo>
                  <a:pt x="623824" y="0"/>
                </a:lnTo>
                <a:lnTo>
                  <a:pt x="666819" y="4425"/>
                </a:lnTo>
                <a:lnTo>
                  <a:pt x="712199" y="15420"/>
                </a:lnTo>
                <a:lnTo>
                  <a:pt x="759367" y="32077"/>
                </a:lnTo>
                <a:lnTo>
                  <a:pt x="807726" y="53486"/>
                </a:lnTo>
                <a:lnTo>
                  <a:pt x="856680" y="78739"/>
                </a:lnTo>
                <a:lnTo>
                  <a:pt x="905633" y="106929"/>
                </a:lnTo>
                <a:lnTo>
                  <a:pt x="953989" y="137147"/>
                </a:lnTo>
                <a:lnTo>
                  <a:pt x="1001151" y="168485"/>
                </a:lnTo>
                <a:lnTo>
                  <a:pt x="1046523" y="200034"/>
                </a:lnTo>
                <a:lnTo>
                  <a:pt x="1089509" y="230886"/>
                </a:lnTo>
                <a:lnTo>
                  <a:pt x="1129512" y="260132"/>
                </a:lnTo>
                <a:lnTo>
                  <a:pt x="1165937" y="286865"/>
                </a:lnTo>
                <a:lnTo>
                  <a:pt x="1198186" y="310176"/>
                </a:lnTo>
                <a:lnTo>
                  <a:pt x="1225664" y="329157"/>
                </a:lnTo>
                <a:lnTo>
                  <a:pt x="1247775" y="3429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030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5137" y="2560701"/>
            <a:ext cx="346075" cy="469900"/>
            <a:chOff x="465137" y="2560701"/>
            <a:chExt cx="346075" cy="469900"/>
          </a:xfrm>
        </p:grpSpPr>
        <p:sp>
          <p:nvSpPr>
            <p:cNvPr id="7" name="object 7"/>
            <p:cNvSpPr/>
            <p:nvPr/>
          </p:nvSpPr>
          <p:spPr>
            <a:xfrm>
              <a:off x="47148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148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2925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69987" y="2560701"/>
            <a:ext cx="346075" cy="469900"/>
            <a:chOff x="1169987" y="2560701"/>
            <a:chExt cx="346075" cy="469900"/>
          </a:xfrm>
        </p:grpSpPr>
        <p:sp>
          <p:nvSpPr>
            <p:cNvPr id="11" name="object 11"/>
            <p:cNvSpPr/>
            <p:nvPr/>
          </p:nvSpPr>
          <p:spPr>
            <a:xfrm>
              <a:off x="117633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7633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48663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15" name="object 15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51354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08526" y="2560701"/>
            <a:ext cx="336550" cy="460375"/>
            <a:chOff x="4208526" y="2560701"/>
            <a:chExt cx="336550" cy="460375"/>
          </a:xfrm>
        </p:grpSpPr>
        <p:sp>
          <p:nvSpPr>
            <p:cNvPr id="19" name="object 19"/>
            <p:cNvSpPr/>
            <p:nvPr/>
          </p:nvSpPr>
          <p:spPr>
            <a:xfrm>
              <a:off x="4214876" y="2567051"/>
              <a:ext cx="323850" cy="447675"/>
            </a:xfrm>
            <a:custGeom>
              <a:avLst/>
              <a:gdLst/>
              <a:ahLst/>
              <a:cxnLst/>
              <a:rect l="l" t="t" r="r" b="b"/>
              <a:pathLst>
                <a:path w="323850" h="447675">
                  <a:moveTo>
                    <a:pt x="3238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23850" y="447675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14876" y="2567051"/>
              <a:ext cx="323850" cy="447675"/>
            </a:xfrm>
            <a:custGeom>
              <a:avLst/>
              <a:gdLst/>
              <a:ahLst/>
              <a:cxnLst/>
              <a:rect l="l" t="t" r="r" b="b"/>
              <a:pathLst>
                <a:path w="323850" h="447675">
                  <a:moveTo>
                    <a:pt x="0" y="447675"/>
                  </a:moveTo>
                  <a:lnTo>
                    <a:pt x="323850" y="447675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88790" y="2710751"/>
            <a:ext cx="1765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79751" y="2560701"/>
            <a:ext cx="336550" cy="469900"/>
            <a:chOff x="2579751" y="2560701"/>
            <a:chExt cx="336550" cy="469900"/>
          </a:xfrm>
        </p:grpSpPr>
        <p:sp>
          <p:nvSpPr>
            <p:cNvPr id="24" name="object 24"/>
            <p:cNvSpPr/>
            <p:nvPr/>
          </p:nvSpPr>
          <p:spPr>
            <a:xfrm>
              <a:off x="2586101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86101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654300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46087" y="1960626"/>
            <a:ext cx="2339975" cy="1482725"/>
            <a:chOff x="446087" y="1960626"/>
            <a:chExt cx="2339975" cy="1482725"/>
          </a:xfrm>
        </p:grpSpPr>
        <p:sp>
          <p:nvSpPr>
            <p:cNvPr id="28" name="object 28"/>
            <p:cNvSpPr/>
            <p:nvPr/>
          </p:nvSpPr>
          <p:spPr>
            <a:xfrm>
              <a:off x="606158" y="2757550"/>
              <a:ext cx="2179955" cy="685800"/>
            </a:xfrm>
            <a:custGeom>
              <a:avLst/>
              <a:gdLst/>
              <a:ahLst/>
              <a:cxnLst/>
              <a:rect l="l" t="t" r="r" b="b"/>
              <a:pathLst>
                <a:path w="2179955" h="685800">
                  <a:moveTo>
                    <a:pt x="76187" y="342138"/>
                  </a:moveTo>
                  <a:lnTo>
                    <a:pt x="69811" y="329946"/>
                  </a:lnTo>
                  <a:lnTo>
                    <a:pt x="36779" y="266700"/>
                  </a:lnTo>
                  <a:lnTo>
                    <a:pt x="0" y="343535"/>
                  </a:lnTo>
                  <a:lnTo>
                    <a:pt x="25387" y="343077"/>
                  </a:lnTo>
                  <a:lnTo>
                    <a:pt x="25171" y="330327"/>
                  </a:lnTo>
                  <a:lnTo>
                    <a:pt x="25374" y="342138"/>
                  </a:lnTo>
                  <a:lnTo>
                    <a:pt x="25387" y="343077"/>
                  </a:lnTo>
                  <a:lnTo>
                    <a:pt x="31267" y="684911"/>
                  </a:lnTo>
                  <a:lnTo>
                    <a:pt x="31280" y="685292"/>
                  </a:lnTo>
                  <a:lnTo>
                    <a:pt x="56680" y="684911"/>
                  </a:lnTo>
                  <a:lnTo>
                    <a:pt x="50800" y="343535"/>
                  </a:lnTo>
                  <a:lnTo>
                    <a:pt x="50787" y="342607"/>
                  </a:lnTo>
                  <a:lnTo>
                    <a:pt x="76187" y="342138"/>
                  </a:lnTo>
                  <a:close/>
                </a:path>
                <a:path w="2179955" h="685800">
                  <a:moveTo>
                    <a:pt x="574306" y="38100"/>
                  </a:moveTo>
                  <a:lnTo>
                    <a:pt x="548906" y="25400"/>
                  </a:lnTo>
                  <a:lnTo>
                    <a:pt x="498106" y="0"/>
                  </a:lnTo>
                  <a:lnTo>
                    <a:pt x="498106" y="25400"/>
                  </a:lnTo>
                  <a:lnTo>
                    <a:pt x="198704" y="25400"/>
                  </a:lnTo>
                  <a:lnTo>
                    <a:pt x="198704" y="50800"/>
                  </a:lnTo>
                  <a:lnTo>
                    <a:pt x="498106" y="50800"/>
                  </a:lnTo>
                  <a:lnTo>
                    <a:pt x="498106" y="76200"/>
                  </a:lnTo>
                  <a:lnTo>
                    <a:pt x="548906" y="50800"/>
                  </a:lnTo>
                  <a:lnTo>
                    <a:pt x="574306" y="38100"/>
                  </a:lnTo>
                  <a:close/>
                </a:path>
                <a:path w="2179955" h="685800">
                  <a:moveTo>
                    <a:pt x="779665" y="342900"/>
                  </a:moveTo>
                  <a:lnTo>
                    <a:pt x="773315" y="330200"/>
                  </a:lnTo>
                  <a:lnTo>
                    <a:pt x="741565" y="266700"/>
                  </a:lnTo>
                  <a:lnTo>
                    <a:pt x="703465" y="342900"/>
                  </a:lnTo>
                  <a:lnTo>
                    <a:pt x="728865" y="342900"/>
                  </a:lnTo>
                  <a:lnTo>
                    <a:pt x="728992" y="685165"/>
                  </a:lnTo>
                  <a:lnTo>
                    <a:pt x="754392" y="685165"/>
                  </a:lnTo>
                  <a:lnTo>
                    <a:pt x="754265" y="342900"/>
                  </a:lnTo>
                  <a:lnTo>
                    <a:pt x="779665" y="342900"/>
                  </a:lnTo>
                  <a:close/>
                </a:path>
                <a:path w="2179955" h="685800">
                  <a:moveTo>
                    <a:pt x="1276489" y="38100"/>
                  </a:moveTo>
                  <a:lnTo>
                    <a:pt x="1251089" y="25400"/>
                  </a:lnTo>
                  <a:lnTo>
                    <a:pt x="1200289" y="0"/>
                  </a:lnTo>
                  <a:lnTo>
                    <a:pt x="1200289" y="25400"/>
                  </a:lnTo>
                  <a:lnTo>
                    <a:pt x="903617" y="25400"/>
                  </a:lnTo>
                  <a:lnTo>
                    <a:pt x="903617" y="50800"/>
                  </a:lnTo>
                  <a:lnTo>
                    <a:pt x="1200289" y="50800"/>
                  </a:lnTo>
                  <a:lnTo>
                    <a:pt x="1200289" y="76200"/>
                  </a:lnTo>
                  <a:lnTo>
                    <a:pt x="1251089" y="50800"/>
                  </a:lnTo>
                  <a:lnTo>
                    <a:pt x="1276489" y="38100"/>
                  </a:lnTo>
                  <a:close/>
                </a:path>
                <a:path w="2179955" h="685800">
                  <a:moveTo>
                    <a:pt x="1474990" y="342900"/>
                  </a:moveTo>
                  <a:lnTo>
                    <a:pt x="1468640" y="330200"/>
                  </a:lnTo>
                  <a:lnTo>
                    <a:pt x="1436890" y="266700"/>
                  </a:lnTo>
                  <a:lnTo>
                    <a:pt x="1398790" y="342900"/>
                  </a:lnTo>
                  <a:lnTo>
                    <a:pt x="1424190" y="342900"/>
                  </a:lnTo>
                  <a:lnTo>
                    <a:pt x="1424317" y="685165"/>
                  </a:lnTo>
                  <a:lnTo>
                    <a:pt x="1449717" y="685165"/>
                  </a:lnTo>
                  <a:lnTo>
                    <a:pt x="1449590" y="342900"/>
                  </a:lnTo>
                  <a:lnTo>
                    <a:pt x="1474990" y="342900"/>
                  </a:lnTo>
                  <a:close/>
                </a:path>
                <a:path w="2179955" h="685800">
                  <a:moveTo>
                    <a:pt x="1981339" y="38100"/>
                  </a:moveTo>
                  <a:lnTo>
                    <a:pt x="1955939" y="25400"/>
                  </a:lnTo>
                  <a:lnTo>
                    <a:pt x="1905139" y="0"/>
                  </a:lnTo>
                  <a:lnTo>
                    <a:pt x="1905139" y="25400"/>
                  </a:lnTo>
                  <a:lnTo>
                    <a:pt x="1608340" y="25400"/>
                  </a:lnTo>
                  <a:lnTo>
                    <a:pt x="1608340" y="50800"/>
                  </a:lnTo>
                  <a:lnTo>
                    <a:pt x="1905139" y="50800"/>
                  </a:lnTo>
                  <a:lnTo>
                    <a:pt x="1905139" y="76200"/>
                  </a:lnTo>
                  <a:lnTo>
                    <a:pt x="1955939" y="50800"/>
                  </a:lnTo>
                  <a:lnTo>
                    <a:pt x="1981339" y="38100"/>
                  </a:lnTo>
                  <a:close/>
                </a:path>
                <a:path w="2179955" h="685800">
                  <a:moveTo>
                    <a:pt x="2179840" y="342900"/>
                  </a:moveTo>
                  <a:lnTo>
                    <a:pt x="2173490" y="330200"/>
                  </a:lnTo>
                  <a:lnTo>
                    <a:pt x="2141740" y="266700"/>
                  </a:lnTo>
                  <a:lnTo>
                    <a:pt x="2103640" y="342900"/>
                  </a:lnTo>
                  <a:lnTo>
                    <a:pt x="2129040" y="342900"/>
                  </a:lnTo>
                  <a:lnTo>
                    <a:pt x="2129167" y="685165"/>
                  </a:lnTo>
                  <a:lnTo>
                    <a:pt x="2154567" y="685165"/>
                  </a:lnTo>
                  <a:lnTo>
                    <a:pt x="2154440" y="342900"/>
                  </a:lnTo>
                  <a:lnTo>
                    <a:pt x="2179840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43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43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21652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150937" y="1960626"/>
            <a:ext cx="384175" cy="298450"/>
            <a:chOff x="1150937" y="1960626"/>
            <a:chExt cx="384175" cy="298450"/>
          </a:xfrm>
        </p:grpSpPr>
        <p:sp>
          <p:nvSpPr>
            <p:cNvPr id="33" name="object 33"/>
            <p:cNvSpPr/>
            <p:nvPr/>
          </p:nvSpPr>
          <p:spPr>
            <a:xfrm>
              <a:off x="115728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5728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227137" y="2047494"/>
            <a:ext cx="235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846326" y="1960626"/>
            <a:ext cx="393700" cy="298450"/>
            <a:chOff x="1846326" y="1960626"/>
            <a:chExt cx="393700" cy="298450"/>
          </a:xfrm>
        </p:grpSpPr>
        <p:sp>
          <p:nvSpPr>
            <p:cNvPr id="37" name="object 37"/>
            <p:cNvSpPr/>
            <p:nvPr/>
          </p:nvSpPr>
          <p:spPr>
            <a:xfrm>
              <a:off x="185267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5267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931035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551176" y="1960626"/>
            <a:ext cx="393700" cy="298450"/>
            <a:chOff x="2551176" y="1960626"/>
            <a:chExt cx="393700" cy="298450"/>
          </a:xfrm>
        </p:grpSpPr>
        <p:sp>
          <p:nvSpPr>
            <p:cNvPr id="41" name="object 41"/>
            <p:cNvSpPr/>
            <p:nvPr/>
          </p:nvSpPr>
          <p:spPr>
            <a:xfrm>
              <a:off x="255752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5752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633091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6087" y="1131950"/>
            <a:ext cx="3940810" cy="1450340"/>
            <a:chOff x="446087" y="1131950"/>
            <a:chExt cx="3940810" cy="1450340"/>
          </a:xfrm>
        </p:grpSpPr>
        <p:sp>
          <p:nvSpPr>
            <p:cNvPr id="45" name="object 45"/>
            <p:cNvSpPr/>
            <p:nvPr/>
          </p:nvSpPr>
          <p:spPr>
            <a:xfrm>
              <a:off x="604837" y="2252725"/>
              <a:ext cx="76200" cy="314325"/>
            </a:xfrm>
            <a:custGeom>
              <a:avLst/>
              <a:gdLst/>
              <a:ahLst/>
              <a:cxnLst/>
              <a:rect l="l" t="t" r="r" b="b"/>
              <a:pathLst>
                <a:path w="76200" h="314325">
                  <a:moveTo>
                    <a:pt x="50800" y="63500"/>
                  </a:moveTo>
                  <a:lnTo>
                    <a:pt x="25400" y="635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63500"/>
                  </a:lnTo>
                  <a:close/>
                </a:path>
                <a:path w="76200" h="314325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4325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7237" y="2490850"/>
              <a:ext cx="3616960" cy="78740"/>
            </a:xfrm>
            <a:custGeom>
              <a:avLst/>
              <a:gdLst/>
              <a:ahLst/>
              <a:cxnLst/>
              <a:rect l="l" t="t" r="r" b="b"/>
              <a:pathLst>
                <a:path w="3616960" h="78739">
                  <a:moveTo>
                    <a:pt x="3616769" y="78486"/>
                  </a:moveTo>
                  <a:lnTo>
                    <a:pt x="361676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37" y="2252598"/>
              <a:ext cx="76200" cy="23596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309624" y="2252725"/>
              <a:ext cx="1477010" cy="314325"/>
            </a:xfrm>
            <a:custGeom>
              <a:avLst/>
              <a:gdLst/>
              <a:ahLst/>
              <a:cxnLst/>
              <a:rect l="l" t="t" r="r" b="b"/>
              <a:pathLst>
                <a:path w="1477010" h="31432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527" y="314325"/>
                  </a:lnTo>
                  <a:lnTo>
                    <a:pt x="50927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1477010" h="314325">
                  <a:moveTo>
                    <a:pt x="772287" y="76200"/>
                  </a:moveTo>
                  <a:lnTo>
                    <a:pt x="765975" y="63500"/>
                  </a:lnTo>
                  <a:lnTo>
                    <a:pt x="734441" y="0"/>
                  </a:lnTo>
                  <a:lnTo>
                    <a:pt x="696010" y="76200"/>
                  </a:lnTo>
                  <a:lnTo>
                    <a:pt x="721436" y="76200"/>
                  </a:lnTo>
                  <a:lnTo>
                    <a:pt x="720852" y="314325"/>
                  </a:lnTo>
                  <a:lnTo>
                    <a:pt x="746252" y="314325"/>
                  </a:lnTo>
                  <a:lnTo>
                    <a:pt x="746848" y="76200"/>
                  </a:lnTo>
                  <a:lnTo>
                    <a:pt x="772287" y="76200"/>
                  </a:lnTo>
                  <a:close/>
                </a:path>
                <a:path w="1477010" h="314325">
                  <a:moveTo>
                    <a:pt x="1476502" y="76200"/>
                  </a:moveTo>
                  <a:lnTo>
                    <a:pt x="1470126" y="63500"/>
                  </a:lnTo>
                  <a:lnTo>
                    <a:pt x="1438275" y="0"/>
                  </a:lnTo>
                  <a:lnTo>
                    <a:pt x="1400302" y="76200"/>
                  </a:lnTo>
                  <a:lnTo>
                    <a:pt x="1425575" y="76200"/>
                  </a:lnTo>
                  <a:lnTo>
                    <a:pt x="1425702" y="314325"/>
                  </a:lnTo>
                  <a:lnTo>
                    <a:pt x="1451102" y="314325"/>
                  </a:lnTo>
                  <a:lnTo>
                    <a:pt x="1450975" y="76200"/>
                  </a:lnTo>
                  <a:lnTo>
                    <a:pt x="1476502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773" y="2252598"/>
              <a:ext cx="76200" cy="23596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4399" y="2243073"/>
              <a:ext cx="76200" cy="23596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4226" y="2243073"/>
              <a:ext cx="76200" cy="23596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52437" y="1576450"/>
              <a:ext cx="2486025" cy="238125"/>
            </a:xfrm>
            <a:custGeom>
              <a:avLst/>
              <a:gdLst/>
              <a:ahLst/>
              <a:cxnLst/>
              <a:rect l="l" t="t" r="r" b="b"/>
              <a:pathLst>
                <a:path w="2486025" h="238125">
                  <a:moveTo>
                    <a:pt x="0" y="238125"/>
                  </a:moveTo>
                  <a:lnTo>
                    <a:pt x="2486025" y="238125"/>
                  </a:lnTo>
                  <a:lnTo>
                    <a:pt x="24860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243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243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5728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15728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852675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852675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57526" y="113830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57526" y="113830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483552" y="1228661"/>
            <a:ext cx="242316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704850" algn="l"/>
                <a:tab pos="1408430" algn="l"/>
                <a:tab pos="2111375" algn="l"/>
              </a:tabLst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11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12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13</a:t>
            </a:r>
            <a:r>
              <a:rPr sz="900" baseline="4629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14</a:t>
            </a:r>
            <a:endParaRPr sz="900" baseline="4629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6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95896" y="1414525"/>
            <a:ext cx="2210435" cy="556260"/>
            <a:chOff x="595896" y="1414525"/>
            <a:chExt cx="2210435" cy="556260"/>
          </a:xfrm>
        </p:grpSpPr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896" y="1814448"/>
              <a:ext cx="76200" cy="15620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0386" y="1804923"/>
              <a:ext cx="76200" cy="15608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5236" y="1814448"/>
              <a:ext cx="76200" cy="15608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9611" y="1814448"/>
              <a:ext cx="76200" cy="15608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29611" y="1414525"/>
              <a:ext cx="76200" cy="15595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15236" y="1433575"/>
              <a:ext cx="76200" cy="15595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9911" y="1433575"/>
              <a:ext cx="76200" cy="15595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5960" y="1424050"/>
              <a:ext cx="76200" cy="155956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624576" y="3443287"/>
            <a:ext cx="304800" cy="4476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81000" y="780986"/>
            <a:ext cx="5050155" cy="2135505"/>
            <a:chOff x="381000" y="780986"/>
            <a:chExt cx="5050155" cy="2135505"/>
          </a:xfrm>
        </p:grpSpPr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000" y="780986"/>
              <a:ext cx="500062" cy="404812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157851" y="268135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2667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66700" y="22860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157851" y="268135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228600"/>
                  </a:moveTo>
                  <a:lnTo>
                    <a:pt x="266700" y="228600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221604" y="2657792"/>
            <a:ext cx="137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Arial"/>
                <a:cs typeface="Arial"/>
              </a:rPr>
              <a:t>+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30187" y="753998"/>
            <a:ext cx="5093970" cy="2058035"/>
            <a:chOff x="230187" y="753998"/>
            <a:chExt cx="5093970" cy="2058035"/>
          </a:xfrm>
        </p:grpSpPr>
        <p:pic>
          <p:nvPicPr>
            <p:cNvPr id="78" name="object 7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5375" y="780986"/>
              <a:ext cx="500062" cy="40481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0225" y="780986"/>
              <a:ext cx="490537" cy="40481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5550" y="790511"/>
              <a:ext cx="500062" cy="404812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230187" y="962913"/>
              <a:ext cx="2425700" cy="1849120"/>
            </a:xfrm>
            <a:custGeom>
              <a:avLst/>
              <a:gdLst/>
              <a:ahLst/>
              <a:cxnLst/>
              <a:rect l="l" t="t" r="r" b="b"/>
              <a:pathLst>
                <a:path w="2425700" h="1849120">
                  <a:moveTo>
                    <a:pt x="304927" y="3810"/>
                  </a:moveTo>
                  <a:lnTo>
                    <a:pt x="219748" y="2159"/>
                  </a:lnTo>
                  <a:lnTo>
                    <a:pt x="231622" y="27203"/>
                  </a:lnTo>
                  <a:lnTo>
                    <a:pt x="216027" y="38989"/>
                  </a:lnTo>
                  <a:lnTo>
                    <a:pt x="215265" y="39497"/>
                  </a:lnTo>
                  <a:lnTo>
                    <a:pt x="214579" y="40259"/>
                  </a:lnTo>
                  <a:lnTo>
                    <a:pt x="213956" y="40894"/>
                  </a:lnTo>
                  <a:lnTo>
                    <a:pt x="186893" y="75565"/>
                  </a:lnTo>
                  <a:lnTo>
                    <a:pt x="161175" y="117983"/>
                  </a:lnTo>
                  <a:lnTo>
                    <a:pt x="136575" y="167640"/>
                  </a:lnTo>
                  <a:lnTo>
                    <a:pt x="113436" y="223901"/>
                  </a:lnTo>
                  <a:lnTo>
                    <a:pt x="91909" y="286004"/>
                  </a:lnTo>
                  <a:lnTo>
                    <a:pt x="72021" y="353441"/>
                  </a:lnTo>
                  <a:lnTo>
                    <a:pt x="54203" y="425450"/>
                  </a:lnTo>
                  <a:lnTo>
                    <a:pt x="46050" y="463042"/>
                  </a:lnTo>
                  <a:lnTo>
                    <a:pt x="38582" y="501523"/>
                  </a:lnTo>
                  <a:lnTo>
                    <a:pt x="31584" y="540766"/>
                  </a:lnTo>
                  <a:lnTo>
                    <a:pt x="25273" y="580898"/>
                  </a:lnTo>
                  <a:lnTo>
                    <a:pt x="19519" y="621665"/>
                  </a:lnTo>
                  <a:lnTo>
                    <a:pt x="14541" y="662940"/>
                  </a:lnTo>
                  <a:lnTo>
                    <a:pt x="10236" y="704723"/>
                  </a:lnTo>
                  <a:lnTo>
                    <a:pt x="6604" y="747014"/>
                  </a:lnTo>
                  <a:lnTo>
                    <a:pt x="3733" y="789686"/>
                  </a:lnTo>
                  <a:lnTo>
                    <a:pt x="1714" y="832485"/>
                  </a:lnTo>
                  <a:lnTo>
                    <a:pt x="368" y="875665"/>
                  </a:lnTo>
                  <a:lnTo>
                    <a:pt x="0" y="918464"/>
                  </a:lnTo>
                  <a:lnTo>
                    <a:pt x="279" y="960882"/>
                  </a:lnTo>
                  <a:lnTo>
                    <a:pt x="1320" y="1003554"/>
                  </a:lnTo>
                  <a:lnTo>
                    <a:pt x="2908" y="1045972"/>
                  </a:lnTo>
                  <a:lnTo>
                    <a:pt x="5080" y="1088136"/>
                  </a:lnTo>
                  <a:lnTo>
                    <a:pt x="7950" y="1132078"/>
                  </a:lnTo>
                  <a:lnTo>
                    <a:pt x="11391" y="1173734"/>
                  </a:lnTo>
                  <a:lnTo>
                    <a:pt x="15316" y="1215136"/>
                  </a:lnTo>
                  <a:lnTo>
                    <a:pt x="19723" y="1255776"/>
                  </a:lnTo>
                  <a:lnTo>
                    <a:pt x="24701" y="1295908"/>
                  </a:lnTo>
                  <a:lnTo>
                    <a:pt x="30149" y="1335151"/>
                  </a:lnTo>
                  <a:lnTo>
                    <a:pt x="36080" y="1373632"/>
                  </a:lnTo>
                  <a:lnTo>
                    <a:pt x="49212" y="1447673"/>
                  </a:lnTo>
                  <a:lnTo>
                    <a:pt x="63881" y="1517396"/>
                  </a:lnTo>
                  <a:lnTo>
                    <a:pt x="80111" y="1582166"/>
                  </a:lnTo>
                  <a:lnTo>
                    <a:pt x="97624" y="1641348"/>
                  </a:lnTo>
                  <a:lnTo>
                    <a:pt x="116293" y="1694307"/>
                  </a:lnTo>
                  <a:lnTo>
                    <a:pt x="136042" y="1740408"/>
                  </a:lnTo>
                  <a:lnTo>
                    <a:pt x="156870" y="1779143"/>
                  </a:lnTo>
                  <a:lnTo>
                    <a:pt x="184289" y="1816100"/>
                  </a:lnTo>
                  <a:lnTo>
                    <a:pt x="214871" y="1839468"/>
                  </a:lnTo>
                  <a:lnTo>
                    <a:pt x="240626" y="1845691"/>
                  </a:lnTo>
                  <a:lnTo>
                    <a:pt x="241884" y="1821942"/>
                  </a:lnTo>
                  <a:lnTo>
                    <a:pt x="241973" y="1820418"/>
                  </a:lnTo>
                  <a:lnTo>
                    <a:pt x="207086" y="1803019"/>
                  </a:lnTo>
                  <a:lnTo>
                    <a:pt x="178092" y="1765173"/>
                  </a:lnTo>
                  <a:lnTo>
                    <a:pt x="158724" y="1728978"/>
                  </a:lnTo>
                  <a:lnTo>
                    <a:pt x="139801" y="1684655"/>
                  </a:lnTo>
                  <a:lnTo>
                    <a:pt x="121704" y="1633220"/>
                  </a:lnTo>
                  <a:lnTo>
                    <a:pt x="104546" y="1575308"/>
                  </a:lnTo>
                  <a:lnTo>
                    <a:pt x="88582" y="1511427"/>
                  </a:lnTo>
                  <a:lnTo>
                    <a:pt x="74104" y="1442593"/>
                  </a:lnTo>
                  <a:lnTo>
                    <a:pt x="61137" y="1369314"/>
                  </a:lnTo>
                  <a:lnTo>
                    <a:pt x="55257" y="1331214"/>
                  </a:lnTo>
                  <a:lnTo>
                    <a:pt x="49847" y="1292352"/>
                  </a:lnTo>
                  <a:lnTo>
                    <a:pt x="44919" y="1252601"/>
                  </a:lnTo>
                  <a:lnTo>
                    <a:pt x="40563" y="1212342"/>
                  </a:lnTo>
                  <a:lnTo>
                    <a:pt x="36677" y="1171448"/>
                  </a:lnTo>
                  <a:lnTo>
                    <a:pt x="33261" y="1130046"/>
                  </a:lnTo>
                  <a:lnTo>
                    <a:pt x="30619" y="1089787"/>
                  </a:lnTo>
                  <a:lnTo>
                    <a:pt x="28397" y="1047369"/>
                  </a:lnTo>
                  <a:lnTo>
                    <a:pt x="26746" y="1004443"/>
                  </a:lnTo>
                  <a:lnTo>
                    <a:pt x="25692" y="961517"/>
                  </a:lnTo>
                  <a:lnTo>
                    <a:pt x="25400" y="918464"/>
                  </a:lnTo>
                  <a:lnTo>
                    <a:pt x="25781" y="875665"/>
                  </a:lnTo>
                  <a:lnTo>
                    <a:pt x="27114" y="833247"/>
                  </a:lnTo>
                  <a:lnTo>
                    <a:pt x="29095" y="790829"/>
                  </a:lnTo>
                  <a:lnTo>
                    <a:pt x="31940" y="748665"/>
                  </a:lnTo>
                  <a:lnTo>
                    <a:pt x="35547" y="707009"/>
                  </a:lnTo>
                  <a:lnTo>
                    <a:pt x="39814" y="665480"/>
                  </a:lnTo>
                  <a:lnTo>
                    <a:pt x="44742" y="624713"/>
                  </a:lnTo>
                  <a:lnTo>
                    <a:pt x="50419" y="584327"/>
                  </a:lnTo>
                  <a:lnTo>
                    <a:pt x="56680" y="544830"/>
                  </a:lnTo>
                  <a:lnTo>
                    <a:pt x="63588" y="505968"/>
                  </a:lnTo>
                  <a:lnTo>
                    <a:pt x="70980" y="467868"/>
                  </a:lnTo>
                  <a:lnTo>
                    <a:pt x="87630" y="394716"/>
                  </a:lnTo>
                  <a:lnTo>
                    <a:pt x="106172" y="325882"/>
                  </a:lnTo>
                  <a:lnTo>
                    <a:pt x="126568" y="262255"/>
                  </a:lnTo>
                  <a:lnTo>
                    <a:pt x="148437" y="204216"/>
                  </a:lnTo>
                  <a:lnTo>
                    <a:pt x="171627" y="152781"/>
                  </a:lnTo>
                  <a:lnTo>
                    <a:pt x="195922" y="108458"/>
                  </a:lnTo>
                  <a:lnTo>
                    <a:pt x="220789" y="72263"/>
                  </a:lnTo>
                  <a:lnTo>
                    <a:pt x="242760" y="50673"/>
                  </a:lnTo>
                  <a:lnTo>
                    <a:pt x="252412" y="70993"/>
                  </a:lnTo>
                  <a:lnTo>
                    <a:pt x="291515" y="20955"/>
                  </a:lnTo>
                  <a:lnTo>
                    <a:pt x="304927" y="3810"/>
                  </a:lnTo>
                  <a:close/>
                </a:path>
                <a:path w="2425700" h="1849120">
                  <a:moveTo>
                    <a:pt x="1021207" y="3810"/>
                  </a:moveTo>
                  <a:lnTo>
                    <a:pt x="936104" y="0"/>
                  </a:lnTo>
                  <a:lnTo>
                    <a:pt x="946581" y="23583"/>
                  </a:lnTo>
                  <a:lnTo>
                    <a:pt x="945159" y="24257"/>
                  </a:lnTo>
                  <a:lnTo>
                    <a:pt x="913104" y="57150"/>
                  </a:lnTo>
                  <a:lnTo>
                    <a:pt x="885634" y="95758"/>
                  </a:lnTo>
                  <a:lnTo>
                    <a:pt x="859396" y="141986"/>
                  </a:lnTo>
                  <a:lnTo>
                    <a:pt x="834580" y="195199"/>
                  </a:lnTo>
                  <a:lnTo>
                    <a:pt x="811377" y="254508"/>
                  </a:lnTo>
                  <a:lnTo>
                    <a:pt x="789851" y="319532"/>
                  </a:lnTo>
                  <a:lnTo>
                    <a:pt x="770178" y="389382"/>
                  </a:lnTo>
                  <a:lnTo>
                    <a:pt x="752729" y="463677"/>
                  </a:lnTo>
                  <a:lnTo>
                    <a:pt x="744867" y="502285"/>
                  </a:lnTo>
                  <a:lnTo>
                    <a:pt x="737692" y="541655"/>
                  </a:lnTo>
                  <a:lnTo>
                    <a:pt x="731075" y="581787"/>
                  </a:lnTo>
                  <a:lnTo>
                    <a:pt x="725144" y="622554"/>
                  </a:lnTo>
                  <a:lnTo>
                    <a:pt x="719975" y="664083"/>
                  </a:lnTo>
                  <a:lnTo>
                    <a:pt x="715467" y="705866"/>
                  </a:lnTo>
                  <a:lnTo>
                    <a:pt x="711733" y="748284"/>
                  </a:lnTo>
                  <a:lnTo>
                    <a:pt x="708774" y="790829"/>
                  </a:lnTo>
                  <a:lnTo>
                    <a:pt x="706564" y="833755"/>
                  </a:lnTo>
                  <a:lnTo>
                    <a:pt x="705332" y="876935"/>
                  </a:lnTo>
                  <a:lnTo>
                    <a:pt x="704850" y="919619"/>
                  </a:lnTo>
                  <a:lnTo>
                    <a:pt x="705129" y="962152"/>
                  </a:lnTo>
                  <a:lnTo>
                    <a:pt x="706170" y="1004824"/>
                  </a:lnTo>
                  <a:lnTo>
                    <a:pt x="707771" y="1047496"/>
                  </a:lnTo>
                  <a:lnTo>
                    <a:pt x="709930" y="1089787"/>
                  </a:lnTo>
                  <a:lnTo>
                    <a:pt x="712800" y="1133729"/>
                  </a:lnTo>
                  <a:lnTo>
                    <a:pt x="716241" y="1175512"/>
                  </a:lnTo>
                  <a:lnTo>
                    <a:pt x="720166" y="1216914"/>
                  </a:lnTo>
                  <a:lnTo>
                    <a:pt x="724573" y="1257681"/>
                  </a:lnTo>
                  <a:lnTo>
                    <a:pt x="729538" y="1297813"/>
                  </a:lnTo>
                  <a:lnTo>
                    <a:pt x="734999" y="1337056"/>
                  </a:lnTo>
                  <a:lnTo>
                    <a:pt x="740930" y="1375664"/>
                  </a:lnTo>
                  <a:lnTo>
                    <a:pt x="747255" y="1413383"/>
                  </a:lnTo>
                  <a:lnTo>
                    <a:pt x="761238" y="1485265"/>
                  </a:lnTo>
                  <a:lnTo>
                    <a:pt x="776693" y="1552829"/>
                  </a:lnTo>
                  <a:lnTo>
                    <a:pt x="793521" y="1615059"/>
                  </a:lnTo>
                  <a:lnTo>
                    <a:pt x="811657" y="1671320"/>
                  </a:lnTo>
                  <a:lnTo>
                    <a:pt x="830922" y="1720977"/>
                  </a:lnTo>
                  <a:lnTo>
                    <a:pt x="851192" y="1763522"/>
                  </a:lnTo>
                  <a:lnTo>
                    <a:pt x="872540" y="1798447"/>
                  </a:lnTo>
                  <a:lnTo>
                    <a:pt x="900988" y="1830197"/>
                  </a:lnTo>
                  <a:lnTo>
                    <a:pt x="939914" y="1848231"/>
                  </a:lnTo>
                  <a:lnTo>
                    <a:pt x="945248" y="1848612"/>
                  </a:lnTo>
                  <a:lnTo>
                    <a:pt x="946937" y="1824863"/>
                  </a:lnTo>
                  <a:lnTo>
                    <a:pt x="947051" y="1823339"/>
                  </a:lnTo>
                  <a:lnTo>
                    <a:pt x="911936" y="1805940"/>
                  </a:lnTo>
                  <a:lnTo>
                    <a:pt x="882942" y="1768094"/>
                  </a:lnTo>
                  <a:lnTo>
                    <a:pt x="863561" y="1731772"/>
                  </a:lnTo>
                  <a:lnTo>
                    <a:pt x="844664" y="1687449"/>
                  </a:lnTo>
                  <a:lnTo>
                    <a:pt x="826554" y="1635887"/>
                  </a:lnTo>
                  <a:lnTo>
                    <a:pt x="809409" y="1577721"/>
                  </a:lnTo>
                  <a:lnTo>
                    <a:pt x="793432" y="1513840"/>
                  </a:lnTo>
                  <a:lnTo>
                    <a:pt x="778954" y="1444879"/>
                  </a:lnTo>
                  <a:lnTo>
                    <a:pt x="765987" y="1371473"/>
                  </a:lnTo>
                  <a:lnTo>
                    <a:pt x="760107" y="1333246"/>
                  </a:lnTo>
                  <a:lnTo>
                    <a:pt x="754710" y="1294257"/>
                  </a:lnTo>
                  <a:lnTo>
                    <a:pt x="749769" y="1254506"/>
                  </a:lnTo>
                  <a:lnTo>
                    <a:pt x="745413" y="1214247"/>
                  </a:lnTo>
                  <a:lnTo>
                    <a:pt x="741527" y="1173099"/>
                  </a:lnTo>
                  <a:lnTo>
                    <a:pt x="738111" y="1131697"/>
                  </a:lnTo>
                  <a:lnTo>
                    <a:pt x="735469" y="1091438"/>
                  </a:lnTo>
                  <a:lnTo>
                    <a:pt x="733247" y="1048766"/>
                  </a:lnTo>
                  <a:lnTo>
                    <a:pt x="731608" y="1005840"/>
                  </a:lnTo>
                  <a:lnTo>
                    <a:pt x="730542" y="962787"/>
                  </a:lnTo>
                  <a:lnTo>
                    <a:pt x="730250" y="919619"/>
                  </a:lnTo>
                  <a:lnTo>
                    <a:pt x="730719" y="877189"/>
                  </a:lnTo>
                  <a:lnTo>
                    <a:pt x="731964" y="834517"/>
                  </a:lnTo>
                  <a:lnTo>
                    <a:pt x="734136" y="792099"/>
                  </a:lnTo>
                  <a:lnTo>
                    <a:pt x="737082" y="749935"/>
                  </a:lnTo>
                  <a:lnTo>
                    <a:pt x="740778" y="708152"/>
                  </a:lnTo>
                  <a:lnTo>
                    <a:pt x="745223" y="666750"/>
                  </a:lnTo>
                  <a:lnTo>
                    <a:pt x="750341" y="625729"/>
                  </a:lnTo>
                  <a:lnTo>
                    <a:pt x="756221" y="585343"/>
                  </a:lnTo>
                  <a:lnTo>
                    <a:pt x="762749" y="545719"/>
                  </a:lnTo>
                  <a:lnTo>
                    <a:pt x="769861" y="506730"/>
                  </a:lnTo>
                  <a:lnTo>
                    <a:pt x="777621" y="468757"/>
                  </a:lnTo>
                  <a:lnTo>
                    <a:pt x="785952" y="431546"/>
                  </a:lnTo>
                  <a:lnTo>
                    <a:pt x="804291" y="360426"/>
                  </a:lnTo>
                  <a:lnTo>
                    <a:pt x="824534" y="294005"/>
                  </a:lnTo>
                  <a:lnTo>
                    <a:pt x="846505" y="233045"/>
                  </a:lnTo>
                  <a:lnTo>
                    <a:pt x="870013" y="178181"/>
                  </a:lnTo>
                  <a:lnTo>
                    <a:pt x="894651" y="130048"/>
                  </a:lnTo>
                  <a:lnTo>
                    <a:pt x="920254" y="89535"/>
                  </a:lnTo>
                  <a:lnTo>
                    <a:pt x="946416" y="57404"/>
                  </a:lnTo>
                  <a:lnTo>
                    <a:pt x="957059" y="47167"/>
                  </a:lnTo>
                  <a:lnTo>
                    <a:pt x="967092" y="69723"/>
                  </a:lnTo>
                  <a:lnTo>
                    <a:pt x="1009319" y="18288"/>
                  </a:lnTo>
                  <a:lnTo>
                    <a:pt x="1021207" y="3810"/>
                  </a:lnTo>
                  <a:close/>
                </a:path>
                <a:path w="2425700" h="1849120">
                  <a:moveTo>
                    <a:pt x="1725104" y="3810"/>
                  </a:moveTo>
                  <a:lnTo>
                    <a:pt x="1640014" y="254"/>
                  </a:lnTo>
                  <a:lnTo>
                    <a:pt x="1650492" y="23672"/>
                  </a:lnTo>
                  <a:lnTo>
                    <a:pt x="1649285" y="24257"/>
                  </a:lnTo>
                  <a:lnTo>
                    <a:pt x="1617281" y="57150"/>
                  </a:lnTo>
                  <a:lnTo>
                    <a:pt x="1589849" y="95885"/>
                  </a:lnTo>
                  <a:lnTo>
                    <a:pt x="1563814" y="141986"/>
                  </a:lnTo>
                  <a:lnTo>
                    <a:pt x="1539049" y="195199"/>
                  </a:lnTo>
                  <a:lnTo>
                    <a:pt x="1515808" y="254508"/>
                  </a:lnTo>
                  <a:lnTo>
                    <a:pt x="1494472" y="319532"/>
                  </a:lnTo>
                  <a:lnTo>
                    <a:pt x="1474787" y="389382"/>
                  </a:lnTo>
                  <a:lnTo>
                    <a:pt x="1457515" y="463677"/>
                  </a:lnTo>
                  <a:lnTo>
                    <a:pt x="1449641" y="502285"/>
                  </a:lnTo>
                  <a:lnTo>
                    <a:pt x="1442402" y="541655"/>
                  </a:lnTo>
                  <a:lnTo>
                    <a:pt x="1435798" y="581787"/>
                  </a:lnTo>
                  <a:lnTo>
                    <a:pt x="1429956" y="622554"/>
                  </a:lnTo>
                  <a:lnTo>
                    <a:pt x="1424749" y="664083"/>
                  </a:lnTo>
                  <a:lnTo>
                    <a:pt x="1420164" y="705866"/>
                  </a:lnTo>
                  <a:lnTo>
                    <a:pt x="1416494" y="748284"/>
                  </a:lnTo>
                  <a:lnTo>
                    <a:pt x="1413573" y="790829"/>
                  </a:lnTo>
                  <a:lnTo>
                    <a:pt x="1411401" y="833755"/>
                  </a:lnTo>
                  <a:lnTo>
                    <a:pt x="1410144" y="876935"/>
                  </a:lnTo>
                  <a:lnTo>
                    <a:pt x="1409763" y="919619"/>
                  </a:lnTo>
                  <a:lnTo>
                    <a:pt x="1410004" y="962152"/>
                  </a:lnTo>
                  <a:lnTo>
                    <a:pt x="1411008" y="1004824"/>
                  </a:lnTo>
                  <a:lnTo>
                    <a:pt x="1411020" y="1005840"/>
                  </a:lnTo>
                  <a:lnTo>
                    <a:pt x="1412633" y="1047496"/>
                  </a:lnTo>
                  <a:lnTo>
                    <a:pt x="1414754" y="1089787"/>
                  </a:lnTo>
                  <a:lnTo>
                    <a:pt x="1417637" y="1133729"/>
                  </a:lnTo>
                  <a:lnTo>
                    <a:pt x="1421066" y="1175512"/>
                  </a:lnTo>
                  <a:lnTo>
                    <a:pt x="1425003" y="1216914"/>
                  </a:lnTo>
                  <a:lnTo>
                    <a:pt x="1429448" y="1257681"/>
                  </a:lnTo>
                  <a:lnTo>
                    <a:pt x="1434401" y="1297813"/>
                  </a:lnTo>
                  <a:lnTo>
                    <a:pt x="1439862" y="1337056"/>
                  </a:lnTo>
                  <a:lnTo>
                    <a:pt x="1445831" y="1375664"/>
                  </a:lnTo>
                  <a:lnTo>
                    <a:pt x="1452054" y="1413383"/>
                  </a:lnTo>
                  <a:lnTo>
                    <a:pt x="1466151" y="1485265"/>
                  </a:lnTo>
                  <a:lnTo>
                    <a:pt x="1481518" y="1552829"/>
                  </a:lnTo>
                  <a:lnTo>
                    <a:pt x="1498409" y="1615059"/>
                  </a:lnTo>
                  <a:lnTo>
                    <a:pt x="1516443" y="1671320"/>
                  </a:lnTo>
                  <a:lnTo>
                    <a:pt x="1535747" y="1720977"/>
                  </a:lnTo>
                  <a:lnTo>
                    <a:pt x="1556067" y="1763522"/>
                  </a:lnTo>
                  <a:lnTo>
                    <a:pt x="1577403" y="1798447"/>
                  </a:lnTo>
                  <a:lnTo>
                    <a:pt x="1605851" y="1830197"/>
                  </a:lnTo>
                  <a:lnTo>
                    <a:pt x="1644713" y="1848231"/>
                  </a:lnTo>
                  <a:lnTo>
                    <a:pt x="1650047" y="1848612"/>
                  </a:lnTo>
                  <a:lnTo>
                    <a:pt x="1651825" y="1824863"/>
                  </a:lnTo>
                  <a:lnTo>
                    <a:pt x="1651952" y="1823339"/>
                  </a:lnTo>
                  <a:lnTo>
                    <a:pt x="1616773" y="1805940"/>
                  </a:lnTo>
                  <a:lnTo>
                    <a:pt x="1587817" y="1768094"/>
                  </a:lnTo>
                  <a:lnTo>
                    <a:pt x="1568386" y="1731772"/>
                  </a:lnTo>
                  <a:lnTo>
                    <a:pt x="1549463" y="1687449"/>
                  </a:lnTo>
                  <a:lnTo>
                    <a:pt x="1531429" y="1635887"/>
                  </a:lnTo>
                  <a:lnTo>
                    <a:pt x="1514284" y="1577721"/>
                  </a:lnTo>
                  <a:lnTo>
                    <a:pt x="1498282" y="1513840"/>
                  </a:lnTo>
                  <a:lnTo>
                    <a:pt x="1483804" y="1444879"/>
                  </a:lnTo>
                  <a:lnTo>
                    <a:pt x="1470850" y="1371473"/>
                  </a:lnTo>
                  <a:lnTo>
                    <a:pt x="1465008" y="1333246"/>
                  </a:lnTo>
                  <a:lnTo>
                    <a:pt x="1459547" y="1294257"/>
                  </a:lnTo>
                  <a:lnTo>
                    <a:pt x="1454594" y="1254506"/>
                  </a:lnTo>
                  <a:lnTo>
                    <a:pt x="1450276" y="1214247"/>
                  </a:lnTo>
                  <a:lnTo>
                    <a:pt x="1446339" y="1173099"/>
                  </a:lnTo>
                  <a:lnTo>
                    <a:pt x="1442910" y="1131697"/>
                  </a:lnTo>
                  <a:lnTo>
                    <a:pt x="1440345" y="1091438"/>
                  </a:lnTo>
                  <a:lnTo>
                    <a:pt x="1438148" y="1048766"/>
                  </a:lnTo>
                  <a:lnTo>
                    <a:pt x="1436471" y="1005840"/>
                  </a:lnTo>
                  <a:lnTo>
                    <a:pt x="1435430" y="962787"/>
                  </a:lnTo>
                  <a:lnTo>
                    <a:pt x="1435036" y="919619"/>
                  </a:lnTo>
                  <a:lnTo>
                    <a:pt x="1435544" y="877189"/>
                  </a:lnTo>
                  <a:lnTo>
                    <a:pt x="1436814" y="834517"/>
                  </a:lnTo>
                  <a:lnTo>
                    <a:pt x="1438973" y="792099"/>
                  </a:lnTo>
                  <a:lnTo>
                    <a:pt x="1441894" y="749935"/>
                  </a:lnTo>
                  <a:lnTo>
                    <a:pt x="1445577" y="708152"/>
                  </a:lnTo>
                  <a:lnTo>
                    <a:pt x="1450022" y="666750"/>
                  </a:lnTo>
                  <a:lnTo>
                    <a:pt x="1455102" y="625729"/>
                  </a:lnTo>
                  <a:lnTo>
                    <a:pt x="1460944" y="585343"/>
                  </a:lnTo>
                  <a:lnTo>
                    <a:pt x="1467548" y="545719"/>
                  </a:lnTo>
                  <a:lnTo>
                    <a:pt x="1474660" y="506730"/>
                  </a:lnTo>
                  <a:lnTo>
                    <a:pt x="1482407" y="468757"/>
                  </a:lnTo>
                  <a:lnTo>
                    <a:pt x="1490662" y="431546"/>
                  </a:lnTo>
                  <a:lnTo>
                    <a:pt x="1508823" y="360426"/>
                  </a:lnTo>
                  <a:lnTo>
                    <a:pt x="1529143" y="294005"/>
                  </a:lnTo>
                  <a:lnTo>
                    <a:pt x="1550987" y="233045"/>
                  </a:lnTo>
                  <a:lnTo>
                    <a:pt x="1574355" y="178054"/>
                  </a:lnTo>
                  <a:lnTo>
                    <a:pt x="1598993" y="130048"/>
                  </a:lnTo>
                  <a:lnTo>
                    <a:pt x="1624520" y="89535"/>
                  </a:lnTo>
                  <a:lnTo>
                    <a:pt x="1650555" y="57404"/>
                  </a:lnTo>
                  <a:lnTo>
                    <a:pt x="1661045" y="47218"/>
                  </a:lnTo>
                  <a:lnTo>
                    <a:pt x="1671129" y="69723"/>
                  </a:lnTo>
                  <a:lnTo>
                    <a:pt x="1713242" y="18288"/>
                  </a:lnTo>
                  <a:lnTo>
                    <a:pt x="1725104" y="3810"/>
                  </a:lnTo>
                  <a:close/>
                </a:path>
                <a:path w="2425700" h="1849120">
                  <a:moveTo>
                    <a:pt x="2425128" y="3810"/>
                  </a:moveTo>
                  <a:lnTo>
                    <a:pt x="2340038" y="889"/>
                  </a:lnTo>
                  <a:lnTo>
                    <a:pt x="2351633" y="26238"/>
                  </a:lnTo>
                  <a:lnTo>
                    <a:pt x="2334831" y="38862"/>
                  </a:lnTo>
                  <a:lnTo>
                    <a:pt x="2334069" y="39370"/>
                  </a:lnTo>
                  <a:lnTo>
                    <a:pt x="2333434" y="40005"/>
                  </a:lnTo>
                  <a:lnTo>
                    <a:pt x="2332799" y="40767"/>
                  </a:lnTo>
                  <a:lnTo>
                    <a:pt x="2318829" y="57023"/>
                  </a:lnTo>
                  <a:lnTo>
                    <a:pt x="2291905" y="95504"/>
                  </a:lnTo>
                  <a:lnTo>
                    <a:pt x="2266251" y="141605"/>
                  </a:lnTo>
                  <a:lnTo>
                    <a:pt x="2241867" y="194437"/>
                  </a:lnTo>
                  <a:lnTo>
                    <a:pt x="2219007" y="253619"/>
                  </a:lnTo>
                  <a:lnTo>
                    <a:pt x="2197925" y="318389"/>
                  </a:lnTo>
                  <a:lnTo>
                    <a:pt x="2178748" y="387985"/>
                  </a:lnTo>
                  <a:lnTo>
                    <a:pt x="2161603" y="462026"/>
                  </a:lnTo>
                  <a:lnTo>
                    <a:pt x="2153856" y="500380"/>
                  </a:lnTo>
                  <a:lnTo>
                    <a:pt x="2146744" y="539750"/>
                  </a:lnTo>
                  <a:lnTo>
                    <a:pt x="2140267" y="579628"/>
                  </a:lnTo>
                  <a:lnTo>
                    <a:pt x="2134425" y="620395"/>
                  </a:lnTo>
                  <a:lnTo>
                    <a:pt x="2129345" y="661670"/>
                  </a:lnTo>
                  <a:lnTo>
                    <a:pt x="2125027" y="703326"/>
                  </a:lnTo>
                  <a:lnTo>
                    <a:pt x="2121217" y="745617"/>
                  </a:lnTo>
                  <a:lnTo>
                    <a:pt x="2118423" y="788035"/>
                  </a:lnTo>
                  <a:lnTo>
                    <a:pt x="2116264" y="830834"/>
                  </a:lnTo>
                  <a:lnTo>
                    <a:pt x="2114994" y="873760"/>
                  </a:lnTo>
                  <a:lnTo>
                    <a:pt x="2114613" y="916178"/>
                  </a:lnTo>
                  <a:lnTo>
                    <a:pt x="2114854" y="958850"/>
                  </a:lnTo>
                  <a:lnTo>
                    <a:pt x="2115858" y="1001268"/>
                  </a:lnTo>
                  <a:lnTo>
                    <a:pt x="2117471" y="1043686"/>
                  </a:lnTo>
                  <a:lnTo>
                    <a:pt x="2119604" y="1085850"/>
                  </a:lnTo>
                  <a:lnTo>
                    <a:pt x="2122487" y="1129665"/>
                  </a:lnTo>
                  <a:lnTo>
                    <a:pt x="2125916" y="1171321"/>
                  </a:lnTo>
                  <a:lnTo>
                    <a:pt x="2129853" y="1212596"/>
                  </a:lnTo>
                  <a:lnTo>
                    <a:pt x="2134298" y="1253236"/>
                  </a:lnTo>
                  <a:lnTo>
                    <a:pt x="2139251" y="1293241"/>
                  </a:lnTo>
                  <a:lnTo>
                    <a:pt x="2144712" y="1332357"/>
                  </a:lnTo>
                  <a:lnTo>
                    <a:pt x="2150681" y="1370711"/>
                  </a:lnTo>
                  <a:lnTo>
                    <a:pt x="2156904" y="1408303"/>
                  </a:lnTo>
                  <a:lnTo>
                    <a:pt x="2171001" y="1480058"/>
                  </a:lnTo>
                  <a:lnTo>
                    <a:pt x="2186368" y="1547368"/>
                  </a:lnTo>
                  <a:lnTo>
                    <a:pt x="2203259" y="1609217"/>
                  </a:lnTo>
                  <a:lnTo>
                    <a:pt x="2221293" y="1665351"/>
                  </a:lnTo>
                  <a:lnTo>
                    <a:pt x="2240597" y="1714754"/>
                  </a:lnTo>
                  <a:lnTo>
                    <a:pt x="2260917" y="1757299"/>
                  </a:lnTo>
                  <a:lnTo>
                    <a:pt x="2282253" y="1792097"/>
                  </a:lnTo>
                  <a:lnTo>
                    <a:pt x="2310574" y="1823593"/>
                  </a:lnTo>
                  <a:lnTo>
                    <a:pt x="2349817" y="1841881"/>
                  </a:lnTo>
                  <a:lnTo>
                    <a:pt x="2355151" y="1842135"/>
                  </a:lnTo>
                  <a:lnTo>
                    <a:pt x="2356447" y="1818513"/>
                  </a:lnTo>
                  <a:lnTo>
                    <a:pt x="2356548" y="1816735"/>
                  </a:lnTo>
                  <a:lnTo>
                    <a:pt x="2321496" y="1799336"/>
                  </a:lnTo>
                  <a:lnTo>
                    <a:pt x="2292667" y="1761744"/>
                  </a:lnTo>
                  <a:lnTo>
                    <a:pt x="2273236" y="1725549"/>
                  </a:lnTo>
                  <a:lnTo>
                    <a:pt x="2254313" y="1681353"/>
                  </a:lnTo>
                  <a:lnTo>
                    <a:pt x="2236279" y="1630045"/>
                  </a:lnTo>
                  <a:lnTo>
                    <a:pt x="2219134" y="1572133"/>
                  </a:lnTo>
                  <a:lnTo>
                    <a:pt x="2203132" y="1508379"/>
                  </a:lnTo>
                  <a:lnTo>
                    <a:pt x="2188654" y="1439672"/>
                  </a:lnTo>
                  <a:lnTo>
                    <a:pt x="2175700" y="1366520"/>
                  </a:lnTo>
                  <a:lnTo>
                    <a:pt x="2169858" y="1328420"/>
                  </a:lnTo>
                  <a:lnTo>
                    <a:pt x="2164397" y="1289685"/>
                  </a:lnTo>
                  <a:lnTo>
                    <a:pt x="2159444" y="1250061"/>
                  </a:lnTo>
                  <a:lnTo>
                    <a:pt x="2155126" y="1209802"/>
                  </a:lnTo>
                  <a:lnTo>
                    <a:pt x="2151189" y="1168908"/>
                  </a:lnTo>
                  <a:lnTo>
                    <a:pt x="2147760" y="1127506"/>
                  </a:lnTo>
                  <a:lnTo>
                    <a:pt x="2145195" y="1087501"/>
                  </a:lnTo>
                  <a:lnTo>
                    <a:pt x="2142998" y="1045083"/>
                  </a:lnTo>
                  <a:lnTo>
                    <a:pt x="2141321" y="1002284"/>
                  </a:lnTo>
                  <a:lnTo>
                    <a:pt x="2140280" y="959485"/>
                  </a:lnTo>
                  <a:lnTo>
                    <a:pt x="2139886" y="916317"/>
                  </a:lnTo>
                  <a:lnTo>
                    <a:pt x="2140394" y="874014"/>
                  </a:lnTo>
                  <a:lnTo>
                    <a:pt x="2141664" y="831596"/>
                  </a:lnTo>
                  <a:lnTo>
                    <a:pt x="2143696" y="789305"/>
                  </a:lnTo>
                  <a:lnTo>
                    <a:pt x="2146617" y="747268"/>
                  </a:lnTo>
                  <a:lnTo>
                    <a:pt x="2150300" y="705612"/>
                  </a:lnTo>
                  <a:lnTo>
                    <a:pt x="2154618" y="664337"/>
                  </a:lnTo>
                  <a:lnTo>
                    <a:pt x="2159698" y="623443"/>
                  </a:lnTo>
                  <a:lnTo>
                    <a:pt x="2165413" y="583311"/>
                  </a:lnTo>
                  <a:lnTo>
                    <a:pt x="2171763" y="543814"/>
                  </a:lnTo>
                  <a:lnTo>
                    <a:pt x="2178748" y="504952"/>
                  </a:lnTo>
                  <a:lnTo>
                    <a:pt x="2186495" y="467106"/>
                  </a:lnTo>
                  <a:lnTo>
                    <a:pt x="2203386" y="394081"/>
                  </a:lnTo>
                  <a:lnTo>
                    <a:pt x="2222309" y="325374"/>
                  </a:lnTo>
                  <a:lnTo>
                    <a:pt x="2243137" y="261874"/>
                  </a:lnTo>
                  <a:lnTo>
                    <a:pt x="2265362" y="203962"/>
                  </a:lnTo>
                  <a:lnTo>
                    <a:pt x="2289111" y="152654"/>
                  </a:lnTo>
                  <a:lnTo>
                    <a:pt x="2313749" y="108458"/>
                  </a:lnTo>
                  <a:lnTo>
                    <a:pt x="2339149" y="72263"/>
                  </a:lnTo>
                  <a:lnTo>
                    <a:pt x="2350452" y="59182"/>
                  </a:lnTo>
                  <a:lnTo>
                    <a:pt x="2351163" y="58356"/>
                  </a:lnTo>
                  <a:lnTo>
                    <a:pt x="2352598" y="57277"/>
                  </a:lnTo>
                  <a:lnTo>
                    <a:pt x="2362454" y="49872"/>
                  </a:lnTo>
                  <a:lnTo>
                    <a:pt x="2371788" y="70231"/>
                  </a:lnTo>
                  <a:lnTo>
                    <a:pt x="2412073" y="20066"/>
                  </a:lnTo>
                  <a:lnTo>
                    <a:pt x="2425128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357375" y="766698"/>
              <a:ext cx="3935729" cy="1916430"/>
            </a:xfrm>
            <a:custGeom>
              <a:avLst/>
              <a:gdLst/>
              <a:ahLst/>
              <a:cxnLst/>
              <a:rect l="l" t="t" r="r" b="b"/>
              <a:pathLst>
                <a:path w="3935729" h="1916430">
                  <a:moveTo>
                    <a:pt x="1390650" y="114426"/>
                  </a:moveTo>
                  <a:lnTo>
                    <a:pt x="1390650" y="0"/>
                  </a:lnTo>
                  <a:lnTo>
                    <a:pt x="3927729" y="0"/>
                  </a:lnTo>
                  <a:lnTo>
                    <a:pt x="3927729" y="1909826"/>
                  </a:lnTo>
                </a:path>
                <a:path w="3935729" h="1916430">
                  <a:moveTo>
                    <a:pt x="695325" y="114426"/>
                  </a:moveTo>
                  <a:lnTo>
                    <a:pt x="695325" y="10413"/>
                  </a:lnTo>
                  <a:lnTo>
                    <a:pt x="3929507" y="10413"/>
                  </a:lnTo>
                  <a:lnTo>
                    <a:pt x="3929507" y="1916430"/>
                  </a:lnTo>
                </a:path>
                <a:path w="3935729" h="1916430">
                  <a:moveTo>
                    <a:pt x="0" y="114426"/>
                  </a:moveTo>
                  <a:lnTo>
                    <a:pt x="0" y="10413"/>
                  </a:lnTo>
                  <a:lnTo>
                    <a:pt x="3935603" y="10413"/>
                  </a:lnTo>
                  <a:lnTo>
                    <a:pt x="3935603" y="191643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20712" y="759205"/>
              <a:ext cx="4703445" cy="1921510"/>
            </a:xfrm>
            <a:custGeom>
              <a:avLst/>
              <a:gdLst/>
              <a:ahLst/>
              <a:cxnLst/>
              <a:rect l="l" t="t" r="r" b="b"/>
              <a:pathLst>
                <a:path w="4703445" h="1921510">
                  <a:moveTo>
                    <a:pt x="4652073" y="1844802"/>
                  </a:moveTo>
                  <a:lnTo>
                    <a:pt x="4626673" y="1844802"/>
                  </a:lnTo>
                  <a:lnTo>
                    <a:pt x="4664773" y="1921002"/>
                  </a:lnTo>
                  <a:lnTo>
                    <a:pt x="4696523" y="1857502"/>
                  </a:lnTo>
                  <a:lnTo>
                    <a:pt x="4652073" y="1857502"/>
                  </a:lnTo>
                  <a:lnTo>
                    <a:pt x="4652073" y="1844802"/>
                  </a:lnTo>
                  <a:close/>
                </a:path>
                <a:path w="4703445" h="1921510">
                  <a:moveTo>
                    <a:pt x="4652073" y="12700"/>
                  </a:moveTo>
                  <a:lnTo>
                    <a:pt x="4652073" y="1857502"/>
                  </a:lnTo>
                  <a:lnTo>
                    <a:pt x="4677473" y="1857502"/>
                  </a:lnTo>
                  <a:lnTo>
                    <a:pt x="4677473" y="25400"/>
                  </a:lnTo>
                  <a:lnTo>
                    <a:pt x="4664773" y="25400"/>
                  </a:lnTo>
                  <a:lnTo>
                    <a:pt x="4652073" y="12700"/>
                  </a:lnTo>
                  <a:close/>
                </a:path>
                <a:path w="4703445" h="1921510">
                  <a:moveTo>
                    <a:pt x="4702873" y="1844802"/>
                  </a:moveTo>
                  <a:lnTo>
                    <a:pt x="4677473" y="1844802"/>
                  </a:lnTo>
                  <a:lnTo>
                    <a:pt x="4677473" y="1857502"/>
                  </a:lnTo>
                  <a:lnTo>
                    <a:pt x="4696523" y="1857502"/>
                  </a:lnTo>
                  <a:lnTo>
                    <a:pt x="4702873" y="1844802"/>
                  </a:lnTo>
                  <a:close/>
                </a:path>
                <a:path w="4703445" h="1921510">
                  <a:moveTo>
                    <a:pt x="4671758" y="0"/>
                  </a:moveTo>
                  <a:lnTo>
                    <a:pt x="5689" y="0"/>
                  </a:lnTo>
                  <a:lnTo>
                    <a:pt x="0" y="5715"/>
                  </a:lnTo>
                  <a:lnTo>
                    <a:pt x="0" y="121920"/>
                  </a:lnTo>
                  <a:lnTo>
                    <a:pt x="25400" y="121920"/>
                  </a:lnTo>
                  <a:lnTo>
                    <a:pt x="25400" y="25400"/>
                  </a:lnTo>
                  <a:lnTo>
                    <a:pt x="12700" y="25400"/>
                  </a:lnTo>
                  <a:lnTo>
                    <a:pt x="25400" y="12700"/>
                  </a:lnTo>
                  <a:lnTo>
                    <a:pt x="4677473" y="12700"/>
                  </a:lnTo>
                  <a:lnTo>
                    <a:pt x="4677473" y="5715"/>
                  </a:lnTo>
                  <a:lnTo>
                    <a:pt x="4671758" y="0"/>
                  </a:lnTo>
                  <a:close/>
                </a:path>
                <a:path w="4703445" h="1921510">
                  <a:moveTo>
                    <a:pt x="25400" y="12700"/>
                  </a:moveTo>
                  <a:lnTo>
                    <a:pt x="12700" y="25400"/>
                  </a:lnTo>
                  <a:lnTo>
                    <a:pt x="25400" y="25400"/>
                  </a:lnTo>
                  <a:lnTo>
                    <a:pt x="25400" y="12700"/>
                  </a:lnTo>
                  <a:close/>
                </a:path>
                <a:path w="4703445" h="1921510">
                  <a:moveTo>
                    <a:pt x="4652073" y="12700"/>
                  </a:moveTo>
                  <a:lnTo>
                    <a:pt x="25400" y="12700"/>
                  </a:lnTo>
                  <a:lnTo>
                    <a:pt x="25400" y="25400"/>
                  </a:lnTo>
                  <a:lnTo>
                    <a:pt x="4652073" y="25400"/>
                  </a:lnTo>
                  <a:lnTo>
                    <a:pt x="4652073" y="12700"/>
                  </a:lnTo>
                  <a:close/>
                </a:path>
                <a:path w="4703445" h="1921510">
                  <a:moveTo>
                    <a:pt x="4677473" y="12700"/>
                  </a:moveTo>
                  <a:lnTo>
                    <a:pt x="4652073" y="12700"/>
                  </a:lnTo>
                  <a:lnTo>
                    <a:pt x="4664773" y="25400"/>
                  </a:lnTo>
                  <a:lnTo>
                    <a:pt x="4677473" y="25400"/>
                  </a:lnTo>
                  <a:lnTo>
                    <a:pt x="4677473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58150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005576" y="3443287"/>
            <a:ext cx="314325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6043676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273" y="418338"/>
                </a:lnTo>
                <a:lnTo>
                  <a:pt x="50673" y="418338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79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938901" y="2147951"/>
            <a:ext cx="76835" cy="422275"/>
          </a:xfrm>
          <a:custGeom>
            <a:avLst/>
            <a:gdLst/>
            <a:ahLst/>
            <a:cxnLst/>
            <a:rect l="l" t="t" r="r" b="b"/>
            <a:pathLst>
              <a:path w="76835" h="422275">
                <a:moveTo>
                  <a:pt x="50800" y="63500"/>
                </a:moveTo>
                <a:lnTo>
                  <a:pt x="25400" y="63500"/>
                </a:lnTo>
                <a:lnTo>
                  <a:pt x="25400" y="421767"/>
                </a:lnTo>
                <a:lnTo>
                  <a:pt x="50800" y="421767"/>
                </a:lnTo>
                <a:lnTo>
                  <a:pt x="50800" y="63500"/>
                </a:lnTo>
                <a:close/>
              </a:path>
              <a:path w="76835" h="422275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903" y="63500"/>
                </a:lnTo>
                <a:lnTo>
                  <a:pt x="38100" y="0"/>
                </a:lnTo>
                <a:close/>
              </a:path>
              <a:path w="76835" h="422275">
                <a:moveTo>
                  <a:pt x="69903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63" y="76200"/>
                </a:lnTo>
                <a:lnTo>
                  <a:pt x="6990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598525" y="1014475"/>
            <a:ext cx="5302885" cy="2693035"/>
            <a:chOff x="598525" y="1014475"/>
            <a:chExt cx="5302885" cy="2693035"/>
          </a:xfrm>
        </p:grpSpPr>
        <p:sp>
          <p:nvSpPr>
            <p:cNvPr id="90" name="object 90"/>
            <p:cNvSpPr/>
            <p:nvPr/>
          </p:nvSpPr>
          <p:spPr>
            <a:xfrm>
              <a:off x="5278501" y="2909950"/>
              <a:ext cx="622300" cy="797560"/>
            </a:xfrm>
            <a:custGeom>
              <a:avLst/>
              <a:gdLst/>
              <a:ahLst/>
              <a:cxnLst/>
              <a:rect l="l" t="t" r="r" b="b"/>
              <a:pathLst>
                <a:path w="622300" h="797560">
                  <a:moveTo>
                    <a:pt x="344678" y="758952"/>
                  </a:moveTo>
                  <a:lnTo>
                    <a:pt x="319278" y="746252"/>
                  </a:lnTo>
                  <a:lnTo>
                    <a:pt x="268478" y="720852"/>
                  </a:lnTo>
                  <a:lnTo>
                    <a:pt x="268478" y="746252"/>
                  </a:lnTo>
                  <a:lnTo>
                    <a:pt x="25400" y="746252"/>
                  </a:lnTo>
                  <a:lnTo>
                    <a:pt x="25400" y="0"/>
                  </a:lnTo>
                  <a:lnTo>
                    <a:pt x="0" y="0"/>
                  </a:lnTo>
                  <a:lnTo>
                    <a:pt x="0" y="765937"/>
                  </a:lnTo>
                  <a:lnTo>
                    <a:pt x="5588" y="771652"/>
                  </a:lnTo>
                  <a:lnTo>
                    <a:pt x="268478" y="771652"/>
                  </a:lnTo>
                  <a:lnTo>
                    <a:pt x="268478" y="797052"/>
                  </a:lnTo>
                  <a:lnTo>
                    <a:pt x="319278" y="771652"/>
                  </a:lnTo>
                  <a:lnTo>
                    <a:pt x="344678" y="758952"/>
                  </a:lnTo>
                  <a:close/>
                </a:path>
                <a:path w="622300" h="797560">
                  <a:moveTo>
                    <a:pt x="622300" y="190500"/>
                  </a:moveTo>
                  <a:lnTo>
                    <a:pt x="615950" y="177800"/>
                  </a:lnTo>
                  <a:lnTo>
                    <a:pt x="584200" y="114300"/>
                  </a:lnTo>
                  <a:lnTo>
                    <a:pt x="546100" y="190500"/>
                  </a:lnTo>
                  <a:lnTo>
                    <a:pt x="571487" y="190500"/>
                  </a:lnTo>
                  <a:lnTo>
                    <a:pt x="571373" y="532638"/>
                  </a:lnTo>
                  <a:lnTo>
                    <a:pt x="596773" y="532638"/>
                  </a:lnTo>
                  <a:lnTo>
                    <a:pt x="596773" y="190500"/>
                  </a:lnTo>
                  <a:lnTo>
                    <a:pt x="622300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09925" y="1014475"/>
              <a:ext cx="76263" cy="126111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14727" y="1024000"/>
              <a:ext cx="76200" cy="12395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11275" y="1024000"/>
              <a:ext cx="76200" cy="1270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8525" y="1014475"/>
              <a:ext cx="76136" cy="13906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767451" y="2795524"/>
              <a:ext cx="38100" cy="47625"/>
            </a:xfrm>
            <a:custGeom>
              <a:avLst/>
              <a:gdLst/>
              <a:ahLst/>
              <a:cxnLst/>
              <a:rect l="l" t="t" r="r" b="b"/>
              <a:pathLst>
                <a:path w="38100" h="47625">
                  <a:moveTo>
                    <a:pt x="0" y="0"/>
                  </a:moveTo>
                  <a:lnTo>
                    <a:pt x="0" y="47625"/>
                  </a:lnTo>
                  <a:lnTo>
                    <a:pt x="38100" y="23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67451" y="2795524"/>
              <a:ext cx="38100" cy="47625"/>
            </a:xfrm>
            <a:custGeom>
              <a:avLst/>
              <a:gdLst/>
              <a:ahLst/>
              <a:cxnLst/>
              <a:rect l="l" t="t" r="r" b="b"/>
              <a:pathLst>
                <a:path w="38100" h="47625">
                  <a:moveTo>
                    <a:pt x="0" y="0"/>
                  </a:moveTo>
                  <a:lnTo>
                    <a:pt x="38100" y="23875"/>
                  </a:lnTo>
                  <a:lnTo>
                    <a:pt x="0" y="4762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6632829" y="2195766"/>
            <a:ext cx="246189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context</a:t>
            </a:r>
            <a:r>
              <a:rPr sz="1500" b="1" spc="-7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vector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as </a:t>
            </a:r>
            <a:r>
              <a:rPr sz="1500" dirty="0">
                <a:latin typeface="Arial"/>
                <a:cs typeface="Arial"/>
              </a:rPr>
              <a:t>weighted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sum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hidden states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sz="2250" baseline="11111" dirty="0">
                <a:latin typeface="Arial"/>
                <a:cs typeface="Arial"/>
              </a:rPr>
              <a:t>c</a:t>
            </a:r>
            <a:r>
              <a:rPr sz="950" dirty="0">
                <a:latin typeface="Arial"/>
                <a:cs typeface="Arial"/>
              </a:rPr>
              <a:t>t</a:t>
            </a:r>
            <a:r>
              <a:rPr sz="950" spc="145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</a:t>
            </a:r>
            <a:r>
              <a:rPr sz="2250" spc="-15" baseline="11111" dirty="0">
                <a:latin typeface="Arial"/>
                <a:cs typeface="Arial"/>
              </a:rPr>
              <a:t> ∑</a:t>
            </a:r>
            <a:r>
              <a:rPr sz="950" spc="-10" dirty="0">
                <a:latin typeface="Arial"/>
                <a:cs typeface="Arial"/>
              </a:rPr>
              <a:t>i</a:t>
            </a:r>
            <a:r>
              <a:rPr sz="2250" spc="-15" baseline="11111" dirty="0">
                <a:latin typeface="Arial"/>
                <a:cs typeface="Arial"/>
              </a:rPr>
              <a:t>a</a:t>
            </a:r>
            <a:r>
              <a:rPr sz="950" spc="-10" dirty="0">
                <a:latin typeface="Arial"/>
                <a:cs typeface="Arial"/>
              </a:rPr>
              <a:t>t,i</a:t>
            </a:r>
            <a:r>
              <a:rPr sz="2250" spc="-15" baseline="11111" dirty="0">
                <a:latin typeface="Arial"/>
                <a:cs typeface="Arial"/>
              </a:rPr>
              <a:t>h</a:t>
            </a:r>
            <a:r>
              <a:rPr sz="950" spc="-10" dirty="0"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  <a:p>
            <a:pPr marL="38735" marR="120650">
              <a:lnSpc>
                <a:spcPct val="100000"/>
              </a:lnSpc>
              <a:spcBef>
                <a:spcPts val="390"/>
              </a:spcBef>
            </a:pPr>
            <a:r>
              <a:rPr sz="1500" dirty="0">
                <a:latin typeface="Arial"/>
                <a:cs typeface="Arial"/>
              </a:rPr>
              <a:t>Use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vector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in </a:t>
            </a:r>
            <a:r>
              <a:rPr sz="1500" dirty="0">
                <a:latin typeface="Arial"/>
                <a:cs typeface="Arial"/>
              </a:rPr>
              <a:t>decoder: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</a:t>
            </a:r>
            <a:r>
              <a:rPr sz="1425" spc="240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=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</a:t>
            </a:r>
            <a:r>
              <a:rPr sz="1425" baseline="-17543" dirty="0">
                <a:latin typeface="Arial"/>
                <a:cs typeface="Arial"/>
              </a:rPr>
              <a:t>U</a:t>
            </a:r>
            <a:r>
              <a:rPr sz="1500" dirty="0">
                <a:latin typeface="Arial"/>
                <a:cs typeface="Arial"/>
              </a:rPr>
              <a:t>(y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</a:t>
            </a:r>
            <a:r>
              <a:rPr sz="1425" spc="-37" baseline="-17543" dirty="0">
                <a:latin typeface="Arial"/>
                <a:cs typeface="Arial"/>
              </a:rPr>
              <a:t>t</a:t>
            </a:r>
            <a:r>
              <a:rPr sz="1500" spc="-25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  <a:p>
            <a:pPr marL="591185" marR="328930">
              <a:lnSpc>
                <a:spcPct val="100000"/>
              </a:lnSpc>
              <a:spcBef>
                <a:spcPts val="1095"/>
              </a:spcBef>
            </a:pPr>
            <a:r>
              <a:rPr sz="1500" dirty="0">
                <a:latin typeface="Arial"/>
                <a:cs typeface="Arial"/>
              </a:rPr>
              <a:t>g</a:t>
            </a:r>
            <a:r>
              <a:rPr sz="1425" baseline="-17543" dirty="0">
                <a:latin typeface="Arial"/>
                <a:cs typeface="Arial"/>
              </a:rPr>
              <a:t>U</a:t>
            </a:r>
            <a:r>
              <a:rPr sz="1425" spc="3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an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RNN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unit </a:t>
            </a:r>
            <a:r>
              <a:rPr sz="1500" dirty="0">
                <a:latin typeface="Arial"/>
                <a:cs typeface="Arial"/>
              </a:rPr>
              <a:t>(e.g.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LSTM,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GRU)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4" name="object 1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17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15" name="object 1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98" name="object 98"/>
          <p:cNvSpPr txBox="1"/>
          <p:nvPr/>
        </p:nvSpPr>
        <p:spPr>
          <a:xfrm>
            <a:off x="5711190" y="4211637"/>
            <a:ext cx="540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sp>
        <p:nvSpPr>
          <p:cNvPr id="99" name="object 99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100" name="object 100"/>
          <p:cNvSpPr txBox="1"/>
          <p:nvPr/>
        </p:nvSpPr>
        <p:spPr>
          <a:xfrm>
            <a:off x="3155314" y="1801812"/>
            <a:ext cx="208280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hidden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state: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466459" y="1446911"/>
            <a:ext cx="237744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Normalize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alignment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to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get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attention</a:t>
            </a:r>
            <a:r>
              <a:rPr sz="1500" b="1" spc="1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weights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466459" y="1905317"/>
            <a:ext cx="87566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2455" algn="l"/>
              </a:tabLst>
            </a:pPr>
            <a:r>
              <a:rPr sz="1500" dirty="0">
                <a:latin typeface="Arial"/>
                <a:cs typeface="Arial"/>
              </a:rPr>
              <a:t>0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&lt;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	&lt;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895465" y="2010092"/>
            <a:ext cx="10229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79780" algn="l"/>
              </a:tabLst>
            </a:pPr>
            <a:r>
              <a:rPr sz="950" spc="-25" dirty="0">
                <a:latin typeface="Arial"/>
                <a:cs typeface="Arial"/>
              </a:rPr>
              <a:t>t,i</a:t>
            </a:r>
            <a:r>
              <a:rPr sz="950" dirty="0">
                <a:latin typeface="Arial"/>
                <a:cs typeface="Arial"/>
              </a:rPr>
              <a:t>	i</a:t>
            </a:r>
            <a:r>
              <a:rPr sz="950" spc="155" dirty="0">
                <a:latin typeface="Arial"/>
                <a:cs typeface="Arial"/>
              </a:rPr>
              <a:t>  </a:t>
            </a:r>
            <a:r>
              <a:rPr sz="950" spc="-25" dirty="0">
                <a:latin typeface="Arial"/>
                <a:cs typeface="Arial"/>
              </a:rPr>
              <a:t>t,i</a:t>
            </a:r>
            <a:endParaRPr sz="95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526401" y="1905317"/>
            <a:ext cx="7181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975" algn="l"/>
              </a:tabLst>
            </a:pPr>
            <a:r>
              <a:rPr sz="1500" spc="-20" dirty="0">
                <a:latin typeface="Arial"/>
                <a:cs typeface="Arial"/>
              </a:rPr>
              <a:t>∑</a:t>
            </a:r>
            <a:r>
              <a:rPr sz="1500" spc="-18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	=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513704" y="806767"/>
            <a:ext cx="31064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(scalar)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alignment</a:t>
            </a:r>
            <a:r>
              <a:rPr sz="1500" b="1" spc="-7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488304" y="1073785"/>
            <a:ext cx="130048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50" baseline="11111" dirty="0">
                <a:latin typeface="Arial"/>
                <a:cs typeface="Arial"/>
              </a:rPr>
              <a:t>e</a:t>
            </a:r>
            <a:r>
              <a:rPr sz="950" dirty="0">
                <a:latin typeface="Arial"/>
                <a:cs typeface="Arial"/>
              </a:rPr>
              <a:t>t,i</a:t>
            </a:r>
            <a:r>
              <a:rPr sz="950" spc="210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 f</a:t>
            </a:r>
            <a:r>
              <a:rPr sz="950" dirty="0">
                <a:latin typeface="Arial"/>
                <a:cs typeface="Arial"/>
              </a:rPr>
              <a:t>att</a:t>
            </a:r>
            <a:r>
              <a:rPr sz="2250" baseline="11111" dirty="0">
                <a:latin typeface="Arial"/>
                <a:cs typeface="Arial"/>
              </a:rPr>
              <a:t>(s</a:t>
            </a:r>
            <a:r>
              <a:rPr sz="950" dirty="0">
                <a:latin typeface="Arial"/>
                <a:cs typeface="Arial"/>
              </a:rPr>
              <a:t>t-1</a:t>
            </a:r>
            <a:r>
              <a:rPr sz="2250" baseline="11111" dirty="0">
                <a:latin typeface="Arial"/>
                <a:cs typeface="Arial"/>
              </a:rPr>
              <a:t>,</a:t>
            </a:r>
            <a:r>
              <a:rPr sz="2250" spc="22" baseline="11111" dirty="0">
                <a:latin typeface="Arial"/>
                <a:cs typeface="Arial"/>
              </a:rPr>
              <a:t> </a:t>
            </a:r>
            <a:r>
              <a:rPr sz="2250" spc="-37" baseline="11111" dirty="0">
                <a:latin typeface="Arial"/>
                <a:cs typeface="Arial"/>
              </a:rPr>
              <a:t>h</a:t>
            </a:r>
            <a:r>
              <a:rPr sz="950" spc="-25" dirty="0">
                <a:latin typeface="Arial"/>
                <a:cs typeface="Arial"/>
              </a:rPr>
              <a:t>i</a:t>
            </a:r>
            <a:r>
              <a:rPr sz="2250" spc="-37" baseline="11111" dirty="0">
                <a:latin typeface="Arial"/>
                <a:cs typeface="Arial"/>
              </a:rPr>
              <a:t>)</a:t>
            </a:r>
            <a:endParaRPr sz="2250" baseline="11111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133168" y="1035430"/>
            <a:ext cx="1859914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(f</a:t>
            </a:r>
            <a:r>
              <a:rPr sz="1425" baseline="-17543" dirty="0">
                <a:latin typeface="Arial"/>
                <a:cs typeface="Arial"/>
              </a:rPr>
              <a:t>att</a:t>
            </a:r>
            <a:r>
              <a:rPr sz="1425" spc="21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Linear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Layer)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030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5137" y="2560701"/>
            <a:ext cx="346075" cy="469900"/>
            <a:chOff x="465137" y="2560701"/>
            <a:chExt cx="346075" cy="469900"/>
          </a:xfrm>
        </p:grpSpPr>
        <p:sp>
          <p:nvSpPr>
            <p:cNvPr id="6" name="object 6"/>
            <p:cNvSpPr/>
            <p:nvPr/>
          </p:nvSpPr>
          <p:spPr>
            <a:xfrm>
              <a:off x="47148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148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2925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69987" y="2560701"/>
            <a:ext cx="346075" cy="469900"/>
            <a:chOff x="1169987" y="2560701"/>
            <a:chExt cx="346075" cy="469900"/>
          </a:xfrm>
        </p:grpSpPr>
        <p:sp>
          <p:nvSpPr>
            <p:cNvPr id="10" name="object 10"/>
            <p:cNvSpPr/>
            <p:nvPr/>
          </p:nvSpPr>
          <p:spPr>
            <a:xfrm>
              <a:off x="117633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7633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48663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14" name="object 14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51354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18" name="object 18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79751" y="2560701"/>
            <a:ext cx="336550" cy="469900"/>
            <a:chOff x="2579751" y="2560701"/>
            <a:chExt cx="336550" cy="469900"/>
          </a:xfrm>
        </p:grpSpPr>
        <p:sp>
          <p:nvSpPr>
            <p:cNvPr id="23" name="object 23"/>
            <p:cNvSpPr/>
            <p:nvPr/>
          </p:nvSpPr>
          <p:spPr>
            <a:xfrm>
              <a:off x="2586101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86101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54300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6087" y="1960626"/>
            <a:ext cx="2339975" cy="1482725"/>
            <a:chOff x="446087" y="1960626"/>
            <a:chExt cx="2339975" cy="1482725"/>
          </a:xfrm>
        </p:grpSpPr>
        <p:sp>
          <p:nvSpPr>
            <p:cNvPr id="27" name="object 27"/>
            <p:cNvSpPr/>
            <p:nvPr/>
          </p:nvSpPr>
          <p:spPr>
            <a:xfrm>
              <a:off x="606158" y="2757550"/>
              <a:ext cx="2179955" cy="685800"/>
            </a:xfrm>
            <a:custGeom>
              <a:avLst/>
              <a:gdLst/>
              <a:ahLst/>
              <a:cxnLst/>
              <a:rect l="l" t="t" r="r" b="b"/>
              <a:pathLst>
                <a:path w="2179955" h="685800">
                  <a:moveTo>
                    <a:pt x="76187" y="342138"/>
                  </a:moveTo>
                  <a:lnTo>
                    <a:pt x="69811" y="329946"/>
                  </a:lnTo>
                  <a:lnTo>
                    <a:pt x="36779" y="266700"/>
                  </a:lnTo>
                  <a:lnTo>
                    <a:pt x="0" y="343535"/>
                  </a:lnTo>
                  <a:lnTo>
                    <a:pt x="25387" y="343077"/>
                  </a:lnTo>
                  <a:lnTo>
                    <a:pt x="25171" y="330327"/>
                  </a:lnTo>
                  <a:lnTo>
                    <a:pt x="25374" y="342138"/>
                  </a:lnTo>
                  <a:lnTo>
                    <a:pt x="25387" y="343077"/>
                  </a:lnTo>
                  <a:lnTo>
                    <a:pt x="31267" y="684911"/>
                  </a:lnTo>
                  <a:lnTo>
                    <a:pt x="31280" y="685292"/>
                  </a:lnTo>
                  <a:lnTo>
                    <a:pt x="56680" y="684911"/>
                  </a:lnTo>
                  <a:lnTo>
                    <a:pt x="50800" y="343535"/>
                  </a:lnTo>
                  <a:lnTo>
                    <a:pt x="50787" y="342607"/>
                  </a:lnTo>
                  <a:lnTo>
                    <a:pt x="76187" y="342138"/>
                  </a:lnTo>
                  <a:close/>
                </a:path>
                <a:path w="2179955" h="685800">
                  <a:moveTo>
                    <a:pt x="574306" y="38100"/>
                  </a:moveTo>
                  <a:lnTo>
                    <a:pt x="548906" y="25400"/>
                  </a:lnTo>
                  <a:lnTo>
                    <a:pt x="498106" y="0"/>
                  </a:lnTo>
                  <a:lnTo>
                    <a:pt x="498106" y="25400"/>
                  </a:lnTo>
                  <a:lnTo>
                    <a:pt x="198704" y="25400"/>
                  </a:lnTo>
                  <a:lnTo>
                    <a:pt x="198704" y="50800"/>
                  </a:lnTo>
                  <a:lnTo>
                    <a:pt x="498106" y="50800"/>
                  </a:lnTo>
                  <a:lnTo>
                    <a:pt x="498106" y="76200"/>
                  </a:lnTo>
                  <a:lnTo>
                    <a:pt x="548906" y="50800"/>
                  </a:lnTo>
                  <a:lnTo>
                    <a:pt x="574306" y="38100"/>
                  </a:lnTo>
                  <a:close/>
                </a:path>
                <a:path w="2179955" h="685800">
                  <a:moveTo>
                    <a:pt x="779665" y="342900"/>
                  </a:moveTo>
                  <a:lnTo>
                    <a:pt x="773315" y="330200"/>
                  </a:lnTo>
                  <a:lnTo>
                    <a:pt x="741565" y="266700"/>
                  </a:lnTo>
                  <a:lnTo>
                    <a:pt x="703465" y="342900"/>
                  </a:lnTo>
                  <a:lnTo>
                    <a:pt x="728865" y="342900"/>
                  </a:lnTo>
                  <a:lnTo>
                    <a:pt x="728992" y="685165"/>
                  </a:lnTo>
                  <a:lnTo>
                    <a:pt x="754392" y="685165"/>
                  </a:lnTo>
                  <a:lnTo>
                    <a:pt x="754265" y="342900"/>
                  </a:lnTo>
                  <a:lnTo>
                    <a:pt x="779665" y="342900"/>
                  </a:lnTo>
                  <a:close/>
                </a:path>
                <a:path w="2179955" h="685800">
                  <a:moveTo>
                    <a:pt x="1276489" y="38100"/>
                  </a:moveTo>
                  <a:lnTo>
                    <a:pt x="1251089" y="25400"/>
                  </a:lnTo>
                  <a:lnTo>
                    <a:pt x="1200289" y="0"/>
                  </a:lnTo>
                  <a:lnTo>
                    <a:pt x="1200289" y="25400"/>
                  </a:lnTo>
                  <a:lnTo>
                    <a:pt x="903617" y="25400"/>
                  </a:lnTo>
                  <a:lnTo>
                    <a:pt x="903617" y="50800"/>
                  </a:lnTo>
                  <a:lnTo>
                    <a:pt x="1200289" y="50800"/>
                  </a:lnTo>
                  <a:lnTo>
                    <a:pt x="1200289" y="76200"/>
                  </a:lnTo>
                  <a:lnTo>
                    <a:pt x="1251089" y="50800"/>
                  </a:lnTo>
                  <a:lnTo>
                    <a:pt x="1276489" y="38100"/>
                  </a:lnTo>
                  <a:close/>
                </a:path>
                <a:path w="2179955" h="685800">
                  <a:moveTo>
                    <a:pt x="1474990" y="342900"/>
                  </a:moveTo>
                  <a:lnTo>
                    <a:pt x="1468640" y="330200"/>
                  </a:lnTo>
                  <a:lnTo>
                    <a:pt x="1436890" y="266700"/>
                  </a:lnTo>
                  <a:lnTo>
                    <a:pt x="1398790" y="342900"/>
                  </a:lnTo>
                  <a:lnTo>
                    <a:pt x="1424190" y="342900"/>
                  </a:lnTo>
                  <a:lnTo>
                    <a:pt x="1424317" y="685165"/>
                  </a:lnTo>
                  <a:lnTo>
                    <a:pt x="1449717" y="685165"/>
                  </a:lnTo>
                  <a:lnTo>
                    <a:pt x="1449590" y="342900"/>
                  </a:lnTo>
                  <a:lnTo>
                    <a:pt x="1474990" y="342900"/>
                  </a:lnTo>
                  <a:close/>
                </a:path>
                <a:path w="2179955" h="685800">
                  <a:moveTo>
                    <a:pt x="1981339" y="38100"/>
                  </a:moveTo>
                  <a:lnTo>
                    <a:pt x="1955939" y="25400"/>
                  </a:lnTo>
                  <a:lnTo>
                    <a:pt x="1905139" y="0"/>
                  </a:lnTo>
                  <a:lnTo>
                    <a:pt x="1905139" y="25400"/>
                  </a:lnTo>
                  <a:lnTo>
                    <a:pt x="1608340" y="25400"/>
                  </a:lnTo>
                  <a:lnTo>
                    <a:pt x="1608340" y="50800"/>
                  </a:lnTo>
                  <a:lnTo>
                    <a:pt x="1905139" y="50800"/>
                  </a:lnTo>
                  <a:lnTo>
                    <a:pt x="1905139" y="76200"/>
                  </a:lnTo>
                  <a:lnTo>
                    <a:pt x="1955939" y="50800"/>
                  </a:lnTo>
                  <a:lnTo>
                    <a:pt x="1981339" y="38100"/>
                  </a:lnTo>
                  <a:close/>
                </a:path>
                <a:path w="2179955" h="685800">
                  <a:moveTo>
                    <a:pt x="2179840" y="342900"/>
                  </a:moveTo>
                  <a:lnTo>
                    <a:pt x="2173490" y="330200"/>
                  </a:lnTo>
                  <a:lnTo>
                    <a:pt x="2141740" y="266700"/>
                  </a:lnTo>
                  <a:lnTo>
                    <a:pt x="2103640" y="342900"/>
                  </a:lnTo>
                  <a:lnTo>
                    <a:pt x="2129040" y="342900"/>
                  </a:lnTo>
                  <a:lnTo>
                    <a:pt x="2129167" y="685165"/>
                  </a:lnTo>
                  <a:lnTo>
                    <a:pt x="2154567" y="685165"/>
                  </a:lnTo>
                  <a:lnTo>
                    <a:pt x="2154440" y="342900"/>
                  </a:lnTo>
                  <a:lnTo>
                    <a:pt x="2179840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43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43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21652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50937" y="1960626"/>
            <a:ext cx="384175" cy="298450"/>
            <a:chOff x="1150937" y="1960626"/>
            <a:chExt cx="384175" cy="298450"/>
          </a:xfrm>
        </p:grpSpPr>
        <p:sp>
          <p:nvSpPr>
            <p:cNvPr id="32" name="object 32"/>
            <p:cNvSpPr/>
            <p:nvPr/>
          </p:nvSpPr>
          <p:spPr>
            <a:xfrm>
              <a:off x="115728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5728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27137" y="2047494"/>
            <a:ext cx="235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846326" y="1960626"/>
            <a:ext cx="393700" cy="298450"/>
            <a:chOff x="1846326" y="1960626"/>
            <a:chExt cx="393700" cy="298450"/>
          </a:xfrm>
        </p:grpSpPr>
        <p:sp>
          <p:nvSpPr>
            <p:cNvPr id="36" name="object 36"/>
            <p:cNvSpPr/>
            <p:nvPr/>
          </p:nvSpPr>
          <p:spPr>
            <a:xfrm>
              <a:off x="185267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5267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931035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551176" y="1960626"/>
            <a:ext cx="393700" cy="298450"/>
            <a:chOff x="2551176" y="1960626"/>
            <a:chExt cx="393700" cy="298450"/>
          </a:xfrm>
        </p:grpSpPr>
        <p:sp>
          <p:nvSpPr>
            <p:cNvPr id="40" name="object 40"/>
            <p:cNvSpPr/>
            <p:nvPr/>
          </p:nvSpPr>
          <p:spPr>
            <a:xfrm>
              <a:off x="255752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5752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633091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46087" y="1131950"/>
            <a:ext cx="3940810" cy="1450340"/>
            <a:chOff x="446087" y="1131950"/>
            <a:chExt cx="3940810" cy="1450340"/>
          </a:xfrm>
        </p:grpSpPr>
        <p:sp>
          <p:nvSpPr>
            <p:cNvPr id="44" name="object 44"/>
            <p:cNvSpPr/>
            <p:nvPr/>
          </p:nvSpPr>
          <p:spPr>
            <a:xfrm>
              <a:off x="604837" y="2252725"/>
              <a:ext cx="76200" cy="314325"/>
            </a:xfrm>
            <a:custGeom>
              <a:avLst/>
              <a:gdLst/>
              <a:ahLst/>
              <a:cxnLst/>
              <a:rect l="l" t="t" r="r" b="b"/>
              <a:pathLst>
                <a:path w="76200" h="314325">
                  <a:moveTo>
                    <a:pt x="50800" y="63500"/>
                  </a:moveTo>
                  <a:lnTo>
                    <a:pt x="25400" y="635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63500"/>
                  </a:lnTo>
                  <a:close/>
                </a:path>
                <a:path w="76200" h="314325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4325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7237" y="2490850"/>
              <a:ext cx="3616960" cy="78740"/>
            </a:xfrm>
            <a:custGeom>
              <a:avLst/>
              <a:gdLst/>
              <a:ahLst/>
              <a:cxnLst/>
              <a:rect l="l" t="t" r="r" b="b"/>
              <a:pathLst>
                <a:path w="3616960" h="78739">
                  <a:moveTo>
                    <a:pt x="3616769" y="78486"/>
                  </a:moveTo>
                  <a:lnTo>
                    <a:pt x="361676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37" y="2252598"/>
              <a:ext cx="76200" cy="23596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309624" y="2252725"/>
              <a:ext cx="1477010" cy="314325"/>
            </a:xfrm>
            <a:custGeom>
              <a:avLst/>
              <a:gdLst/>
              <a:ahLst/>
              <a:cxnLst/>
              <a:rect l="l" t="t" r="r" b="b"/>
              <a:pathLst>
                <a:path w="1477010" h="31432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527" y="314325"/>
                  </a:lnTo>
                  <a:lnTo>
                    <a:pt x="50927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1477010" h="314325">
                  <a:moveTo>
                    <a:pt x="772287" y="76200"/>
                  </a:moveTo>
                  <a:lnTo>
                    <a:pt x="765975" y="63500"/>
                  </a:lnTo>
                  <a:lnTo>
                    <a:pt x="734441" y="0"/>
                  </a:lnTo>
                  <a:lnTo>
                    <a:pt x="696010" y="76200"/>
                  </a:lnTo>
                  <a:lnTo>
                    <a:pt x="721436" y="76200"/>
                  </a:lnTo>
                  <a:lnTo>
                    <a:pt x="720852" y="314325"/>
                  </a:lnTo>
                  <a:lnTo>
                    <a:pt x="746252" y="314325"/>
                  </a:lnTo>
                  <a:lnTo>
                    <a:pt x="746848" y="76200"/>
                  </a:lnTo>
                  <a:lnTo>
                    <a:pt x="772287" y="76200"/>
                  </a:lnTo>
                  <a:close/>
                </a:path>
                <a:path w="1477010" h="314325">
                  <a:moveTo>
                    <a:pt x="1476502" y="76200"/>
                  </a:moveTo>
                  <a:lnTo>
                    <a:pt x="1470126" y="63500"/>
                  </a:lnTo>
                  <a:lnTo>
                    <a:pt x="1438275" y="0"/>
                  </a:lnTo>
                  <a:lnTo>
                    <a:pt x="1400302" y="76200"/>
                  </a:lnTo>
                  <a:lnTo>
                    <a:pt x="1425575" y="76200"/>
                  </a:lnTo>
                  <a:lnTo>
                    <a:pt x="1425702" y="314325"/>
                  </a:lnTo>
                  <a:lnTo>
                    <a:pt x="1451102" y="314325"/>
                  </a:lnTo>
                  <a:lnTo>
                    <a:pt x="1450975" y="76200"/>
                  </a:lnTo>
                  <a:lnTo>
                    <a:pt x="1476502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773" y="2252598"/>
              <a:ext cx="76200" cy="23596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4399" y="2243073"/>
              <a:ext cx="76200" cy="23596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4226" y="2243073"/>
              <a:ext cx="76200" cy="23596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52437" y="1576450"/>
              <a:ext cx="2486025" cy="238125"/>
            </a:xfrm>
            <a:custGeom>
              <a:avLst/>
              <a:gdLst/>
              <a:ahLst/>
              <a:cxnLst/>
              <a:rect l="l" t="t" r="r" b="b"/>
              <a:pathLst>
                <a:path w="2486025" h="238125">
                  <a:moveTo>
                    <a:pt x="0" y="238125"/>
                  </a:moveTo>
                  <a:lnTo>
                    <a:pt x="2486025" y="238125"/>
                  </a:lnTo>
                  <a:lnTo>
                    <a:pt x="24860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5243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243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5728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5728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852675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852675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57526" y="113830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57526" y="113830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83552" y="1228661"/>
            <a:ext cx="242316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704850" algn="l"/>
                <a:tab pos="1408430" algn="l"/>
                <a:tab pos="2111375" algn="l"/>
              </a:tabLst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11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12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13</a:t>
            </a:r>
            <a:r>
              <a:rPr sz="900" baseline="4629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14</a:t>
            </a:r>
            <a:endParaRPr sz="900" baseline="4629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6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95896" y="1414525"/>
            <a:ext cx="2210435" cy="556260"/>
            <a:chOff x="595896" y="1414525"/>
            <a:chExt cx="2210435" cy="556260"/>
          </a:xfrm>
        </p:grpSpPr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896" y="1814448"/>
              <a:ext cx="76200" cy="15620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0386" y="1804923"/>
              <a:ext cx="76200" cy="15608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5236" y="1814448"/>
              <a:ext cx="76200" cy="15608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9611" y="1814448"/>
              <a:ext cx="76200" cy="15608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29611" y="1414525"/>
              <a:ext cx="76200" cy="15595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15236" y="1433575"/>
              <a:ext cx="76200" cy="15595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9911" y="1433575"/>
              <a:ext cx="76200" cy="15595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5960" y="1424050"/>
              <a:ext cx="76200" cy="155956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5624576" y="3443287"/>
            <a:ext cx="304800" cy="4476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81000" y="780986"/>
            <a:ext cx="5050155" cy="2135505"/>
            <a:chOff x="381000" y="780986"/>
            <a:chExt cx="5050155" cy="2135505"/>
          </a:xfrm>
        </p:grpSpPr>
        <p:pic>
          <p:nvPicPr>
            <p:cNvPr id="72" name="object 7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000" y="780986"/>
              <a:ext cx="500062" cy="40481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157851" y="268135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228600"/>
                  </a:moveTo>
                  <a:lnTo>
                    <a:pt x="266700" y="228600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221604" y="2657792"/>
            <a:ext cx="137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Arial"/>
                <a:cs typeface="Arial"/>
              </a:rPr>
              <a:t>+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30187" y="753998"/>
            <a:ext cx="5393055" cy="2953385"/>
            <a:chOff x="230187" y="753998"/>
            <a:chExt cx="5393055" cy="2953385"/>
          </a:xfrm>
        </p:grpSpPr>
        <p:pic>
          <p:nvPicPr>
            <p:cNvPr id="76" name="object 7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5375" y="780986"/>
              <a:ext cx="500062" cy="40481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0225" y="780986"/>
              <a:ext cx="490537" cy="40481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5550" y="790511"/>
              <a:ext cx="500062" cy="404812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30187" y="962913"/>
              <a:ext cx="2425700" cy="1849120"/>
            </a:xfrm>
            <a:custGeom>
              <a:avLst/>
              <a:gdLst/>
              <a:ahLst/>
              <a:cxnLst/>
              <a:rect l="l" t="t" r="r" b="b"/>
              <a:pathLst>
                <a:path w="2425700" h="1849120">
                  <a:moveTo>
                    <a:pt x="304927" y="3810"/>
                  </a:moveTo>
                  <a:lnTo>
                    <a:pt x="219748" y="2159"/>
                  </a:lnTo>
                  <a:lnTo>
                    <a:pt x="231622" y="27203"/>
                  </a:lnTo>
                  <a:lnTo>
                    <a:pt x="216027" y="38989"/>
                  </a:lnTo>
                  <a:lnTo>
                    <a:pt x="215265" y="39497"/>
                  </a:lnTo>
                  <a:lnTo>
                    <a:pt x="214579" y="40259"/>
                  </a:lnTo>
                  <a:lnTo>
                    <a:pt x="213956" y="40894"/>
                  </a:lnTo>
                  <a:lnTo>
                    <a:pt x="186893" y="75565"/>
                  </a:lnTo>
                  <a:lnTo>
                    <a:pt x="161175" y="117983"/>
                  </a:lnTo>
                  <a:lnTo>
                    <a:pt x="136575" y="167640"/>
                  </a:lnTo>
                  <a:lnTo>
                    <a:pt x="113436" y="223901"/>
                  </a:lnTo>
                  <a:lnTo>
                    <a:pt x="91909" y="286004"/>
                  </a:lnTo>
                  <a:lnTo>
                    <a:pt x="72021" y="353441"/>
                  </a:lnTo>
                  <a:lnTo>
                    <a:pt x="54203" y="425450"/>
                  </a:lnTo>
                  <a:lnTo>
                    <a:pt x="46050" y="463042"/>
                  </a:lnTo>
                  <a:lnTo>
                    <a:pt x="38582" y="501523"/>
                  </a:lnTo>
                  <a:lnTo>
                    <a:pt x="31584" y="540766"/>
                  </a:lnTo>
                  <a:lnTo>
                    <a:pt x="25273" y="580898"/>
                  </a:lnTo>
                  <a:lnTo>
                    <a:pt x="19519" y="621665"/>
                  </a:lnTo>
                  <a:lnTo>
                    <a:pt x="14541" y="662940"/>
                  </a:lnTo>
                  <a:lnTo>
                    <a:pt x="10236" y="704723"/>
                  </a:lnTo>
                  <a:lnTo>
                    <a:pt x="6604" y="747014"/>
                  </a:lnTo>
                  <a:lnTo>
                    <a:pt x="3733" y="789686"/>
                  </a:lnTo>
                  <a:lnTo>
                    <a:pt x="1714" y="832485"/>
                  </a:lnTo>
                  <a:lnTo>
                    <a:pt x="368" y="875665"/>
                  </a:lnTo>
                  <a:lnTo>
                    <a:pt x="0" y="918464"/>
                  </a:lnTo>
                  <a:lnTo>
                    <a:pt x="279" y="960882"/>
                  </a:lnTo>
                  <a:lnTo>
                    <a:pt x="1320" y="1003554"/>
                  </a:lnTo>
                  <a:lnTo>
                    <a:pt x="2908" y="1045972"/>
                  </a:lnTo>
                  <a:lnTo>
                    <a:pt x="5080" y="1088136"/>
                  </a:lnTo>
                  <a:lnTo>
                    <a:pt x="7950" y="1132078"/>
                  </a:lnTo>
                  <a:lnTo>
                    <a:pt x="11391" y="1173734"/>
                  </a:lnTo>
                  <a:lnTo>
                    <a:pt x="15316" y="1215136"/>
                  </a:lnTo>
                  <a:lnTo>
                    <a:pt x="19723" y="1255776"/>
                  </a:lnTo>
                  <a:lnTo>
                    <a:pt x="24701" y="1295908"/>
                  </a:lnTo>
                  <a:lnTo>
                    <a:pt x="30149" y="1335151"/>
                  </a:lnTo>
                  <a:lnTo>
                    <a:pt x="36080" y="1373632"/>
                  </a:lnTo>
                  <a:lnTo>
                    <a:pt x="49212" y="1447673"/>
                  </a:lnTo>
                  <a:lnTo>
                    <a:pt x="63881" y="1517396"/>
                  </a:lnTo>
                  <a:lnTo>
                    <a:pt x="80111" y="1582166"/>
                  </a:lnTo>
                  <a:lnTo>
                    <a:pt x="97624" y="1641348"/>
                  </a:lnTo>
                  <a:lnTo>
                    <a:pt x="116293" y="1694307"/>
                  </a:lnTo>
                  <a:lnTo>
                    <a:pt x="136042" y="1740408"/>
                  </a:lnTo>
                  <a:lnTo>
                    <a:pt x="156870" y="1779143"/>
                  </a:lnTo>
                  <a:lnTo>
                    <a:pt x="184289" y="1816100"/>
                  </a:lnTo>
                  <a:lnTo>
                    <a:pt x="214871" y="1839468"/>
                  </a:lnTo>
                  <a:lnTo>
                    <a:pt x="240626" y="1845691"/>
                  </a:lnTo>
                  <a:lnTo>
                    <a:pt x="241884" y="1821942"/>
                  </a:lnTo>
                  <a:lnTo>
                    <a:pt x="241973" y="1820418"/>
                  </a:lnTo>
                  <a:lnTo>
                    <a:pt x="207086" y="1803019"/>
                  </a:lnTo>
                  <a:lnTo>
                    <a:pt x="178092" y="1765173"/>
                  </a:lnTo>
                  <a:lnTo>
                    <a:pt x="158724" y="1728978"/>
                  </a:lnTo>
                  <a:lnTo>
                    <a:pt x="139801" y="1684655"/>
                  </a:lnTo>
                  <a:lnTo>
                    <a:pt x="121704" y="1633220"/>
                  </a:lnTo>
                  <a:lnTo>
                    <a:pt x="104546" y="1575308"/>
                  </a:lnTo>
                  <a:lnTo>
                    <a:pt x="88582" y="1511427"/>
                  </a:lnTo>
                  <a:lnTo>
                    <a:pt x="74104" y="1442593"/>
                  </a:lnTo>
                  <a:lnTo>
                    <a:pt x="61137" y="1369314"/>
                  </a:lnTo>
                  <a:lnTo>
                    <a:pt x="55257" y="1331214"/>
                  </a:lnTo>
                  <a:lnTo>
                    <a:pt x="49847" y="1292352"/>
                  </a:lnTo>
                  <a:lnTo>
                    <a:pt x="44919" y="1252601"/>
                  </a:lnTo>
                  <a:lnTo>
                    <a:pt x="40563" y="1212342"/>
                  </a:lnTo>
                  <a:lnTo>
                    <a:pt x="36677" y="1171448"/>
                  </a:lnTo>
                  <a:lnTo>
                    <a:pt x="33261" y="1130046"/>
                  </a:lnTo>
                  <a:lnTo>
                    <a:pt x="30619" y="1089787"/>
                  </a:lnTo>
                  <a:lnTo>
                    <a:pt x="28397" y="1047369"/>
                  </a:lnTo>
                  <a:lnTo>
                    <a:pt x="26746" y="1004443"/>
                  </a:lnTo>
                  <a:lnTo>
                    <a:pt x="25692" y="961517"/>
                  </a:lnTo>
                  <a:lnTo>
                    <a:pt x="25400" y="918464"/>
                  </a:lnTo>
                  <a:lnTo>
                    <a:pt x="25781" y="875665"/>
                  </a:lnTo>
                  <a:lnTo>
                    <a:pt x="27114" y="833247"/>
                  </a:lnTo>
                  <a:lnTo>
                    <a:pt x="29095" y="790829"/>
                  </a:lnTo>
                  <a:lnTo>
                    <a:pt x="31940" y="748665"/>
                  </a:lnTo>
                  <a:lnTo>
                    <a:pt x="35547" y="707009"/>
                  </a:lnTo>
                  <a:lnTo>
                    <a:pt x="39814" y="665480"/>
                  </a:lnTo>
                  <a:lnTo>
                    <a:pt x="44742" y="624713"/>
                  </a:lnTo>
                  <a:lnTo>
                    <a:pt x="50419" y="584327"/>
                  </a:lnTo>
                  <a:lnTo>
                    <a:pt x="56680" y="544830"/>
                  </a:lnTo>
                  <a:lnTo>
                    <a:pt x="63588" y="505968"/>
                  </a:lnTo>
                  <a:lnTo>
                    <a:pt x="70980" y="467868"/>
                  </a:lnTo>
                  <a:lnTo>
                    <a:pt x="87630" y="394716"/>
                  </a:lnTo>
                  <a:lnTo>
                    <a:pt x="106172" y="325882"/>
                  </a:lnTo>
                  <a:lnTo>
                    <a:pt x="126568" y="262255"/>
                  </a:lnTo>
                  <a:lnTo>
                    <a:pt x="148437" y="204216"/>
                  </a:lnTo>
                  <a:lnTo>
                    <a:pt x="171627" y="152781"/>
                  </a:lnTo>
                  <a:lnTo>
                    <a:pt x="195922" y="108458"/>
                  </a:lnTo>
                  <a:lnTo>
                    <a:pt x="220789" y="72263"/>
                  </a:lnTo>
                  <a:lnTo>
                    <a:pt x="242760" y="50673"/>
                  </a:lnTo>
                  <a:lnTo>
                    <a:pt x="252412" y="70993"/>
                  </a:lnTo>
                  <a:lnTo>
                    <a:pt x="291515" y="20955"/>
                  </a:lnTo>
                  <a:lnTo>
                    <a:pt x="304927" y="3810"/>
                  </a:lnTo>
                  <a:close/>
                </a:path>
                <a:path w="2425700" h="1849120">
                  <a:moveTo>
                    <a:pt x="1021207" y="3810"/>
                  </a:moveTo>
                  <a:lnTo>
                    <a:pt x="936104" y="0"/>
                  </a:lnTo>
                  <a:lnTo>
                    <a:pt x="946581" y="23583"/>
                  </a:lnTo>
                  <a:lnTo>
                    <a:pt x="945159" y="24257"/>
                  </a:lnTo>
                  <a:lnTo>
                    <a:pt x="913104" y="57150"/>
                  </a:lnTo>
                  <a:lnTo>
                    <a:pt x="885634" y="95758"/>
                  </a:lnTo>
                  <a:lnTo>
                    <a:pt x="859396" y="141986"/>
                  </a:lnTo>
                  <a:lnTo>
                    <a:pt x="834580" y="195199"/>
                  </a:lnTo>
                  <a:lnTo>
                    <a:pt x="811377" y="254508"/>
                  </a:lnTo>
                  <a:lnTo>
                    <a:pt x="789851" y="319532"/>
                  </a:lnTo>
                  <a:lnTo>
                    <a:pt x="770178" y="389382"/>
                  </a:lnTo>
                  <a:lnTo>
                    <a:pt x="752729" y="463677"/>
                  </a:lnTo>
                  <a:lnTo>
                    <a:pt x="744867" y="502285"/>
                  </a:lnTo>
                  <a:lnTo>
                    <a:pt x="737692" y="541655"/>
                  </a:lnTo>
                  <a:lnTo>
                    <a:pt x="731075" y="581787"/>
                  </a:lnTo>
                  <a:lnTo>
                    <a:pt x="725144" y="622554"/>
                  </a:lnTo>
                  <a:lnTo>
                    <a:pt x="719975" y="664083"/>
                  </a:lnTo>
                  <a:lnTo>
                    <a:pt x="715467" y="705866"/>
                  </a:lnTo>
                  <a:lnTo>
                    <a:pt x="711733" y="748284"/>
                  </a:lnTo>
                  <a:lnTo>
                    <a:pt x="708774" y="790829"/>
                  </a:lnTo>
                  <a:lnTo>
                    <a:pt x="706564" y="833755"/>
                  </a:lnTo>
                  <a:lnTo>
                    <a:pt x="705332" y="876935"/>
                  </a:lnTo>
                  <a:lnTo>
                    <a:pt x="704850" y="919619"/>
                  </a:lnTo>
                  <a:lnTo>
                    <a:pt x="705129" y="962152"/>
                  </a:lnTo>
                  <a:lnTo>
                    <a:pt x="706170" y="1004824"/>
                  </a:lnTo>
                  <a:lnTo>
                    <a:pt x="707771" y="1047496"/>
                  </a:lnTo>
                  <a:lnTo>
                    <a:pt x="709930" y="1089787"/>
                  </a:lnTo>
                  <a:lnTo>
                    <a:pt x="712800" y="1133729"/>
                  </a:lnTo>
                  <a:lnTo>
                    <a:pt x="716241" y="1175512"/>
                  </a:lnTo>
                  <a:lnTo>
                    <a:pt x="720166" y="1216914"/>
                  </a:lnTo>
                  <a:lnTo>
                    <a:pt x="724573" y="1257681"/>
                  </a:lnTo>
                  <a:lnTo>
                    <a:pt x="729538" y="1297813"/>
                  </a:lnTo>
                  <a:lnTo>
                    <a:pt x="734999" y="1337056"/>
                  </a:lnTo>
                  <a:lnTo>
                    <a:pt x="740930" y="1375664"/>
                  </a:lnTo>
                  <a:lnTo>
                    <a:pt x="747255" y="1413383"/>
                  </a:lnTo>
                  <a:lnTo>
                    <a:pt x="761238" y="1485265"/>
                  </a:lnTo>
                  <a:lnTo>
                    <a:pt x="776693" y="1552829"/>
                  </a:lnTo>
                  <a:lnTo>
                    <a:pt x="793521" y="1615059"/>
                  </a:lnTo>
                  <a:lnTo>
                    <a:pt x="811657" y="1671320"/>
                  </a:lnTo>
                  <a:lnTo>
                    <a:pt x="830922" y="1720977"/>
                  </a:lnTo>
                  <a:lnTo>
                    <a:pt x="851192" y="1763522"/>
                  </a:lnTo>
                  <a:lnTo>
                    <a:pt x="872540" y="1798447"/>
                  </a:lnTo>
                  <a:lnTo>
                    <a:pt x="900988" y="1830197"/>
                  </a:lnTo>
                  <a:lnTo>
                    <a:pt x="939914" y="1848231"/>
                  </a:lnTo>
                  <a:lnTo>
                    <a:pt x="945248" y="1848612"/>
                  </a:lnTo>
                  <a:lnTo>
                    <a:pt x="946937" y="1824863"/>
                  </a:lnTo>
                  <a:lnTo>
                    <a:pt x="947051" y="1823339"/>
                  </a:lnTo>
                  <a:lnTo>
                    <a:pt x="911936" y="1805940"/>
                  </a:lnTo>
                  <a:lnTo>
                    <a:pt x="882942" y="1768094"/>
                  </a:lnTo>
                  <a:lnTo>
                    <a:pt x="863561" y="1731772"/>
                  </a:lnTo>
                  <a:lnTo>
                    <a:pt x="844664" y="1687449"/>
                  </a:lnTo>
                  <a:lnTo>
                    <a:pt x="826554" y="1635887"/>
                  </a:lnTo>
                  <a:lnTo>
                    <a:pt x="809409" y="1577721"/>
                  </a:lnTo>
                  <a:lnTo>
                    <a:pt x="793432" y="1513840"/>
                  </a:lnTo>
                  <a:lnTo>
                    <a:pt x="778954" y="1444879"/>
                  </a:lnTo>
                  <a:lnTo>
                    <a:pt x="765987" y="1371473"/>
                  </a:lnTo>
                  <a:lnTo>
                    <a:pt x="760107" y="1333246"/>
                  </a:lnTo>
                  <a:lnTo>
                    <a:pt x="754710" y="1294257"/>
                  </a:lnTo>
                  <a:lnTo>
                    <a:pt x="749769" y="1254506"/>
                  </a:lnTo>
                  <a:lnTo>
                    <a:pt x="745413" y="1214247"/>
                  </a:lnTo>
                  <a:lnTo>
                    <a:pt x="741527" y="1173099"/>
                  </a:lnTo>
                  <a:lnTo>
                    <a:pt x="738111" y="1131697"/>
                  </a:lnTo>
                  <a:lnTo>
                    <a:pt x="735469" y="1091438"/>
                  </a:lnTo>
                  <a:lnTo>
                    <a:pt x="733247" y="1048766"/>
                  </a:lnTo>
                  <a:lnTo>
                    <a:pt x="731608" y="1005840"/>
                  </a:lnTo>
                  <a:lnTo>
                    <a:pt x="730542" y="962787"/>
                  </a:lnTo>
                  <a:lnTo>
                    <a:pt x="730250" y="919619"/>
                  </a:lnTo>
                  <a:lnTo>
                    <a:pt x="730719" y="877189"/>
                  </a:lnTo>
                  <a:lnTo>
                    <a:pt x="731964" y="834517"/>
                  </a:lnTo>
                  <a:lnTo>
                    <a:pt x="734136" y="792099"/>
                  </a:lnTo>
                  <a:lnTo>
                    <a:pt x="737082" y="749935"/>
                  </a:lnTo>
                  <a:lnTo>
                    <a:pt x="740778" y="708152"/>
                  </a:lnTo>
                  <a:lnTo>
                    <a:pt x="745223" y="666750"/>
                  </a:lnTo>
                  <a:lnTo>
                    <a:pt x="750341" y="625729"/>
                  </a:lnTo>
                  <a:lnTo>
                    <a:pt x="756221" y="585343"/>
                  </a:lnTo>
                  <a:lnTo>
                    <a:pt x="762749" y="545719"/>
                  </a:lnTo>
                  <a:lnTo>
                    <a:pt x="769861" y="506730"/>
                  </a:lnTo>
                  <a:lnTo>
                    <a:pt x="777621" y="468757"/>
                  </a:lnTo>
                  <a:lnTo>
                    <a:pt x="785952" y="431546"/>
                  </a:lnTo>
                  <a:lnTo>
                    <a:pt x="804291" y="360426"/>
                  </a:lnTo>
                  <a:lnTo>
                    <a:pt x="824534" y="294005"/>
                  </a:lnTo>
                  <a:lnTo>
                    <a:pt x="846505" y="233045"/>
                  </a:lnTo>
                  <a:lnTo>
                    <a:pt x="870013" y="178181"/>
                  </a:lnTo>
                  <a:lnTo>
                    <a:pt x="894651" y="130048"/>
                  </a:lnTo>
                  <a:lnTo>
                    <a:pt x="920254" y="89535"/>
                  </a:lnTo>
                  <a:lnTo>
                    <a:pt x="946416" y="57404"/>
                  </a:lnTo>
                  <a:lnTo>
                    <a:pt x="957059" y="47167"/>
                  </a:lnTo>
                  <a:lnTo>
                    <a:pt x="967092" y="69723"/>
                  </a:lnTo>
                  <a:lnTo>
                    <a:pt x="1009319" y="18288"/>
                  </a:lnTo>
                  <a:lnTo>
                    <a:pt x="1021207" y="3810"/>
                  </a:lnTo>
                  <a:close/>
                </a:path>
                <a:path w="2425700" h="1849120">
                  <a:moveTo>
                    <a:pt x="1725104" y="3810"/>
                  </a:moveTo>
                  <a:lnTo>
                    <a:pt x="1640014" y="254"/>
                  </a:lnTo>
                  <a:lnTo>
                    <a:pt x="1650492" y="23672"/>
                  </a:lnTo>
                  <a:lnTo>
                    <a:pt x="1649285" y="24257"/>
                  </a:lnTo>
                  <a:lnTo>
                    <a:pt x="1617281" y="57150"/>
                  </a:lnTo>
                  <a:lnTo>
                    <a:pt x="1589849" y="95885"/>
                  </a:lnTo>
                  <a:lnTo>
                    <a:pt x="1563814" y="141986"/>
                  </a:lnTo>
                  <a:lnTo>
                    <a:pt x="1539049" y="195199"/>
                  </a:lnTo>
                  <a:lnTo>
                    <a:pt x="1515808" y="254508"/>
                  </a:lnTo>
                  <a:lnTo>
                    <a:pt x="1494472" y="319532"/>
                  </a:lnTo>
                  <a:lnTo>
                    <a:pt x="1474787" y="389382"/>
                  </a:lnTo>
                  <a:lnTo>
                    <a:pt x="1457515" y="463677"/>
                  </a:lnTo>
                  <a:lnTo>
                    <a:pt x="1449641" y="502285"/>
                  </a:lnTo>
                  <a:lnTo>
                    <a:pt x="1442402" y="541655"/>
                  </a:lnTo>
                  <a:lnTo>
                    <a:pt x="1435798" y="581787"/>
                  </a:lnTo>
                  <a:lnTo>
                    <a:pt x="1429956" y="622554"/>
                  </a:lnTo>
                  <a:lnTo>
                    <a:pt x="1424749" y="664083"/>
                  </a:lnTo>
                  <a:lnTo>
                    <a:pt x="1420164" y="705866"/>
                  </a:lnTo>
                  <a:lnTo>
                    <a:pt x="1416494" y="748284"/>
                  </a:lnTo>
                  <a:lnTo>
                    <a:pt x="1413573" y="790829"/>
                  </a:lnTo>
                  <a:lnTo>
                    <a:pt x="1411401" y="833755"/>
                  </a:lnTo>
                  <a:lnTo>
                    <a:pt x="1410144" y="876935"/>
                  </a:lnTo>
                  <a:lnTo>
                    <a:pt x="1409763" y="919619"/>
                  </a:lnTo>
                  <a:lnTo>
                    <a:pt x="1410004" y="962152"/>
                  </a:lnTo>
                  <a:lnTo>
                    <a:pt x="1411008" y="1004824"/>
                  </a:lnTo>
                  <a:lnTo>
                    <a:pt x="1411020" y="1005840"/>
                  </a:lnTo>
                  <a:lnTo>
                    <a:pt x="1412633" y="1047496"/>
                  </a:lnTo>
                  <a:lnTo>
                    <a:pt x="1414754" y="1089787"/>
                  </a:lnTo>
                  <a:lnTo>
                    <a:pt x="1417637" y="1133729"/>
                  </a:lnTo>
                  <a:lnTo>
                    <a:pt x="1421066" y="1175512"/>
                  </a:lnTo>
                  <a:lnTo>
                    <a:pt x="1425003" y="1216914"/>
                  </a:lnTo>
                  <a:lnTo>
                    <a:pt x="1429448" y="1257681"/>
                  </a:lnTo>
                  <a:lnTo>
                    <a:pt x="1434401" y="1297813"/>
                  </a:lnTo>
                  <a:lnTo>
                    <a:pt x="1439862" y="1337056"/>
                  </a:lnTo>
                  <a:lnTo>
                    <a:pt x="1445831" y="1375664"/>
                  </a:lnTo>
                  <a:lnTo>
                    <a:pt x="1452054" y="1413383"/>
                  </a:lnTo>
                  <a:lnTo>
                    <a:pt x="1466151" y="1485265"/>
                  </a:lnTo>
                  <a:lnTo>
                    <a:pt x="1481518" y="1552829"/>
                  </a:lnTo>
                  <a:lnTo>
                    <a:pt x="1498409" y="1615059"/>
                  </a:lnTo>
                  <a:lnTo>
                    <a:pt x="1516443" y="1671320"/>
                  </a:lnTo>
                  <a:lnTo>
                    <a:pt x="1535747" y="1720977"/>
                  </a:lnTo>
                  <a:lnTo>
                    <a:pt x="1556067" y="1763522"/>
                  </a:lnTo>
                  <a:lnTo>
                    <a:pt x="1577403" y="1798447"/>
                  </a:lnTo>
                  <a:lnTo>
                    <a:pt x="1605851" y="1830197"/>
                  </a:lnTo>
                  <a:lnTo>
                    <a:pt x="1644713" y="1848231"/>
                  </a:lnTo>
                  <a:lnTo>
                    <a:pt x="1650047" y="1848612"/>
                  </a:lnTo>
                  <a:lnTo>
                    <a:pt x="1651825" y="1824863"/>
                  </a:lnTo>
                  <a:lnTo>
                    <a:pt x="1651952" y="1823339"/>
                  </a:lnTo>
                  <a:lnTo>
                    <a:pt x="1616773" y="1805940"/>
                  </a:lnTo>
                  <a:lnTo>
                    <a:pt x="1587817" y="1768094"/>
                  </a:lnTo>
                  <a:lnTo>
                    <a:pt x="1568386" y="1731772"/>
                  </a:lnTo>
                  <a:lnTo>
                    <a:pt x="1549463" y="1687449"/>
                  </a:lnTo>
                  <a:lnTo>
                    <a:pt x="1531429" y="1635887"/>
                  </a:lnTo>
                  <a:lnTo>
                    <a:pt x="1514284" y="1577721"/>
                  </a:lnTo>
                  <a:lnTo>
                    <a:pt x="1498282" y="1513840"/>
                  </a:lnTo>
                  <a:lnTo>
                    <a:pt x="1483804" y="1444879"/>
                  </a:lnTo>
                  <a:lnTo>
                    <a:pt x="1470850" y="1371473"/>
                  </a:lnTo>
                  <a:lnTo>
                    <a:pt x="1465008" y="1333246"/>
                  </a:lnTo>
                  <a:lnTo>
                    <a:pt x="1459547" y="1294257"/>
                  </a:lnTo>
                  <a:lnTo>
                    <a:pt x="1454594" y="1254506"/>
                  </a:lnTo>
                  <a:lnTo>
                    <a:pt x="1450276" y="1214247"/>
                  </a:lnTo>
                  <a:lnTo>
                    <a:pt x="1446339" y="1173099"/>
                  </a:lnTo>
                  <a:lnTo>
                    <a:pt x="1442910" y="1131697"/>
                  </a:lnTo>
                  <a:lnTo>
                    <a:pt x="1440345" y="1091438"/>
                  </a:lnTo>
                  <a:lnTo>
                    <a:pt x="1438148" y="1048766"/>
                  </a:lnTo>
                  <a:lnTo>
                    <a:pt x="1436471" y="1005840"/>
                  </a:lnTo>
                  <a:lnTo>
                    <a:pt x="1435430" y="962787"/>
                  </a:lnTo>
                  <a:lnTo>
                    <a:pt x="1435036" y="919619"/>
                  </a:lnTo>
                  <a:lnTo>
                    <a:pt x="1435544" y="877189"/>
                  </a:lnTo>
                  <a:lnTo>
                    <a:pt x="1436814" y="834517"/>
                  </a:lnTo>
                  <a:lnTo>
                    <a:pt x="1438973" y="792099"/>
                  </a:lnTo>
                  <a:lnTo>
                    <a:pt x="1441894" y="749935"/>
                  </a:lnTo>
                  <a:lnTo>
                    <a:pt x="1445577" y="708152"/>
                  </a:lnTo>
                  <a:lnTo>
                    <a:pt x="1450022" y="666750"/>
                  </a:lnTo>
                  <a:lnTo>
                    <a:pt x="1455102" y="625729"/>
                  </a:lnTo>
                  <a:lnTo>
                    <a:pt x="1460944" y="585343"/>
                  </a:lnTo>
                  <a:lnTo>
                    <a:pt x="1467548" y="545719"/>
                  </a:lnTo>
                  <a:lnTo>
                    <a:pt x="1474660" y="506730"/>
                  </a:lnTo>
                  <a:lnTo>
                    <a:pt x="1482407" y="468757"/>
                  </a:lnTo>
                  <a:lnTo>
                    <a:pt x="1490662" y="431546"/>
                  </a:lnTo>
                  <a:lnTo>
                    <a:pt x="1508823" y="360426"/>
                  </a:lnTo>
                  <a:lnTo>
                    <a:pt x="1529143" y="294005"/>
                  </a:lnTo>
                  <a:lnTo>
                    <a:pt x="1550987" y="233045"/>
                  </a:lnTo>
                  <a:lnTo>
                    <a:pt x="1574355" y="178054"/>
                  </a:lnTo>
                  <a:lnTo>
                    <a:pt x="1598993" y="130048"/>
                  </a:lnTo>
                  <a:lnTo>
                    <a:pt x="1624520" y="89535"/>
                  </a:lnTo>
                  <a:lnTo>
                    <a:pt x="1650555" y="57404"/>
                  </a:lnTo>
                  <a:lnTo>
                    <a:pt x="1661045" y="47218"/>
                  </a:lnTo>
                  <a:lnTo>
                    <a:pt x="1671129" y="69723"/>
                  </a:lnTo>
                  <a:lnTo>
                    <a:pt x="1713242" y="18288"/>
                  </a:lnTo>
                  <a:lnTo>
                    <a:pt x="1725104" y="3810"/>
                  </a:lnTo>
                  <a:close/>
                </a:path>
                <a:path w="2425700" h="1849120">
                  <a:moveTo>
                    <a:pt x="2425128" y="3810"/>
                  </a:moveTo>
                  <a:lnTo>
                    <a:pt x="2340038" y="889"/>
                  </a:lnTo>
                  <a:lnTo>
                    <a:pt x="2351633" y="26238"/>
                  </a:lnTo>
                  <a:lnTo>
                    <a:pt x="2334831" y="38862"/>
                  </a:lnTo>
                  <a:lnTo>
                    <a:pt x="2334069" y="39370"/>
                  </a:lnTo>
                  <a:lnTo>
                    <a:pt x="2333434" y="40005"/>
                  </a:lnTo>
                  <a:lnTo>
                    <a:pt x="2332799" y="40767"/>
                  </a:lnTo>
                  <a:lnTo>
                    <a:pt x="2318829" y="57023"/>
                  </a:lnTo>
                  <a:lnTo>
                    <a:pt x="2291905" y="95504"/>
                  </a:lnTo>
                  <a:lnTo>
                    <a:pt x="2266251" y="141605"/>
                  </a:lnTo>
                  <a:lnTo>
                    <a:pt x="2241867" y="194437"/>
                  </a:lnTo>
                  <a:lnTo>
                    <a:pt x="2219007" y="253619"/>
                  </a:lnTo>
                  <a:lnTo>
                    <a:pt x="2197925" y="318389"/>
                  </a:lnTo>
                  <a:lnTo>
                    <a:pt x="2178748" y="387985"/>
                  </a:lnTo>
                  <a:lnTo>
                    <a:pt x="2161603" y="462026"/>
                  </a:lnTo>
                  <a:lnTo>
                    <a:pt x="2153856" y="500380"/>
                  </a:lnTo>
                  <a:lnTo>
                    <a:pt x="2146744" y="539750"/>
                  </a:lnTo>
                  <a:lnTo>
                    <a:pt x="2140267" y="579628"/>
                  </a:lnTo>
                  <a:lnTo>
                    <a:pt x="2134425" y="620395"/>
                  </a:lnTo>
                  <a:lnTo>
                    <a:pt x="2129345" y="661670"/>
                  </a:lnTo>
                  <a:lnTo>
                    <a:pt x="2125027" y="703326"/>
                  </a:lnTo>
                  <a:lnTo>
                    <a:pt x="2121217" y="745617"/>
                  </a:lnTo>
                  <a:lnTo>
                    <a:pt x="2118423" y="788035"/>
                  </a:lnTo>
                  <a:lnTo>
                    <a:pt x="2116264" y="830834"/>
                  </a:lnTo>
                  <a:lnTo>
                    <a:pt x="2114994" y="873760"/>
                  </a:lnTo>
                  <a:lnTo>
                    <a:pt x="2114613" y="916178"/>
                  </a:lnTo>
                  <a:lnTo>
                    <a:pt x="2114854" y="958850"/>
                  </a:lnTo>
                  <a:lnTo>
                    <a:pt x="2115858" y="1001268"/>
                  </a:lnTo>
                  <a:lnTo>
                    <a:pt x="2117471" y="1043686"/>
                  </a:lnTo>
                  <a:lnTo>
                    <a:pt x="2119604" y="1085850"/>
                  </a:lnTo>
                  <a:lnTo>
                    <a:pt x="2122487" y="1129665"/>
                  </a:lnTo>
                  <a:lnTo>
                    <a:pt x="2125916" y="1171321"/>
                  </a:lnTo>
                  <a:lnTo>
                    <a:pt x="2129853" y="1212596"/>
                  </a:lnTo>
                  <a:lnTo>
                    <a:pt x="2134298" y="1253236"/>
                  </a:lnTo>
                  <a:lnTo>
                    <a:pt x="2139251" y="1293241"/>
                  </a:lnTo>
                  <a:lnTo>
                    <a:pt x="2144712" y="1332357"/>
                  </a:lnTo>
                  <a:lnTo>
                    <a:pt x="2150681" y="1370711"/>
                  </a:lnTo>
                  <a:lnTo>
                    <a:pt x="2156904" y="1408303"/>
                  </a:lnTo>
                  <a:lnTo>
                    <a:pt x="2171001" y="1480058"/>
                  </a:lnTo>
                  <a:lnTo>
                    <a:pt x="2186368" y="1547368"/>
                  </a:lnTo>
                  <a:lnTo>
                    <a:pt x="2203259" y="1609217"/>
                  </a:lnTo>
                  <a:lnTo>
                    <a:pt x="2221293" y="1665351"/>
                  </a:lnTo>
                  <a:lnTo>
                    <a:pt x="2240597" y="1714754"/>
                  </a:lnTo>
                  <a:lnTo>
                    <a:pt x="2260917" y="1757299"/>
                  </a:lnTo>
                  <a:lnTo>
                    <a:pt x="2282253" y="1792097"/>
                  </a:lnTo>
                  <a:lnTo>
                    <a:pt x="2310574" y="1823593"/>
                  </a:lnTo>
                  <a:lnTo>
                    <a:pt x="2349817" y="1841881"/>
                  </a:lnTo>
                  <a:lnTo>
                    <a:pt x="2355151" y="1842135"/>
                  </a:lnTo>
                  <a:lnTo>
                    <a:pt x="2356447" y="1818513"/>
                  </a:lnTo>
                  <a:lnTo>
                    <a:pt x="2356548" y="1816735"/>
                  </a:lnTo>
                  <a:lnTo>
                    <a:pt x="2321496" y="1799336"/>
                  </a:lnTo>
                  <a:lnTo>
                    <a:pt x="2292667" y="1761744"/>
                  </a:lnTo>
                  <a:lnTo>
                    <a:pt x="2273236" y="1725549"/>
                  </a:lnTo>
                  <a:lnTo>
                    <a:pt x="2254313" y="1681353"/>
                  </a:lnTo>
                  <a:lnTo>
                    <a:pt x="2236279" y="1630045"/>
                  </a:lnTo>
                  <a:lnTo>
                    <a:pt x="2219134" y="1572133"/>
                  </a:lnTo>
                  <a:lnTo>
                    <a:pt x="2203132" y="1508379"/>
                  </a:lnTo>
                  <a:lnTo>
                    <a:pt x="2188654" y="1439672"/>
                  </a:lnTo>
                  <a:lnTo>
                    <a:pt x="2175700" y="1366520"/>
                  </a:lnTo>
                  <a:lnTo>
                    <a:pt x="2169858" y="1328420"/>
                  </a:lnTo>
                  <a:lnTo>
                    <a:pt x="2164397" y="1289685"/>
                  </a:lnTo>
                  <a:lnTo>
                    <a:pt x="2159444" y="1250061"/>
                  </a:lnTo>
                  <a:lnTo>
                    <a:pt x="2155126" y="1209802"/>
                  </a:lnTo>
                  <a:lnTo>
                    <a:pt x="2151189" y="1168908"/>
                  </a:lnTo>
                  <a:lnTo>
                    <a:pt x="2147760" y="1127506"/>
                  </a:lnTo>
                  <a:lnTo>
                    <a:pt x="2145195" y="1087501"/>
                  </a:lnTo>
                  <a:lnTo>
                    <a:pt x="2142998" y="1045083"/>
                  </a:lnTo>
                  <a:lnTo>
                    <a:pt x="2141321" y="1002284"/>
                  </a:lnTo>
                  <a:lnTo>
                    <a:pt x="2140280" y="959485"/>
                  </a:lnTo>
                  <a:lnTo>
                    <a:pt x="2139886" y="916317"/>
                  </a:lnTo>
                  <a:lnTo>
                    <a:pt x="2140394" y="874014"/>
                  </a:lnTo>
                  <a:lnTo>
                    <a:pt x="2141664" y="831596"/>
                  </a:lnTo>
                  <a:lnTo>
                    <a:pt x="2143696" y="789305"/>
                  </a:lnTo>
                  <a:lnTo>
                    <a:pt x="2146617" y="747268"/>
                  </a:lnTo>
                  <a:lnTo>
                    <a:pt x="2150300" y="705612"/>
                  </a:lnTo>
                  <a:lnTo>
                    <a:pt x="2154618" y="664337"/>
                  </a:lnTo>
                  <a:lnTo>
                    <a:pt x="2159698" y="623443"/>
                  </a:lnTo>
                  <a:lnTo>
                    <a:pt x="2165413" y="583311"/>
                  </a:lnTo>
                  <a:lnTo>
                    <a:pt x="2171763" y="543814"/>
                  </a:lnTo>
                  <a:lnTo>
                    <a:pt x="2178748" y="504952"/>
                  </a:lnTo>
                  <a:lnTo>
                    <a:pt x="2186495" y="467106"/>
                  </a:lnTo>
                  <a:lnTo>
                    <a:pt x="2203386" y="394081"/>
                  </a:lnTo>
                  <a:lnTo>
                    <a:pt x="2222309" y="325374"/>
                  </a:lnTo>
                  <a:lnTo>
                    <a:pt x="2243137" y="261874"/>
                  </a:lnTo>
                  <a:lnTo>
                    <a:pt x="2265362" y="203962"/>
                  </a:lnTo>
                  <a:lnTo>
                    <a:pt x="2289111" y="152654"/>
                  </a:lnTo>
                  <a:lnTo>
                    <a:pt x="2313749" y="108458"/>
                  </a:lnTo>
                  <a:lnTo>
                    <a:pt x="2339149" y="72263"/>
                  </a:lnTo>
                  <a:lnTo>
                    <a:pt x="2350452" y="59182"/>
                  </a:lnTo>
                  <a:lnTo>
                    <a:pt x="2351163" y="58356"/>
                  </a:lnTo>
                  <a:lnTo>
                    <a:pt x="2352598" y="57277"/>
                  </a:lnTo>
                  <a:lnTo>
                    <a:pt x="2362454" y="49872"/>
                  </a:lnTo>
                  <a:lnTo>
                    <a:pt x="2371788" y="70231"/>
                  </a:lnTo>
                  <a:lnTo>
                    <a:pt x="2412073" y="20066"/>
                  </a:lnTo>
                  <a:lnTo>
                    <a:pt x="2425128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357375" y="766698"/>
              <a:ext cx="3935729" cy="1916430"/>
            </a:xfrm>
            <a:custGeom>
              <a:avLst/>
              <a:gdLst/>
              <a:ahLst/>
              <a:cxnLst/>
              <a:rect l="l" t="t" r="r" b="b"/>
              <a:pathLst>
                <a:path w="3935729" h="1916430">
                  <a:moveTo>
                    <a:pt x="1390650" y="114426"/>
                  </a:moveTo>
                  <a:lnTo>
                    <a:pt x="1390650" y="0"/>
                  </a:lnTo>
                  <a:lnTo>
                    <a:pt x="3927729" y="0"/>
                  </a:lnTo>
                  <a:lnTo>
                    <a:pt x="3927729" y="1909826"/>
                  </a:lnTo>
                </a:path>
                <a:path w="3935729" h="1916430">
                  <a:moveTo>
                    <a:pt x="695325" y="114426"/>
                  </a:moveTo>
                  <a:lnTo>
                    <a:pt x="695325" y="10413"/>
                  </a:lnTo>
                  <a:lnTo>
                    <a:pt x="3929507" y="10413"/>
                  </a:lnTo>
                  <a:lnTo>
                    <a:pt x="3929507" y="1916430"/>
                  </a:lnTo>
                </a:path>
                <a:path w="3935729" h="1916430">
                  <a:moveTo>
                    <a:pt x="0" y="114426"/>
                  </a:moveTo>
                  <a:lnTo>
                    <a:pt x="0" y="10413"/>
                  </a:lnTo>
                  <a:lnTo>
                    <a:pt x="3935603" y="10413"/>
                  </a:lnTo>
                  <a:lnTo>
                    <a:pt x="3935603" y="191643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0712" y="759205"/>
              <a:ext cx="5002530" cy="2948305"/>
            </a:xfrm>
            <a:custGeom>
              <a:avLst/>
              <a:gdLst/>
              <a:ahLst/>
              <a:cxnLst/>
              <a:rect l="l" t="t" r="r" b="b"/>
              <a:pathLst>
                <a:path w="5002530" h="2948304">
                  <a:moveTo>
                    <a:pt x="4702873" y="1844802"/>
                  </a:moveTo>
                  <a:lnTo>
                    <a:pt x="4677473" y="1844802"/>
                  </a:lnTo>
                  <a:lnTo>
                    <a:pt x="4677473" y="25400"/>
                  </a:lnTo>
                  <a:lnTo>
                    <a:pt x="4677473" y="12700"/>
                  </a:lnTo>
                  <a:lnTo>
                    <a:pt x="4677473" y="5715"/>
                  </a:lnTo>
                  <a:lnTo>
                    <a:pt x="4671758" y="0"/>
                  </a:lnTo>
                  <a:lnTo>
                    <a:pt x="5689" y="0"/>
                  </a:lnTo>
                  <a:lnTo>
                    <a:pt x="0" y="5715"/>
                  </a:lnTo>
                  <a:lnTo>
                    <a:pt x="0" y="121920"/>
                  </a:lnTo>
                  <a:lnTo>
                    <a:pt x="25400" y="121920"/>
                  </a:lnTo>
                  <a:lnTo>
                    <a:pt x="25400" y="25400"/>
                  </a:lnTo>
                  <a:lnTo>
                    <a:pt x="4652073" y="25400"/>
                  </a:lnTo>
                  <a:lnTo>
                    <a:pt x="4652073" y="1844802"/>
                  </a:lnTo>
                  <a:lnTo>
                    <a:pt x="4626673" y="1844802"/>
                  </a:lnTo>
                  <a:lnTo>
                    <a:pt x="4664773" y="1921002"/>
                  </a:lnTo>
                  <a:lnTo>
                    <a:pt x="4696523" y="1857502"/>
                  </a:lnTo>
                  <a:lnTo>
                    <a:pt x="4702873" y="1844802"/>
                  </a:lnTo>
                  <a:close/>
                </a:path>
                <a:path w="5002530" h="2948304">
                  <a:moveTo>
                    <a:pt x="5002466" y="2909697"/>
                  </a:moveTo>
                  <a:lnTo>
                    <a:pt x="4977066" y="2896997"/>
                  </a:lnTo>
                  <a:lnTo>
                    <a:pt x="4926266" y="2871597"/>
                  </a:lnTo>
                  <a:lnTo>
                    <a:pt x="4926266" y="2896997"/>
                  </a:lnTo>
                  <a:lnTo>
                    <a:pt x="4683188" y="2896997"/>
                  </a:lnTo>
                  <a:lnTo>
                    <a:pt x="4683188" y="2150745"/>
                  </a:lnTo>
                  <a:lnTo>
                    <a:pt x="4657788" y="2150745"/>
                  </a:lnTo>
                  <a:lnTo>
                    <a:pt x="4657788" y="2916682"/>
                  </a:lnTo>
                  <a:lnTo>
                    <a:pt x="4663376" y="2922397"/>
                  </a:lnTo>
                  <a:lnTo>
                    <a:pt x="4926266" y="2922397"/>
                  </a:lnTo>
                  <a:lnTo>
                    <a:pt x="4926266" y="2947797"/>
                  </a:lnTo>
                  <a:lnTo>
                    <a:pt x="4977066" y="2922397"/>
                  </a:lnTo>
                  <a:lnTo>
                    <a:pt x="5002466" y="2909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09926" y="1014475"/>
              <a:ext cx="76263" cy="12611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11275" y="1024000"/>
              <a:ext cx="76200" cy="1270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14727" y="1024000"/>
              <a:ext cx="76200" cy="12395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8525" y="1014475"/>
              <a:ext cx="76136" cy="139064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58150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005576" y="3443287"/>
            <a:ext cx="314325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043676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273" y="418338"/>
                </a:lnTo>
                <a:lnTo>
                  <a:pt x="50673" y="418338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79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938901" y="2147951"/>
            <a:ext cx="76835" cy="422275"/>
          </a:xfrm>
          <a:custGeom>
            <a:avLst/>
            <a:gdLst/>
            <a:ahLst/>
            <a:cxnLst/>
            <a:rect l="l" t="t" r="r" b="b"/>
            <a:pathLst>
              <a:path w="76835" h="422275">
                <a:moveTo>
                  <a:pt x="50800" y="63500"/>
                </a:moveTo>
                <a:lnTo>
                  <a:pt x="25400" y="63500"/>
                </a:lnTo>
                <a:lnTo>
                  <a:pt x="25400" y="421767"/>
                </a:lnTo>
                <a:lnTo>
                  <a:pt x="50800" y="421767"/>
                </a:lnTo>
                <a:lnTo>
                  <a:pt x="50800" y="63500"/>
                </a:lnTo>
                <a:close/>
              </a:path>
              <a:path w="76835" h="422275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903" y="63500"/>
                </a:lnTo>
                <a:lnTo>
                  <a:pt x="38100" y="0"/>
                </a:lnTo>
                <a:close/>
              </a:path>
              <a:path w="76835" h="422275">
                <a:moveTo>
                  <a:pt x="69903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63" y="76200"/>
                </a:lnTo>
                <a:lnTo>
                  <a:pt x="6990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824601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673" y="63500"/>
                </a:moveTo>
                <a:lnTo>
                  <a:pt x="25400" y="63500"/>
                </a:lnTo>
                <a:lnTo>
                  <a:pt x="25273" y="418338"/>
                </a:lnTo>
                <a:lnTo>
                  <a:pt x="50673" y="418338"/>
                </a:lnTo>
                <a:lnTo>
                  <a:pt x="50673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673" y="63500"/>
                </a:lnTo>
                <a:lnTo>
                  <a:pt x="50673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5711190" y="4211637"/>
            <a:ext cx="540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sp>
        <p:nvSpPr>
          <p:cNvPr id="93" name="object 93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3084576" y="2977451"/>
            <a:ext cx="2096770" cy="162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Intuition</a:t>
            </a:r>
            <a:r>
              <a:rPr sz="1500" dirty="0">
                <a:latin typeface="Arial"/>
                <a:cs typeface="Arial"/>
              </a:rPr>
              <a:t>: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Context </a:t>
            </a:r>
            <a:r>
              <a:rPr sz="1500" dirty="0">
                <a:latin typeface="Arial"/>
                <a:cs typeface="Arial"/>
              </a:rPr>
              <a:t>vector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attends</a:t>
            </a:r>
            <a:r>
              <a:rPr sz="1500" u="none" spc="-35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to</a:t>
            </a:r>
            <a:r>
              <a:rPr sz="1500" u="none" spc="-55" dirty="0">
                <a:latin typeface="Arial"/>
                <a:cs typeface="Arial"/>
              </a:rPr>
              <a:t> </a:t>
            </a:r>
            <a:r>
              <a:rPr sz="1500" u="none" spc="-25" dirty="0">
                <a:latin typeface="Arial"/>
                <a:cs typeface="Arial"/>
              </a:rPr>
              <a:t>the </a:t>
            </a:r>
            <a:r>
              <a:rPr sz="1500" u="none" dirty="0">
                <a:latin typeface="Arial"/>
                <a:cs typeface="Arial"/>
              </a:rPr>
              <a:t>relevant</a:t>
            </a:r>
            <a:r>
              <a:rPr sz="1500" u="none" spc="-3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part</a:t>
            </a:r>
            <a:r>
              <a:rPr sz="1500" u="none" spc="-25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of</a:t>
            </a:r>
            <a:r>
              <a:rPr sz="1500" u="none" spc="-25" dirty="0">
                <a:latin typeface="Arial"/>
                <a:cs typeface="Arial"/>
              </a:rPr>
              <a:t> the</a:t>
            </a:r>
            <a:r>
              <a:rPr sz="1500" u="none" spc="50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input</a:t>
            </a:r>
            <a:r>
              <a:rPr sz="1500" u="none" spc="-30" dirty="0">
                <a:latin typeface="Arial"/>
                <a:cs typeface="Arial"/>
              </a:rPr>
              <a:t> </a:t>
            </a:r>
            <a:r>
              <a:rPr sz="1500" u="none" spc="-10" dirty="0">
                <a:latin typeface="Arial"/>
                <a:cs typeface="Arial"/>
              </a:rPr>
              <a:t>sequence </a:t>
            </a:r>
            <a:r>
              <a:rPr sz="1500" i="1" u="none" dirty="0">
                <a:latin typeface="Arial"/>
                <a:cs typeface="Arial"/>
              </a:rPr>
              <a:t>“vediamo”</a:t>
            </a:r>
            <a:r>
              <a:rPr sz="1500" i="1" u="none" spc="-25" dirty="0">
                <a:latin typeface="Arial"/>
                <a:cs typeface="Arial"/>
              </a:rPr>
              <a:t> </a:t>
            </a:r>
            <a:r>
              <a:rPr sz="1500" b="1" i="1" u="none" dirty="0">
                <a:latin typeface="Arial"/>
                <a:cs typeface="Arial"/>
              </a:rPr>
              <a:t>=</a:t>
            </a:r>
            <a:r>
              <a:rPr sz="1500" b="1" i="1" u="none" spc="-20" dirty="0">
                <a:latin typeface="Arial"/>
                <a:cs typeface="Arial"/>
              </a:rPr>
              <a:t> </a:t>
            </a:r>
            <a:r>
              <a:rPr sz="1500" i="1" u="none" dirty="0">
                <a:latin typeface="Arial"/>
                <a:cs typeface="Arial"/>
              </a:rPr>
              <a:t>“we</a:t>
            </a:r>
            <a:r>
              <a:rPr sz="1500" i="1" u="none" spc="-65" dirty="0">
                <a:latin typeface="Arial"/>
                <a:cs typeface="Arial"/>
              </a:rPr>
              <a:t> </a:t>
            </a:r>
            <a:r>
              <a:rPr sz="1500" i="1" u="none" spc="-20" dirty="0">
                <a:latin typeface="Arial"/>
                <a:cs typeface="Arial"/>
              </a:rPr>
              <a:t>see”</a:t>
            </a:r>
            <a:r>
              <a:rPr sz="1500" i="1" u="none" spc="50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so</a:t>
            </a:r>
            <a:r>
              <a:rPr sz="1500" u="none" spc="-5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maybe</a:t>
            </a:r>
            <a:r>
              <a:rPr sz="1500" u="none" spc="-75" dirty="0">
                <a:latin typeface="Arial"/>
                <a:cs typeface="Arial"/>
              </a:rPr>
              <a:t> </a:t>
            </a:r>
            <a:r>
              <a:rPr sz="1500" u="none" spc="-10" dirty="0">
                <a:latin typeface="Arial"/>
                <a:cs typeface="Arial"/>
              </a:rPr>
              <a:t>a</a:t>
            </a:r>
            <a:r>
              <a:rPr sz="1425" u="none" spc="-15" baseline="-17543" dirty="0">
                <a:latin typeface="Arial"/>
                <a:cs typeface="Arial"/>
              </a:rPr>
              <a:t>11</a:t>
            </a:r>
            <a:r>
              <a:rPr sz="1500" u="none" spc="-10" dirty="0">
                <a:latin typeface="Arial"/>
                <a:cs typeface="Arial"/>
              </a:rPr>
              <a:t>=a</a:t>
            </a:r>
            <a:r>
              <a:rPr sz="1425" u="none" spc="-15" baseline="-17543" dirty="0">
                <a:latin typeface="Arial"/>
                <a:cs typeface="Arial"/>
              </a:rPr>
              <a:t>12</a:t>
            </a:r>
            <a:r>
              <a:rPr sz="1500" u="none" spc="-10" dirty="0">
                <a:latin typeface="Arial"/>
                <a:cs typeface="Arial"/>
              </a:rPr>
              <a:t>=0.45, a</a:t>
            </a:r>
            <a:r>
              <a:rPr sz="1425" u="none" spc="-15" baseline="-17543" dirty="0">
                <a:latin typeface="Arial"/>
                <a:cs typeface="Arial"/>
              </a:rPr>
              <a:t>13</a:t>
            </a:r>
            <a:r>
              <a:rPr sz="1500" u="none" spc="-10" dirty="0">
                <a:latin typeface="Arial"/>
                <a:cs typeface="Arial"/>
              </a:rPr>
              <a:t>=a</a:t>
            </a:r>
            <a:r>
              <a:rPr sz="1425" u="none" spc="-15" baseline="-17543" dirty="0">
                <a:latin typeface="Arial"/>
                <a:cs typeface="Arial"/>
              </a:rPr>
              <a:t>14</a:t>
            </a:r>
            <a:r>
              <a:rPr sz="1500" u="none" spc="-10" dirty="0">
                <a:latin typeface="Arial"/>
                <a:cs typeface="Arial"/>
              </a:rPr>
              <a:t>=0.05</a:t>
            </a:r>
            <a:endParaRPr sz="15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155314" y="1801812"/>
            <a:ext cx="208280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hidden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state: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466459" y="1446911"/>
            <a:ext cx="237744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Normalize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alignment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to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get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attention</a:t>
            </a:r>
            <a:r>
              <a:rPr sz="1500" b="1" spc="1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weights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428359" y="1843849"/>
            <a:ext cx="2679065" cy="183896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85"/>
              </a:spcBef>
              <a:tabLst>
                <a:tab pos="1106805" algn="l"/>
              </a:tabLst>
            </a:pPr>
            <a:r>
              <a:rPr sz="1500" dirty="0">
                <a:latin typeface="Arial"/>
                <a:cs typeface="Arial"/>
              </a:rPr>
              <a:t>0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&lt;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425" baseline="-17543" dirty="0">
                <a:latin typeface="Arial"/>
                <a:cs typeface="Arial"/>
              </a:rPr>
              <a:t>t,i</a:t>
            </a:r>
            <a:r>
              <a:rPr sz="1425" spc="24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&lt;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1</a:t>
            </a:r>
            <a:r>
              <a:rPr sz="1500" dirty="0">
                <a:latin typeface="Arial"/>
                <a:cs typeface="Arial"/>
              </a:rPr>
              <a:t>	∑</a:t>
            </a:r>
            <a:r>
              <a:rPr sz="1425" baseline="-17543" dirty="0">
                <a:latin typeface="Arial"/>
                <a:cs typeface="Arial"/>
              </a:rPr>
              <a:t>i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425" baseline="-17543" dirty="0">
                <a:latin typeface="Arial"/>
                <a:cs typeface="Arial"/>
              </a:rPr>
              <a:t>t,i</a:t>
            </a:r>
            <a:r>
              <a:rPr sz="1425" spc="27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=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241935" marR="43180">
              <a:lnSpc>
                <a:spcPct val="100000"/>
              </a:lnSpc>
              <a:spcBef>
                <a:spcPts val="484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context</a:t>
            </a:r>
            <a:r>
              <a:rPr sz="1500" b="1" spc="-7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vector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as </a:t>
            </a:r>
            <a:r>
              <a:rPr sz="1500" dirty="0">
                <a:latin typeface="Arial"/>
                <a:cs typeface="Arial"/>
              </a:rPr>
              <a:t>weighted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sum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hidden states</a:t>
            </a:r>
            <a:endParaRPr sz="150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  <a:spcBef>
                <a:spcPts val="310"/>
              </a:spcBef>
            </a:pPr>
            <a:r>
              <a:rPr sz="2250" baseline="11111" dirty="0">
                <a:latin typeface="Arial"/>
                <a:cs typeface="Arial"/>
              </a:rPr>
              <a:t>c</a:t>
            </a:r>
            <a:r>
              <a:rPr sz="950" dirty="0">
                <a:latin typeface="Arial"/>
                <a:cs typeface="Arial"/>
              </a:rPr>
              <a:t>t</a:t>
            </a:r>
            <a:r>
              <a:rPr sz="950" spc="145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</a:t>
            </a:r>
            <a:r>
              <a:rPr sz="2250" spc="-15" baseline="11111" dirty="0">
                <a:latin typeface="Arial"/>
                <a:cs typeface="Arial"/>
              </a:rPr>
              <a:t> ∑</a:t>
            </a:r>
            <a:r>
              <a:rPr sz="950" spc="-10" dirty="0">
                <a:latin typeface="Arial"/>
                <a:cs typeface="Arial"/>
              </a:rPr>
              <a:t>i</a:t>
            </a:r>
            <a:r>
              <a:rPr sz="2250" spc="-15" baseline="11111" dirty="0">
                <a:latin typeface="Arial"/>
                <a:cs typeface="Arial"/>
              </a:rPr>
              <a:t>a</a:t>
            </a:r>
            <a:r>
              <a:rPr sz="950" spc="-10" dirty="0">
                <a:latin typeface="Arial"/>
                <a:cs typeface="Arial"/>
              </a:rPr>
              <a:t>t,i</a:t>
            </a:r>
            <a:r>
              <a:rPr sz="2250" spc="-15" baseline="11111" dirty="0">
                <a:latin typeface="Arial"/>
                <a:cs typeface="Arial"/>
              </a:rPr>
              <a:t>h</a:t>
            </a:r>
            <a:r>
              <a:rPr sz="950" spc="-10" dirty="0"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  <a:p>
            <a:pPr marL="243204" marR="133350">
              <a:lnSpc>
                <a:spcPct val="100000"/>
              </a:lnSpc>
              <a:spcBef>
                <a:spcPts val="390"/>
              </a:spcBef>
            </a:pPr>
            <a:r>
              <a:rPr sz="1500" dirty="0">
                <a:latin typeface="Arial"/>
                <a:cs typeface="Arial"/>
              </a:rPr>
              <a:t>Use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vector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in </a:t>
            </a:r>
            <a:r>
              <a:rPr sz="1500" dirty="0">
                <a:latin typeface="Arial"/>
                <a:cs typeface="Arial"/>
              </a:rPr>
              <a:t>decoder: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</a:t>
            </a:r>
            <a:r>
              <a:rPr sz="1425" spc="240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=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</a:t>
            </a:r>
            <a:r>
              <a:rPr sz="1425" baseline="-17543" dirty="0">
                <a:latin typeface="Arial"/>
                <a:cs typeface="Arial"/>
              </a:rPr>
              <a:t>U</a:t>
            </a:r>
            <a:r>
              <a:rPr sz="1500" dirty="0">
                <a:latin typeface="Arial"/>
                <a:cs typeface="Arial"/>
              </a:rPr>
              <a:t>(y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</a:t>
            </a:r>
            <a:r>
              <a:rPr sz="1425" spc="-37" baseline="-17543" dirty="0">
                <a:latin typeface="Arial"/>
                <a:cs typeface="Arial"/>
              </a:rPr>
              <a:t>t</a:t>
            </a:r>
            <a:r>
              <a:rPr sz="1500" spc="-25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513704" y="806767"/>
            <a:ext cx="31064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(scalar)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alignment</a:t>
            </a:r>
            <a:r>
              <a:rPr sz="1500" b="1" spc="-7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488304" y="1073785"/>
            <a:ext cx="130048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50" baseline="11111" dirty="0">
                <a:latin typeface="Arial"/>
                <a:cs typeface="Arial"/>
              </a:rPr>
              <a:t>e</a:t>
            </a:r>
            <a:r>
              <a:rPr sz="950" dirty="0">
                <a:latin typeface="Arial"/>
                <a:cs typeface="Arial"/>
              </a:rPr>
              <a:t>t,i</a:t>
            </a:r>
            <a:r>
              <a:rPr sz="950" spc="210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 f</a:t>
            </a:r>
            <a:r>
              <a:rPr sz="950" dirty="0">
                <a:latin typeface="Arial"/>
                <a:cs typeface="Arial"/>
              </a:rPr>
              <a:t>att</a:t>
            </a:r>
            <a:r>
              <a:rPr sz="2250" baseline="11111" dirty="0">
                <a:latin typeface="Arial"/>
                <a:cs typeface="Arial"/>
              </a:rPr>
              <a:t>(s</a:t>
            </a:r>
            <a:r>
              <a:rPr sz="950" dirty="0">
                <a:latin typeface="Arial"/>
                <a:cs typeface="Arial"/>
              </a:rPr>
              <a:t>t-1</a:t>
            </a:r>
            <a:r>
              <a:rPr sz="2250" baseline="11111" dirty="0">
                <a:latin typeface="Arial"/>
                <a:cs typeface="Arial"/>
              </a:rPr>
              <a:t>,</a:t>
            </a:r>
            <a:r>
              <a:rPr sz="2250" spc="22" baseline="11111" dirty="0">
                <a:latin typeface="Arial"/>
                <a:cs typeface="Arial"/>
              </a:rPr>
              <a:t> </a:t>
            </a:r>
            <a:r>
              <a:rPr sz="2250" spc="-37" baseline="11111" dirty="0">
                <a:latin typeface="Arial"/>
                <a:cs typeface="Arial"/>
              </a:rPr>
              <a:t>h</a:t>
            </a:r>
            <a:r>
              <a:rPr sz="950" spc="-25" dirty="0">
                <a:latin typeface="Arial"/>
                <a:cs typeface="Arial"/>
              </a:rPr>
              <a:t>i</a:t>
            </a:r>
            <a:r>
              <a:rPr sz="2250" spc="-37" baseline="11111" dirty="0">
                <a:latin typeface="Arial"/>
                <a:cs typeface="Arial"/>
              </a:rPr>
              <a:t>)</a:t>
            </a:r>
            <a:endParaRPr sz="2250" baseline="11111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133168" y="1035430"/>
            <a:ext cx="1859914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(f</a:t>
            </a:r>
            <a:r>
              <a:rPr sz="1425" baseline="-17543" dirty="0">
                <a:latin typeface="Arial"/>
                <a:cs typeface="Arial"/>
              </a:rPr>
              <a:t>att</a:t>
            </a:r>
            <a:r>
              <a:rPr sz="1425" spc="21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Linear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Layer)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4516501" y="2468626"/>
            <a:ext cx="1290955" cy="376555"/>
            <a:chOff x="4516501" y="2468626"/>
            <a:chExt cx="1290955" cy="376555"/>
          </a:xfrm>
        </p:grpSpPr>
        <p:sp>
          <p:nvSpPr>
            <p:cNvPr id="107" name="object 107"/>
            <p:cNvSpPr/>
            <p:nvPr/>
          </p:nvSpPr>
          <p:spPr>
            <a:xfrm>
              <a:off x="4529201" y="2481326"/>
              <a:ext cx="1247775" cy="342900"/>
            </a:xfrm>
            <a:custGeom>
              <a:avLst/>
              <a:gdLst/>
              <a:ahLst/>
              <a:cxnLst/>
              <a:rect l="l" t="t" r="r" b="b"/>
              <a:pathLst>
                <a:path w="1247775" h="342900">
                  <a:moveTo>
                    <a:pt x="0" y="317881"/>
                  </a:moveTo>
                  <a:lnTo>
                    <a:pt x="44551" y="283433"/>
                  </a:lnTo>
                  <a:lnTo>
                    <a:pt x="89106" y="249347"/>
                  </a:lnTo>
                  <a:lnTo>
                    <a:pt x="133664" y="215983"/>
                  </a:lnTo>
                  <a:lnTo>
                    <a:pt x="178224" y="183703"/>
                  </a:lnTo>
                  <a:lnTo>
                    <a:pt x="222785" y="152869"/>
                  </a:lnTo>
                  <a:lnTo>
                    <a:pt x="267348" y="123840"/>
                  </a:lnTo>
                  <a:lnTo>
                    <a:pt x="311912" y="96980"/>
                  </a:lnTo>
                  <a:lnTo>
                    <a:pt x="356475" y="72648"/>
                  </a:lnTo>
                  <a:lnTo>
                    <a:pt x="401038" y="51207"/>
                  </a:lnTo>
                  <a:lnTo>
                    <a:pt x="445599" y="33017"/>
                  </a:lnTo>
                  <a:lnTo>
                    <a:pt x="490159" y="18440"/>
                  </a:lnTo>
                  <a:lnTo>
                    <a:pt x="534717" y="7838"/>
                  </a:lnTo>
                  <a:lnTo>
                    <a:pt x="579272" y="1570"/>
                  </a:lnTo>
                  <a:lnTo>
                    <a:pt x="623824" y="0"/>
                  </a:lnTo>
                  <a:lnTo>
                    <a:pt x="666819" y="4425"/>
                  </a:lnTo>
                  <a:lnTo>
                    <a:pt x="712199" y="15420"/>
                  </a:lnTo>
                  <a:lnTo>
                    <a:pt x="759367" y="32077"/>
                  </a:lnTo>
                  <a:lnTo>
                    <a:pt x="807726" y="53486"/>
                  </a:lnTo>
                  <a:lnTo>
                    <a:pt x="856680" y="78739"/>
                  </a:lnTo>
                  <a:lnTo>
                    <a:pt x="905633" y="106929"/>
                  </a:lnTo>
                  <a:lnTo>
                    <a:pt x="953989" y="137147"/>
                  </a:lnTo>
                  <a:lnTo>
                    <a:pt x="1001151" y="168485"/>
                  </a:lnTo>
                  <a:lnTo>
                    <a:pt x="1046523" y="200034"/>
                  </a:lnTo>
                  <a:lnTo>
                    <a:pt x="1089509" y="230886"/>
                  </a:lnTo>
                  <a:lnTo>
                    <a:pt x="1129512" y="260132"/>
                  </a:lnTo>
                  <a:lnTo>
                    <a:pt x="1165937" y="286865"/>
                  </a:lnTo>
                  <a:lnTo>
                    <a:pt x="1198186" y="310176"/>
                  </a:lnTo>
                  <a:lnTo>
                    <a:pt x="1225664" y="329157"/>
                  </a:lnTo>
                  <a:lnTo>
                    <a:pt x="1247775" y="3429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767451" y="2795524"/>
              <a:ext cx="38100" cy="47625"/>
            </a:xfrm>
            <a:custGeom>
              <a:avLst/>
              <a:gdLst/>
              <a:ahLst/>
              <a:cxnLst/>
              <a:rect l="l" t="t" r="r" b="b"/>
              <a:pathLst>
                <a:path w="38100" h="47625">
                  <a:moveTo>
                    <a:pt x="0" y="0"/>
                  </a:moveTo>
                  <a:lnTo>
                    <a:pt x="0" y="47625"/>
                  </a:lnTo>
                  <a:lnTo>
                    <a:pt x="38100" y="23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767451" y="2795524"/>
              <a:ext cx="38100" cy="47625"/>
            </a:xfrm>
            <a:custGeom>
              <a:avLst/>
              <a:gdLst/>
              <a:ahLst/>
              <a:cxnLst/>
              <a:rect l="l" t="t" r="r" b="b"/>
              <a:pathLst>
                <a:path w="38100" h="47625">
                  <a:moveTo>
                    <a:pt x="0" y="0"/>
                  </a:moveTo>
                  <a:lnTo>
                    <a:pt x="38100" y="23875"/>
                  </a:lnTo>
                  <a:lnTo>
                    <a:pt x="0" y="4762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18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030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5137" y="2560701"/>
            <a:ext cx="346075" cy="469900"/>
            <a:chOff x="465137" y="2560701"/>
            <a:chExt cx="346075" cy="469900"/>
          </a:xfrm>
        </p:grpSpPr>
        <p:sp>
          <p:nvSpPr>
            <p:cNvPr id="6" name="object 6"/>
            <p:cNvSpPr/>
            <p:nvPr/>
          </p:nvSpPr>
          <p:spPr>
            <a:xfrm>
              <a:off x="47148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148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2925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69987" y="2560701"/>
            <a:ext cx="346075" cy="469900"/>
            <a:chOff x="1169987" y="2560701"/>
            <a:chExt cx="346075" cy="469900"/>
          </a:xfrm>
        </p:grpSpPr>
        <p:sp>
          <p:nvSpPr>
            <p:cNvPr id="10" name="object 10"/>
            <p:cNvSpPr/>
            <p:nvPr/>
          </p:nvSpPr>
          <p:spPr>
            <a:xfrm>
              <a:off x="117633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76337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48663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14" name="object 14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51354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18" name="object 18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79751" y="2560701"/>
            <a:ext cx="336550" cy="469900"/>
            <a:chOff x="2579751" y="2560701"/>
            <a:chExt cx="336550" cy="469900"/>
          </a:xfrm>
        </p:grpSpPr>
        <p:sp>
          <p:nvSpPr>
            <p:cNvPr id="23" name="object 23"/>
            <p:cNvSpPr/>
            <p:nvPr/>
          </p:nvSpPr>
          <p:spPr>
            <a:xfrm>
              <a:off x="2586101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86101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54300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6087" y="1960626"/>
            <a:ext cx="2339975" cy="1482725"/>
            <a:chOff x="446087" y="1960626"/>
            <a:chExt cx="2339975" cy="1482725"/>
          </a:xfrm>
        </p:grpSpPr>
        <p:sp>
          <p:nvSpPr>
            <p:cNvPr id="27" name="object 27"/>
            <p:cNvSpPr/>
            <p:nvPr/>
          </p:nvSpPr>
          <p:spPr>
            <a:xfrm>
              <a:off x="606158" y="2757550"/>
              <a:ext cx="2179955" cy="685800"/>
            </a:xfrm>
            <a:custGeom>
              <a:avLst/>
              <a:gdLst/>
              <a:ahLst/>
              <a:cxnLst/>
              <a:rect l="l" t="t" r="r" b="b"/>
              <a:pathLst>
                <a:path w="2179955" h="685800">
                  <a:moveTo>
                    <a:pt x="76187" y="342138"/>
                  </a:moveTo>
                  <a:lnTo>
                    <a:pt x="69811" y="329946"/>
                  </a:lnTo>
                  <a:lnTo>
                    <a:pt x="36779" y="266700"/>
                  </a:lnTo>
                  <a:lnTo>
                    <a:pt x="0" y="343535"/>
                  </a:lnTo>
                  <a:lnTo>
                    <a:pt x="25387" y="343077"/>
                  </a:lnTo>
                  <a:lnTo>
                    <a:pt x="25171" y="330327"/>
                  </a:lnTo>
                  <a:lnTo>
                    <a:pt x="25374" y="342138"/>
                  </a:lnTo>
                  <a:lnTo>
                    <a:pt x="25387" y="343077"/>
                  </a:lnTo>
                  <a:lnTo>
                    <a:pt x="31267" y="684911"/>
                  </a:lnTo>
                  <a:lnTo>
                    <a:pt x="31280" y="685292"/>
                  </a:lnTo>
                  <a:lnTo>
                    <a:pt x="56680" y="684911"/>
                  </a:lnTo>
                  <a:lnTo>
                    <a:pt x="50800" y="343535"/>
                  </a:lnTo>
                  <a:lnTo>
                    <a:pt x="50787" y="342607"/>
                  </a:lnTo>
                  <a:lnTo>
                    <a:pt x="76187" y="342138"/>
                  </a:lnTo>
                  <a:close/>
                </a:path>
                <a:path w="2179955" h="685800">
                  <a:moveTo>
                    <a:pt x="574306" y="38100"/>
                  </a:moveTo>
                  <a:lnTo>
                    <a:pt x="548906" y="25400"/>
                  </a:lnTo>
                  <a:lnTo>
                    <a:pt x="498106" y="0"/>
                  </a:lnTo>
                  <a:lnTo>
                    <a:pt x="498106" y="25400"/>
                  </a:lnTo>
                  <a:lnTo>
                    <a:pt x="198704" y="25400"/>
                  </a:lnTo>
                  <a:lnTo>
                    <a:pt x="198704" y="50800"/>
                  </a:lnTo>
                  <a:lnTo>
                    <a:pt x="498106" y="50800"/>
                  </a:lnTo>
                  <a:lnTo>
                    <a:pt x="498106" y="76200"/>
                  </a:lnTo>
                  <a:lnTo>
                    <a:pt x="548906" y="50800"/>
                  </a:lnTo>
                  <a:lnTo>
                    <a:pt x="574306" y="38100"/>
                  </a:lnTo>
                  <a:close/>
                </a:path>
                <a:path w="2179955" h="685800">
                  <a:moveTo>
                    <a:pt x="779665" y="342900"/>
                  </a:moveTo>
                  <a:lnTo>
                    <a:pt x="773315" y="330200"/>
                  </a:lnTo>
                  <a:lnTo>
                    <a:pt x="741565" y="266700"/>
                  </a:lnTo>
                  <a:lnTo>
                    <a:pt x="703465" y="342900"/>
                  </a:lnTo>
                  <a:lnTo>
                    <a:pt x="728865" y="342900"/>
                  </a:lnTo>
                  <a:lnTo>
                    <a:pt x="728992" y="685165"/>
                  </a:lnTo>
                  <a:lnTo>
                    <a:pt x="754392" y="685165"/>
                  </a:lnTo>
                  <a:lnTo>
                    <a:pt x="754265" y="342900"/>
                  </a:lnTo>
                  <a:lnTo>
                    <a:pt x="779665" y="342900"/>
                  </a:lnTo>
                  <a:close/>
                </a:path>
                <a:path w="2179955" h="685800">
                  <a:moveTo>
                    <a:pt x="1276489" y="38100"/>
                  </a:moveTo>
                  <a:lnTo>
                    <a:pt x="1251089" y="25400"/>
                  </a:lnTo>
                  <a:lnTo>
                    <a:pt x="1200289" y="0"/>
                  </a:lnTo>
                  <a:lnTo>
                    <a:pt x="1200289" y="25400"/>
                  </a:lnTo>
                  <a:lnTo>
                    <a:pt x="903617" y="25400"/>
                  </a:lnTo>
                  <a:lnTo>
                    <a:pt x="903617" y="50800"/>
                  </a:lnTo>
                  <a:lnTo>
                    <a:pt x="1200289" y="50800"/>
                  </a:lnTo>
                  <a:lnTo>
                    <a:pt x="1200289" y="76200"/>
                  </a:lnTo>
                  <a:lnTo>
                    <a:pt x="1251089" y="50800"/>
                  </a:lnTo>
                  <a:lnTo>
                    <a:pt x="1276489" y="38100"/>
                  </a:lnTo>
                  <a:close/>
                </a:path>
                <a:path w="2179955" h="685800">
                  <a:moveTo>
                    <a:pt x="1474990" y="342900"/>
                  </a:moveTo>
                  <a:lnTo>
                    <a:pt x="1468640" y="330200"/>
                  </a:lnTo>
                  <a:lnTo>
                    <a:pt x="1436890" y="266700"/>
                  </a:lnTo>
                  <a:lnTo>
                    <a:pt x="1398790" y="342900"/>
                  </a:lnTo>
                  <a:lnTo>
                    <a:pt x="1424190" y="342900"/>
                  </a:lnTo>
                  <a:lnTo>
                    <a:pt x="1424317" y="685165"/>
                  </a:lnTo>
                  <a:lnTo>
                    <a:pt x="1449717" y="685165"/>
                  </a:lnTo>
                  <a:lnTo>
                    <a:pt x="1449590" y="342900"/>
                  </a:lnTo>
                  <a:lnTo>
                    <a:pt x="1474990" y="342900"/>
                  </a:lnTo>
                  <a:close/>
                </a:path>
                <a:path w="2179955" h="685800">
                  <a:moveTo>
                    <a:pt x="1981339" y="38100"/>
                  </a:moveTo>
                  <a:lnTo>
                    <a:pt x="1955939" y="25400"/>
                  </a:lnTo>
                  <a:lnTo>
                    <a:pt x="1905139" y="0"/>
                  </a:lnTo>
                  <a:lnTo>
                    <a:pt x="1905139" y="25400"/>
                  </a:lnTo>
                  <a:lnTo>
                    <a:pt x="1608340" y="25400"/>
                  </a:lnTo>
                  <a:lnTo>
                    <a:pt x="1608340" y="50800"/>
                  </a:lnTo>
                  <a:lnTo>
                    <a:pt x="1905139" y="50800"/>
                  </a:lnTo>
                  <a:lnTo>
                    <a:pt x="1905139" y="76200"/>
                  </a:lnTo>
                  <a:lnTo>
                    <a:pt x="1955939" y="50800"/>
                  </a:lnTo>
                  <a:lnTo>
                    <a:pt x="1981339" y="38100"/>
                  </a:lnTo>
                  <a:close/>
                </a:path>
                <a:path w="2179955" h="685800">
                  <a:moveTo>
                    <a:pt x="2179840" y="342900"/>
                  </a:moveTo>
                  <a:lnTo>
                    <a:pt x="2173490" y="330200"/>
                  </a:lnTo>
                  <a:lnTo>
                    <a:pt x="2141740" y="266700"/>
                  </a:lnTo>
                  <a:lnTo>
                    <a:pt x="2103640" y="342900"/>
                  </a:lnTo>
                  <a:lnTo>
                    <a:pt x="2129040" y="342900"/>
                  </a:lnTo>
                  <a:lnTo>
                    <a:pt x="2129167" y="685165"/>
                  </a:lnTo>
                  <a:lnTo>
                    <a:pt x="2154567" y="685165"/>
                  </a:lnTo>
                  <a:lnTo>
                    <a:pt x="2154440" y="342900"/>
                  </a:lnTo>
                  <a:lnTo>
                    <a:pt x="2179840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43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43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21652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50937" y="1960626"/>
            <a:ext cx="384175" cy="298450"/>
            <a:chOff x="1150937" y="1960626"/>
            <a:chExt cx="384175" cy="298450"/>
          </a:xfrm>
        </p:grpSpPr>
        <p:sp>
          <p:nvSpPr>
            <p:cNvPr id="32" name="object 32"/>
            <p:cNvSpPr/>
            <p:nvPr/>
          </p:nvSpPr>
          <p:spPr>
            <a:xfrm>
              <a:off x="115728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57287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27137" y="2047494"/>
            <a:ext cx="235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846326" y="1960626"/>
            <a:ext cx="393700" cy="298450"/>
            <a:chOff x="1846326" y="1960626"/>
            <a:chExt cx="393700" cy="298450"/>
          </a:xfrm>
        </p:grpSpPr>
        <p:sp>
          <p:nvSpPr>
            <p:cNvPr id="36" name="object 36"/>
            <p:cNvSpPr/>
            <p:nvPr/>
          </p:nvSpPr>
          <p:spPr>
            <a:xfrm>
              <a:off x="185267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5267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931035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551176" y="1960626"/>
            <a:ext cx="393700" cy="298450"/>
            <a:chOff x="2551176" y="1960626"/>
            <a:chExt cx="393700" cy="298450"/>
          </a:xfrm>
        </p:grpSpPr>
        <p:sp>
          <p:nvSpPr>
            <p:cNvPr id="40" name="object 40"/>
            <p:cNvSpPr/>
            <p:nvPr/>
          </p:nvSpPr>
          <p:spPr>
            <a:xfrm>
              <a:off x="255752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57526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633091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46087" y="1131950"/>
            <a:ext cx="3940810" cy="1450340"/>
            <a:chOff x="446087" y="1131950"/>
            <a:chExt cx="3940810" cy="1450340"/>
          </a:xfrm>
        </p:grpSpPr>
        <p:sp>
          <p:nvSpPr>
            <p:cNvPr id="44" name="object 44"/>
            <p:cNvSpPr/>
            <p:nvPr/>
          </p:nvSpPr>
          <p:spPr>
            <a:xfrm>
              <a:off x="604837" y="2252725"/>
              <a:ext cx="76200" cy="314325"/>
            </a:xfrm>
            <a:custGeom>
              <a:avLst/>
              <a:gdLst/>
              <a:ahLst/>
              <a:cxnLst/>
              <a:rect l="l" t="t" r="r" b="b"/>
              <a:pathLst>
                <a:path w="76200" h="314325">
                  <a:moveTo>
                    <a:pt x="50800" y="63500"/>
                  </a:moveTo>
                  <a:lnTo>
                    <a:pt x="25400" y="635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63500"/>
                  </a:lnTo>
                  <a:close/>
                </a:path>
                <a:path w="76200" h="314325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4325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7237" y="2490850"/>
              <a:ext cx="3616960" cy="78740"/>
            </a:xfrm>
            <a:custGeom>
              <a:avLst/>
              <a:gdLst/>
              <a:ahLst/>
              <a:cxnLst/>
              <a:rect l="l" t="t" r="r" b="b"/>
              <a:pathLst>
                <a:path w="3616960" h="78739">
                  <a:moveTo>
                    <a:pt x="3616769" y="78486"/>
                  </a:moveTo>
                  <a:lnTo>
                    <a:pt x="361676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37" y="2252598"/>
              <a:ext cx="76200" cy="23596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309624" y="2252725"/>
              <a:ext cx="1477010" cy="314325"/>
            </a:xfrm>
            <a:custGeom>
              <a:avLst/>
              <a:gdLst/>
              <a:ahLst/>
              <a:cxnLst/>
              <a:rect l="l" t="t" r="r" b="b"/>
              <a:pathLst>
                <a:path w="1477010" h="31432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527" y="314325"/>
                  </a:lnTo>
                  <a:lnTo>
                    <a:pt x="50927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1477010" h="314325">
                  <a:moveTo>
                    <a:pt x="772287" y="76200"/>
                  </a:moveTo>
                  <a:lnTo>
                    <a:pt x="765975" y="63500"/>
                  </a:lnTo>
                  <a:lnTo>
                    <a:pt x="734441" y="0"/>
                  </a:lnTo>
                  <a:lnTo>
                    <a:pt x="696010" y="76200"/>
                  </a:lnTo>
                  <a:lnTo>
                    <a:pt x="721436" y="76200"/>
                  </a:lnTo>
                  <a:lnTo>
                    <a:pt x="720852" y="314325"/>
                  </a:lnTo>
                  <a:lnTo>
                    <a:pt x="746252" y="314325"/>
                  </a:lnTo>
                  <a:lnTo>
                    <a:pt x="746848" y="76200"/>
                  </a:lnTo>
                  <a:lnTo>
                    <a:pt x="772287" y="76200"/>
                  </a:lnTo>
                  <a:close/>
                </a:path>
                <a:path w="1477010" h="314325">
                  <a:moveTo>
                    <a:pt x="1476502" y="76200"/>
                  </a:moveTo>
                  <a:lnTo>
                    <a:pt x="1470126" y="63500"/>
                  </a:lnTo>
                  <a:lnTo>
                    <a:pt x="1438275" y="0"/>
                  </a:lnTo>
                  <a:lnTo>
                    <a:pt x="1400302" y="76200"/>
                  </a:lnTo>
                  <a:lnTo>
                    <a:pt x="1425575" y="76200"/>
                  </a:lnTo>
                  <a:lnTo>
                    <a:pt x="1425702" y="314325"/>
                  </a:lnTo>
                  <a:lnTo>
                    <a:pt x="1451102" y="314325"/>
                  </a:lnTo>
                  <a:lnTo>
                    <a:pt x="1450975" y="76200"/>
                  </a:lnTo>
                  <a:lnTo>
                    <a:pt x="1476502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773" y="2252598"/>
              <a:ext cx="76200" cy="23596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4399" y="2243073"/>
              <a:ext cx="76200" cy="23596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4226" y="2243073"/>
              <a:ext cx="76200" cy="23596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52437" y="1576450"/>
              <a:ext cx="2486025" cy="238125"/>
            </a:xfrm>
            <a:custGeom>
              <a:avLst/>
              <a:gdLst/>
              <a:ahLst/>
              <a:cxnLst/>
              <a:rect l="l" t="t" r="r" b="b"/>
              <a:pathLst>
                <a:path w="2486025" h="238125">
                  <a:moveTo>
                    <a:pt x="0" y="238125"/>
                  </a:moveTo>
                  <a:lnTo>
                    <a:pt x="2486025" y="238125"/>
                  </a:lnTo>
                  <a:lnTo>
                    <a:pt x="24860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5243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243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5728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57287" y="1147825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852675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852675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57526" y="113830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57526" y="113830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83552" y="1228661"/>
            <a:ext cx="242316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704850" algn="l"/>
                <a:tab pos="1408430" algn="l"/>
                <a:tab pos="2111375" algn="l"/>
              </a:tabLst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11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12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13</a:t>
            </a:r>
            <a:r>
              <a:rPr sz="900" baseline="4629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14</a:t>
            </a:r>
            <a:endParaRPr sz="900" baseline="4629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6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95896" y="1414525"/>
            <a:ext cx="2210435" cy="556260"/>
            <a:chOff x="595896" y="1414525"/>
            <a:chExt cx="2210435" cy="556260"/>
          </a:xfrm>
        </p:grpSpPr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896" y="1814448"/>
              <a:ext cx="76200" cy="15620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0386" y="1804923"/>
              <a:ext cx="76200" cy="15608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5236" y="1814448"/>
              <a:ext cx="76200" cy="15608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9611" y="1814448"/>
              <a:ext cx="76200" cy="15608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29611" y="1414525"/>
              <a:ext cx="76200" cy="15595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15236" y="1433575"/>
              <a:ext cx="76200" cy="15595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9911" y="1433575"/>
              <a:ext cx="76200" cy="15595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5960" y="1424050"/>
              <a:ext cx="76200" cy="155956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5624576" y="3443287"/>
            <a:ext cx="304800" cy="4476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81000" y="780986"/>
            <a:ext cx="5050155" cy="2135505"/>
            <a:chOff x="381000" y="780986"/>
            <a:chExt cx="5050155" cy="2135505"/>
          </a:xfrm>
        </p:grpSpPr>
        <p:pic>
          <p:nvPicPr>
            <p:cNvPr id="72" name="object 7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000" y="780986"/>
              <a:ext cx="500062" cy="40481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157851" y="268135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228600"/>
                  </a:moveTo>
                  <a:lnTo>
                    <a:pt x="266700" y="228600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221604" y="2657792"/>
            <a:ext cx="137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Arial"/>
                <a:cs typeface="Arial"/>
              </a:rPr>
              <a:t>+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30187" y="753998"/>
            <a:ext cx="5393055" cy="2953385"/>
            <a:chOff x="230187" y="753998"/>
            <a:chExt cx="5393055" cy="2953385"/>
          </a:xfrm>
        </p:grpSpPr>
        <p:pic>
          <p:nvPicPr>
            <p:cNvPr id="76" name="object 7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5375" y="780986"/>
              <a:ext cx="500062" cy="40481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0225" y="780986"/>
              <a:ext cx="490537" cy="40481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5550" y="790511"/>
              <a:ext cx="500062" cy="404812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30187" y="962913"/>
              <a:ext cx="2425700" cy="1849120"/>
            </a:xfrm>
            <a:custGeom>
              <a:avLst/>
              <a:gdLst/>
              <a:ahLst/>
              <a:cxnLst/>
              <a:rect l="l" t="t" r="r" b="b"/>
              <a:pathLst>
                <a:path w="2425700" h="1849120">
                  <a:moveTo>
                    <a:pt x="304927" y="3810"/>
                  </a:moveTo>
                  <a:lnTo>
                    <a:pt x="219748" y="2159"/>
                  </a:lnTo>
                  <a:lnTo>
                    <a:pt x="231622" y="27203"/>
                  </a:lnTo>
                  <a:lnTo>
                    <a:pt x="216027" y="38989"/>
                  </a:lnTo>
                  <a:lnTo>
                    <a:pt x="215265" y="39497"/>
                  </a:lnTo>
                  <a:lnTo>
                    <a:pt x="214579" y="40259"/>
                  </a:lnTo>
                  <a:lnTo>
                    <a:pt x="213956" y="40894"/>
                  </a:lnTo>
                  <a:lnTo>
                    <a:pt x="186893" y="75565"/>
                  </a:lnTo>
                  <a:lnTo>
                    <a:pt x="161175" y="117983"/>
                  </a:lnTo>
                  <a:lnTo>
                    <a:pt x="136575" y="167640"/>
                  </a:lnTo>
                  <a:lnTo>
                    <a:pt x="113436" y="223901"/>
                  </a:lnTo>
                  <a:lnTo>
                    <a:pt x="91909" y="286004"/>
                  </a:lnTo>
                  <a:lnTo>
                    <a:pt x="72021" y="353441"/>
                  </a:lnTo>
                  <a:lnTo>
                    <a:pt x="54203" y="425450"/>
                  </a:lnTo>
                  <a:lnTo>
                    <a:pt x="46050" y="463042"/>
                  </a:lnTo>
                  <a:lnTo>
                    <a:pt x="38582" y="501523"/>
                  </a:lnTo>
                  <a:lnTo>
                    <a:pt x="31584" y="540766"/>
                  </a:lnTo>
                  <a:lnTo>
                    <a:pt x="25273" y="580898"/>
                  </a:lnTo>
                  <a:lnTo>
                    <a:pt x="19519" y="621665"/>
                  </a:lnTo>
                  <a:lnTo>
                    <a:pt x="14541" y="662940"/>
                  </a:lnTo>
                  <a:lnTo>
                    <a:pt x="10236" y="704723"/>
                  </a:lnTo>
                  <a:lnTo>
                    <a:pt x="6604" y="747014"/>
                  </a:lnTo>
                  <a:lnTo>
                    <a:pt x="3733" y="789686"/>
                  </a:lnTo>
                  <a:lnTo>
                    <a:pt x="1714" y="832485"/>
                  </a:lnTo>
                  <a:lnTo>
                    <a:pt x="368" y="875665"/>
                  </a:lnTo>
                  <a:lnTo>
                    <a:pt x="0" y="918464"/>
                  </a:lnTo>
                  <a:lnTo>
                    <a:pt x="279" y="960882"/>
                  </a:lnTo>
                  <a:lnTo>
                    <a:pt x="1320" y="1003554"/>
                  </a:lnTo>
                  <a:lnTo>
                    <a:pt x="2908" y="1045972"/>
                  </a:lnTo>
                  <a:lnTo>
                    <a:pt x="5080" y="1088136"/>
                  </a:lnTo>
                  <a:lnTo>
                    <a:pt x="7950" y="1132078"/>
                  </a:lnTo>
                  <a:lnTo>
                    <a:pt x="11391" y="1173734"/>
                  </a:lnTo>
                  <a:lnTo>
                    <a:pt x="15316" y="1215136"/>
                  </a:lnTo>
                  <a:lnTo>
                    <a:pt x="19723" y="1255776"/>
                  </a:lnTo>
                  <a:lnTo>
                    <a:pt x="24701" y="1295908"/>
                  </a:lnTo>
                  <a:lnTo>
                    <a:pt x="30149" y="1335151"/>
                  </a:lnTo>
                  <a:lnTo>
                    <a:pt x="36080" y="1373632"/>
                  </a:lnTo>
                  <a:lnTo>
                    <a:pt x="49212" y="1447673"/>
                  </a:lnTo>
                  <a:lnTo>
                    <a:pt x="63881" y="1517396"/>
                  </a:lnTo>
                  <a:lnTo>
                    <a:pt x="80111" y="1582166"/>
                  </a:lnTo>
                  <a:lnTo>
                    <a:pt x="97624" y="1641348"/>
                  </a:lnTo>
                  <a:lnTo>
                    <a:pt x="116293" y="1694307"/>
                  </a:lnTo>
                  <a:lnTo>
                    <a:pt x="136042" y="1740408"/>
                  </a:lnTo>
                  <a:lnTo>
                    <a:pt x="156870" y="1779143"/>
                  </a:lnTo>
                  <a:lnTo>
                    <a:pt x="184289" y="1816100"/>
                  </a:lnTo>
                  <a:lnTo>
                    <a:pt x="214871" y="1839468"/>
                  </a:lnTo>
                  <a:lnTo>
                    <a:pt x="240626" y="1845691"/>
                  </a:lnTo>
                  <a:lnTo>
                    <a:pt x="241884" y="1821942"/>
                  </a:lnTo>
                  <a:lnTo>
                    <a:pt x="241973" y="1820418"/>
                  </a:lnTo>
                  <a:lnTo>
                    <a:pt x="207086" y="1803019"/>
                  </a:lnTo>
                  <a:lnTo>
                    <a:pt x="178092" y="1765173"/>
                  </a:lnTo>
                  <a:lnTo>
                    <a:pt x="158724" y="1728978"/>
                  </a:lnTo>
                  <a:lnTo>
                    <a:pt x="139801" y="1684655"/>
                  </a:lnTo>
                  <a:lnTo>
                    <a:pt x="121704" y="1633220"/>
                  </a:lnTo>
                  <a:lnTo>
                    <a:pt x="104546" y="1575308"/>
                  </a:lnTo>
                  <a:lnTo>
                    <a:pt x="88582" y="1511427"/>
                  </a:lnTo>
                  <a:lnTo>
                    <a:pt x="74104" y="1442593"/>
                  </a:lnTo>
                  <a:lnTo>
                    <a:pt x="61137" y="1369314"/>
                  </a:lnTo>
                  <a:lnTo>
                    <a:pt x="55257" y="1331214"/>
                  </a:lnTo>
                  <a:lnTo>
                    <a:pt x="49847" y="1292352"/>
                  </a:lnTo>
                  <a:lnTo>
                    <a:pt x="44919" y="1252601"/>
                  </a:lnTo>
                  <a:lnTo>
                    <a:pt x="40563" y="1212342"/>
                  </a:lnTo>
                  <a:lnTo>
                    <a:pt x="36677" y="1171448"/>
                  </a:lnTo>
                  <a:lnTo>
                    <a:pt x="33261" y="1130046"/>
                  </a:lnTo>
                  <a:lnTo>
                    <a:pt x="30619" y="1089787"/>
                  </a:lnTo>
                  <a:lnTo>
                    <a:pt x="28397" y="1047369"/>
                  </a:lnTo>
                  <a:lnTo>
                    <a:pt x="26746" y="1004443"/>
                  </a:lnTo>
                  <a:lnTo>
                    <a:pt x="25692" y="961517"/>
                  </a:lnTo>
                  <a:lnTo>
                    <a:pt x="25400" y="918464"/>
                  </a:lnTo>
                  <a:lnTo>
                    <a:pt x="25781" y="875665"/>
                  </a:lnTo>
                  <a:lnTo>
                    <a:pt x="27114" y="833247"/>
                  </a:lnTo>
                  <a:lnTo>
                    <a:pt x="29095" y="790829"/>
                  </a:lnTo>
                  <a:lnTo>
                    <a:pt x="31940" y="748665"/>
                  </a:lnTo>
                  <a:lnTo>
                    <a:pt x="35547" y="707009"/>
                  </a:lnTo>
                  <a:lnTo>
                    <a:pt x="39814" y="665480"/>
                  </a:lnTo>
                  <a:lnTo>
                    <a:pt x="44742" y="624713"/>
                  </a:lnTo>
                  <a:lnTo>
                    <a:pt x="50419" y="584327"/>
                  </a:lnTo>
                  <a:lnTo>
                    <a:pt x="56680" y="544830"/>
                  </a:lnTo>
                  <a:lnTo>
                    <a:pt x="63588" y="505968"/>
                  </a:lnTo>
                  <a:lnTo>
                    <a:pt x="70980" y="467868"/>
                  </a:lnTo>
                  <a:lnTo>
                    <a:pt x="87630" y="394716"/>
                  </a:lnTo>
                  <a:lnTo>
                    <a:pt x="106172" y="325882"/>
                  </a:lnTo>
                  <a:lnTo>
                    <a:pt x="126568" y="262255"/>
                  </a:lnTo>
                  <a:lnTo>
                    <a:pt x="148437" y="204216"/>
                  </a:lnTo>
                  <a:lnTo>
                    <a:pt x="171627" y="152781"/>
                  </a:lnTo>
                  <a:lnTo>
                    <a:pt x="195922" y="108458"/>
                  </a:lnTo>
                  <a:lnTo>
                    <a:pt x="220789" y="72263"/>
                  </a:lnTo>
                  <a:lnTo>
                    <a:pt x="242760" y="50673"/>
                  </a:lnTo>
                  <a:lnTo>
                    <a:pt x="252412" y="70993"/>
                  </a:lnTo>
                  <a:lnTo>
                    <a:pt x="291515" y="20955"/>
                  </a:lnTo>
                  <a:lnTo>
                    <a:pt x="304927" y="3810"/>
                  </a:lnTo>
                  <a:close/>
                </a:path>
                <a:path w="2425700" h="1849120">
                  <a:moveTo>
                    <a:pt x="1021207" y="3810"/>
                  </a:moveTo>
                  <a:lnTo>
                    <a:pt x="936104" y="0"/>
                  </a:lnTo>
                  <a:lnTo>
                    <a:pt x="946581" y="23583"/>
                  </a:lnTo>
                  <a:lnTo>
                    <a:pt x="945159" y="24257"/>
                  </a:lnTo>
                  <a:lnTo>
                    <a:pt x="913104" y="57150"/>
                  </a:lnTo>
                  <a:lnTo>
                    <a:pt x="885634" y="95758"/>
                  </a:lnTo>
                  <a:lnTo>
                    <a:pt x="859396" y="141986"/>
                  </a:lnTo>
                  <a:lnTo>
                    <a:pt x="834580" y="195199"/>
                  </a:lnTo>
                  <a:lnTo>
                    <a:pt x="811377" y="254508"/>
                  </a:lnTo>
                  <a:lnTo>
                    <a:pt x="789851" y="319532"/>
                  </a:lnTo>
                  <a:lnTo>
                    <a:pt x="770178" y="389382"/>
                  </a:lnTo>
                  <a:lnTo>
                    <a:pt x="752729" y="463677"/>
                  </a:lnTo>
                  <a:lnTo>
                    <a:pt x="744867" y="502285"/>
                  </a:lnTo>
                  <a:lnTo>
                    <a:pt x="737692" y="541655"/>
                  </a:lnTo>
                  <a:lnTo>
                    <a:pt x="731075" y="581787"/>
                  </a:lnTo>
                  <a:lnTo>
                    <a:pt x="725144" y="622554"/>
                  </a:lnTo>
                  <a:lnTo>
                    <a:pt x="719975" y="664083"/>
                  </a:lnTo>
                  <a:lnTo>
                    <a:pt x="715467" y="705866"/>
                  </a:lnTo>
                  <a:lnTo>
                    <a:pt x="711733" y="748284"/>
                  </a:lnTo>
                  <a:lnTo>
                    <a:pt x="708774" y="790829"/>
                  </a:lnTo>
                  <a:lnTo>
                    <a:pt x="706564" y="833755"/>
                  </a:lnTo>
                  <a:lnTo>
                    <a:pt x="705332" y="876935"/>
                  </a:lnTo>
                  <a:lnTo>
                    <a:pt x="704850" y="919619"/>
                  </a:lnTo>
                  <a:lnTo>
                    <a:pt x="705129" y="962152"/>
                  </a:lnTo>
                  <a:lnTo>
                    <a:pt x="706170" y="1004824"/>
                  </a:lnTo>
                  <a:lnTo>
                    <a:pt x="707771" y="1047496"/>
                  </a:lnTo>
                  <a:lnTo>
                    <a:pt x="709930" y="1089787"/>
                  </a:lnTo>
                  <a:lnTo>
                    <a:pt x="712800" y="1133729"/>
                  </a:lnTo>
                  <a:lnTo>
                    <a:pt x="716241" y="1175512"/>
                  </a:lnTo>
                  <a:lnTo>
                    <a:pt x="720166" y="1216914"/>
                  </a:lnTo>
                  <a:lnTo>
                    <a:pt x="724573" y="1257681"/>
                  </a:lnTo>
                  <a:lnTo>
                    <a:pt x="729538" y="1297813"/>
                  </a:lnTo>
                  <a:lnTo>
                    <a:pt x="734999" y="1337056"/>
                  </a:lnTo>
                  <a:lnTo>
                    <a:pt x="740930" y="1375664"/>
                  </a:lnTo>
                  <a:lnTo>
                    <a:pt x="747255" y="1413383"/>
                  </a:lnTo>
                  <a:lnTo>
                    <a:pt x="761238" y="1485265"/>
                  </a:lnTo>
                  <a:lnTo>
                    <a:pt x="776693" y="1552829"/>
                  </a:lnTo>
                  <a:lnTo>
                    <a:pt x="793521" y="1615059"/>
                  </a:lnTo>
                  <a:lnTo>
                    <a:pt x="811657" y="1671320"/>
                  </a:lnTo>
                  <a:lnTo>
                    <a:pt x="830922" y="1720977"/>
                  </a:lnTo>
                  <a:lnTo>
                    <a:pt x="851192" y="1763522"/>
                  </a:lnTo>
                  <a:lnTo>
                    <a:pt x="872540" y="1798447"/>
                  </a:lnTo>
                  <a:lnTo>
                    <a:pt x="900988" y="1830197"/>
                  </a:lnTo>
                  <a:lnTo>
                    <a:pt x="939914" y="1848231"/>
                  </a:lnTo>
                  <a:lnTo>
                    <a:pt x="945248" y="1848612"/>
                  </a:lnTo>
                  <a:lnTo>
                    <a:pt x="946937" y="1824863"/>
                  </a:lnTo>
                  <a:lnTo>
                    <a:pt x="947051" y="1823339"/>
                  </a:lnTo>
                  <a:lnTo>
                    <a:pt x="911936" y="1805940"/>
                  </a:lnTo>
                  <a:lnTo>
                    <a:pt x="882942" y="1768094"/>
                  </a:lnTo>
                  <a:lnTo>
                    <a:pt x="863561" y="1731772"/>
                  </a:lnTo>
                  <a:lnTo>
                    <a:pt x="844664" y="1687449"/>
                  </a:lnTo>
                  <a:lnTo>
                    <a:pt x="826554" y="1635887"/>
                  </a:lnTo>
                  <a:lnTo>
                    <a:pt x="809409" y="1577721"/>
                  </a:lnTo>
                  <a:lnTo>
                    <a:pt x="793432" y="1513840"/>
                  </a:lnTo>
                  <a:lnTo>
                    <a:pt x="778954" y="1444879"/>
                  </a:lnTo>
                  <a:lnTo>
                    <a:pt x="765987" y="1371473"/>
                  </a:lnTo>
                  <a:lnTo>
                    <a:pt x="760107" y="1333246"/>
                  </a:lnTo>
                  <a:lnTo>
                    <a:pt x="754710" y="1294257"/>
                  </a:lnTo>
                  <a:lnTo>
                    <a:pt x="749769" y="1254506"/>
                  </a:lnTo>
                  <a:lnTo>
                    <a:pt x="745413" y="1214247"/>
                  </a:lnTo>
                  <a:lnTo>
                    <a:pt x="741527" y="1173099"/>
                  </a:lnTo>
                  <a:lnTo>
                    <a:pt x="738111" y="1131697"/>
                  </a:lnTo>
                  <a:lnTo>
                    <a:pt x="735469" y="1091438"/>
                  </a:lnTo>
                  <a:lnTo>
                    <a:pt x="733247" y="1048766"/>
                  </a:lnTo>
                  <a:lnTo>
                    <a:pt x="731608" y="1005840"/>
                  </a:lnTo>
                  <a:lnTo>
                    <a:pt x="730542" y="962787"/>
                  </a:lnTo>
                  <a:lnTo>
                    <a:pt x="730250" y="919619"/>
                  </a:lnTo>
                  <a:lnTo>
                    <a:pt x="730719" y="877189"/>
                  </a:lnTo>
                  <a:lnTo>
                    <a:pt x="731964" y="834517"/>
                  </a:lnTo>
                  <a:lnTo>
                    <a:pt x="734136" y="792099"/>
                  </a:lnTo>
                  <a:lnTo>
                    <a:pt x="737082" y="749935"/>
                  </a:lnTo>
                  <a:lnTo>
                    <a:pt x="740778" y="708152"/>
                  </a:lnTo>
                  <a:lnTo>
                    <a:pt x="745223" y="666750"/>
                  </a:lnTo>
                  <a:lnTo>
                    <a:pt x="750341" y="625729"/>
                  </a:lnTo>
                  <a:lnTo>
                    <a:pt x="756221" y="585343"/>
                  </a:lnTo>
                  <a:lnTo>
                    <a:pt x="762749" y="545719"/>
                  </a:lnTo>
                  <a:lnTo>
                    <a:pt x="769861" y="506730"/>
                  </a:lnTo>
                  <a:lnTo>
                    <a:pt x="777621" y="468757"/>
                  </a:lnTo>
                  <a:lnTo>
                    <a:pt x="785952" y="431546"/>
                  </a:lnTo>
                  <a:lnTo>
                    <a:pt x="804291" y="360426"/>
                  </a:lnTo>
                  <a:lnTo>
                    <a:pt x="824534" y="294005"/>
                  </a:lnTo>
                  <a:lnTo>
                    <a:pt x="846505" y="233045"/>
                  </a:lnTo>
                  <a:lnTo>
                    <a:pt x="870013" y="178181"/>
                  </a:lnTo>
                  <a:lnTo>
                    <a:pt x="894651" y="130048"/>
                  </a:lnTo>
                  <a:lnTo>
                    <a:pt x="920254" y="89535"/>
                  </a:lnTo>
                  <a:lnTo>
                    <a:pt x="946416" y="57404"/>
                  </a:lnTo>
                  <a:lnTo>
                    <a:pt x="957059" y="47167"/>
                  </a:lnTo>
                  <a:lnTo>
                    <a:pt x="967092" y="69723"/>
                  </a:lnTo>
                  <a:lnTo>
                    <a:pt x="1009319" y="18288"/>
                  </a:lnTo>
                  <a:lnTo>
                    <a:pt x="1021207" y="3810"/>
                  </a:lnTo>
                  <a:close/>
                </a:path>
                <a:path w="2425700" h="1849120">
                  <a:moveTo>
                    <a:pt x="1725104" y="3810"/>
                  </a:moveTo>
                  <a:lnTo>
                    <a:pt x="1640014" y="254"/>
                  </a:lnTo>
                  <a:lnTo>
                    <a:pt x="1650492" y="23672"/>
                  </a:lnTo>
                  <a:lnTo>
                    <a:pt x="1649285" y="24257"/>
                  </a:lnTo>
                  <a:lnTo>
                    <a:pt x="1617281" y="57150"/>
                  </a:lnTo>
                  <a:lnTo>
                    <a:pt x="1589849" y="95885"/>
                  </a:lnTo>
                  <a:lnTo>
                    <a:pt x="1563814" y="141986"/>
                  </a:lnTo>
                  <a:lnTo>
                    <a:pt x="1539049" y="195199"/>
                  </a:lnTo>
                  <a:lnTo>
                    <a:pt x="1515808" y="254508"/>
                  </a:lnTo>
                  <a:lnTo>
                    <a:pt x="1494472" y="319532"/>
                  </a:lnTo>
                  <a:lnTo>
                    <a:pt x="1474787" y="389382"/>
                  </a:lnTo>
                  <a:lnTo>
                    <a:pt x="1457515" y="463677"/>
                  </a:lnTo>
                  <a:lnTo>
                    <a:pt x="1449641" y="502285"/>
                  </a:lnTo>
                  <a:lnTo>
                    <a:pt x="1442402" y="541655"/>
                  </a:lnTo>
                  <a:lnTo>
                    <a:pt x="1435798" y="581787"/>
                  </a:lnTo>
                  <a:lnTo>
                    <a:pt x="1429956" y="622554"/>
                  </a:lnTo>
                  <a:lnTo>
                    <a:pt x="1424749" y="664083"/>
                  </a:lnTo>
                  <a:lnTo>
                    <a:pt x="1420164" y="705866"/>
                  </a:lnTo>
                  <a:lnTo>
                    <a:pt x="1416494" y="748284"/>
                  </a:lnTo>
                  <a:lnTo>
                    <a:pt x="1413573" y="790829"/>
                  </a:lnTo>
                  <a:lnTo>
                    <a:pt x="1411401" y="833755"/>
                  </a:lnTo>
                  <a:lnTo>
                    <a:pt x="1410144" y="876935"/>
                  </a:lnTo>
                  <a:lnTo>
                    <a:pt x="1409763" y="919619"/>
                  </a:lnTo>
                  <a:lnTo>
                    <a:pt x="1410004" y="962152"/>
                  </a:lnTo>
                  <a:lnTo>
                    <a:pt x="1411008" y="1004824"/>
                  </a:lnTo>
                  <a:lnTo>
                    <a:pt x="1411020" y="1005840"/>
                  </a:lnTo>
                  <a:lnTo>
                    <a:pt x="1412633" y="1047496"/>
                  </a:lnTo>
                  <a:lnTo>
                    <a:pt x="1414754" y="1089787"/>
                  </a:lnTo>
                  <a:lnTo>
                    <a:pt x="1417637" y="1133729"/>
                  </a:lnTo>
                  <a:lnTo>
                    <a:pt x="1421066" y="1175512"/>
                  </a:lnTo>
                  <a:lnTo>
                    <a:pt x="1425003" y="1216914"/>
                  </a:lnTo>
                  <a:lnTo>
                    <a:pt x="1429448" y="1257681"/>
                  </a:lnTo>
                  <a:lnTo>
                    <a:pt x="1434401" y="1297813"/>
                  </a:lnTo>
                  <a:lnTo>
                    <a:pt x="1439862" y="1337056"/>
                  </a:lnTo>
                  <a:lnTo>
                    <a:pt x="1445831" y="1375664"/>
                  </a:lnTo>
                  <a:lnTo>
                    <a:pt x="1452054" y="1413383"/>
                  </a:lnTo>
                  <a:lnTo>
                    <a:pt x="1466151" y="1485265"/>
                  </a:lnTo>
                  <a:lnTo>
                    <a:pt x="1481518" y="1552829"/>
                  </a:lnTo>
                  <a:lnTo>
                    <a:pt x="1498409" y="1615059"/>
                  </a:lnTo>
                  <a:lnTo>
                    <a:pt x="1516443" y="1671320"/>
                  </a:lnTo>
                  <a:lnTo>
                    <a:pt x="1535747" y="1720977"/>
                  </a:lnTo>
                  <a:lnTo>
                    <a:pt x="1556067" y="1763522"/>
                  </a:lnTo>
                  <a:lnTo>
                    <a:pt x="1577403" y="1798447"/>
                  </a:lnTo>
                  <a:lnTo>
                    <a:pt x="1605851" y="1830197"/>
                  </a:lnTo>
                  <a:lnTo>
                    <a:pt x="1644713" y="1848231"/>
                  </a:lnTo>
                  <a:lnTo>
                    <a:pt x="1650047" y="1848612"/>
                  </a:lnTo>
                  <a:lnTo>
                    <a:pt x="1651825" y="1824863"/>
                  </a:lnTo>
                  <a:lnTo>
                    <a:pt x="1651952" y="1823339"/>
                  </a:lnTo>
                  <a:lnTo>
                    <a:pt x="1616773" y="1805940"/>
                  </a:lnTo>
                  <a:lnTo>
                    <a:pt x="1587817" y="1768094"/>
                  </a:lnTo>
                  <a:lnTo>
                    <a:pt x="1568386" y="1731772"/>
                  </a:lnTo>
                  <a:lnTo>
                    <a:pt x="1549463" y="1687449"/>
                  </a:lnTo>
                  <a:lnTo>
                    <a:pt x="1531429" y="1635887"/>
                  </a:lnTo>
                  <a:lnTo>
                    <a:pt x="1514284" y="1577721"/>
                  </a:lnTo>
                  <a:lnTo>
                    <a:pt x="1498282" y="1513840"/>
                  </a:lnTo>
                  <a:lnTo>
                    <a:pt x="1483804" y="1444879"/>
                  </a:lnTo>
                  <a:lnTo>
                    <a:pt x="1470850" y="1371473"/>
                  </a:lnTo>
                  <a:lnTo>
                    <a:pt x="1465008" y="1333246"/>
                  </a:lnTo>
                  <a:lnTo>
                    <a:pt x="1459547" y="1294257"/>
                  </a:lnTo>
                  <a:lnTo>
                    <a:pt x="1454594" y="1254506"/>
                  </a:lnTo>
                  <a:lnTo>
                    <a:pt x="1450276" y="1214247"/>
                  </a:lnTo>
                  <a:lnTo>
                    <a:pt x="1446339" y="1173099"/>
                  </a:lnTo>
                  <a:lnTo>
                    <a:pt x="1442910" y="1131697"/>
                  </a:lnTo>
                  <a:lnTo>
                    <a:pt x="1440345" y="1091438"/>
                  </a:lnTo>
                  <a:lnTo>
                    <a:pt x="1438148" y="1048766"/>
                  </a:lnTo>
                  <a:lnTo>
                    <a:pt x="1436471" y="1005840"/>
                  </a:lnTo>
                  <a:lnTo>
                    <a:pt x="1435430" y="962787"/>
                  </a:lnTo>
                  <a:lnTo>
                    <a:pt x="1435036" y="919619"/>
                  </a:lnTo>
                  <a:lnTo>
                    <a:pt x="1435544" y="877189"/>
                  </a:lnTo>
                  <a:lnTo>
                    <a:pt x="1436814" y="834517"/>
                  </a:lnTo>
                  <a:lnTo>
                    <a:pt x="1438973" y="792099"/>
                  </a:lnTo>
                  <a:lnTo>
                    <a:pt x="1441894" y="749935"/>
                  </a:lnTo>
                  <a:lnTo>
                    <a:pt x="1445577" y="708152"/>
                  </a:lnTo>
                  <a:lnTo>
                    <a:pt x="1450022" y="666750"/>
                  </a:lnTo>
                  <a:lnTo>
                    <a:pt x="1455102" y="625729"/>
                  </a:lnTo>
                  <a:lnTo>
                    <a:pt x="1460944" y="585343"/>
                  </a:lnTo>
                  <a:lnTo>
                    <a:pt x="1467548" y="545719"/>
                  </a:lnTo>
                  <a:lnTo>
                    <a:pt x="1474660" y="506730"/>
                  </a:lnTo>
                  <a:lnTo>
                    <a:pt x="1482407" y="468757"/>
                  </a:lnTo>
                  <a:lnTo>
                    <a:pt x="1490662" y="431546"/>
                  </a:lnTo>
                  <a:lnTo>
                    <a:pt x="1508823" y="360426"/>
                  </a:lnTo>
                  <a:lnTo>
                    <a:pt x="1529143" y="294005"/>
                  </a:lnTo>
                  <a:lnTo>
                    <a:pt x="1550987" y="233045"/>
                  </a:lnTo>
                  <a:lnTo>
                    <a:pt x="1574355" y="178054"/>
                  </a:lnTo>
                  <a:lnTo>
                    <a:pt x="1598993" y="130048"/>
                  </a:lnTo>
                  <a:lnTo>
                    <a:pt x="1624520" y="89535"/>
                  </a:lnTo>
                  <a:lnTo>
                    <a:pt x="1650555" y="57404"/>
                  </a:lnTo>
                  <a:lnTo>
                    <a:pt x="1661045" y="47218"/>
                  </a:lnTo>
                  <a:lnTo>
                    <a:pt x="1671129" y="69723"/>
                  </a:lnTo>
                  <a:lnTo>
                    <a:pt x="1713242" y="18288"/>
                  </a:lnTo>
                  <a:lnTo>
                    <a:pt x="1725104" y="3810"/>
                  </a:lnTo>
                  <a:close/>
                </a:path>
                <a:path w="2425700" h="1849120">
                  <a:moveTo>
                    <a:pt x="2425128" y="3810"/>
                  </a:moveTo>
                  <a:lnTo>
                    <a:pt x="2340038" y="889"/>
                  </a:lnTo>
                  <a:lnTo>
                    <a:pt x="2351633" y="26238"/>
                  </a:lnTo>
                  <a:lnTo>
                    <a:pt x="2334831" y="38862"/>
                  </a:lnTo>
                  <a:lnTo>
                    <a:pt x="2334069" y="39370"/>
                  </a:lnTo>
                  <a:lnTo>
                    <a:pt x="2333434" y="40005"/>
                  </a:lnTo>
                  <a:lnTo>
                    <a:pt x="2332799" y="40767"/>
                  </a:lnTo>
                  <a:lnTo>
                    <a:pt x="2318829" y="57023"/>
                  </a:lnTo>
                  <a:lnTo>
                    <a:pt x="2291905" y="95504"/>
                  </a:lnTo>
                  <a:lnTo>
                    <a:pt x="2266251" y="141605"/>
                  </a:lnTo>
                  <a:lnTo>
                    <a:pt x="2241867" y="194437"/>
                  </a:lnTo>
                  <a:lnTo>
                    <a:pt x="2219007" y="253619"/>
                  </a:lnTo>
                  <a:lnTo>
                    <a:pt x="2197925" y="318389"/>
                  </a:lnTo>
                  <a:lnTo>
                    <a:pt x="2178748" y="387985"/>
                  </a:lnTo>
                  <a:lnTo>
                    <a:pt x="2161603" y="462026"/>
                  </a:lnTo>
                  <a:lnTo>
                    <a:pt x="2153856" y="500380"/>
                  </a:lnTo>
                  <a:lnTo>
                    <a:pt x="2146744" y="539750"/>
                  </a:lnTo>
                  <a:lnTo>
                    <a:pt x="2140267" y="579628"/>
                  </a:lnTo>
                  <a:lnTo>
                    <a:pt x="2134425" y="620395"/>
                  </a:lnTo>
                  <a:lnTo>
                    <a:pt x="2129345" y="661670"/>
                  </a:lnTo>
                  <a:lnTo>
                    <a:pt x="2125027" y="703326"/>
                  </a:lnTo>
                  <a:lnTo>
                    <a:pt x="2121217" y="745617"/>
                  </a:lnTo>
                  <a:lnTo>
                    <a:pt x="2118423" y="788035"/>
                  </a:lnTo>
                  <a:lnTo>
                    <a:pt x="2116264" y="830834"/>
                  </a:lnTo>
                  <a:lnTo>
                    <a:pt x="2114994" y="873760"/>
                  </a:lnTo>
                  <a:lnTo>
                    <a:pt x="2114613" y="916178"/>
                  </a:lnTo>
                  <a:lnTo>
                    <a:pt x="2114854" y="958850"/>
                  </a:lnTo>
                  <a:lnTo>
                    <a:pt x="2115858" y="1001268"/>
                  </a:lnTo>
                  <a:lnTo>
                    <a:pt x="2117471" y="1043686"/>
                  </a:lnTo>
                  <a:lnTo>
                    <a:pt x="2119604" y="1085850"/>
                  </a:lnTo>
                  <a:lnTo>
                    <a:pt x="2122487" y="1129665"/>
                  </a:lnTo>
                  <a:lnTo>
                    <a:pt x="2125916" y="1171321"/>
                  </a:lnTo>
                  <a:lnTo>
                    <a:pt x="2129853" y="1212596"/>
                  </a:lnTo>
                  <a:lnTo>
                    <a:pt x="2134298" y="1253236"/>
                  </a:lnTo>
                  <a:lnTo>
                    <a:pt x="2139251" y="1293241"/>
                  </a:lnTo>
                  <a:lnTo>
                    <a:pt x="2144712" y="1332357"/>
                  </a:lnTo>
                  <a:lnTo>
                    <a:pt x="2150681" y="1370711"/>
                  </a:lnTo>
                  <a:lnTo>
                    <a:pt x="2156904" y="1408303"/>
                  </a:lnTo>
                  <a:lnTo>
                    <a:pt x="2171001" y="1480058"/>
                  </a:lnTo>
                  <a:lnTo>
                    <a:pt x="2186368" y="1547368"/>
                  </a:lnTo>
                  <a:lnTo>
                    <a:pt x="2203259" y="1609217"/>
                  </a:lnTo>
                  <a:lnTo>
                    <a:pt x="2221293" y="1665351"/>
                  </a:lnTo>
                  <a:lnTo>
                    <a:pt x="2240597" y="1714754"/>
                  </a:lnTo>
                  <a:lnTo>
                    <a:pt x="2260917" y="1757299"/>
                  </a:lnTo>
                  <a:lnTo>
                    <a:pt x="2282253" y="1792097"/>
                  </a:lnTo>
                  <a:lnTo>
                    <a:pt x="2310574" y="1823593"/>
                  </a:lnTo>
                  <a:lnTo>
                    <a:pt x="2349817" y="1841881"/>
                  </a:lnTo>
                  <a:lnTo>
                    <a:pt x="2355151" y="1842135"/>
                  </a:lnTo>
                  <a:lnTo>
                    <a:pt x="2356447" y="1818513"/>
                  </a:lnTo>
                  <a:lnTo>
                    <a:pt x="2356548" y="1816735"/>
                  </a:lnTo>
                  <a:lnTo>
                    <a:pt x="2321496" y="1799336"/>
                  </a:lnTo>
                  <a:lnTo>
                    <a:pt x="2292667" y="1761744"/>
                  </a:lnTo>
                  <a:lnTo>
                    <a:pt x="2273236" y="1725549"/>
                  </a:lnTo>
                  <a:lnTo>
                    <a:pt x="2254313" y="1681353"/>
                  </a:lnTo>
                  <a:lnTo>
                    <a:pt x="2236279" y="1630045"/>
                  </a:lnTo>
                  <a:lnTo>
                    <a:pt x="2219134" y="1572133"/>
                  </a:lnTo>
                  <a:lnTo>
                    <a:pt x="2203132" y="1508379"/>
                  </a:lnTo>
                  <a:lnTo>
                    <a:pt x="2188654" y="1439672"/>
                  </a:lnTo>
                  <a:lnTo>
                    <a:pt x="2175700" y="1366520"/>
                  </a:lnTo>
                  <a:lnTo>
                    <a:pt x="2169858" y="1328420"/>
                  </a:lnTo>
                  <a:lnTo>
                    <a:pt x="2164397" y="1289685"/>
                  </a:lnTo>
                  <a:lnTo>
                    <a:pt x="2159444" y="1250061"/>
                  </a:lnTo>
                  <a:lnTo>
                    <a:pt x="2155126" y="1209802"/>
                  </a:lnTo>
                  <a:lnTo>
                    <a:pt x="2151189" y="1168908"/>
                  </a:lnTo>
                  <a:lnTo>
                    <a:pt x="2147760" y="1127506"/>
                  </a:lnTo>
                  <a:lnTo>
                    <a:pt x="2145195" y="1087501"/>
                  </a:lnTo>
                  <a:lnTo>
                    <a:pt x="2142998" y="1045083"/>
                  </a:lnTo>
                  <a:lnTo>
                    <a:pt x="2141321" y="1002284"/>
                  </a:lnTo>
                  <a:lnTo>
                    <a:pt x="2140280" y="959485"/>
                  </a:lnTo>
                  <a:lnTo>
                    <a:pt x="2139886" y="916317"/>
                  </a:lnTo>
                  <a:lnTo>
                    <a:pt x="2140394" y="874014"/>
                  </a:lnTo>
                  <a:lnTo>
                    <a:pt x="2141664" y="831596"/>
                  </a:lnTo>
                  <a:lnTo>
                    <a:pt x="2143696" y="789305"/>
                  </a:lnTo>
                  <a:lnTo>
                    <a:pt x="2146617" y="747268"/>
                  </a:lnTo>
                  <a:lnTo>
                    <a:pt x="2150300" y="705612"/>
                  </a:lnTo>
                  <a:lnTo>
                    <a:pt x="2154618" y="664337"/>
                  </a:lnTo>
                  <a:lnTo>
                    <a:pt x="2159698" y="623443"/>
                  </a:lnTo>
                  <a:lnTo>
                    <a:pt x="2165413" y="583311"/>
                  </a:lnTo>
                  <a:lnTo>
                    <a:pt x="2171763" y="543814"/>
                  </a:lnTo>
                  <a:lnTo>
                    <a:pt x="2178748" y="504952"/>
                  </a:lnTo>
                  <a:lnTo>
                    <a:pt x="2186495" y="467106"/>
                  </a:lnTo>
                  <a:lnTo>
                    <a:pt x="2203386" y="394081"/>
                  </a:lnTo>
                  <a:lnTo>
                    <a:pt x="2222309" y="325374"/>
                  </a:lnTo>
                  <a:lnTo>
                    <a:pt x="2243137" y="261874"/>
                  </a:lnTo>
                  <a:lnTo>
                    <a:pt x="2265362" y="203962"/>
                  </a:lnTo>
                  <a:lnTo>
                    <a:pt x="2289111" y="152654"/>
                  </a:lnTo>
                  <a:lnTo>
                    <a:pt x="2313749" y="108458"/>
                  </a:lnTo>
                  <a:lnTo>
                    <a:pt x="2339149" y="72263"/>
                  </a:lnTo>
                  <a:lnTo>
                    <a:pt x="2350452" y="59182"/>
                  </a:lnTo>
                  <a:lnTo>
                    <a:pt x="2351163" y="58356"/>
                  </a:lnTo>
                  <a:lnTo>
                    <a:pt x="2352598" y="57277"/>
                  </a:lnTo>
                  <a:lnTo>
                    <a:pt x="2362454" y="49872"/>
                  </a:lnTo>
                  <a:lnTo>
                    <a:pt x="2371788" y="70231"/>
                  </a:lnTo>
                  <a:lnTo>
                    <a:pt x="2412073" y="20066"/>
                  </a:lnTo>
                  <a:lnTo>
                    <a:pt x="2425128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357375" y="766698"/>
              <a:ext cx="3935729" cy="1916430"/>
            </a:xfrm>
            <a:custGeom>
              <a:avLst/>
              <a:gdLst/>
              <a:ahLst/>
              <a:cxnLst/>
              <a:rect l="l" t="t" r="r" b="b"/>
              <a:pathLst>
                <a:path w="3935729" h="1916430">
                  <a:moveTo>
                    <a:pt x="1390650" y="114426"/>
                  </a:moveTo>
                  <a:lnTo>
                    <a:pt x="1390650" y="0"/>
                  </a:lnTo>
                  <a:lnTo>
                    <a:pt x="3927729" y="0"/>
                  </a:lnTo>
                  <a:lnTo>
                    <a:pt x="3927729" y="1909826"/>
                  </a:lnTo>
                </a:path>
                <a:path w="3935729" h="1916430">
                  <a:moveTo>
                    <a:pt x="695325" y="114426"/>
                  </a:moveTo>
                  <a:lnTo>
                    <a:pt x="695325" y="10413"/>
                  </a:lnTo>
                  <a:lnTo>
                    <a:pt x="3929507" y="10413"/>
                  </a:lnTo>
                  <a:lnTo>
                    <a:pt x="3929507" y="1916430"/>
                  </a:lnTo>
                </a:path>
                <a:path w="3935729" h="1916430">
                  <a:moveTo>
                    <a:pt x="0" y="114426"/>
                  </a:moveTo>
                  <a:lnTo>
                    <a:pt x="0" y="10413"/>
                  </a:lnTo>
                  <a:lnTo>
                    <a:pt x="3935603" y="10413"/>
                  </a:lnTo>
                  <a:lnTo>
                    <a:pt x="3935603" y="191643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0712" y="759205"/>
              <a:ext cx="5002530" cy="2948305"/>
            </a:xfrm>
            <a:custGeom>
              <a:avLst/>
              <a:gdLst/>
              <a:ahLst/>
              <a:cxnLst/>
              <a:rect l="l" t="t" r="r" b="b"/>
              <a:pathLst>
                <a:path w="5002530" h="2948304">
                  <a:moveTo>
                    <a:pt x="4702873" y="1844802"/>
                  </a:moveTo>
                  <a:lnTo>
                    <a:pt x="4677473" y="1844802"/>
                  </a:lnTo>
                  <a:lnTo>
                    <a:pt x="4677473" y="25400"/>
                  </a:lnTo>
                  <a:lnTo>
                    <a:pt x="4677473" y="12700"/>
                  </a:lnTo>
                  <a:lnTo>
                    <a:pt x="4677473" y="5715"/>
                  </a:lnTo>
                  <a:lnTo>
                    <a:pt x="4671758" y="0"/>
                  </a:lnTo>
                  <a:lnTo>
                    <a:pt x="5689" y="0"/>
                  </a:lnTo>
                  <a:lnTo>
                    <a:pt x="0" y="5715"/>
                  </a:lnTo>
                  <a:lnTo>
                    <a:pt x="0" y="121920"/>
                  </a:lnTo>
                  <a:lnTo>
                    <a:pt x="25400" y="121920"/>
                  </a:lnTo>
                  <a:lnTo>
                    <a:pt x="25400" y="25400"/>
                  </a:lnTo>
                  <a:lnTo>
                    <a:pt x="4652073" y="25400"/>
                  </a:lnTo>
                  <a:lnTo>
                    <a:pt x="4652073" y="1844802"/>
                  </a:lnTo>
                  <a:lnTo>
                    <a:pt x="4626673" y="1844802"/>
                  </a:lnTo>
                  <a:lnTo>
                    <a:pt x="4664773" y="1921002"/>
                  </a:lnTo>
                  <a:lnTo>
                    <a:pt x="4696523" y="1857502"/>
                  </a:lnTo>
                  <a:lnTo>
                    <a:pt x="4702873" y="1844802"/>
                  </a:lnTo>
                  <a:close/>
                </a:path>
                <a:path w="5002530" h="2948304">
                  <a:moveTo>
                    <a:pt x="5002466" y="2909697"/>
                  </a:moveTo>
                  <a:lnTo>
                    <a:pt x="4977066" y="2896997"/>
                  </a:lnTo>
                  <a:lnTo>
                    <a:pt x="4926266" y="2871597"/>
                  </a:lnTo>
                  <a:lnTo>
                    <a:pt x="4926266" y="2896997"/>
                  </a:lnTo>
                  <a:lnTo>
                    <a:pt x="4683188" y="2896997"/>
                  </a:lnTo>
                  <a:lnTo>
                    <a:pt x="4683188" y="2150745"/>
                  </a:lnTo>
                  <a:lnTo>
                    <a:pt x="4657788" y="2150745"/>
                  </a:lnTo>
                  <a:lnTo>
                    <a:pt x="4657788" y="2916682"/>
                  </a:lnTo>
                  <a:lnTo>
                    <a:pt x="4663376" y="2922397"/>
                  </a:lnTo>
                  <a:lnTo>
                    <a:pt x="4926266" y="2922397"/>
                  </a:lnTo>
                  <a:lnTo>
                    <a:pt x="4926266" y="2947797"/>
                  </a:lnTo>
                  <a:lnTo>
                    <a:pt x="4977066" y="2922397"/>
                  </a:lnTo>
                  <a:lnTo>
                    <a:pt x="5002466" y="2909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09926" y="1014475"/>
              <a:ext cx="76263" cy="12611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11275" y="1024000"/>
              <a:ext cx="76200" cy="1270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14727" y="1024000"/>
              <a:ext cx="76200" cy="12395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8525" y="1014475"/>
              <a:ext cx="76136" cy="139064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5815076" y="2567051"/>
            <a:ext cx="323850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005576" y="3443287"/>
            <a:ext cx="314325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043676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800" y="63500"/>
                </a:moveTo>
                <a:lnTo>
                  <a:pt x="25400" y="63500"/>
                </a:lnTo>
                <a:lnTo>
                  <a:pt x="25273" y="418338"/>
                </a:lnTo>
                <a:lnTo>
                  <a:pt x="50673" y="418338"/>
                </a:lnTo>
                <a:lnTo>
                  <a:pt x="50800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800" y="63500"/>
                </a:lnTo>
                <a:lnTo>
                  <a:pt x="5079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938901" y="2147951"/>
            <a:ext cx="76835" cy="422275"/>
          </a:xfrm>
          <a:custGeom>
            <a:avLst/>
            <a:gdLst/>
            <a:ahLst/>
            <a:cxnLst/>
            <a:rect l="l" t="t" r="r" b="b"/>
            <a:pathLst>
              <a:path w="76835" h="422275">
                <a:moveTo>
                  <a:pt x="50800" y="63500"/>
                </a:moveTo>
                <a:lnTo>
                  <a:pt x="25400" y="63500"/>
                </a:lnTo>
                <a:lnTo>
                  <a:pt x="25400" y="421767"/>
                </a:lnTo>
                <a:lnTo>
                  <a:pt x="50800" y="421767"/>
                </a:lnTo>
                <a:lnTo>
                  <a:pt x="50800" y="63500"/>
                </a:lnTo>
                <a:close/>
              </a:path>
              <a:path w="76835" h="422275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903" y="63500"/>
                </a:lnTo>
                <a:lnTo>
                  <a:pt x="38100" y="0"/>
                </a:lnTo>
                <a:close/>
              </a:path>
              <a:path w="76835" h="422275">
                <a:moveTo>
                  <a:pt x="69903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63" y="76200"/>
                </a:lnTo>
                <a:lnTo>
                  <a:pt x="6990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824601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673" y="63500"/>
                </a:moveTo>
                <a:lnTo>
                  <a:pt x="25400" y="63500"/>
                </a:lnTo>
                <a:lnTo>
                  <a:pt x="25273" y="418338"/>
                </a:lnTo>
                <a:lnTo>
                  <a:pt x="50673" y="418338"/>
                </a:lnTo>
                <a:lnTo>
                  <a:pt x="50673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673" y="63500"/>
                </a:lnTo>
                <a:lnTo>
                  <a:pt x="50673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5711190" y="4211637"/>
            <a:ext cx="540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sp>
        <p:nvSpPr>
          <p:cNvPr id="93" name="object 93" descr="$PPTXTitle"/>
          <p:cNvSpPr txBox="1">
            <a:spLocks noGrp="1"/>
          </p:cNvSpPr>
          <p:nvPr>
            <p:ph type="title"/>
          </p:nvPr>
        </p:nvSpPr>
        <p:spPr>
          <a:xfrm>
            <a:off x="217487" y="127380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3084576" y="2977451"/>
            <a:ext cx="2096770" cy="162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Intuition</a:t>
            </a:r>
            <a:r>
              <a:rPr sz="1500" dirty="0">
                <a:latin typeface="Arial"/>
                <a:cs typeface="Arial"/>
              </a:rPr>
              <a:t>: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Context </a:t>
            </a:r>
            <a:r>
              <a:rPr sz="1500" dirty="0">
                <a:latin typeface="Arial"/>
                <a:cs typeface="Arial"/>
              </a:rPr>
              <a:t>vector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attends</a:t>
            </a:r>
            <a:r>
              <a:rPr sz="1500" u="none" spc="-35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to</a:t>
            </a:r>
            <a:r>
              <a:rPr sz="1500" u="none" spc="-55" dirty="0">
                <a:latin typeface="Arial"/>
                <a:cs typeface="Arial"/>
              </a:rPr>
              <a:t> </a:t>
            </a:r>
            <a:r>
              <a:rPr sz="1500" u="none" spc="-25" dirty="0">
                <a:latin typeface="Arial"/>
                <a:cs typeface="Arial"/>
              </a:rPr>
              <a:t>the </a:t>
            </a:r>
            <a:r>
              <a:rPr sz="1500" u="none" dirty="0">
                <a:latin typeface="Arial"/>
                <a:cs typeface="Arial"/>
              </a:rPr>
              <a:t>relevant</a:t>
            </a:r>
            <a:r>
              <a:rPr sz="1500" u="none" spc="-3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part</a:t>
            </a:r>
            <a:r>
              <a:rPr sz="1500" u="none" spc="-25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of</a:t>
            </a:r>
            <a:r>
              <a:rPr sz="1500" u="none" spc="-25" dirty="0">
                <a:latin typeface="Arial"/>
                <a:cs typeface="Arial"/>
              </a:rPr>
              <a:t> the</a:t>
            </a:r>
            <a:r>
              <a:rPr sz="1500" u="none" spc="50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input</a:t>
            </a:r>
            <a:r>
              <a:rPr sz="1500" u="none" spc="-30" dirty="0">
                <a:latin typeface="Arial"/>
                <a:cs typeface="Arial"/>
              </a:rPr>
              <a:t> </a:t>
            </a:r>
            <a:r>
              <a:rPr sz="1500" u="none" spc="-10" dirty="0">
                <a:latin typeface="Arial"/>
                <a:cs typeface="Arial"/>
              </a:rPr>
              <a:t>sequence </a:t>
            </a:r>
            <a:r>
              <a:rPr sz="1500" i="1" u="none" dirty="0">
                <a:latin typeface="Arial"/>
                <a:cs typeface="Arial"/>
              </a:rPr>
              <a:t>“vediamo”</a:t>
            </a:r>
            <a:r>
              <a:rPr sz="1500" i="1" u="none" spc="-25" dirty="0">
                <a:latin typeface="Arial"/>
                <a:cs typeface="Arial"/>
              </a:rPr>
              <a:t> </a:t>
            </a:r>
            <a:r>
              <a:rPr sz="1500" b="1" i="1" u="none" dirty="0">
                <a:latin typeface="Arial"/>
                <a:cs typeface="Arial"/>
              </a:rPr>
              <a:t>=</a:t>
            </a:r>
            <a:r>
              <a:rPr sz="1500" b="1" i="1" u="none" spc="-20" dirty="0">
                <a:latin typeface="Arial"/>
                <a:cs typeface="Arial"/>
              </a:rPr>
              <a:t> </a:t>
            </a:r>
            <a:r>
              <a:rPr sz="1500" i="1" u="none" dirty="0">
                <a:latin typeface="Arial"/>
                <a:cs typeface="Arial"/>
              </a:rPr>
              <a:t>“we</a:t>
            </a:r>
            <a:r>
              <a:rPr sz="1500" i="1" u="none" spc="-65" dirty="0">
                <a:latin typeface="Arial"/>
                <a:cs typeface="Arial"/>
              </a:rPr>
              <a:t> </a:t>
            </a:r>
            <a:r>
              <a:rPr sz="1500" i="1" u="none" spc="-20" dirty="0">
                <a:latin typeface="Arial"/>
                <a:cs typeface="Arial"/>
              </a:rPr>
              <a:t>see”</a:t>
            </a:r>
            <a:r>
              <a:rPr sz="1500" i="1" u="none" spc="50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so</a:t>
            </a:r>
            <a:r>
              <a:rPr sz="1500" u="none" spc="-5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maybe</a:t>
            </a:r>
            <a:r>
              <a:rPr sz="1500" u="none" spc="-75" dirty="0">
                <a:latin typeface="Arial"/>
                <a:cs typeface="Arial"/>
              </a:rPr>
              <a:t> </a:t>
            </a:r>
            <a:r>
              <a:rPr sz="1500" u="none" spc="-10" dirty="0">
                <a:latin typeface="Arial"/>
                <a:cs typeface="Arial"/>
              </a:rPr>
              <a:t>a</a:t>
            </a:r>
            <a:r>
              <a:rPr sz="1425" u="none" spc="-15" baseline="-17543" dirty="0">
                <a:latin typeface="Arial"/>
                <a:cs typeface="Arial"/>
              </a:rPr>
              <a:t>11</a:t>
            </a:r>
            <a:r>
              <a:rPr sz="1500" u="none" spc="-10" dirty="0">
                <a:latin typeface="Arial"/>
                <a:cs typeface="Arial"/>
              </a:rPr>
              <a:t>=a</a:t>
            </a:r>
            <a:r>
              <a:rPr sz="1425" u="none" spc="-15" baseline="-17543" dirty="0">
                <a:latin typeface="Arial"/>
                <a:cs typeface="Arial"/>
              </a:rPr>
              <a:t>12</a:t>
            </a:r>
            <a:r>
              <a:rPr sz="1500" u="none" spc="-10" dirty="0">
                <a:latin typeface="Arial"/>
                <a:cs typeface="Arial"/>
              </a:rPr>
              <a:t>=0.45, a</a:t>
            </a:r>
            <a:r>
              <a:rPr sz="1425" u="none" spc="-15" baseline="-17543" dirty="0">
                <a:latin typeface="Arial"/>
                <a:cs typeface="Arial"/>
              </a:rPr>
              <a:t>13</a:t>
            </a:r>
            <a:r>
              <a:rPr sz="1500" u="none" spc="-10" dirty="0">
                <a:latin typeface="Arial"/>
                <a:cs typeface="Arial"/>
              </a:rPr>
              <a:t>=a</a:t>
            </a:r>
            <a:r>
              <a:rPr sz="1425" u="none" spc="-15" baseline="-17543" dirty="0">
                <a:latin typeface="Arial"/>
                <a:cs typeface="Arial"/>
              </a:rPr>
              <a:t>14</a:t>
            </a:r>
            <a:r>
              <a:rPr sz="1500" u="none" spc="-10" dirty="0">
                <a:latin typeface="Arial"/>
                <a:cs typeface="Arial"/>
              </a:rPr>
              <a:t>=0.05</a:t>
            </a:r>
            <a:endParaRPr sz="15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155314" y="1801812"/>
            <a:ext cx="208280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From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final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hidden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state: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Arial"/>
                <a:cs typeface="Arial"/>
              </a:rPr>
              <a:t>Initial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decoder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state</a:t>
            </a:r>
            <a:r>
              <a:rPr sz="1500" b="1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</a:t>
            </a:r>
            <a:r>
              <a:rPr sz="1425" spc="-37" baseline="-17543" dirty="0">
                <a:latin typeface="Arial"/>
                <a:cs typeface="Arial"/>
              </a:rPr>
              <a:t>0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466459" y="1446911"/>
            <a:ext cx="237744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Normalize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alignment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to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get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attention</a:t>
            </a:r>
            <a:r>
              <a:rPr sz="1500" b="1" spc="1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weights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428359" y="1843849"/>
            <a:ext cx="2679065" cy="28257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85"/>
              </a:spcBef>
              <a:tabLst>
                <a:tab pos="1106805" algn="l"/>
              </a:tabLst>
            </a:pPr>
            <a:r>
              <a:rPr sz="1500" dirty="0">
                <a:latin typeface="Arial"/>
                <a:cs typeface="Arial"/>
              </a:rPr>
              <a:t>0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&lt;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425" baseline="-17543" dirty="0">
                <a:latin typeface="Arial"/>
                <a:cs typeface="Arial"/>
              </a:rPr>
              <a:t>t,i</a:t>
            </a:r>
            <a:r>
              <a:rPr sz="1425" spc="24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&lt;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1</a:t>
            </a:r>
            <a:r>
              <a:rPr sz="1500" dirty="0">
                <a:latin typeface="Arial"/>
                <a:cs typeface="Arial"/>
              </a:rPr>
              <a:t>	∑</a:t>
            </a:r>
            <a:r>
              <a:rPr sz="1425" baseline="-17543" dirty="0">
                <a:latin typeface="Arial"/>
                <a:cs typeface="Arial"/>
              </a:rPr>
              <a:t>i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425" baseline="-17543" dirty="0">
                <a:latin typeface="Arial"/>
                <a:cs typeface="Arial"/>
              </a:rPr>
              <a:t>t,i</a:t>
            </a:r>
            <a:r>
              <a:rPr sz="1425" spc="27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=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241935" marR="43180">
              <a:lnSpc>
                <a:spcPct val="100000"/>
              </a:lnSpc>
              <a:spcBef>
                <a:spcPts val="484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context</a:t>
            </a:r>
            <a:r>
              <a:rPr sz="1500" b="1" spc="-7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vector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as </a:t>
            </a:r>
            <a:r>
              <a:rPr sz="1500" dirty="0">
                <a:latin typeface="Arial"/>
                <a:cs typeface="Arial"/>
              </a:rPr>
              <a:t>weighted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sum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hidden states</a:t>
            </a:r>
            <a:endParaRPr sz="150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  <a:spcBef>
                <a:spcPts val="310"/>
              </a:spcBef>
            </a:pPr>
            <a:r>
              <a:rPr sz="2250" baseline="11111" dirty="0">
                <a:latin typeface="Arial"/>
                <a:cs typeface="Arial"/>
              </a:rPr>
              <a:t>c</a:t>
            </a:r>
            <a:r>
              <a:rPr sz="950" dirty="0">
                <a:latin typeface="Arial"/>
                <a:cs typeface="Arial"/>
              </a:rPr>
              <a:t>t</a:t>
            </a:r>
            <a:r>
              <a:rPr sz="950" spc="145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</a:t>
            </a:r>
            <a:r>
              <a:rPr sz="2250" spc="-15" baseline="11111" dirty="0">
                <a:latin typeface="Arial"/>
                <a:cs typeface="Arial"/>
              </a:rPr>
              <a:t> ∑</a:t>
            </a:r>
            <a:r>
              <a:rPr sz="950" spc="-10" dirty="0">
                <a:latin typeface="Arial"/>
                <a:cs typeface="Arial"/>
              </a:rPr>
              <a:t>i</a:t>
            </a:r>
            <a:r>
              <a:rPr sz="2250" spc="-15" baseline="11111" dirty="0">
                <a:latin typeface="Arial"/>
                <a:cs typeface="Arial"/>
              </a:rPr>
              <a:t>a</a:t>
            </a:r>
            <a:r>
              <a:rPr sz="950" spc="-10" dirty="0">
                <a:latin typeface="Arial"/>
                <a:cs typeface="Arial"/>
              </a:rPr>
              <a:t>t,i</a:t>
            </a:r>
            <a:r>
              <a:rPr sz="2250" spc="-15" baseline="11111" dirty="0">
                <a:latin typeface="Arial"/>
                <a:cs typeface="Arial"/>
              </a:rPr>
              <a:t>h</a:t>
            </a:r>
            <a:r>
              <a:rPr sz="950" spc="-10" dirty="0"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  <a:p>
            <a:pPr marL="243204" marR="133350">
              <a:lnSpc>
                <a:spcPct val="100000"/>
              </a:lnSpc>
              <a:spcBef>
                <a:spcPts val="390"/>
              </a:spcBef>
            </a:pPr>
            <a:r>
              <a:rPr sz="1500" dirty="0">
                <a:latin typeface="Arial"/>
                <a:cs typeface="Arial"/>
              </a:rPr>
              <a:t>Use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vector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in </a:t>
            </a:r>
            <a:r>
              <a:rPr sz="1500" dirty="0">
                <a:latin typeface="Arial"/>
                <a:cs typeface="Arial"/>
              </a:rPr>
              <a:t>decoder: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</a:t>
            </a:r>
            <a:r>
              <a:rPr sz="1425" spc="240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=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</a:t>
            </a:r>
            <a:r>
              <a:rPr sz="1425" baseline="-17543" dirty="0">
                <a:latin typeface="Arial"/>
                <a:cs typeface="Arial"/>
              </a:rPr>
              <a:t>U</a:t>
            </a:r>
            <a:r>
              <a:rPr sz="1500" dirty="0">
                <a:latin typeface="Arial"/>
                <a:cs typeface="Arial"/>
              </a:rPr>
              <a:t>(y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</a:t>
            </a:r>
            <a:r>
              <a:rPr sz="1425" spc="-37" baseline="-17543" dirty="0">
                <a:latin typeface="Arial"/>
                <a:cs typeface="Arial"/>
              </a:rPr>
              <a:t>t</a:t>
            </a:r>
            <a:r>
              <a:rPr sz="1500" spc="-25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  <a:p>
            <a:pPr marL="353060" marR="106680">
              <a:lnSpc>
                <a:spcPct val="100000"/>
              </a:lnSpc>
              <a:spcBef>
                <a:spcPts val="565"/>
              </a:spcBef>
            </a:pP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All</a:t>
            </a:r>
            <a:r>
              <a:rPr sz="1500" b="1" spc="-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differentiable!</a:t>
            </a:r>
            <a:r>
              <a:rPr sz="1500" b="1" spc="-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8AAB42"/>
                </a:solidFill>
                <a:latin typeface="Arial"/>
                <a:cs typeface="Arial"/>
              </a:rPr>
              <a:t>No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supervision</a:t>
            </a:r>
            <a:r>
              <a:rPr sz="1500" b="1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on</a:t>
            </a:r>
            <a:r>
              <a:rPr sz="1500" b="1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8AAB42"/>
                </a:solidFill>
                <a:latin typeface="Arial"/>
                <a:cs typeface="Arial"/>
              </a:rPr>
              <a:t>attention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weights.</a:t>
            </a:r>
            <a:r>
              <a:rPr sz="1500" b="1" spc="-8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8AAB42"/>
                </a:solidFill>
                <a:latin typeface="Arial"/>
                <a:cs typeface="Arial"/>
              </a:rPr>
              <a:t>Backprop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through</a:t>
            </a:r>
            <a:r>
              <a:rPr sz="1500" b="1" spc="-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8AAB42"/>
                </a:solidFill>
                <a:latin typeface="Arial"/>
                <a:cs typeface="Arial"/>
              </a:rPr>
              <a:t>everything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513704" y="806767"/>
            <a:ext cx="31064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(scalar)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alignment</a:t>
            </a:r>
            <a:r>
              <a:rPr sz="1500" b="1" spc="-7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scores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488304" y="1073785"/>
            <a:ext cx="130048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50" baseline="11111" dirty="0">
                <a:latin typeface="Arial"/>
                <a:cs typeface="Arial"/>
              </a:rPr>
              <a:t>e</a:t>
            </a:r>
            <a:r>
              <a:rPr sz="950" dirty="0">
                <a:latin typeface="Arial"/>
                <a:cs typeface="Arial"/>
              </a:rPr>
              <a:t>t,i</a:t>
            </a:r>
            <a:r>
              <a:rPr sz="950" spc="210" dirty="0">
                <a:latin typeface="Arial"/>
                <a:cs typeface="Arial"/>
              </a:rPr>
              <a:t> </a:t>
            </a:r>
            <a:r>
              <a:rPr sz="2250" baseline="11111" dirty="0">
                <a:latin typeface="Arial"/>
                <a:cs typeface="Arial"/>
              </a:rPr>
              <a:t>= f</a:t>
            </a:r>
            <a:r>
              <a:rPr sz="950" dirty="0">
                <a:latin typeface="Arial"/>
                <a:cs typeface="Arial"/>
              </a:rPr>
              <a:t>att</a:t>
            </a:r>
            <a:r>
              <a:rPr sz="2250" baseline="11111" dirty="0">
                <a:latin typeface="Arial"/>
                <a:cs typeface="Arial"/>
              </a:rPr>
              <a:t>(s</a:t>
            </a:r>
            <a:r>
              <a:rPr sz="950" dirty="0">
                <a:latin typeface="Arial"/>
                <a:cs typeface="Arial"/>
              </a:rPr>
              <a:t>t-1</a:t>
            </a:r>
            <a:r>
              <a:rPr sz="2250" baseline="11111" dirty="0">
                <a:latin typeface="Arial"/>
                <a:cs typeface="Arial"/>
              </a:rPr>
              <a:t>,</a:t>
            </a:r>
            <a:r>
              <a:rPr sz="2250" spc="22" baseline="11111" dirty="0">
                <a:latin typeface="Arial"/>
                <a:cs typeface="Arial"/>
              </a:rPr>
              <a:t> </a:t>
            </a:r>
            <a:r>
              <a:rPr sz="2250" spc="-37" baseline="11111" dirty="0">
                <a:latin typeface="Arial"/>
                <a:cs typeface="Arial"/>
              </a:rPr>
              <a:t>h</a:t>
            </a:r>
            <a:r>
              <a:rPr sz="950" spc="-25" dirty="0">
                <a:latin typeface="Arial"/>
                <a:cs typeface="Arial"/>
              </a:rPr>
              <a:t>i</a:t>
            </a:r>
            <a:r>
              <a:rPr sz="2250" spc="-37" baseline="11111" dirty="0">
                <a:latin typeface="Arial"/>
                <a:cs typeface="Arial"/>
              </a:rPr>
              <a:t>)</a:t>
            </a:r>
            <a:endParaRPr sz="2250" baseline="11111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133168" y="1035430"/>
            <a:ext cx="1859914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(f</a:t>
            </a:r>
            <a:r>
              <a:rPr sz="1425" baseline="-17543" dirty="0">
                <a:latin typeface="Arial"/>
                <a:cs typeface="Arial"/>
              </a:rPr>
              <a:t>att</a:t>
            </a:r>
            <a:r>
              <a:rPr sz="1425" spc="217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Linear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Layer)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4516501" y="2468626"/>
            <a:ext cx="1290955" cy="376555"/>
            <a:chOff x="4516501" y="2468626"/>
            <a:chExt cx="1290955" cy="376555"/>
          </a:xfrm>
        </p:grpSpPr>
        <p:sp>
          <p:nvSpPr>
            <p:cNvPr id="107" name="object 107"/>
            <p:cNvSpPr/>
            <p:nvPr/>
          </p:nvSpPr>
          <p:spPr>
            <a:xfrm>
              <a:off x="4529201" y="2481326"/>
              <a:ext cx="1247775" cy="342900"/>
            </a:xfrm>
            <a:custGeom>
              <a:avLst/>
              <a:gdLst/>
              <a:ahLst/>
              <a:cxnLst/>
              <a:rect l="l" t="t" r="r" b="b"/>
              <a:pathLst>
                <a:path w="1247775" h="342900">
                  <a:moveTo>
                    <a:pt x="0" y="317881"/>
                  </a:moveTo>
                  <a:lnTo>
                    <a:pt x="44551" y="283433"/>
                  </a:lnTo>
                  <a:lnTo>
                    <a:pt x="89106" y="249347"/>
                  </a:lnTo>
                  <a:lnTo>
                    <a:pt x="133664" y="215983"/>
                  </a:lnTo>
                  <a:lnTo>
                    <a:pt x="178224" y="183703"/>
                  </a:lnTo>
                  <a:lnTo>
                    <a:pt x="222785" y="152869"/>
                  </a:lnTo>
                  <a:lnTo>
                    <a:pt x="267348" y="123840"/>
                  </a:lnTo>
                  <a:lnTo>
                    <a:pt x="311912" y="96980"/>
                  </a:lnTo>
                  <a:lnTo>
                    <a:pt x="356475" y="72648"/>
                  </a:lnTo>
                  <a:lnTo>
                    <a:pt x="401038" y="51207"/>
                  </a:lnTo>
                  <a:lnTo>
                    <a:pt x="445599" y="33017"/>
                  </a:lnTo>
                  <a:lnTo>
                    <a:pt x="490159" y="18440"/>
                  </a:lnTo>
                  <a:lnTo>
                    <a:pt x="534717" y="7838"/>
                  </a:lnTo>
                  <a:lnTo>
                    <a:pt x="579272" y="1570"/>
                  </a:lnTo>
                  <a:lnTo>
                    <a:pt x="623824" y="0"/>
                  </a:lnTo>
                  <a:lnTo>
                    <a:pt x="666819" y="4425"/>
                  </a:lnTo>
                  <a:lnTo>
                    <a:pt x="712199" y="15420"/>
                  </a:lnTo>
                  <a:lnTo>
                    <a:pt x="759367" y="32077"/>
                  </a:lnTo>
                  <a:lnTo>
                    <a:pt x="807726" y="53486"/>
                  </a:lnTo>
                  <a:lnTo>
                    <a:pt x="856680" y="78739"/>
                  </a:lnTo>
                  <a:lnTo>
                    <a:pt x="905633" y="106929"/>
                  </a:lnTo>
                  <a:lnTo>
                    <a:pt x="953989" y="137147"/>
                  </a:lnTo>
                  <a:lnTo>
                    <a:pt x="1001151" y="168485"/>
                  </a:lnTo>
                  <a:lnTo>
                    <a:pt x="1046523" y="200034"/>
                  </a:lnTo>
                  <a:lnTo>
                    <a:pt x="1089509" y="230886"/>
                  </a:lnTo>
                  <a:lnTo>
                    <a:pt x="1129512" y="260132"/>
                  </a:lnTo>
                  <a:lnTo>
                    <a:pt x="1165937" y="286865"/>
                  </a:lnTo>
                  <a:lnTo>
                    <a:pt x="1198186" y="310176"/>
                  </a:lnTo>
                  <a:lnTo>
                    <a:pt x="1225664" y="329157"/>
                  </a:lnTo>
                  <a:lnTo>
                    <a:pt x="1247775" y="3429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767451" y="2795524"/>
              <a:ext cx="38100" cy="47625"/>
            </a:xfrm>
            <a:custGeom>
              <a:avLst/>
              <a:gdLst/>
              <a:ahLst/>
              <a:cxnLst/>
              <a:rect l="l" t="t" r="r" b="b"/>
              <a:pathLst>
                <a:path w="38100" h="47625">
                  <a:moveTo>
                    <a:pt x="0" y="0"/>
                  </a:moveTo>
                  <a:lnTo>
                    <a:pt x="0" y="47625"/>
                  </a:lnTo>
                  <a:lnTo>
                    <a:pt x="38100" y="23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767451" y="2795524"/>
              <a:ext cx="38100" cy="47625"/>
            </a:xfrm>
            <a:custGeom>
              <a:avLst/>
              <a:gdLst/>
              <a:ahLst/>
              <a:cxnLst/>
              <a:rect l="l" t="t" r="r" b="b"/>
              <a:pathLst>
                <a:path w="38100" h="47625">
                  <a:moveTo>
                    <a:pt x="0" y="0"/>
                  </a:moveTo>
                  <a:lnTo>
                    <a:pt x="38100" y="23875"/>
                  </a:lnTo>
                  <a:lnTo>
                    <a:pt x="0" y="4762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19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93712" y="3443287"/>
          <a:ext cx="6356985" cy="758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28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900" spc="-37" baseline="-13888" dirty="0">
                          <a:latin typeface="Arial"/>
                          <a:cs typeface="Arial"/>
                        </a:rPr>
                        <a:t>1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900" spc="-37" baseline="-13888" dirty="0">
                          <a:latin typeface="Arial"/>
                          <a:cs typeface="Arial"/>
                        </a:rPr>
                        <a:t>2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R="317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900" spc="-37" baseline="-13888" dirty="0">
                          <a:latin typeface="Arial"/>
                          <a:cs typeface="Arial"/>
                        </a:rPr>
                        <a:t>3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900" spc="-37" baseline="-13888" dirty="0">
                          <a:latin typeface="Arial"/>
                          <a:cs typeface="Arial"/>
                        </a:rPr>
                        <a:t>4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BB44C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spc="-37" baseline="-13888" dirty="0">
                          <a:latin typeface="Arial"/>
                          <a:cs typeface="Arial"/>
                        </a:rPr>
                        <a:t>1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BB44C4"/>
                      </a:solidFill>
                      <a:prstDash val="solid"/>
                    </a:lnL>
                    <a:lnR w="12700">
                      <a:solidFill>
                        <a:srgbClr val="BB44C4"/>
                      </a:solidFill>
                      <a:prstDash val="solid"/>
                    </a:lnR>
                    <a:lnT w="28575">
                      <a:solidFill>
                        <a:srgbClr val="BB44C4"/>
                      </a:solidFill>
                      <a:prstDash val="solid"/>
                    </a:lnT>
                    <a:lnB w="12700">
                      <a:solidFill>
                        <a:srgbClr val="BB44C4"/>
                      </a:solidFill>
                      <a:prstDash val="solid"/>
                    </a:lnB>
                    <a:solidFill>
                      <a:srgbClr val="EBD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44C4"/>
                      </a:solidFill>
                      <a:prstDash val="solid"/>
                    </a:lnL>
                    <a:lnR w="12700">
                      <a:solidFill>
                        <a:srgbClr val="95333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900" spc="-37" baseline="-13888" dirty="0">
                          <a:latin typeface="Arial"/>
                          <a:cs typeface="Arial"/>
                        </a:rPr>
                        <a:t>0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953334"/>
                      </a:solidFill>
                      <a:prstDash val="solid"/>
                    </a:lnL>
                    <a:lnR w="12700">
                      <a:solidFill>
                        <a:srgbClr val="953334"/>
                      </a:solidFill>
                      <a:prstDash val="solid"/>
                    </a:lnR>
                    <a:lnT w="12700">
                      <a:solidFill>
                        <a:srgbClr val="953334"/>
                      </a:solidFill>
                      <a:prstDash val="solid"/>
                    </a:lnT>
                    <a:lnB w="12700">
                      <a:solidFill>
                        <a:srgbClr val="953334"/>
                      </a:solidFill>
                      <a:prstDash val="solid"/>
                    </a:lnB>
                    <a:solidFill>
                      <a:srgbClr val="EE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953334"/>
                      </a:solidFill>
                      <a:prstDash val="solid"/>
                    </a:lnL>
                    <a:lnR w="12700">
                      <a:solidFill>
                        <a:srgbClr val="BB44C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spc="-37" baseline="-13888" dirty="0">
                          <a:latin typeface="Arial"/>
                          <a:cs typeface="Arial"/>
                        </a:rPr>
                        <a:t>2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BB44C4"/>
                      </a:solidFill>
                      <a:prstDash val="solid"/>
                    </a:lnL>
                    <a:lnR w="12700">
                      <a:solidFill>
                        <a:srgbClr val="BB44C4"/>
                      </a:solidFill>
                      <a:prstDash val="solid"/>
                    </a:lnR>
                    <a:lnT w="12700">
                      <a:solidFill>
                        <a:srgbClr val="BB44C4"/>
                      </a:solidFill>
                      <a:prstDash val="solid"/>
                    </a:lnT>
                    <a:lnB w="12700">
                      <a:solidFill>
                        <a:srgbClr val="BB44C4"/>
                      </a:solidFill>
                      <a:prstDash val="solid"/>
                    </a:lnB>
                    <a:solidFill>
                      <a:srgbClr val="EBD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1175"/>
                        </a:spcBef>
                      </a:pPr>
                      <a:r>
                        <a:rPr sz="1050" spc="-25" dirty="0">
                          <a:latin typeface="Arial"/>
                          <a:cs typeface="Arial"/>
                        </a:rPr>
                        <a:t>we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49225" marB="0">
                    <a:lnT w="12700">
                      <a:solidFill>
                        <a:srgbClr val="D79F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ts val="1175"/>
                        </a:lnSpc>
                        <a:spcBef>
                          <a:spcPts val="1175"/>
                        </a:spcBef>
                      </a:pPr>
                      <a:r>
                        <a:rPr sz="1050" spc="-25" dirty="0">
                          <a:latin typeface="Arial"/>
                          <a:cs typeface="Arial"/>
                        </a:rPr>
                        <a:t>see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49225" marB="0">
                    <a:lnT w="12700">
                      <a:solidFill>
                        <a:srgbClr val="D79F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  <a:spcBef>
                          <a:spcPts val="1175"/>
                        </a:spcBef>
                      </a:pPr>
                      <a:r>
                        <a:rPr sz="1050" spc="-25" dirty="0">
                          <a:latin typeface="Arial"/>
                          <a:cs typeface="Arial"/>
                        </a:rPr>
                        <a:t>the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49225" marB="0">
                    <a:lnT w="12700">
                      <a:solidFill>
                        <a:srgbClr val="D79F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75"/>
                        </a:lnSpc>
                        <a:spcBef>
                          <a:spcPts val="1175"/>
                        </a:spcBef>
                      </a:pPr>
                      <a:r>
                        <a:rPr sz="1050" spc="-25" dirty="0">
                          <a:latin typeface="Arial"/>
                          <a:cs typeface="Arial"/>
                        </a:rPr>
                        <a:t>sky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49225" marB="0">
                    <a:lnT w="12700">
                      <a:solidFill>
                        <a:srgbClr val="D79F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BB44C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9533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BB44C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474662" y="2560701"/>
            <a:ext cx="336550" cy="469900"/>
            <a:chOff x="474662" y="2560701"/>
            <a:chExt cx="336550" cy="469900"/>
          </a:xfrm>
        </p:grpSpPr>
        <p:sp>
          <p:nvSpPr>
            <p:cNvPr id="4" name="object 4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7369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79512" y="2560701"/>
            <a:ext cx="336550" cy="469900"/>
            <a:chOff x="1179512" y="2560701"/>
            <a:chExt cx="336550" cy="469900"/>
          </a:xfrm>
        </p:grpSpPr>
        <p:sp>
          <p:nvSpPr>
            <p:cNvPr id="8" name="object 8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53236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12" name="object 12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55800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16" name="object 16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79751" y="2560701"/>
            <a:ext cx="346075" cy="469900"/>
            <a:chOff x="2579751" y="2560701"/>
            <a:chExt cx="346075" cy="469900"/>
          </a:xfrm>
        </p:grpSpPr>
        <p:sp>
          <p:nvSpPr>
            <p:cNvPr id="20" name="object 20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658745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4837" y="2252726"/>
            <a:ext cx="5541010" cy="1189990"/>
            <a:chOff x="604837" y="2252726"/>
            <a:chExt cx="5541010" cy="1189990"/>
          </a:xfrm>
        </p:grpSpPr>
        <p:sp>
          <p:nvSpPr>
            <p:cNvPr id="24" name="object 24"/>
            <p:cNvSpPr/>
            <p:nvPr/>
          </p:nvSpPr>
          <p:spPr>
            <a:xfrm>
              <a:off x="604837" y="2252725"/>
              <a:ext cx="5145405" cy="1189990"/>
            </a:xfrm>
            <a:custGeom>
              <a:avLst/>
              <a:gdLst/>
              <a:ahLst/>
              <a:cxnLst/>
              <a:rect l="l" t="t" r="r" b="b"/>
              <a:pathLst>
                <a:path w="5145405" h="1189989">
                  <a:moveTo>
                    <a:pt x="53505" y="1189863"/>
                  </a:moveTo>
                  <a:lnTo>
                    <a:pt x="51282" y="847852"/>
                  </a:lnTo>
                  <a:lnTo>
                    <a:pt x="25882" y="847852"/>
                  </a:lnTo>
                  <a:lnTo>
                    <a:pt x="28092" y="1189863"/>
                  </a:lnTo>
                  <a:lnTo>
                    <a:pt x="28105" y="1189990"/>
                  </a:lnTo>
                  <a:lnTo>
                    <a:pt x="53505" y="1189863"/>
                  </a:lnTo>
                  <a:close/>
                </a:path>
                <a:path w="5145405" h="118998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5145405" h="1189989">
                  <a:moveTo>
                    <a:pt x="76695" y="847471"/>
                  </a:moveTo>
                  <a:lnTo>
                    <a:pt x="70358" y="835025"/>
                  </a:lnTo>
                  <a:lnTo>
                    <a:pt x="38100" y="771525"/>
                  </a:lnTo>
                  <a:lnTo>
                    <a:pt x="495" y="847852"/>
                  </a:lnTo>
                  <a:lnTo>
                    <a:pt x="25869" y="847737"/>
                  </a:lnTo>
                  <a:lnTo>
                    <a:pt x="51269" y="847610"/>
                  </a:lnTo>
                  <a:lnTo>
                    <a:pt x="76695" y="847471"/>
                  </a:lnTo>
                  <a:close/>
                </a:path>
                <a:path w="5145405" h="1189989">
                  <a:moveTo>
                    <a:pt x="575627" y="542925"/>
                  </a:moveTo>
                  <a:lnTo>
                    <a:pt x="550227" y="530225"/>
                  </a:lnTo>
                  <a:lnTo>
                    <a:pt x="499427" y="504825"/>
                  </a:lnTo>
                  <a:lnTo>
                    <a:pt x="499427" y="530225"/>
                  </a:lnTo>
                  <a:lnTo>
                    <a:pt x="200025" y="530225"/>
                  </a:lnTo>
                  <a:lnTo>
                    <a:pt x="200025" y="555625"/>
                  </a:lnTo>
                  <a:lnTo>
                    <a:pt x="499427" y="555625"/>
                  </a:lnTo>
                  <a:lnTo>
                    <a:pt x="499427" y="581025"/>
                  </a:lnTo>
                  <a:lnTo>
                    <a:pt x="550227" y="555625"/>
                  </a:lnTo>
                  <a:lnTo>
                    <a:pt x="575627" y="542925"/>
                  </a:lnTo>
                  <a:close/>
                </a:path>
                <a:path w="5145405" h="1189989">
                  <a:moveTo>
                    <a:pt x="780986" y="847725"/>
                  </a:moveTo>
                  <a:lnTo>
                    <a:pt x="774636" y="835025"/>
                  </a:lnTo>
                  <a:lnTo>
                    <a:pt x="742886" y="771525"/>
                  </a:lnTo>
                  <a:lnTo>
                    <a:pt x="704786" y="847725"/>
                  </a:lnTo>
                  <a:lnTo>
                    <a:pt x="730186" y="847725"/>
                  </a:lnTo>
                  <a:lnTo>
                    <a:pt x="730313" y="1189990"/>
                  </a:lnTo>
                  <a:lnTo>
                    <a:pt x="755713" y="1189990"/>
                  </a:lnTo>
                  <a:lnTo>
                    <a:pt x="755586" y="847725"/>
                  </a:lnTo>
                  <a:lnTo>
                    <a:pt x="780986" y="847725"/>
                  </a:lnTo>
                  <a:close/>
                </a:path>
                <a:path w="5145405" h="1189989">
                  <a:moveTo>
                    <a:pt x="780986" y="76200"/>
                  </a:moveTo>
                  <a:lnTo>
                    <a:pt x="774636" y="63500"/>
                  </a:lnTo>
                  <a:lnTo>
                    <a:pt x="742886" y="0"/>
                  </a:lnTo>
                  <a:lnTo>
                    <a:pt x="704786" y="76200"/>
                  </a:lnTo>
                  <a:lnTo>
                    <a:pt x="730186" y="76200"/>
                  </a:lnTo>
                  <a:lnTo>
                    <a:pt x="730313" y="314325"/>
                  </a:lnTo>
                  <a:lnTo>
                    <a:pt x="755713" y="314325"/>
                  </a:lnTo>
                  <a:lnTo>
                    <a:pt x="755586" y="76200"/>
                  </a:lnTo>
                  <a:lnTo>
                    <a:pt x="780986" y="76200"/>
                  </a:lnTo>
                  <a:close/>
                </a:path>
                <a:path w="5145405" h="1189989">
                  <a:moveTo>
                    <a:pt x="1277810" y="542925"/>
                  </a:moveTo>
                  <a:lnTo>
                    <a:pt x="1252410" y="530225"/>
                  </a:lnTo>
                  <a:lnTo>
                    <a:pt x="1201610" y="504825"/>
                  </a:lnTo>
                  <a:lnTo>
                    <a:pt x="1201610" y="530225"/>
                  </a:lnTo>
                  <a:lnTo>
                    <a:pt x="904938" y="530225"/>
                  </a:lnTo>
                  <a:lnTo>
                    <a:pt x="904938" y="555625"/>
                  </a:lnTo>
                  <a:lnTo>
                    <a:pt x="1201610" y="555625"/>
                  </a:lnTo>
                  <a:lnTo>
                    <a:pt x="1201610" y="581025"/>
                  </a:lnTo>
                  <a:lnTo>
                    <a:pt x="1252410" y="555625"/>
                  </a:lnTo>
                  <a:lnTo>
                    <a:pt x="1277810" y="542925"/>
                  </a:lnTo>
                  <a:close/>
                </a:path>
                <a:path w="5145405" h="1189989">
                  <a:moveTo>
                    <a:pt x="1485836" y="847725"/>
                  </a:moveTo>
                  <a:lnTo>
                    <a:pt x="1479486" y="835025"/>
                  </a:lnTo>
                  <a:lnTo>
                    <a:pt x="1447736" y="771525"/>
                  </a:lnTo>
                  <a:lnTo>
                    <a:pt x="1409636" y="847725"/>
                  </a:lnTo>
                  <a:lnTo>
                    <a:pt x="1435036" y="847725"/>
                  </a:lnTo>
                  <a:lnTo>
                    <a:pt x="1435163" y="1189990"/>
                  </a:lnTo>
                  <a:lnTo>
                    <a:pt x="1460563" y="1189990"/>
                  </a:lnTo>
                  <a:lnTo>
                    <a:pt x="1460436" y="847725"/>
                  </a:lnTo>
                  <a:lnTo>
                    <a:pt x="1485836" y="847725"/>
                  </a:lnTo>
                  <a:close/>
                </a:path>
                <a:path w="5145405" h="1189989">
                  <a:moveTo>
                    <a:pt x="1486598" y="76200"/>
                  </a:moveTo>
                  <a:lnTo>
                    <a:pt x="1480286" y="63500"/>
                  </a:lnTo>
                  <a:lnTo>
                    <a:pt x="1448752" y="0"/>
                  </a:lnTo>
                  <a:lnTo>
                    <a:pt x="1410322" y="76200"/>
                  </a:lnTo>
                  <a:lnTo>
                    <a:pt x="1435747" y="76200"/>
                  </a:lnTo>
                  <a:lnTo>
                    <a:pt x="1435163" y="314325"/>
                  </a:lnTo>
                  <a:lnTo>
                    <a:pt x="1460563" y="314325"/>
                  </a:lnTo>
                  <a:lnTo>
                    <a:pt x="1461160" y="76200"/>
                  </a:lnTo>
                  <a:lnTo>
                    <a:pt x="1486598" y="76200"/>
                  </a:lnTo>
                  <a:close/>
                </a:path>
                <a:path w="5145405" h="1189989">
                  <a:moveTo>
                    <a:pt x="1982660" y="542925"/>
                  </a:moveTo>
                  <a:lnTo>
                    <a:pt x="1957260" y="530225"/>
                  </a:lnTo>
                  <a:lnTo>
                    <a:pt x="1906460" y="504825"/>
                  </a:lnTo>
                  <a:lnTo>
                    <a:pt x="1906460" y="530225"/>
                  </a:lnTo>
                  <a:lnTo>
                    <a:pt x="1609661" y="530225"/>
                  </a:lnTo>
                  <a:lnTo>
                    <a:pt x="1609661" y="555625"/>
                  </a:lnTo>
                  <a:lnTo>
                    <a:pt x="1906460" y="555625"/>
                  </a:lnTo>
                  <a:lnTo>
                    <a:pt x="1906460" y="581025"/>
                  </a:lnTo>
                  <a:lnTo>
                    <a:pt x="1957260" y="555625"/>
                  </a:lnTo>
                  <a:lnTo>
                    <a:pt x="1982660" y="542925"/>
                  </a:lnTo>
                  <a:close/>
                </a:path>
                <a:path w="5145405" h="1189989">
                  <a:moveTo>
                    <a:pt x="2181161" y="847725"/>
                  </a:moveTo>
                  <a:lnTo>
                    <a:pt x="2174811" y="835025"/>
                  </a:lnTo>
                  <a:lnTo>
                    <a:pt x="2143061" y="771525"/>
                  </a:lnTo>
                  <a:lnTo>
                    <a:pt x="2104961" y="847725"/>
                  </a:lnTo>
                  <a:lnTo>
                    <a:pt x="2130361" y="847725"/>
                  </a:lnTo>
                  <a:lnTo>
                    <a:pt x="2130488" y="1189990"/>
                  </a:lnTo>
                  <a:lnTo>
                    <a:pt x="2155888" y="1189990"/>
                  </a:lnTo>
                  <a:lnTo>
                    <a:pt x="2155761" y="847725"/>
                  </a:lnTo>
                  <a:lnTo>
                    <a:pt x="2181161" y="847725"/>
                  </a:lnTo>
                  <a:close/>
                </a:path>
                <a:path w="5145405" h="1189989">
                  <a:moveTo>
                    <a:pt x="2181288" y="76200"/>
                  </a:moveTo>
                  <a:lnTo>
                    <a:pt x="2174913" y="63500"/>
                  </a:lnTo>
                  <a:lnTo>
                    <a:pt x="2143061" y="0"/>
                  </a:lnTo>
                  <a:lnTo>
                    <a:pt x="2105088" y="76200"/>
                  </a:lnTo>
                  <a:lnTo>
                    <a:pt x="2130361" y="76200"/>
                  </a:lnTo>
                  <a:lnTo>
                    <a:pt x="2130488" y="314325"/>
                  </a:lnTo>
                  <a:lnTo>
                    <a:pt x="2155888" y="314325"/>
                  </a:lnTo>
                  <a:lnTo>
                    <a:pt x="2155761" y="76200"/>
                  </a:lnTo>
                  <a:lnTo>
                    <a:pt x="2181288" y="76200"/>
                  </a:lnTo>
                  <a:close/>
                </a:path>
                <a:path w="5145405" h="1189989">
                  <a:moveTo>
                    <a:pt x="5145214" y="1101471"/>
                  </a:moveTo>
                  <a:lnTo>
                    <a:pt x="5119814" y="1101471"/>
                  </a:lnTo>
                  <a:lnTo>
                    <a:pt x="5119814" y="555625"/>
                  </a:lnTo>
                  <a:lnTo>
                    <a:pt x="5119814" y="542925"/>
                  </a:lnTo>
                  <a:lnTo>
                    <a:pt x="5119814" y="535813"/>
                  </a:lnTo>
                  <a:lnTo>
                    <a:pt x="5114099" y="530225"/>
                  </a:lnTo>
                  <a:lnTo>
                    <a:pt x="3933761" y="530225"/>
                  </a:lnTo>
                  <a:lnTo>
                    <a:pt x="3933761" y="555625"/>
                  </a:lnTo>
                  <a:lnTo>
                    <a:pt x="5094414" y="555625"/>
                  </a:lnTo>
                  <a:lnTo>
                    <a:pt x="5094414" y="1101471"/>
                  </a:lnTo>
                  <a:lnTo>
                    <a:pt x="5069014" y="1101471"/>
                  </a:lnTo>
                  <a:lnTo>
                    <a:pt x="5107114" y="1177671"/>
                  </a:lnTo>
                  <a:lnTo>
                    <a:pt x="5138864" y="1114171"/>
                  </a:lnTo>
                  <a:lnTo>
                    <a:pt x="5145214" y="1101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15076" y="2786126"/>
              <a:ext cx="123825" cy="238125"/>
            </a:xfrm>
            <a:custGeom>
              <a:avLst/>
              <a:gdLst/>
              <a:ahLst/>
              <a:cxnLst/>
              <a:rect l="l" t="t" r="r" b="b"/>
              <a:pathLst>
                <a:path w="123825" h="238125">
                  <a:moveTo>
                    <a:pt x="0" y="238125"/>
                  </a:moveTo>
                  <a:lnTo>
                    <a:pt x="123825" y="238125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815076" y="2567051"/>
            <a:ext cx="323850" cy="4572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11190" y="4211637"/>
            <a:ext cx="540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6087" y="1960626"/>
            <a:ext cx="5674360" cy="1482090"/>
            <a:chOff x="446087" y="1960626"/>
            <a:chExt cx="5674360" cy="1482090"/>
          </a:xfrm>
        </p:grpSpPr>
        <p:sp>
          <p:nvSpPr>
            <p:cNvPr id="32" name="object 32"/>
            <p:cNvSpPr/>
            <p:nvPr/>
          </p:nvSpPr>
          <p:spPr>
            <a:xfrm>
              <a:off x="5824601" y="2147950"/>
              <a:ext cx="295275" cy="1294765"/>
            </a:xfrm>
            <a:custGeom>
              <a:avLst/>
              <a:gdLst/>
              <a:ahLst/>
              <a:cxnLst/>
              <a:rect l="l" t="t" r="r" b="b"/>
              <a:pathLst>
                <a:path w="295275" h="1294764">
                  <a:moveTo>
                    <a:pt x="76200" y="952500"/>
                  </a:moveTo>
                  <a:lnTo>
                    <a:pt x="69850" y="939800"/>
                  </a:lnTo>
                  <a:lnTo>
                    <a:pt x="38100" y="876300"/>
                  </a:lnTo>
                  <a:lnTo>
                    <a:pt x="0" y="952500"/>
                  </a:lnTo>
                  <a:lnTo>
                    <a:pt x="25387" y="952500"/>
                  </a:lnTo>
                  <a:lnTo>
                    <a:pt x="25273" y="1294638"/>
                  </a:lnTo>
                  <a:lnTo>
                    <a:pt x="50673" y="1294638"/>
                  </a:lnTo>
                  <a:lnTo>
                    <a:pt x="50673" y="952500"/>
                  </a:lnTo>
                  <a:lnTo>
                    <a:pt x="76200" y="952500"/>
                  </a:lnTo>
                  <a:close/>
                </a:path>
                <a:path w="295275" h="1294764">
                  <a:moveTo>
                    <a:pt x="190563" y="76200"/>
                  </a:moveTo>
                  <a:lnTo>
                    <a:pt x="184200" y="63500"/>
                  </a:lnTo>
                  <a:lnTo>
                    <a:pt x="152400" y="0"/>
                  </a:lnTo>
                  <a:lnTo>
                    <a:pt x="114300" y="76200"/>
                  </a:lnTo>
                  <a:lnTo>
                    <a:pt x="139700" y="76200"/>
                  </a:lnTo>
                  <a:lnTo>
                    <a:pt x="139700" y="421767"/>
                  </a:lnTo>
                  <a:lnTo>
                    <a:pt x="165100" y="421767"/>
                  </a:lnTo>
                  <a:lnTo>
                    <a:pt x="165100" y="76200"/>
                  </a:lnTo>
                  <a:lnTo>
                    <a:pt x="190563" y="76200"/>
                  </a:lnTo>
                  <a:close/>
                </a:path>
                <a:path w="295275" h="1294764">
                  <a:moveTo>
                    <a:pt x="295275" y="952500"/>
                  </a:moveTo>
                  <a:lnTo>
                    <a:pt x="288925" y="939800"/>
                  </a:lnTo>
                  <a:lnTo>
                    <a:pt x="257175" y="876300"/>
                  </a:lnTo>
                  <a:lnTo>
                    <a:pt x="219075" y="952500"/>
                  </a:lnTo>
                  <a:lnTo>
                    <a:pt x="244462" y="952500"/>
                  </a:lnTo>
                  <a:lnTo>
                    <a:pt x="244348" y="1294638"/>
                  </a:lnTo>
                  <a:lnTo>
                    <a:pt x="269748" y="1294638"/>
                  </a:lnTo>
                  <a:lnTo>
                    <a:pt x="269862" y="952500"/>
                  </a:lnTo>
                  <a:lnTo>
                    <a:pt x="295275" y="952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3412" y="2395474"/>
              <a:ext cx="2927985" cy="635"/>
            </a:xfrm>
            <a:custGeom>
              <a:avLst/>
              <a:gdLst/>
              <a:ahLst/>
              <a:cxnLst/>
              <a:rect l="l" t="t" r="r" b="b"/>
              <a:pathLst>
                <a:path w="2927985" h="635">
                  <a:moveTo>
                    <a:pt x="2927413" y="126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26097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150937" y="1960626"/>
            <a:ext cx="393700" cy="298450"/>
            <a:chOff x="1150937" y="1960626"/>
            <a:chExt cx="393700" cy="298450"/>
          </a:xfrm>
        </p:grpSpPr>
        <p:sp>
          <p:nvSpPr>
            <p:cNvPr id="38" name="object 38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231582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855851" y="1960626"/>
            <a:ext cx="393700" cy="298450"/>
            <a:chOff x="1855851" y="1960626"/>
            <a:chExt cx="393700" cy="298450"/>
          </a:xfrm>
        </p:grpSpPr>
        <p:sp>
          <p:nvSpPr>
            <p:cNvPr id="42" name="object 42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935479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560701" y="1960626"/>
            <a:ext cx="384175" cy="298450"/>
            <a:chOff x="2560701" y="1960626"/>
            <a:chExt cx="384175" cy="298450"/>
          </a:xfrm>
        </p:grpSpPr>
        <p:sp>
          <p:nvSpPr>
            <p:cNvPr id="46" name="object 46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637408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24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52437" y="1576450"/>
            <a:ext cx="2486025" cy="238125"/>
          </a:xfrm>
          <a:custGeom>
            <a:avLst/>
            <a:gdLst/>
            <a:ahLst/>
            <a:cxnLst/>
            <a:rect l="l" t="t" r="r" b="b"/>
            <a:pathLst>
              <a:path w="2486025" h="238125">
                <a:moveTo>
                  <a:pt x="0" y="238125"/>
                </a:moveTo>
                <a:lnTo>
                  <a:pt x="2486025" y="238125"/>
                </a:lnTo>
                <a:lnTo>
                  <a:pt x="24860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349375" y="1557337"/>
            <a:ext cx="6927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46087" y="1141475"/>
            <a:ext cx="393700" cy="298450"/>
            <a:chOff x="446087" y="1141475"/>
            <a:chExt cx="393700" cy="298450"/>
          </a:xfrm>
        </p:grpSpPr>
        <p:sp>
          <p:nvSpPr>
            <p:cNvPr id="52" name="object 52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26097" y="1228661"/>
            <a:ext cx="2349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150937" y="1141475"/>
            <a:ext cx="393700" cy="298450"/>
            <a:chOff x="1150937" y="1141475"/>
            <a:chExt cx="393700" cy="298450"/>
          </a:xfrm>
        </p:grpSpPr>
        <p:sp>
          <p:nvSpPr>
            <p:cNvPr id="56" name="object 56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231582" y="1226820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855851" y="1141475"/>
            <a:ext cx="393700" cy="298450"/>
            <a:chOff x="1855851" y="1141475"/>
            <a:chExt cx="393700" cy="298450"/>
          </a:xfrm>
        </p:grpSpPr>
        <p:sp>
          <p:nvSpPr>
            <p:cNvPr id="60" name="object 60"/>
            <p:cNvSpPr/>
            <p:nvPr/>
          </p:nvSpPr>
          <p:spPr>
            <a:xfrm>
              <a:off x="1862201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62201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934591" y="1223898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2560701" y="1131950"/>
            <a:ext cx="384175" cy="298450"/>
            <a:chOff x="2560701" y="1131950"/>
            <a:chExt cx="384175" cy="298450"/>
          </a:xfrm>
        </p:grpSpPr>
        <p:sp>
          <p:nvSpPr>
            <p:cNvPr id="64" name="object 64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637408" y="1220152"/>
            <a:ext cx="2349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81000" y="780986"/>
            <a:ext cx="5050155" cy="1706880"/>
            <a:chOff x="381000" y="780986"/>
            <a:chExt cx="5050155" cy="1706880"/>
          </a:xfrm>
        </p:grpSpPr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485" y="1814448"/>
              <a:ext cx="76200" cy="15608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386" y="1804923"/>
              <a:ext cx="76200" cy="15608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5235" y="1814448"/>
              <a:ext cx="76200" cy="15608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9610" y="1814448"/>
              <a:ext cx="76200" cy="15608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9610" y="1414525"/>
              <a:ext cx="76200" cy="15595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5235" y="1433575"/>
              <a:ext cx="76200" cy="15595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911" y="1433575"/>
              <a:ext cx="76200" cy="15595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960" y="1424050"/>
              <a:ext cx="76200" cy="15595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00" y="780986"/>
              <a:ext cx="500062" cy="40481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5375" y="780986"/>
              <a:ext cx="500062" cy="40481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0225" y="780986"/>
              <a:ext cx="490537" cy="40481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5550" y="790511"/>
              <a:ext cx="500062" cy="40481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9926" y="1014475"/>
              <a:ext cx="76263" cy="12623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14727" y="1024000"/>
              <a:ext cx="76200" cy="12395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1275" y="1024000"/>
              <a:ext cx="76200" cy="126873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8474" y="1014475"/>
              <a:ext cx="76136" cy="139064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157851" y="2252726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228600"/>
                  </a:moveTo>
                  <a:lnTo>
                    <a:pt x="266700" y="228600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5221604" y="2231072"/>
            <a:ext cx="137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Arial"/>
                <a:cs typeface="Arial"/>
              </a:rPr>
              <a:t>+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30187" y="780033"/>
            <a:ext cx="6369685" cy="2659380"/>
            <a:chOff x="230187" y="780033"/>
            <a:chExt cx="6369685" cy="2659380"/>
          </a:xfrm>
        </p:grpSpPr>
        <p:sp>
          <p:nvSpPr>
            <p:cNvPr id="87" name="object 87"/>
            <p:cNvSpPr/>
            <p:nvPr/>
          </p:nvSpPr>
          <p:spPr>
            <a:xfrm>
              <a:off x="1357375" y="792733"/>
              <a:ext cx="3935729" cy="1464945"/>
            </a:xfrm>
            <a:custGeom>
              <a:avLst/>
              <a:gdLst/>
              <a:ahLst/>
              <a:cxnLst/>
              <a:rect l="l" t="t" r="r" b="b"/>
              <a:pathLst>
                <a:path w="3935729" h="1464945">
                  <a:moveTo>
                    <a:pt x="1390650" y="88391"/>
                  </a:moveTo>
                  <a:lnTo>
                    <a:pt x="1390650" y="0"/>
                  </a:lnTo>
                  <a:lnTo>
                    <a:pt x="3927729" y="0"/>
                  </a:lnTo>
                  <a:lnTo>
                    <a:pt x="3927729" y="1457578"/>
                  </a:lnTo>
                </a:path>
                <a:path w="3935729" h="1464945">
                  <a:moveTo>
                    <a:pt x="695325" y="88391"/>
                  </a:moveTo>
                  <a:lnTo>
                    <a:pt x="695325" y="15620"/>
                  </a:lnTo>
                  <a:lnTo>
                    <a:pt x="3929507" y="15620"/>
                  </a:lnTo>
                  <a:lnTo>
                    <a:pt x="3929507" y="1464436"/>
                  </a:lnTo>
                </a:path>
                <a:path w="3935729" h="1464945">
                  <a:moveTo>
                    <a:pt x="0" y="88391"/>
                  </a:moveTo>
                  <a:lnTo>
                    <a:pt x="0" y="15620"/>
                  </a:lnTo>
                  <a:lnTo>
                    <a:pt x="3935603" y="15620"/>
                  </a:lnTo>
                  <a:lnTo>
                    <a:pt x="3935603" y="146443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30187" y="785240"/>
              <a:ext cx="6369685" cy="2653665"/>
            </a:xfrm>
            <a:custGeom>
              <a:avLst/>
              <a:gdLst/>
              <a:ahLst/>
              <a:cxnLst/>
              <a:rect l="l" t="t" r="r" b="b"/>
              <a:pathLst>
                <a:path w="6369684" h="2653665">
                  <a:moveTo>
                    <a:pt x="304927" y="181483"/>
                  </a:moveTo>
                  <a:lnTo>
                    <a:pt x="219748" y="179832"/>
                  </a:lnTo>
                  <a:lnTo>
                    <a:pt x="231622" y="204876"/>
                  </a:lnTo>
                  <a:lnTo>
                    <a:pt x="216027" y="216662"/>
                  </a:lnTo>
                  <a:lnTo>
                    <a:pt x="215265" y="217170"/>
                  </a:lnTo>
                  <a:lnTo>
                    <a:pt x="214579" y="217932"/>
                  </a:lnTo>
                  <a:lnTo>
                    <a:pt x="213956" y="218567"/>
                  </a:lnTo>
                  <a:lnTo>
                    <a:pt x="186893" y="253238"/>
                  </a:lnTo>
                  <a:lnTo>
                    <a:pt x="161175" y="295656"/>
                  </a:lnTo>
                  <a:lnTo>
                    <a:pt x="136575" y="345313"/>
                  </a:lnTo>
                  <a:lnTo>
                    <a:pt x="113436" y="401574"/>
                  </a:lnTo>
                  <a:lnTo>
                    <a:pt x="91909" y="463677"/>
                  </a:lnTo>
                  <a:lnTo>
                    <a:pt x="72021" y="531114"/>
                  </a:lnTo>
                  <a:lnTo>
                    <a:pt x="54203" y="603123"/>
                  </a:lnTo>
                  <a:lnTo>
                    <a:pt x="46050" y="640715"/>
                  </a:lnTo>
                  <a:lnTo>
                    <a:pt x="38582" y="679196"/>
                  </a:lnTo>
                  <a:lnTo>
                    <a:pt x="31584" y="718439"/>
                  </a:lnTo>
                  <a:lnTo>
                    <a:pt x="25273" y="758571"/>
                  </a:lnTo>
                  <a:lnTo>
                    <a:pt x="19519" y="799338"/>
                  </a:lnTo>
                  <a:lnTo>
                    <a:pt x="14541" y="840613"/>
                  </a:lnTo>
                  <a:lnTo>
                    <a:pt x="10236" y="882396"/>
                  </a:lnTo>
                  <a:lnTo>
                    <a:pt x="6604" y="924687"/>
                  </a:lnTo>
                  <a:lnTo>
                    <a:pt x="3733" y="967359"/>
                  </a:lnTo>
                  <a:lnTo>
                    <a:pt x="1714" y="1010158"/>
                  </a:lnTo>
                  <a:lnTo>
                    <a:pt x="368" y="1053338"/>
                  </a:lnTo>
                  <a:lnTo>
                    <a:pt x="0" y="1096137"/>
                  </a:lnTo>
                  <a:lnTo>
                    <a:pt x="279" y="1138555"/>
                  </a:lnTo>
                  <a:lnTo>
                    <a:pt x="1320" y="1181227"/>
                  </a:lnTo>
                  <a:lnTo>
                    <a:pt x="2908" y="1223645"/>
                  </a:lnTo>
                  <a:lnTo>
                    <a:pt x="5080" y="1265809"/>
                  </a:lnTo>
                  <a:lnTo>
                    <a:pt x="7950" y="1309751"/>
                  </a:lnTo>
                  <a:lnTo>
                    <a:pt x="11391" y="1351407"/>
                  </a:lnTo>
                  <a:lnTo>
                    <a:pt x="15316" y="1392809"/>
                  </a:lnTo>
                  <a:lnTo>
                    <a:pt x="19723" y="1433449"/>
                  </a:lnTo>
                  <a:lnTo>
                    <a:pt x="24701" y="1473581"/>
                  </a:lnTo>
                  <a:lnTo>
                    <a:pt x="30149" y="1512824"/>
                  </a:lnTo>
                  <a:lnTo>
                    <a:pt x="36080" y="1551305"/>
                  </a:lnTo>
                  <a:lnTo>
                    <a:pt x="49212" y="1625346"/>
                  </a:lnTo>
                  <a:lnTo>
                    <a:pt x="63881" y="1695069"/>
                  </a:lnTo>
                  <a:lnTo>
                    <a:pt x="80111" y="1759839"/>
                  </a:lnTo>
                  <a:lnTo>
                    <a:pt x="97624" y="1819021"/>
                  </a:lnTo>
                  <a:lnTo>
                    <a:pt x="116293" y="1871980"/>
                  </a:lnTo>
                  <a:lnTo>
                    <a:pt x="136042" y="1918081"/>
                  </a:lnTo>
                  <a:lnTo>
                    <a:pt x="156870" y="1956816"/>
                  </a:lnTo>
                  <a:lnTo>
                    <a:pt x="184289" y="1993773"/>
                  </a:lnTo>
                  <a:lnTo>
                    <a:pt x="214871" y="2017141"/>
                  </a:lnTo>
                  <a:lnTo>
                    <a:pt x="240626" y="2023364"/>
                  </a:lnTo>
                  <a:lnTo>
                    <a:pt x="241884" y="1999615"/>
                  </a:lnTo>
                  <a:lnTo>
                    <a:pt x="241973" y="1998091"/>
                  </a:lnTo>
                  <a:lnTo>
                    <a:pt x="207086" y="1980692"/>
                  </a:lnTo>
                  <a:lnTo>
                    <a:pt x="178092" y="1942846"/>
                  </a:lnTo>
                  <a:lnTo>
                    <a:pt x="158724" y="1906651"/>
                  </a:lnTo>
                  <a:lnTo>
                    <a:pt x="139801" y="1862328"/>
                  </a:lnTo>
                  <a:lnTo>
                    <a:pt x="121704" y="1810893"/>
                  </a:lnTo>
                  <a:lnTo>
                    <a:pt x="104546" y="1752981"/>
                  </a:lnTo>
                  <a:lnTo>
                    <a:pt x="88582" y="1689100"/>
                  </a:lnTo>
                  <a:lnTo>
                    <a:pt x="74104" y="1620266"/>
                  </a:lnTo>
                  <a:lnTo>
                    <a:pt x="61137" y="1546987"/>
                  </a:lnTo>
                  <a:lnTo>
                    <a:pt x="55257" y="1508887"/>
                  </a:lnTo>
                  <a:lnTo>
                    <a:pt x="49847" y="1470025"/>
                  </a:lnTo>
                  <a:lnTo>
                    <a:pt x="44919" y="1430274"/>
                  </a:lnTo>
                  <a:lnTo>
                    <a:pt x="40563" y="1390015"/>
                  </a:lnTo>
                  <a:lnTo>
                    <a:pt x="36677" y="1349121"/>
                  </a:lnTo>
                  <a:lnTo>
                    <a:pt x="33261" y="1307719"/>
                  </a:lnTo>
                  <a:lnTo>
                    <a:pt x="30619" y="1267460"/>
                  </a:lnTo>
                  <a:lnTo>
                    <a:pt x="28397" y="1225042"/>
                  </a:lnTo>
                  <a:lnTo>
                    <a:pt x="26746" y="1182116"/>
                  </a:lnTo>
                  <a:lnTo>
                    <a:pt x="25692" y="1139190"/>
                  </a:lnTo>
                  <a:lnTo>
                    <a:pt x="25400" y="1096137"/>
                  </a:lnTo>
                  <a:lnTo>
                    <a:pt x="25781" y="1053338"/>
                  </a:lnTo>
                  <a:lnTo>
                    <a:pt x="27114" y="1010920"/>
                  </a:lnTo>
                  <a:lnTo>
                    <a:pt x="29095" y="968502"/>
                  </a:lnTo>
                  <a:lnTo>
                    <a:pt x="31940" y="926338"/>
                  </a:lnTo>
                  <a:lnTo>
                    <a:pt x="35547" y="884682"/>
                  </a:lnTo>
                  <a:lnTo>
                    <a:pt x="39814" y="843153"/>
                  </a:lnTo>
                  <a:lnTo>
                    <a:pt x="44742" y="802386"/>
                  </a:lnTo>
                  <a:lnTo>
                    <a:pt x="50419" y="762000"/>
                  </a:lnTo>
                  <a:lnTo>
                    <a:pt x="56680" y="722503"/>
                  </a:lnTo>
                  <a:lnTo>
                    <a:pt x="63588" y="683641"/>
                  </a:lnTo>
                  <a:lnTo>
                    <a:pt x="70980" y="645541"/>
                  </a:lnTo>
                  <a:lnTo>
                    <a:pt x="87630" y="572389"/>
                  </a:lnTo>
                  <a:lnTo>
                    <a:pt x="106172" y="503555"/>
                  </a:lnTo>
                  <a:lnTo>
                    <a:pt x="126568" y="439928"/>
                  </a:lnTo>
                  <a:lnTo>
                    <a:pt x="148437" y="381889"/>
                  </a:lnTo>
                  <a:lnTo>
                    <a:pt x="171627" y="330454"/>
                  </a:lnTo>
                  <a:lnTo>
                    <a:pt x="195922" y="286131"/>
                  </a:lnTo>
                  <a:lnTo>
                    <a:pt x="220789" y="249936"/>
                  </a:lnTo>
                  <a:lnTo>
                    <a:pt x="242760" y="228346"/>
                  </a:lnTo>
                  <a:lnTo>
                    <a:pt x="252412" y="248666"/>
                  </a:lnTo>
                  <a:lnTo>
                    <a:pt x="291515" y="198628"/>
                  </a:lnTo>
                  <a:lnTo>
                    <a:pt x="304927" y="181483"/>
                  </a:lnTo>
                  <a:close/>
                </a:path>
                <a:path w="6369684" h="2653665">
                  <a:moveTo>
                    <a:pt x="1021207" y="181483"/>
                  </a:moveTo>
                  <a:lnTo>
                    <a:pt x="936104" y="177673"/>
                  </a:lnTo>
                  <a:lnTo>
                    <a:pt x="946581" y="201256"/>
                  </a:lnTo>
                  <a:lnTo>
                    <a:pt x="945159" y="201930"/>
                  </a:lnTo>
                  <a:lnTo>
                    <a:pt x="913104" y="234823"/>
                  </a:lnTo>
                  <a:lnTo>
                    <a:pt x="885634" y="273431"/>
                  </a:lnTo>
                  <a:lnTo>
                    <a:pt x="859396" y="319659"/>
                  </a:lnTo>
                  <a:lnTo>
                    <a:pt x="834580" y="372872"/>
                  </a:lnTo>
                  <a:lnTo>
                    <a:pt x="811377" y="432181"/>
                  </a:lnTo>
                  <a:lnTo>
                    <a:pt x="789851" y="497205"/>
                  </a:lnTo>
                  <a:lnTo>
                    <a:pt x="770178" y="567055"/>
                  </a:lnTo>
                  <a:lnTo>
                    <a:pt x="752729" y="641350"/>
                  </a:lnTo>
                  <a:lnTo>
                    <a:pt x="744867" y="679958"/>
                  </a:lnTo>
                  <a:lnTo>
                    <a:pt x="737692" y="719328"/>
                  </a:lnTo>
                  <a:lnTo>
                    <a:pt x="731075" y="759460"/>
                  </a:lnTo>
                  <a:lnTo>
                    <a:pt x="725144" y="800227"/>
                  </a:lnTo>
                  <a:lnTo>
                    <a:pt x="719975" y="841756"/>
                  </a:lnTo>
                  <a:lnTo>
                    <a:pt x="715467" y="883539"/>
                  </a:lnTo>
                  <a:lnTo>
                    <a:pt x="711733" y="925957"/>
                  </a:lnTo>
                  <a:lnTo>
                    <a:pt x="708774" y="968502"/>
                  </a:lnTo>
                  <a:lnTo>
                    <a:pt x="706564" y="1011428"/>
                  </a:lnTo>
                  <a:lnTo>
                    <a:pt x="705332" y="1054608"/>
                  </a:lnTo>
                  <a:lnTo>
                    <a:pt x="704850" y="1097292"/>
                  </a:lnTo>
                  <a:lnTo>
                    <a:pt x="705129" y="1139825"/>
                  </a:lnTo>
                  <a:lnTo>
                    <a:pt x="706170" y="1182497"/>
                  </a:lnTo>
                  <a:lnTo>
                    <a:pt x="707771" y="1225169"/>
                  </a:lnTo>
                  <a:lnTo>
                    <a:pt x="709930" y="1267460"/>
                  </a:lnTo>
                  <a:lnTo>
                    <a:pt x="712800" y="1311402"/>
                  </a:lnTo>
                  <a:lnTo>
                    <a:pt x="716241" y="1353185"/>
                  </a:lnTo>
                  <a:lnTo>
                    <a:pt x="720166" y="1394587"/>
                  </a:lnTo>
                  <a:lnTo>
                    <a:pt x="724573" y="1435354"/>
                  </a:lnTo>
                  <a:lnTo>
                    <a:pt x="729538" y="1475486"/>
                  </a:lnTo>
                  <a:lnTo>
                    <a:pt x="734999" y="1514729"/>
                  </a:lnTo>
                  <a:lnTo>
                    <a:pt x="740930" y="1553337"/>
                  </a:lnTo>
                  <a:lnTo>
                    <a:pt x="747255" y="1591056"/>
                  </a:lnTo>
                  <a:lnTo>
                    <a:pt x="761238" y="1662938"/>
                  </a:lnTo>
                  <a:lnTo>
                    <a:pt x="776693" y="1730502"/>
                  </a:lnTo>
                  <a:lnTo>
                    <a:pt x="793521" y="1792732"/>
                  </a:lnTo>
                  <a:lnTo>
                    <a:pt x="811657" y="1848993"/>
                  </a:lnTo>
                  <a:lnTo>
                    <a:pt x="830922" y="1898650"/>
                  </a:lnTo>
                  <a:lnTo>
                    <a:pt x="851192" y="1941195"/>
                  </a:lnTo>
                  <a:lnTo>
                    <a:pt x="872540" y="1976120"/>
                  </a:lnTo>
                  <a:lnTo>
                    <a:pt x="900988" y="2007870"/>
                  </a:lnTo>
                  <a:lnTo>
                    <a:pt x="939914" y="2025904"/>
                  </a:lnTo>
                  <a:lnTo>
                    <a:pt x="945248" y="2026285"/>
                  </a:lnTo>
                  <a:lnTo>
                    <a:pt x="946937" y="2002536"/>
                  </a:lnTo>
                  <a:lnTo>
                    <a:pt x="947051" y="2001012"/>
                  </a:lnTo>
                  <a:lnTo>
                    <a:pt x="911936" y="1983613"/>
                  </a:lnTo>
                  <a:lnTo>
                    <a:pt x="882942" y="1945767"/>
                  </a:lnTo>
                  <a:lnTo>
                    <a:pt x="863561" y="1909445"/>
                  </a:lnTo>
                  <a:lnTo>
                    <a:pt x="844664" y="1865122"/>
                  </a:lnTo>
                  <a:lnTo>
                    <a:pt x="826554" y="1813560"/>
                  </a:lnTo>
                  <a:lnTo>
                    <a:pt x="809409" y="1755394"/>
                  </a:lnTo>
                  <a:lnTo>
                    <a:pt x="793432" y="1691513"/>
                  </a:lnTo>
                  <a:lnTo>
                    <a:pt x="778954" y="1622552"/>
                  </a:lnTo>
                  <a:lnTo>
                    <a:pt x="765987" y="1549146"/>
                  </a:lnTo>
                  <a:lnTo>
                    <a:pt x="760107" y="1510919"/>
                  </a:lnTo>
                  <a:lnTo>
                    <a:pt x="754710" y="1471930"/>
                  </a:lnTo>
                  <a:lnTo>
                    <a:pt x="749769" y="1432179"/>
                  </a:lnTo>
                  <a:lnTo>
                    <a:pt x="745413" y="1391920"/>
                  </a:lnTo>
                  <a:lnTo>
                    <a:pt x="741527" y="1350772"/>
                  </a:lnTo>
                  <a:lnTo>
                    <a:pt x="738111" y="1309370"/>
                  </a:lnTo>
                  <a:lnTo>
                    <a:pt x="735469" y="1269111"/>
                  </a:lnTo>
                  <a:lnTo>
                    <a:pt x="733247" y="1226439"/>
                  </a:lnTo>
                  <a:lnTo>
                    <a:pt x="731608" y="1183513"/>
                  </a:lnTo>
                  <a:lnTo>
                    <a:pt x="730542" y="1140460"/>
                  </a:lnTo>
                  <a:lnTo>
                    <a:pt x="730250" y="1097292"/>
                  </a:lnTo>
                  <a:lnTo>
                    <a:pt x="730719" y="1054862"/>
                  </a:lnTo>
                  <a:lnTo>
                    <a:pt x="731964" y="1012190"/>
                  </a:lnTo>
                  <a:lnTo>
                    <a:pt x="734136" y="969772"/>
                  </a:lnTo>
                  <a:lnTo>
                    <a:pt x="737082" y="927608"/>
                  </a:lnTo>
                  <a:lnTo>
                    <a:pt x="740778" y="885825"/>
                  </a:lnTo>
                  <a:lnTo>
                    <a:pt x="745223" y="844423"/>
                  </a:lnTo>
                  <a:lnTo>
                    <a:pt x="750341" y="803402"/>
                  </a:lnTo>
                  <a:lnTo>
                    <a:pt x="756221" y="763016"/>
                  </a:lnTo>
                  <a:lnTo>
                    <a:pt x="762749" y="723392"/>
                  </a:lnTo>
                  <a:lnTo>
                    <a:pt x="769861" y="684403"/>
                  </a:lnTo>
                  <a:lnTo>
                    <a:pt x="777621" y="646430"/>
                  </a:lnTo>
                  <a:lnTo>
                    <a:pt x="785952" y="609219"/>
                  </a:lnTo>
                  <a:lnTo>
                    <a:pt x="804291" y="538099"/>
                  </a:lnTo>
                  <a:lnTo>
                    <a:pt x="824534" y="471678"/>
                  </a:lnTo>
                  <a:lnTo>
                    <a:pt x="846505" y="410718"/>
                  </a:lnTo>
                  <a:lnTo>
                    <a:pt x="870013" y="355854"/>
                  </a:lnTo>
                  <a:lnTo>
                    <a:pt x="894651" y="307721"/>
                  </a:lnTo>
                  <a:lnTo>
                    <a:pt x="920254" y="267208"/>
                  </a:lnTo>
                  <a:lnTo>
                    <a:pt x="946416" y="235077"/>
                  </a:lnTo>
                  <a:lnTo>
                    <a:pt x="957059" y="224840"/>
                  </a:lnTo>
                  <a:lnTo>
                    <a:pt x="967092" y="247396"/>
                  </a:lnTo>
                  <a:lnTo>
                    <a:pt x="1009319" y="195961"/>
                  </a:lnTo>
                  <a:lnTo>
                    <a:pt x="1021207" y="181483"/>
                  </a:lnTo>
                  <a:close/>
                </a:path>
                <a:path w="6369684" h="2653665">
                  <a:moveTo>
                    <a:pt x="1725104" y="181483"/>
                  </a:moveTo>
                  <a:lnTo>
                    <a:pt x="1640014" y="177927"/>
                  </a:lnTo>
                  <a:lnTo>
                    <a:pt x="1650492" y="201345"/>
                  </a:lnTo>
                  <a:lnTo>
                    <a:pt x="1649285" y="201930"/>
                  </a:lnTo>
                  <a:lnTo>
                    <a:pt x="1617281" y="234823"/>
                  </a:lnTo>
                  <a:lnTo>
                    <a:pt x="1589849" y="273558"/>
                  </a:lnTo>
                  <a:lnTo>
                    <a:pt x="1563814" y="319659"/>
                  </a:lnTo>
                  <a:lnTo>
                    <a:pt x="1539049" y="372872"/>
                  </a:lnTo>
                  <a:lnTo>
                    <a:pt x="1515808" y="432181"/>
                  </a:lnTo>
                  <a:lnTo>
                    <a:pt x="1494472" y="497205"/>
                  </a:lnTo>
                  <a:lnTo>
                    <a:pt x="1474787" y="567055"/>
                  </a:lnTo>
                  <a:lnTo>
                    <a:pt x="1457515" y="641350"/>
                  </a:lnTo>
                  <a:lnTo>
                    <a:pt x="1449641" y="679958"/>
                  </a:lnTo>
                  <a:lnTo>
                    <a:pt x="1442402" y="719328"/>
                  </a:lnTo>
                  <a:lnTo>
                    <a:pt x="1435798" y="759460"/>
                  </a:lnTo>
                  <a:lnTo>
                    <a:pt x="1429956" y="800227"/>
                  </a:lnTo>
                  <a:lnTo>
                    <a:pt x="1424749" y="841756"/>
                  </a:lnTo>
                  <a:lnTo>
                    <a:pt x="1420164" y="883539"/>
                  </a:lnTo>
                  <a:lnTo>
                    <a:pt x="1416494" y="925957"/>
                  </a:lnTo>
                  <a:lnTo>
                    <a:pt x="1413573" y="968502"/>
                  </a:lnTo>
                  <a:lnTo>
                    <a:pt x="1411401" y="1011428"/>
                  </a:lnTo>
                  <a:lnTo>
                    <a:pt x="1410144" y="1054608"/>
                  </a:lnTo>
                  <a:lnTo>
                    <a:pt x="1409763" y="1097292"/>
                  </a:lnTo>
                  <a:lnTo>
                    <a:pt x="1410004" y="1139825"/>
                  </a:lnTo>
                  <a:lnTo>
                    <a:pt x="1411008" y="1182497"/>
                  </a:lnTo>
                  <a:lnTo>
                    <a:pt x="1411020" y="1183513"/>
                  </a:lnTo>
                  <a:lnTo>
                    <a:pt x="1412633" y="1225169"/>
                  </a:lnTo>
                  <a:lnTo>
                    <a:pt x="1414754" y="1267460"/>
                  </a:lnTo>
                  <a:lnTo>
                    <a:pt x="1417637" y="1311402"/>
                  </a:lnTo>
                  <a:lnTo>
                    <a:pt x="1421066" y="1353185"/>
                  </a:lnTo>
                  <a:lnTo>
                    <a:pt x="1425003" y="1394587"/>
                  </a:lnTo>
                  <a:lnTo>
                    <a:pt x="1429448" y="1435354"/>
                  </a:lnTo>
                  <a:lnTo>
                    <a:pt x="1434401" y="1475486"/>
                  </a:lnTo>
                  <a:lnTo>
                    <a:pt x="1439862" y="1514729"/>
                  </a:lnTo>
                  <a:lnTo>
                    <a:pt x="1445831" y="1553337"/>
                  </a:lnTo>
                  <a:lnTo>
                    <a:pt x="1452054" y="1591056"/>
                  </a:lnTo>
                  <a:lnTo>
                    <a:pt x="1466151" y="1662938"/>
                  </a:lnTo>
                  <a:lnTo>
                    <a:pt x="1481518" y="1730502"/>
                  </a:lnTo>
                  <a:lnTo>
                    <a:pt x="1498409" y="1792732"/>
                  </a:lnTo>
                  <a:lnTo>
                    <a:pt x="1516443" y="1848993"/>
                  </a:lnTo>
                  <a:lnTo>
                    <a:pt x="1535747" y="1898650"/>
                  </a:lnTo>
                  <a:lnTo>
                    <a:pt x="1556067" y="1941195"/>
                  </a:lnTo>
                  <a:lnTo>
                    <a:pt x="1577403" y="1976120"/>
                  </a:lnTo>
                  <a:lnTo>
                    <a:pt x="1605851" y="2007870"/>
                  </a:lnTo>
                  <a:lnTo>
                    <a:pt x="1644713" y="2025904"/>
                  </a:lnTo>
                  <a:lnTo>
                    <a:pt x="1650047" y="2026285"/>
                  </a:lnTo>
                  <a:lnTo>
                    <a:pt x="1651825" y="2002536"/>
                  </a:lnTo>
                  <a:lnTo>
                    <a:pt x="1651952" y="2001012"/>
                  </a:lnTo>
                  <a:lnTo>
                    <a:pt x="1616773" y="1983613"/>
                  </a:lnTo>
                  <a:lnTo>
                    <a:pt x="1587817" y="1945767"/>
                  </a:lnTo>
                  <a:lnTo>
                    <a:pt x="1568386" y="1909445"/>
                  </a:lnTo>
                  <a:lnTo>
                    <a:pt x="1549463" y="1865122"/>
                  </a:lnTo>
                  <a:lnTo>
                    <a:pt x="1531429" y="1813560"/>
                  </a:lnTo>
                  <a:lnTo>
                    <a:pt x="1514284" y="1755394"/>
                  </a:lnTo>
                  <a:lnTo>
                    <a:pt x="1498282" y="1691513"/>
                  </a:lnTo>
                  <a:lnTo>
                    <a:pt x="1483804" y="1622552"/>
                  </a:lnTo>
                  <a:lnTo>
                    <a:pt x="1470850" y="1549146"/>
                  </a:lnTo>
                  <a:lnTo>
                    <a:pt x="1465008" y="1510919"/>
                  </a:lnTo>
                  <a:lnTo>
                    <a:pt x="1459547" y="1471930"/>
                  </a:lnTo>
                  <a:lnTo>
                    <a:pt x="1454594" y="1432179"/>
                  </a:lnTo>
                  <a:lnTo>
                    <a:pt x="1450276" y="1391920"/>
                  </a:lnTo>
                  <a:lnTo>
                    <a:pt x="1446339" y="1350772"/>
                  </a:lnTo>
                  <a:lnTo>
                    <a:pt x="1442910" y="1309370"/>
                  </a:lnTo>
                  <a:lnTo>
                    <a:pt x="1440345" y="1269111"/>
                  </a:lnTo>
                  <a:lnTo>
                    <a:pt x="1438148" y="1226439"/>
                  </a:lnTo>
                  <a:lnTo>
                    <a:pt x="1436471" y="1183513"/>
                  </a:lnTo>
                  <a:lnTo>
                    <a:pt x="1435430" y="1140460"/>
                  </a:lnTo>
                  <a:lnTo>
                    <a:pt x="1435036" y="1097292"/>
                  </a:lnTo>
                  <a:lnTo>
                    <a:pt x="1435544" y="1054862"/>
                  </a:lnTo>
                  <a:lnTo>
                    <a:pt x="1436814" y="1012190"/>
                  </a:lnTo>
                  <a:lnTo>
                    <a:pt x="1438973" y="969772"/>
                  </a:lnTo>
                  <a:lnTo>
                    <a:pt x="1441894" y="927608"/>
                  </a:lnTo>
                  <a:lnTo>
                    <a:pt x="1445577" y="885825"/>
                  </a:lnTo>
                  <a:lnTo>
                    <a:pt x="1450022" y="844423"/>
                  </a:lnTo>
                  <a:lnTo>
                    <a:pt x="1455102" y="803402"/>
                  </a:lnTo>
                  <a:lnTo>
                    <a:pt x="1460944" y="763016"/>
                  </a:lnTo>
                  <a:lnTo>
                    <a:pt x="1467548" y="723392"/>
                  </a:lnTo>
                  <a:lnTo>
                    <a:pt x="1474660" y="684403"/>
                  </a:lnTo>
                  <a:lnTo>
                    <a:pt x="1482407" y="646430"/>
                  </a:lnTo>
                  <a:lnTo>
                    <a:pt x="1490662" y="609219"/>
                  </a:lnTo>
                  <a:lnTo>
                    <a:pt x="1508823" y="538099"/>
                  </a:lnTo>
                  <a:lnTo>
                    <a:pt x="1529143" y="471678"/>
                  </a:lnTo>
                  <a:lnTo>
                    <a:pt x="1550987" y="410718"/>
                  </a:lnTo>
                  <a:lnTo>
                    <a:pt x="1574355" y="355727"/>
                  </a:lnTo>
                  <a:lnTo>
                    <a:pt x="1598993" y="307721"/>
                  </a:lnTo>
                  <a:lnTo>
                    <a:pt x="1624520" y="267208"/>
                  </a:lnTo>
                  <a:lnTo>
                    <a:pt x="1650555" y="235077"/>
                  </a:lnTo>
                  <a:lnTo>
                    <a:pt x="1661045" y="224891"/>
                  </a:lnTo>
                  <a:lnTo>
                    <a:pt x="1671129" y="247396"/>
                  </a:lnTo>
                  <a:lnTo>
                    <a:pt x="1713242" y="195961"/>
                  </a:lnTo>
                  <a:lnTo>
                    <a:pt x="1725104" y="181483"/>
                  </a:lnTo>
                  <a:close/>
                </a:path>
                <a:path w="6369684" h="2653665">
                  <a:moveTo>
                    <a:pt x="2425128" y="181483"/>
                  </a:moveTo>
                  <a:lnTo>
                    <a:pt x="2340038" y="178562"/>
                  </a:lnTo>
                  <a:lnTo>
                    <a:pt x="2351633" y="203911"/>
                  </a:lnTo>
                  <a:lnTo>
                    <a:pt x="2334831" y="216535"/>
                  </a:lnTo>
                  <a:lnTo>
                    <a:pt x="2334069" y="217043"/>
                  </a:lnTo>
                  <a:lnTo>
                    <a:pt x="2333434" y="217678"/>
                  </a:lnTo>
                  <a:lnTo>
                    <a:pt x="2332799" y="218440"/>
                  </a:lnTo>
                  <a:lnTo>
                    <a:pt x="2318829" y="234696"/>
                  </a:lnTo>
                  <a:lnTo>
                    <a:pt x="2291905" y="273177"/>
                  </a:lnTo>
                  <a:lnTo>
                    <a:pt x="2266251" y="319278"/>
                  </a:lnTo>
                  <a:lnTo>
                    <a:pt x="2241867" y="372110"/>
                  </a:lnTo>
                  <a:lnTo>
                    <a:pt x="2219007" y="431292"/>
                  </a:lnTo>
                  <a:lnTo>
                    <a:pt x="2197925" y="496062"/>
                  </a:lnTo>
                  <a:lnTo>
                    <a:pt x="2178748" y="565658"/>
                  </a:lnTo>
                  <a:lnTo>
                    <a:pt x="2161603" y="639699"/>
                  </a:lnTo>
                  <a:lnTo>
                    <a:pt x="2153856" y="678053"/>
                  </a:lnTo>
                  <a:lnTo>
                    <a:pt x="2146744" y="717423"/>
                  </a:lnTo>
                  <a:lnTo>
                    <a:pt x="2140267" y="757301"/>
                  </a:lnTo>
                  <a:lnTo>
                    <a:pt x="2134425" y="798068"/>
                  </a:lnTo>
                  <a:lnTo>
                    <a:pt x="2129345" y="839343"/>
                  </a:lnTo>
                  <a:lnTo>
                    <a:pt x="2125027" y="880999"/>
                  </a:lnTo>
                  <a:lnTo>
                    <a:pt x="2121217" y="923290"/>
                  </a:lnTo>
                  <a:lnTo>
                    <a:pt x="2118423" y="965708"/>
                  </a:lnTo>
                  <a:lnTo>
                    <a:pt x="2116264" y="1008507"/>
                  </a:lnTo>
                  <a:lnTo>
                    <a:pt x="2114994" y="1051433"/>
                  </a:lnTo>
                  <a:lnTo>
                    <a:pt x="2114613" y="1093851"/>
                  </a:lnTo>
                  <a:lnTo>
                    <a:pt x="2114854" y="1136523"/>
                  </a:lnTo>
                  <a:lnTo>
                    <a:pt x="2115858" y="1178941"/>
                  </a:lnTo>
                  <a:lnTo>
                    <a:pt x="2117471" y="1221359"/>
                  </a:lnTo>
                  <a:lnTo>
                    <a:pt x="2119604" y="1263523"/>
                  </a:lnTo>
                  <a:lnTo>
                    <a:pt x="2122487" y="1307338"/>
                  </a:lnTo>
                  <a:lnTo>
                    <a:pt x="2125916" y="1348994"/>
                  </a:lnTo>
                  <a:lnTo>
                    <a:pt x="2129853" y="1390269"/>
                  </a:lnTo>
                  <a:lnTo>
                    <a:pt x="2134298" y="1430909"/>
                  </a:lnTo>
                  <a:lnTo>
                    <a:pt x="2139251" y="1470914"/>
                  </a:lnTo>
                  <a:lnTo>
                    <a:pt x="2144712" y="1510030"/>
                  </a:lnTo>
                  <a:lnTo>
                    <a:pt x="2150681" y="1548384"/>
                  </a:lnTo>
                  <a:lnTo>
                    <a:pt x="2156904" y="1585976"/>
                  </a:lnTo>
                  <a:lnTo>
                    <a:pt x="2171001" y="1657731"/>
                  </a:lnTo>
                  <a:lnTo>
                    <a:pt x="2186368" y="1725041"/>
                  </a:lnTo>
                  <a:lnTo>
                    <a:pt x="2203259" y="1786890"/>
                  </a:lnTo>
                  <a:lnTo>
                    <a:pt x="2221293" y="1843024"/>
                  </a:lnTo>
                  <a:lnTo>
                    <a:pt x="2240597" y="1892427"/>
                  </a:lnTo>
                  <a:lnTo>
                    <a:pt x="2260917" y="1934972"/>
                  </a:lnTo>
                  <a:lnTo>
                    <a:pt x="2282253" y="1969770"/>
                  </a:lnTo>
                  <a:lnTo>
                    <a:pt x="2310574" y="2001266"/>
                  </a:lnTo>
                  <a:lnTo>
                    <a:pt x="2349817" y="2019554"/>
                  </a:lnTo>
                  <a:lnTo>
                    <a:pt x="2355151" y="2019808"/>
                  </a:lnTo>
                  <a:lnTo>
                    <a:pt x="2356447" y="1996186"/>
                  </a:lnTo>
                  <a:lnTo>
                    <a:pt x="2356548" y="1994408"/>
                  </a:lnTo>
                  <a:lnTo>
                    <a:pt x="2321496" y="1977009"/>
                  </a:lnTo>
                  <a:lnTo>
                    <a:pt x="2292667" y="1939417"/>
                  </a:lnTo>
                  <a:lnTo>
                    <a:pt x="2273236" y="1903222"/>
                  </a:lnTo>
                  <a:lnTo>
                    <a:pt x="2254313" y="1859026"/>
                  </a:lnTo>
                  <a:lnTo>
                    <a:pt x="2236279" y="1807718"/>
                  </a:lnTo>
                  <a:lnTo>
                    <a:pt x="2219134" y="1749806"/>
                  </a:lnTo>
                  <a:lnTo>
                    <a:pt x="2203132" y="1686052"/>
                  </a:lnTo>
                  <a:lnTo>
                    <a:pt x="2188654" y="1617345"/>
                  </a:lnTo>
                  <a:lnTo>
                    <a:pt x="2175700" y="1544193"/>
                  </a:lnTo>
                  <a:lnTo>
                    <a:pt x="2169858" y="1506093"/>
                  </a:lnTo>
                  <a:lnTo>
                    <a:pt x="2164397" y="1467358"/>
                  </a:lnTo>
                  <a:lnTo>
                    <a:pt x="2159444" y="1427734"/>
                  </a:lnTo>
                  <a:lnTo>
                    <a:pt x="2155126" y="1387475"/>
                  </a:lnTo>
                  <a:lnTo>
                    <a:pt x="2151189" y="1346581"/>
                  </a:lnTo>
                  <a:lnTo>
                    <a:pt x="2147760" y="1305179"/>
                  </a:lnTo>
                  <a:lnTo>
                    <a:pt x="2145195" y="1265174"/>
                  </a:lnTo>
                  <a:lnTo>
                    <a:pt x="2142998" y="1222756"/>
                  </a:lnTo>
                  <a:lnTo>
                    <a:pt x="2141321" y="1179957"/>
                  </a:lnTo>
                  <a:lnTo>
                    <a:pt x="2140280" y="1137158"/>
                  </a:lnTo>
                  <a:lnTo>
                    <a:pt x="2139886" y="1093990"/>
                  </a:lnTo>
                  <a:lnTo>
                    <a:pt x="2140394" y="1051687"/>
                  </a:lnTo>
                  <a:lnTo>
                    <a:pt x="2141664" y="1009269"/>
                  </a:lnTo>
                  <a:lnTo>
                    <a:pt x="2143696" y="966978"/>
                  </a:lnTo>
                  <a:lnTo>
                    <a:pt x="2146617" y="924941"/>
                  </a:lnTo>
                  <a:lnTo>
                    <a:pt x="2150300" y="883285"/>
                  </a:lnTo>
                  <a:lnTo>
                    <a:pt x="2154618" y="842010"/>
                  </a:lnTo>
                  <a:lnTo>
                    <a:pt x="2159698" y="801116"/>
                  </a:lnTo>
                  <a:lnTo>
                    <a:pt x="2165413" y="760984"/>
                  </a:lnTo>
                  <a:lnTo>
                    <a:pt x="2171763" y="721487"/>
                  </a:lnTo>
                  <a:lnTo>
                    <a:pt x="2178748" y="682625"/>
                  </a:lnTo>
                  <a:lnTo>
                    <a:pt x="2186495" y="644779"/>
                  </a:lnTo>
                  <a:lnTo>
                    <a:pt x="2203386" y="571754"/>
                  </a:lnTo>
                  <a:lnTo>
                    <a:pt x="2222309" y="503047"/>
                  </a:lnTo>
                  <a:lnTo>
                    <a:pt x="2243137" y="439547"/>
                  </a:lnTo>
                  <a:lnTo>
                    <a:pt x="2265362" y="381635"/>
                  </a:lnTo>
                  <a:lnTo>
                    <a:pt x="2289111" y="330327"/>
                  </a:lnTo>
                  <a:lnTo>
                    <a:pt x="2313749" y="286131"/>
                  </a:lnTo>
                  <a:lnTo>
                    <a:pt x="2339149" y="249936"/>
                  </a:lnTo>
                  <a:lnTo>
                    <a:pt x="2350452" y="236855"/>
                  </a:lnTo>
                  <a:lnTo>
                    <a:pt x="2351163" y="236029"/>
                  </a:lnTo>
                  <a:lnTo>
                    <a:pt x="2352598" y="234950"/>
                  </a:lnTo>
                  <a:lnTo>
                    <a:pt x="2362454" y="227545"/>
                  </a:lnTo>
                  <a:lnTo>
                    <a:pt x="2371788" y="247904"/>
                  </a:lnTo>
                  <a:lnTo>
                    <a:pt x="2412073" y="197739"/>
                  </a:lnTo>
                  <a:lnTo>
                    <a:pt x="2425128" y="181483"/>
                  </a:lnTo>
                  <a:close/>
                </a:path>
                <a:path w="6369684" h="2653665">
                  <a:moveTo>
                    <a:pt x="5093398" y="1392682"/>
                  </a:moveTo>
                  <a:lnTo>
                    <a:pt x="5067998" y="1392682"/>
                  </a:lnTo>
                  <a:lnTo>
                    <a:pt x="5067998" y="25400"/>
                  </a:lnTo>
                  <a:lnTo>
                    <a:pt x="5067998" y="12700"/>
                  </a:lnTo>
                  <a:lnTo>
                    <a:pt x="5067998" y="5715"/>
                  </a:lnTo>
                  <a:lnTo>
                    <a:pt x="5062283" y="0"/>
                  </a:lnTo>
                  <a:lnTo>
                    <a:pt x="396214" y="0"/>
                  </a:lnTo>
                  <a:lnTo>
                    <a:pt x="390525" y="5715"/>
                  </a:lnTo>
                  <a:lnTo>
                    <a:pt x="390525" y="95885"/>
                  </a:lnTo>
                  <a:lnTo>
                    <a:pt x="415925" y="95885"/>
                  </a:lnTo>
                  <a:lnTo>
                    <a:pt x="415925" y="25400"/>
                  </a:lnTo>
                  <a:lnTo>
                    <a:pt x="5042598" y="25400"/>
                  </a:lnTo>
                  <a:lnTo>
                    <a:pt x="5042598" y="1392682"/>
                  </a:lnTo>
                  <a:lnTo>
                    <a:pt x="5017198" y="1392682"/>
                  </a:lnTo>
                  <a:lnTo>
                    <a:pt x="5055298" y="1468882"/>
                  </a:lnTo>
                  <a:lnTo>
                    <a:pt x="5087048" y="1405382"/>
                  </a:lnTo>
                  <a:lnTo>
                    <a:pt x="5093398" y="1392682"/>
                  </a:lnTo>
                  <a:close/>
                </a:path>
                <a:path w="6369684" h="2653665">
                  <a:moveTo>
                    <a:pt x="6369113" y="2577465"/>
                  </a:moveTo>
                  <a:lnTo>
                    <a:pt x="6343713" y="2577465"/>
                  </a:lnTo>
                  <a:lnTo>
                    <a:pt x="6343713" y="1594358"/>
                  </a:lnTo>
                  <a:lnTo>
                    <a:pt x="6343713" y="1581658"/>
                  </a:lnTo>
                  <a:lnTo>
                    <a:pt x="6343713" y="1574673"/>
                  </a:lnTo>
                  <a:lnTo>
                    <a:pt x="6337986" y="1568958"/>
                  </a:lnTo>
                  <a:lnTo>
                    <a:pt x="5194236" y="1568958"/>
                  </a:lnTo>
                  <a:lnTo>
                    <a:pt x="5194236" y="1594358"/>
                  </a:lnTo>
                  <a:lnTo>
                    <a:pt x="6318313" y="1594358"/>
                  </a:lnTo>
                  <a:lnTo>
                    <a:pt x="6318313" y="2577465"/>
                  </a:lnTo>
                  <a:lnTo>
                    <a:pt x="6292913" y="2577465"/>
                  </a:lnTo>
                  <a:lnTo>
                    <a:pt x="6331013" y="2653665"/>
                  </a:lnTo>
                  <a:lnTo>
                    <a:pt x="6362763" y="2590165"/>
                  </a:lnTo>
                  <a:lnTo>
                    <a:pt x="6369113" y="2577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9137" y="2252725"/>
              <a:ext cx="76200" cy="14465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4525" y="2243200"/>
              <a:ext cx="76200" cy="152781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28901" y="2252725"/>
              <a:ext cx="76200" cy="14668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24226" y="2243200"/>
              <a:ext cx="76200" cy="15278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3557651" y="2395600"/>
              <a:ext cx="2252345" cy="273050"/>
            </a:xfrm>
            <a:custGeom>
              <a:avLst/>
              <a:gdLst/>
              <a:ahLst/>
              <a:cxnLst/>
              <a:rect l="l" t="t" r="r" b="b"/>
              <a:pathLst>
                <a:path w="2252345" h="273050">
                  <a:moveTo>
                    <a:pt x="2252218" y="273050"/>
                  </a:moveTo>
                  <a:lnTo>
                    <a:pt x="1126109" y="273050"/>
                  </a:lnTo>
                  <a:lnTo>
                    <a:pt x="1126109" y="0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538723" y="2759329"/>
              <a:ext cx="277495" cy="76200"/>
            </a:xfrm>
            <a:custGeom>
              <a:avLst/>
              <a:gdLst/>
              <a:ahLst/>
              <a:cxnLst/>
              <a:rect l="l" t="t" r="r" b="b"/>
              <a:pathLst>
                <a:path w="277495" h="76200">
                  <a:moveTo>
                    <a:pt x="201675" y="0"/>
                  </a:moveTo>
                  <a:lnTo>
                    <a:pt x="200913" y="76200"/>
                  </a:lnTo>
                  <a:lnTo>
                    <a:pt x="252749" y="50926"/>
                  </a:lnTo>
                  <a:lnTo>
                    <a:pt x="213867" y="50926"/>
                  </a:lnTo>
                  <a:lnTo>
                    <a:pt x="214122" y="25526"/>
                  </a:lnTo>
                  <a:lnTo>
                    <a:pt x="251478" y="25526"/>
                  </a:lnTo>
                  <a:lnTo>
                    <a:pt x="201675" y="0"/>
                  </a:lnTo>
                  <a:close/>
                </a:path>
                <a:path w="277495" h="76200">
                  <a:moveTo>
                    <a:pt x="126" y="23621"/>
                  </a:moveTo>
                  <a:lnTo>
                    <a:pt x="0" y="48894"/>
                  </a:lnTo>
                  <a:lnTo>
                    <a:pt x="213867" y="50926"/>
                  </a:lnTo>
                  <a:lnTo>
                    <a:pt x="201166" y="50926"/>
                  </a:lnTo>
                  <a:lnTo>
                    <a:pt x="201420" y="25526"/>
                  </a:lnTo>
                  <a:lnTo>
                    <a:pt x="214122" y="25526"/>
                  </a:lnTo>
                  <a:lnTo>
                    <a:pt x="126" y="23621"/>
                  </a:lnTo>
                  <a:close/>
                </a:path>
                <a:path w="277495" h="76200">
                  <a:moveTo>
                    <a:pt x="251478" y="25526"/>
                  </a:moveTo>
                  <a:lnTo>
                    <a:pt x="214122" y="25526"/>
                  </a:lnTo>
                  <a:lnTo>
                    <a:pt x="213988" y="38862"/>
                  </a:lnTo>
                  <a:lnTo>
                    <a:pt x="213867" y="50926"/>
                  </a:lnTo>
                  <a:lnTo>
                    <a:pt x="252749" y="50926"/>
                  </a:lnTo>
                  <a:lnTo>
                    <a:pt x="277495" y="38862"/>
                  </a:lnTo>
                  <a:lnTo>
                    <a:pt x="251478" y="25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6597650" y="541972"/>
            <a:ext cx="232854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Repeat: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Use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1</a:t>
            </a:r>
            <a:r>
              <a:rPr sz="1425" spc="202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compute </a:t>
            </a:r>
            <a:r>
              <a:rPr sz="1500" dirty="0">
                <a:latin typeface="Arial"/>
                <a:cs typeface="Arial"/>
              </a:rPr>
              <a:t>new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vector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</a:t>
            </a:r>
            <a:r>
              <a:rPr sz="1425" spc="-37" baseline="-17543" dirty="0">
                <a:latin typeface="Arial"/>
                <a:cs typeface="Arial"/>
              </a:rPr>
              <a:t>2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20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04" name="object 10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96" name="object 96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97" name="object 97"/>
          <p:cNvSpPr txBox="1"/>
          <p:nvPr/>
        </p:nvSpPr>
        <p:spPr>
          <a:xfrm>
            <a:off x="6577965" y="1151572"/>
            <a:ext cx="20929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Compute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new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alignment</a:t>
            </a:r>
            <a:endParaRPr sz="15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299579" y="1485328"/>
            <a:ext cx="1651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latin typeface="Arial"/>
                <a:cs typeface="Arial"/>
              </a:rPr>
              <a:t>2,i</a:t>
            </a:r>
            <a:endParaRPr sz="95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577965" y="1380553"/>
            <a:ext cx="20415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9480" algn="l"/>
              </a:tabLst>
            </a:pPr>
            <a:r>
              <a:rPr sz="1500" dirty="0">
                <a:latin typeface="Arial"/>
                <a:cs typeface="Arial"/>
              </a:rPr>
              <a:t>scores</a:t>
            </a:r>
            <a:r>
              <a:rPr sz="1500" spc="2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	and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attention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552565" y="1609089"/>
            <a:ext cx="101600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"/>
                <a:cs typeface="Arial"/>
              </a:rPr>
              <a:t>weights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a</a:t>
            </a:r>
            <a:r>
              <a:rPr sz="1425" spc="-30" baseline="-17543" dirty="0">
                <a:latin typeface="Arial"/>
                <a:cs typeface="Arial"/>
              </a:rPr>
              <a:t>2,i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53151" y="3433826"/>
            <a:ext cx="123825" cy="228600"/>
          </a:xfrm>
          <a:custGeom>
            <a:avLst/>
            <a:gdLst/>
            <a:ahLst/>
            <a:cxnLst/>
            <a:rect l="l" t="t" r="r" b="b"/>
            <a:pathLst>
              <a:path w="123825" h="228600">
                <a:moveTo>
                  <a:pt x="0" y="228600"/>
                </a:moveTo>
                <a:lnTo>
                  <a:pt x="123825" y="228600"/>
                </a:lnTo>
                <a:lnTo>
                  <a:pt x="1238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4662" y="2560701"/>
            <a:ext cx="336550" cy="469900"/>
            <a:chOff x="474662" y="2560701"/>
            <a:chExt cx="336550" cy="469900"/>
          </a:xfrm>
        </p:grpSpPr>
        <p:sp>
          <p:nvSpPr>
            <p:cNvPr id="7" name="object 7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7369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79512" y="2560701"/>
            <a:ext cx="336550" cy="469900"/>
            <a:chOff x="1179512" y="2560701"/>
            <a:chExt cx="336550" cy="469900"/>
          </a:xfrm>
        </p:grpSpPr>
        <p:sp>
          <p:nvSpPr>
            <p:cNvPr id="11" name="object 11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53236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15" name="object 15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55800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19" name="object 1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79751" y="2560701"/>
            <a:ext cx="346075" cy="469900"/>
            <a:chOff x="2579751" y="2560701"/>
            <a:chExt cx="346075" cy="469900"/>
          </a:xfrm>
        </p:grpSpPr>
        <p:sp>
          <p:nvSpPr>
            <p:cNvPr id="24" name="object 24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658745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4837" y="2252726"/>
            <a:ext cx="5541010" cy="1189990"/>
            <a:chOff x="604837" y="2252726"/>
            <a:chExt cx="5541010" cy="1189990"/>
          </a:xfrm>
        </p:grpSpPr>
        <p:sp>
          <p:nvSpPr>
            <p:cNvPr id="28" name="object 28"/>
            <p:cNvSpPr/>
            <p:nvPr/>
          </p:nvSpPr>
          <p:spPr>
            <a:xfrm>
              <a:off x="604837" y="2252725"/>
              <a:ext cx="5145405" cy="1189990"/>
            </a:xfrm>
            <a:custGeom>
              <a:avLst/>
              <a:gdLst/>
              <a:ahLst/>
              <a:cxnLst/>
              <a:rect l="l" t="t" r="r" b="b"/>
              <a:pathLst>
                <a:path w="5145405" h="1189989">
                  <a:moveTo>
                    <a:pt x="53505" y="1189863"/>
                  </a:moveTo>
                  <a:lnTo>
                    <a:pt x="51282" y="847852"/>
                  </a:lnTo>
                  <a:lnTo>
                    <a:pt x="25882" y="847852"/>
                  </a:lnTo>
                  <a:lnTo>
                    <a:pt x="28092" y="1189863"/>
                  </a:lnTo>
                  <a:lnTo>
                    <a:pt x="28105" y="1189990"/>
                  </a:lnTo>
                  <a:lnTo>
                    <a:pt x="53505" y="1189863"/>
                  </a:lnTo>
                  <a:close/>
                </a:path>
                <a:path w="5145405" h="118998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5145405" h="1189989">
                  <a:moveTo>
                    <a:pt x="76695" y="847471"/>
                  </a:moveTo>
                  <a:lnTo>
                    <a:pt x="70358" y="835025"/>
                  </a:lnTo>
                  <a:lnTo>
                    <a:pt x="38100" y="771525"/>
                  </a:lnTo>
                  <a:lnTo>
                    <a:pt x="495" y="847852"/>
                  </a:lnTo>
                  <a:lnTo>
                    <a:pt x="25869" y="847737"/>
                  </a:lnTo>
                  <a:lnTo>
                    <a:pt x="51269" y="847610"/>
                  </a:lnTo>
                  <a:lnTo>
                    <a:pt x="76695" y="847471"/>
                  </a:lnTo>
                  <a:close/>
                </a:path>
                <a:path w="5145405" h="1189989">
                  <a:moveTo>
                    <a:pt x="575627" y="542925"/>
                  </a:moveTo>
                  <a:lnTo>
                    <a:pt x="550227" y="530225"/>
                  </a:lnTo>
                  <a:lnTo>
                    <a:pt x="499427" y="504825"/>
                  </a:lnTo>
                  <a:lnTo>
                    <a:pt x="499427" y="530225"/>
                  </a:lnTo>
                  <a:lnTo>
                    <a:pt x="200025" y="530225"/>
                  </a:lnTo>
                  <a:lnTo>
                    <a:pt x="200025" y="555625"/>
                  </a:lnTo>
                  <a:lnTo>
                    <a:pt x="499427" y="555625"/>
                  </a:lnTo>
                  <a:lnTo>
                    <a:pt x="499427" y="581025"/>
                  </a:lnTo>
                  <a:lnTo>
                    <a:pt x="550227" y="555625"/>
                  </a:lnTo>
                  <a:lnTo>
                    <a:pt x="575627" y="542925"/>
                  </a:lnTo>
                  <a:close/>
                </a:path>
                <a:path w="5145405" h="1189989">
                  <a:moveTo>
                    <a:pt x="780986" y="847725"/>
                  </a:moveTo>
                  <a:lnTo>
                    <a:pt x="774636" y="835025"/>
                  </a:lnTo>
                  <a:lnTo>
                    <a:pt x="742886" y="771525"/>
                  </a:lnTo>
                  <a:lnTo>
                    <a:pt x="704786" y="847725"/>
                  </a:lnTo>
                  <a:lnTo>
                    <a:pt x="730186" y="847725"/>
                  </a:lnTo>
                  <a:lnTo>
                    <a:pt x="730313" y="1189990"/>
                  </a:lnTo>
                  <a:lnTo>
                    <a:pt x="755713" y="1189990"/>
                  </a:lnTo>
                  <a:lnTo>
                    <a:pt x="755586" y="847725"/>
                  </a:lnTo>
                  <a:lnTo>
                    <a:pt x="780986" y="847725"/>
                  </a:lnTo>
                  <a:close/>
                </a:path>
                <a:path w="5145405" h="1189989">
                  <a:moveTo>
                    <a:pt x="780986" y="76200"/>
                  </a:moveTo>
                  <a:lnTo>
                    <a:pt x="774636" y="63500"/>
                  </a:lnTo>
                  <a:lnTo>
                    <a:pt x="742886" y="0"/>
                  </a:lnTo>
                  <a:lnTo>
                    <a:pt x="704786" y="76200"/>
                  </a:lnTo>
                  <a:lnTo>
                    <a:pt x="730186" y="76200"/>
                  </a:lnTo>
                  <a:lnTo>
                    <a:pt x="730313" y="314325"/>
                  </a:lnTo>
                  <a:lnTo>
                    <a:pt x="755713" y="314325"/>
                  </a:lnTo>
                  <a:lnTo>
                    <a:pt x="755586" y="76200"/>
                  </a:lnTo>
                  <a:lnTo>
                    <a:pt x="780986" y="76200"/>
                  </a:lnTo>
                  <a:close/>
                </a:path>
                <a:path w="5145405" h="1189989">
                  <a:moveTo>
                    <a:pt x="1277810" y="542925"/>
                  </a:moveTo>
                  <a:lnTo>
                    <a:pt x="1252410" y="530225"/>
                  </a:lnTo>
                  <a:lnTo>
                    <a:pt x="1201610" y="504825"/>
                  </a:lnTo>
                  <a:lnTo>
                    <a:pt x="1201610" y="530225"/>
                  </a:lnTo>
                  <a:lnTo>
                    <a:pt x="904938" y="530225"/>
                  </a:lnTo>
                  <a:lnTo>
                    <a:pt x="904938" y="555625"/>
                  </a:lnTo>
                  <a:lnTo>
                    <a:pt x="1201610" y="555625"/>
                  </a:lnTo>
                  <a:lnTo>
                    <a:pt x="1201610" y="581025"/>
                  </a:lnTo>
                  <a:lnTo>
                    <a:pt x="1252410" y="555625"/>
                  </a:lnTo>
                  <a:lnTo>
                    <a:pt x="1277810" y="542925"/>
                  </a:lnTo>
                  <a:close/>
                </a:path>
                <a:path w="5145405" h="1189989">
                  <a:moveTo>
                    <a:pt x="1485836" y="847725"/>
                  </a:moveTo>
                  <a:lnTo>
                    <a:pt x="1479486" y="835025"/>
                  </a:lnTo>
                  <a:lnTo>
                    <a:pt x="1447736" y="771525"/>
                  </a:lnTo>
                  <a:lnTo>
                    <a:pt x="1409636" y="847725"/>
                  </a:lnTo>
                  <a:lnTo>
                    <a:pt x="1435036" y="847725"/>
                  </a:lnTo>
                  <a:lnTo>
                    <a:pt x="1435163" y="1189990"/>
                  </a:lnTo>
                  <a:lnTo>
                    <a:pt x="1460563" y="1189990"/>
                  </a:lnTo>
                  <a:lnTo>
                    <a:pt x="1460436" y="847725"/>
                  </a:lnTo>
                  <a:lnTo>
                    <a:pt x="1485836" y="847725"/>
                  </a:lnTo>
                  <a:close/>
                </a:path>
                <a:path w="5145405" h="1189989">
                  <a:moveTo>
                    <a:pt x="1486598" y="76200"/>
                  </a:moveTo>
                  <a:lnTo>
                    <a:pt x="1480286" y="63500"/>
                  </a:lnTo>
                  <a:lnTo>
                    <a:pt x="1448752" y="0"/>
                  </a:lnTo>
                  <a:lnTo>
                    <a:pt x="1410322" y="76200"/>
                  </a:lnTo>
                  <a:lnTo>
                    <a:pt x="1435747" y="76200"/>
                  </a:lnTo>
                  <a:lnTo>
                    <a:pt x="1435163" y="314325"/>
                  </a:lnTo>
                  <a:lnTo>
                    <a:pt x="1460563" y="314325"/>
                  </a:lnTo>
                  <a:lnTo>
                    <a:pt x="1461160" y="76200"/>
                  </a:lnTo>
                  <a:lnTo>
                    <a:pt x="1486598" y="76200"/>
                  </a:lnTo>
                  <a:close/>
                </a:path>
                <a:path w="5145405" h="1189989">
                  <a:moveTo>
                    <a:pt x="1982660" y="542925"/>
                  </a:moveTo>
                  <a:lnTo>
                    <a:pt x="1957260" y="530225"/>
                  </a:lnTo>
                  <a:lnTo>
                    <a:pt x="1906460" y="504825"/>
                  </a:lnTo>
                  <a:lnTo>
                    <a:pt x="1906460" y="530225"/>
                  </a:lnTo>
                  <a:lnTo>
                    <a:pt x="1609661" y="530225"/>
                  </a:lnTo>
                  <a:lnTo>
                    <a:pt x="1609661" y="555625"/>
                  </a:lnTo>
                  <a:lnTo>
                    <a:pt x="1906460" y="555625"/>
                  </a:lnTo>
                  <a:lnTo>
                    <a:pt x="1906460" y="581025"/>
                  </a:lnTo>
                  <a:lnTo>
                    <a:pt x="1957260" y="555625"/>
                  </a:lnTo>
                  <a:lnTo>
                    <a:pt x="1982660" y="542925"/>
                  </a:lnTo>
                  <a:close/>
                </a:path>
                <a:path w="5145405" h="1189989">
                  <a:moveTo>
                    <a:pt x="2181161" y="847725"/>
                  </a:moveTo>
                  <a:lnTo>
                    <a:pt x="2174811" y="835025"/>
                  </a:lnTo>
                  <a:lnTo>
                    <a:pt x="2143061" y="771525"/>
                  </a:lnTo>
                  <a:lnTo>
                    <a:pt x="2104961" y="847725"/>
                  </a:lnTo>
                  <a:lnTo>
                    <a:pt x="2130361" y="847725"/>
                  </a:lnTo>
                  <a:lnTo>
                    <a:pt x="2130488" y="1189990"/>
                  </a:lnTo>
                  <a:lnTo>
                    <a:pt x="2155888" y="1189990"/>
                  </a:lnTo>
                  <a:lnTo>
                    <a:pt x="2155761" y="847725"/>
                  </a:lnTo>
                  <a:lnTo>
                    <a:pt x="2181161" y="847725"/>
                  </a:lnTo>
                  <a:close/>
                </a:path>
                <a:path w="5145405" h="1189989">
                  <a:moveTo>
                    <a:pt x="2181288" y="76200"/>
                  </a:moveTo>
                  <a:lnTo>
                    <a:pt x="2174913" y="63500"/>
                  </a:lnTo>
                  <a:lnTo>
                    <a:pt x="2143061" y="0"/>
                  </a:lnTo>
                  <a:lnTo>
                    <a:pt x="2105088" y="76200"/>
                  </a:lnTo>
                  <a:lnTo>
                    <a:pt x="2130361" y="76200"/>
                  </a:lnTo>
                  <a:lnTo>
                    <a:pt x="2130488" y="314325"/>
                  </a:lnTo>
                  <a:lnTo>
                    <a:pt x="2155888" y="314325"/>
                  </a:lnTo>
                  <a:lnTo>
                    <a:pt x="2155761" y="76200"/>
                  </a:lnTo>
                  <a:lnTo>
                    <a:pt x="2181288" y="76200"/>
                  </a:lnTo>
                  <a:close/>
                </a:path>
                <a:path w="5145405" h="1189989">
                  <a:moveTo>
                    <a:pt x="5145214" y="1101471"/>
                  </a:moveTo>
                  <a:lnTo>
                    <a:pt x="5119814" y="1101471"/>
                  </a:lnTo>
                  <a:lnTo>
                    <a:pt x="5119814" y="555625"/>
                  </a:lnTo>
                  <a:lnTo>
                    <a:pt x="5119814" y="542925"/>
                  </a:lnTo>
                  <a:lnTo>
                    <a:pt x="5119814" y="535813"/>
                  </a:lnTo>
                  <a:lnTo>
                    <a:pt x="5114099" y="530225"/>
                  </a:lnTo>
                  <a:lnTo>
                    <a:pt x="3933761" y="530225"/>
                  </a:lnTo>
                  <a:lnTo>
                    <a:pt x="3933761" y="555625"/>
                  </a:lnTo>
                  <a:lnTo>
                    <a:pt x="5094414" y="555625"/>
                  </a:lnTo>
                  <a:lnTo>
                    <a:pt x="5094414" y="1101471"/>
                  </a:lnTo>
                  <a:lnTo>
                    <a:pt x="5069014" y="1101471"/>
                  </a:lnTo>
                  <a:lnTo>
                    <a:pt x="5107114" y="1177671"/>
                  </a:lnTo>
                  <a:lnTo>
                    <a:pt x="5138864" y="1114171"/>
                  </a:lnTo>
                  <a:lnTo>
                    <a:pt x="5145214" y="1101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15076" y="2786126"/>
              <a:ext cx="123825" cy="238125"/>
            </a:xfrm>
            <a:custGeom>
              <a:avLst/>
              <a:gdLst/>
              <a:ahLst/>
              <a:cxnLst/>
              <a:rect l="l" t="t" r="r" b="b"/>
              <a:pathLst>
                <a:path w="123825" h="238125">
                  <a:moveTo>
                    <a:pt x="0" y="238125"/>
                  </a:moveTo>
                  <a:lnTo>
                    <a:pt x="123825" y="238125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815076" y="2567051"/>
            <a:ext cx="323850" cy="4572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11190" y="4211637"/>
            <a:ext cx="540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05576" y="3443287"/>
            <a:ext cx="314325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618226" y="2147951"/>
            <a:ext cx="501650" cy="1749425"/>
            <a:chOff x="5618226" y="2147951"/>
            <a:chExt cx="501650" cy="1749425"/>
          </a:xfrm>
        </p:grpSpPr>
        <p:sp>
          <p:nvSpPr>
            <p:cNvPr id="37" name="object 37"/>
            <p:cNvSpPr/>
            <p:nvPr/>
          </p:nvSpPr>
          <p:spPr>
            <a:xfrm>
              <a:off x="5938901" y="2147950"/>
              <a:ext cx="180975" cy="1294765"/>
            </a:xfrm>
            <a:custGeom>
              <a:avLst/>
              <a:gdLst/>
              <a:ahLst/>
              <a:cxnLst/>
              <a:rect l="l" t="t" r="r" b="b"/>
              <a:pathLst>
                <a:path w="180975" h="1294764">
                  <a:moveTo>
                    <a:pt x="76263" y="76200"/>
                  </a:moveTo>
                  <a:lnTo>
                    <a:pt x="6990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421767"/>
                  </a:lnTo>
                  <a:lnTo>
                    <a:pt x="50800" y="421767"/>
                  </a:lnTo>
                  <a:lnTo>
                    <a:pt x="50800" y="76200"/>
                  </a:lnTo>
                  <a:lnTo>
                    <a:pt x="76263" y="76200"/>
                  </a:lnTo>
                  <a:close/>
                </a:path>
                <a:path w="180975" h="1294764">
                  <a:moveTo>
                    <a:pt x="180975" y="952500"/>
                  </a:moveTo>
                  <a:lnTo>
                    <a:pt x="174625" y="939800"/>
                  </a:lnTo>
                  <a:lnTo>
                    <a:pt x="142875" y="876300"/>
                  </a:lnTo>
                  <a:lnTo>
                    <a:pt x="104775" y="952500"/>
                  </a:lnTo>
                  <a:lnTo>
                    <a:pt x="130162" y="952500"/>
                  </a:lnTo>
                  <a:lnTo>
                    <a:pt x="130048" y="1294638"/>
                  </a:lnTo>
                  <a:lnTo>
                    <a:pt x="155448" y="1294638"/>
                  </a:lnTo>
                  <a:lnTo>
                    <a:pt x="155562" y="952500"/>
                  </a:lnTo>
                  <a:lnTo>
                    <a:pt x="180975" y="952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605526" y="3587496"/>
            <a:ext cx="342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824601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673" y="63500"/>
                </a:moveTo>
                <a:lnTo>
                  <a:pt x="25400" y="63500"/>
                </a:lnTo>
                <a:lnTo>
                  <a:pt x="25273" y="418338"/>
                </a:lnTo>
                <a:lnTo>
                  <a:pt x="50673" y="418338"/>
                </a:lnTo>
                <a:lnTo>
                  <a:pt x="50673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673" y="63500"/>
                </a:lnTo>
                <a:lnTo>
                  <a:pt x="50673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462776" y="3443287"/>
            <a:ext cx="304800" cy="45720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6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46087" y="1960626"/>
            <a:ext cx="3128010" cy="447675"/>
            <a:chOff x="446087" y="1960626"/>
            <a:chExt cx="3128010" cy="447675"/>
          </a:xfrm>
        </p:grpSpPr>
        <p:sp>
          <p:nvSpPr>
            <p:cNvPr id="44" name="object 44"/>
            <p:cNvSpPr/>
            <p:nvPr/>
          </p:nvSpPr>
          <p:spPr>
            <a:xfrm>
              <a:off x="633412" y="2395474"/>
              <a:ext cx="2927985" cy="635"/>
            </a:xfrm>
            <a:custGeom>
              <a:avLst/>
              <a:gdLst/>
              <a:ahLst/>
              <a:cxnLst/>
              <a:rect l="l" t="t" r="r" b="b"/>
              <a:pathLst>
                <a:path w="2927985" h="635">
                  <a:moveTo>
                    <a:pt x="2927413" y="126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26097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150937" y="1960626"/>
            <a:ext cx="393700" cy="298450"/>
            <a:chOff x="1150937" y="1960626"/>
            <a:chExt cx="393700" cy="298450"/>
          </a:xfrm>
        </p:grpSpPr>
        <p:sp>
          <p:nvSpPr>
            <p:cNvPr id="49" name="object 49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231582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855851" y="1960626"/>
            <a:ext cx="393700" cy="298450"/>
            <a:chOff x="1855851" y="1960626"/>
            <a:chExt cx="393700" cy="298450"/>
          </a:xfrm>
        </p:grpSpPr>
        <p:sp>
          <p:nvSpPr>
            <p:cNvPr id="53" name="object 53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935479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560701" y="1960626"/>
            <a:ext cx="384175" cy="298450"/>
            <a:chOff x="2560701" y="1960626"/>
            <a:chExt cx="384175" cy="298450"/>
          </a:xfrm>
        </p:grpSpPr>
        <p:sp>
          <p:nvSpPr>
            <p:cNvPr id="57" name="object 57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2637408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24</a:t>
            </a:r>
            <a:endParaRPr sz="6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52437" y="1576450"/>
            <a:ext cx="2486025" cy="238125"/>
          </a:xfrm>
          <a:custGeom>
            <a:avLst/>
            <a:gdLst/>
            <a:ahLst/>
            <a:cxnLst/>
            <a:rect l="l" t="t" r="r" b="b"/>
            <a:pathLst>
              <a:path w="2486025" h="238125">
                <a:moveTo>
                  <a:pt x="0" y="238125"/>
                </a:moveTo>
                <a:lnTo>
                  <a:pt x="2486025" y="238125"/>
                </a:lnTo>
                <a:lnTo>
                  <a:pt x="24860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349375" y="1557337"/>
            <a:ext cx="6927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46087" y="1141475"/>
            <a:ext cx="393700" cy="298450"/>
            <a:chOff x="446087" y="1141475"/>
            <a:chExt cx="393700" cy="298450"/>
          </a:xfrm>
        </p:grpSpPr>
        <p:sp>
          <p:nvSpPr>
            <p:cNvPr id="63" name="object 63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26097" y="1228661"/>
            <a:ext cx="2349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150937" y="1141475"/>
            <a:ext cx="393700" cy="298450"/>
            <a:chOff x="1150937" y="1141475"/>
            <a:chExt cx="393700" cy="298450"/>
          </a:xfrm>
        </p:grpSpPr>
        <p:sp>
          <p:nvSpPr>
            <p:cNvPr id="67" name="object 67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31582" y="1226820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855851" y="1141475"/>
            <a:ext cx="393700" cy="298450"/>
            <a:chOff x="1855851" y="1141475"/>
            <a:chExt cx="393700" cy="298450"/>
          </a:xfrm>
        </p:grpSpPr>
        <p:sp>
          <p:nvSpPr>
            <p:cNvPr id="71" name="object 71"/>
            <p:cNvSpPr/>
            <p:nvPr/>
          </p:nvSpPr>
          <p:spPr>
            <a:xfrm>
              <a:off x="1862201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62201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1934591" y="1223898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560701" y="1131950"/>
            <a:ext cx="384175" cy="298450"/>
            <a:chOff x="2560701" y="1131950"/>
            <a:chExt cx="384175" cy="298450"/>
          </a:xfrm>
        </p:grpSpPr>
        <p:sp>
          <p:nvSpPr>
            <p:cNvPr id="75" name="object 75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637408" y="1220152"/>
            <a:ext cx="2349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81000" y="780986"/>
            <a:ext cx="5050155" cy="1706880"/>
            <a:chOff x="381000" y="780986"/>
            <a:chExt cx="5050155" cy="1706880"/>
          </a:xfrm>
        </p:grpSpPr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485" y="1814448"/>
              <a:ext cx="76200" cy="15608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386" y="1804923"/>
              <a:ext cx="76200" cy="15608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5235" y="1814448"/>
              <a:ext cx="76200" cy="15608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9610" y="1814448"/>
              <a:ext cx="76200" cy="15608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9610" y="1414525"/>
              <a:ext cx="76200" cy="15595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5235" y="1433575"/>
              <a:ext cx="76200" cy="15595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911" y="1433575"/>
              <a:ext cx="76200" cy="155956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960" y="1424050"/>
              <a:ext cx="76200" cy="15595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00" y="780986"/>
              <a:ext cx="500062" cy="404812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5375" y="780986"/>
              <a:ext cx="500062" cy="40481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0225" y="780986"/>
              <a:ext cx="490537" cy="404812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5550" y="790511"/>
              <a:ext cx="500062" cy="404812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9926" y="1014475"/>
              <a:ext cx="76263" cy="12623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14727" y="1024000"/>
              <a:ext cx="76200" cy="12395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1275" y="1024000"/>
              <a:ext cx="76200" cy="12687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8474" y="1014475"/>
              <a:ext cx="76136" cy="13906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157851" y="2252726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228600"/>
                  </a:moveTo>
                  <a:lnTo>
                    <a:pt x="266700" y="228600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5221604" y="2231072"/>
            <a:ext cx="137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Arial"/>
                <a:cs typeface="Arial"/>
              </a:rPr>
              <a:t>+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230187" y="780033"/>
            <a:ext cx="6369685" cy="2659380"/>
            <a:chOff x="230187" y="780033"/>
            <a:chExt cx="6369685" cy="2659380"/>
          </a:xfrm>
        </p:grpSpPr>
        <p:sp>
          <p:nvSpPr>
            <p:cNvPr id="98" name="object 98"/>
            <p:cNvSpPr/>
            <p:nvPr/>
          </p:nvSpPr>
          <p:spPr>
            <a:xfrm>
              <a:off x="1357375" y="792733"/>
              <a:ext cx="3935729" cy="1464945"/>
            </a:xfrm>
            <a:custGeom>
              <a:avLst/>
              <a:gdLst/>
              <a:ahLst/>
              <a:cxnLst/>
              <a:rect l="l" t="t" r="r" b="b"/>
              <a:pathLst>
                <a:path w="3935729" h="1464945">
                  <a:moveTo>
                    <a:pt x="1390650" y="88391"/>
                  </a:moveTo>
                  <a:lnTo>
                    <a:pt x="1390650" y="0"/>
                  </a:lnTo>
                  <a:lnTo>
                    <a:pt x="3927729" y="0"/>
                  </a:lnTo>
                  <a:lnTo>
                    <a:pt x="3927729" y="1457578"/>
                  </a:lnTo>
                </a:path>
                <a:path w="3935729" h="1464945">
                  <a:moveTo>
                    <a:pt x="695325" y="88391"/>
                  </a:moveTo>
                  <a:lnTo>
                    <a:pt x="695325" y="15620"/>
                  </a:lnTo>
                  <a:lnTo>
                    <a:pt x="3929507" y="15620"/>
                  </a:lnTo>
                  <a:lnTo>
                    <a:pt x="3929507" y="1464436"/>
                  </a:lnTo>
                </a:path>
                <a:path w="3935729" h="1464945">
                  <a:moveTo>
                    <a:pt x="0" y="88391"/>
                  </a:moveTo>
                  <a:lnTo>
                    <a:pt x="0" y="15620"/>
                  </a:lnTo>
                  <a:lnTo>
                    <a:pt x="3935603" y="15620"/>
                  </a:lnTo>
                  <a:lnTo>
                    <a:pt x="3935603" y="146443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30187" y="785240"/>
              <a:ext cx="6369685" cy="2653665"/>
            </a:xfrm>
            <a:custGeom>
              <a:avLst/>
              <a:gdLst/>
              <a:ahLst/>
              <a:cxnLst/>
              <a:rect l="l" t="t" r="r" b="b"/>
              <a:pathLst>
                <a:path w="6369684" h="2653665">
                  <a:moveTo>
                    <a:pt x="304927" y="181483"/>
                  </a:moveTo>
                  <a:lnTo>
                    <a:pt x="219748" y="179832"/>
                  </a:lnTo>
                  <a:lnTo>
                    <a:pt x="231622" y="204876"/>
                  </a:lnTo>
                  <a:lnTo>
                    <a:pt x="216027" y="216662"/>
                  </a:lnTo>
                  <a:lnTo>
                    <a:pt x="215265" y="217170"/>
                  </a:lnTo>
                  <a:lnTo>
                    <a:pt x="214579" y="217932"/>
                  </a:lnTo>
                  <a:lnTo>
                    <a:pt x="213956" y="218567"/>
                  </a:lnTo>
                  <a:lnTo>
                    <a:pt x="186893" y="253238"/>
                  </a:lnTo>
                  <a:lnTo>
                    <a:pt x="161175" y="295656"/>
                  </a:lnTo>
                  <a:lnTo>
                    <a:pt x="136575" y="345313"/>
                  </a:lnTo>
                  <a:lnTo>
                    <a:pt x="113436" y="401574"/>
                  </a:lnTo>
                  <a:lnTo>
                    <a:pt x="91909" y="463677"/>
                  </a:lnTo>
                  <a:lnTo>
                    <a:pt x="72021" y="531114"/>
                  </a:lnTo>
                  <a:lnTo>
                    <a:pt x="54203" y="603123"/>
                  </a:lnTo>
                  <a:lnTo>
                    <a:pt x="46050" y="640715"/>
                  </a:lnTo>
                  <a:lnTo>
                    <a:pt x="38582" y="679196"/>
                  </a:lnTo>
                  <a:lnTo>
                    <a:pt x="31584" y="718439"/>
                  </a:lnTo>
                  <a:lnTo>
                    <a:pt x="25273" y="758571"/>
                  </a:lnTo>
                  <a:lnTo>
                    <a:pt x="19519" y="799338"/>
                  </a:lnTo>
                  <a:lnTo>
                    <a:pt x="14541" y="840613"/>
                  </a:lnTo>
                  <a:lnTo>
                    <a:pt x="10236" y="882396"/>
                  </a:lnTo>
                  <a:lnTo>
                    <a:pt x="6604" y="924687"/>
                  </a:lnTo>
                  <a:lnTo>
                    <a:pt x="3733" y="967359"/>
                  </a:lnTo>
                  <a:lnTo>
                    <a:pt x="1714" y="1010158"/>
                  </a:lnTo>
                  <a:lnTo>
                    <a:pt x="368" y="1053338"/>
                  </a:lnTo>
                  <a:lnTo>
                    <a:pt x="0" y="1096137"/>
                  </a:lnTo>
                  <a:lnTo>
                    <a:pt x="279" y="1138555"/>
                  </a:lnTo>
                  <a:lnTo>
                    <a:pt x="1320" y="1181227"/>
                  </a:lnTo>
                  <a:lnTo>
                    <a:pt x="2908" y="1223645"/>
                  </a:lnTo>
                  <a:lnTo>
                    <a:pt x="5080" y="1265809"/>
                  </a:lnTo>
                  <a:lnTo>
                    <a:pt x="7950" y="1309751"/>
                  </a:lnTo>
                  <a:lnTo>
                    <a:pt x="11391" y="1351407"/>
                  </a:lnTo>
                  <a:lnTo>
                    <a:pt x="15316" y="1392809"/>
                  </a:lnTo>
                  <a:lnTo>
                    <a:pt x="19723" y="1433449"/>
                  </a:lnTo>
                  <a:lnTo>
                    <a:pt x="24701" y="1473581"/>
                  </a:lnTo>
                  <a:lnTo>
                    <a:pt x="30149" y="1512824"/>
                  </a:lnTo>
                  <a:lnTo>
                    <a:pt x="36080" y="1551305"/>
                  </a:lnTo>
                  <a:lnTo>
                    <a:pt x="49212" y="1625346"/>
                  </a:lnTo>
                  <a:lnTo>
                    <a:pt x="63881" y="1695069"/>
                  </a:lnTo>
                  <a:lnTo>
                    <a:pt x="80111" y="1759839"/>
                  </a:lnTo>
                  <a:lnTo>
                    <a:pt x="97624" y="1819021"/>
                  </a:lnTo>
                  <a:lnTo>
                    <a:pt x="116293" y="1871980"/>
                  </a:lnTo>
                  <a:lnTo>
                    <a:pt x="136042" y="1918081"/>
                  </a:lnTo>
                  <a:lnTo>
                    <a:pt x="156870" y="1956816"/>
                  </a:lnTo>
                  <a:lnTo>
                    <a:pt x="184289" y="1993773"/>
                  </a:lnTo>
                  <a:lnTo>
                    <a:pt x="214871" y="2017141"/>
                  </a:lnTo>
                  <a:lnTo>
                    <a:pt x="240626" y="2023364"/>
                  </a:lnTo>
                  <a:lnTo>
                    <a:pt x="241884" y="1999615"/>
                  </a:lnTo>
                  <a:lnTo>
                    <a:pt x="241973" y="1998091"/>
                  </a:lnTo>
                  <a:lnTo>
                    <a:pt x="207086" y="1980692"/>
                  </a:lnTo>
                  <a:lnTo>
                    <a:pt x="178092" y="1942846"/>
                  </a:lnTo>
                  <a:lnTo>
                    <a:pt x="158724" y="1906651"/>
                  </a:lnTo>
                  <a:lnTo>
                    <a:pt x="139801" y="1862328"/>
                  </a:lnTo>
                  <a:lnTo>
                    <a:pt x="121704" y="1810893"/>
                  </a:lnTo>
                  <a:lnTo>
                    <a:pt x="104546" y="1752981"/>
                  </a:lnTo>
                  <a:lnTo>
                    <a:pt x="88582" y="1689100"/>
                  </a:lnTo>
                  <a:lnTo>
                    <a:pt x="74104" y="1620266"/>
                  </a:lnTo>
                  <a:lnTo>
                    <a:pt x="61137" y="1546987"/>
                  </a:lnTo>
                  <a:lnTo>
                    <a:pt x="55257" y="1508887"/>
                  </a:lnTo>
                  <a:lnTo>
                    <a:pt x="49847" y="1470025"/>
                  </a:lnTo>
                  <a:lnTo>
                    <a:pt x="44919" y="1430274"/>
                  </a:lnTo>
                  <a:lnTo>
                    <a:pt x="40563" y="1390015"/>
                  </a:lnTo>
                  <a:lnTo>
                    <a:pt x="36677" y="1349121"/>
                  </a:lnTo>
                  <a:lnTo>
                    <a:pt x="33261" y="1307719"/>
                  </a:lnTo>
                  <a:lnTo>
                    <a:pt x="30619" y="1267460"/>
                  </a:lnTo>
                  <a:lnTo>
                    <a:pt x="28397" y="1225042"/>
                  </a:lnTo>
                  <a:lnTo>
                    <a:pt x="26746" y="1182116"/>
                  </a:lnTo>
                  <a:lnTo>
                    <a:pt x="25692" y="1139190"/>
                  </a:lnTo>
                  <a:lnTo>
                    <a:pt x="25400" y="1096137"/>
                  </a:lnTo>
                  <a:lnTo>
                    <a:pt x="25781" y="1053338"/>
                  </a:lnTo>
                  <a:lnTo>
                    <a:pt x="27114" y="1010920"/>
                  </a:lnTo>
                  <a:lnTo>
                    <a:pt x="29095" y="968502"/>
                  </a:lnTo>
                  <a:lnTo>
                    <a:pt x="31940" y="926338"/>
                  </a:lnTo>
                  <a:lnTo>
                    <a:pt x="35547" y="884682"/>
                  </a:lnTo>
                  <a:lnTo>
                    <a:pt x="39814" y="843153"/>
                  </a:lnTo>
                  <a:lnTo>
                    <a:pt x="44742" y="802386"/>
                  </a:lnTo>
                  <a:lnTo>
                    <a:pt x="50419" y="762000"/>
                  </a:lnTo>
                  <a:lnTo>
                    <a:pt x="56680" y="722503"/>
                  </a:lnTo>
                  <a:lnTo>
                    <a:pt x="63588" y="683641"/>
                  </a:lnTo>
                  <a:lnTo>
                    <a:pt x="70980" y="645541"/>
                  </a:lnTo>
                  <a:lnTo>
                    <a:pt x="87630" y="572389"/>
                  </a:lnTo>
                  <a:lnTo>
                    <a:pt x="106172" y="503555"/>
                  </a:lnTo>
                  <a:lnTo>
                    <a:pt x="126568" y="439928"/>
                  </a:lnTo>
                  <a:lnTo>
                    <a:pt x="148437" y="381889"/>
                  </a:lnTo>
                  <a:lnTo>
                    <a:pt x="171627" y="330454"/>
                  </a:lnTo>
                  <a:lnTo>
                    <a:pt x="195922" y="286131"/>
                  </a:lnTo>
                  <a:lnTo>
                    <a:pt x="220789" y="249936"/>
                  </a:lnTo>
                  <a:lnTo>
                    <a:pt x="242760" y="228346"/>
                  </a:lnTo>
                  <a:lnTo>
                    <a:pt x="252412" y="248666"/>
                  </a:lnTo>
                  <a:lnTo>
                    <a:pt x="291515" y="198628"/>
                  </a:lnTo>
                  <a:lnTo>
                    <a:pt x="304927" y="181483"/>
                  </a:lnTo>
                  <a:close/>
                </a:path>
                <a:path w="6369684" h="2653665">
                  <a:moveTo>
                    <a:pt x="1021207" y="181483"/>
                  </a:moveTo>
                  <a:lnTo>
                    <a:pt x="936104" y="177673"/>
                  </a:lnTo>
                  <a:lnTo>
                    <a:pt x="946581" y="201256"/>
                  </a:lnTo>
                  <a:lnTo>
                    <a:pt x="945159" y="201930"/>
                  </a:lnTo>
                  <a:lnTo>
                    <a:pt x="913104" y="234823"/>
                  </a:lnTo>
                  <a:lnTo>
                    <a:pt x="885634" y="273431"/>
                  </a:lnTo>
                  <a:lnTo>
                    <a:pt x="859396" y="319659"/>
                  </a:lnTo>
                  <a:lnTo>
                    <a:pt x="834580" y="372872"/>
                  </a:lnTo>
                  <a:lnTo>
                    <a:pt x="811377" y="432181"/>
                  </a:lnTo>
                  <a:lnTo>
                    <a:pt x="789851" y="497205"/>
                  </a:lnTo>
                  <a:lnTo>
                    <a:pt x="770178" y="567055"/>
                  </a:lnTo>
                  <a:lnTo>
                    <a:pt x="752729" y="641350"/>
                  </a:lnTo>
                  <a:lnTo>
                    <a:pt x="744867" y="679958"/>
                  </a:lnTo>
                  <a:lnTo>
                    <a:pt x="737692" y="719328"/>
                  </a:lnTo>
                  <a:lnTo>
                    <a:pt x="731075" y="759460"/>
                  </a:lnTo>
                  <a:lnTo>
                    <a:pt x="725144" y="800227"/>
                  </a:lnTo>
                  <a:lnTo>
                    <a:pt x="719975" y="841756"/>
                  </a:lnTo>
                  <a:lnTo>
                    <a:pt x="715467" y="883539"/>
                  </a:lnTo>
                  <a:lnTo>
                    <a:pt x="711733" y="925957"/>
                  </a:lnTo>
                  <a:lnTo>
                    <a:pt x="708774" y="968502"/>
                  </a:lnTo>
                  <a:lnTo>
                    <a:pt x="706564" y="1011428"/>
                  </a:lnTo>
                  <a:lnTo>
                    <a:pt x="705332" y="1054608"/>
                  </a:lnTo>
                  <a:lnTo>
                    <a:pt x="704850" y="1097292"/>
                  </a:lnTo>
                  <a:lnTo>
                    <a:pt x="705129" y="1139825"/>
                  </a:lnTo>
                  <a:lnTo>
                    <a:pt x="706170" y="1182497"/>
                  </a:lnTo>
                  <a:lnTo>
                    <a:pt x="707771" y="1225169"/>
                  </a:lnTo>
                  <a:lnTo>
                    <a:pt x="709930" y="1267460"/>
                  </a:lnTo>
                  <a:lnTo>
                    <a:pt x="712800" y="1311402"/>
                  </a:lnTo>
                  <a:lnTo>
                    <a:pt x="716241" y="1353185"/>
                  </a:lnTo>
                  <a:lnTo>
                    <a:pt x="720166" y="1394587"/>
                  </a:lnTo>
                  <a:lnTo>
                    <a:pt x="724573" y="1435354"/>
                  </a:lnTo>
                  <a:lnTo>
                    <a:pt x="729538" y="1475486"/>
                  </a:lnTo>
                  <a:lnTo>
                    <a:pt x="734999" y="1514729"/>
                  </a:lnTo>
                  <a:lnTo>
                    <a:pt x="740930" y="1553337"/>
                  </a:lnTo>
                  <a:lnTo>
                    <a:pt x="747255" y="1591056"/>
                  </a:lnTo>
                  <a:lnTo>
                    <a:pt x="761238" y="1662938"/>
                  </a:lnTo>
                  <a:lnTo>
                    <a:pt x="776693" y="1730502"/>
                  </a:lnTo>
                  <a:lnTo>
                    <a:pt x="793521" y="1792732"/>
                  </a:lnTo>
                  <a:lnTo>
                    <a:pt x="811657" y="1848993"/>
                  </a:lnTo>
                  <a:lnTo>
                    <a:pt x="830922" y="1898650"/>
                  </a:lnTo>
                  <a:lnTo>
                    <a:pt x="851192" y="1941195"/>
                  </a:lnTo>
                  <a:lnTo>
                    <a:pt x="872540" y="1976120"/>
                  </a:lnTo>
                  <a:lnTo>
                    <a:pt x="900988" y="2007870"/>
                  </a:lnTo>
                  <a:lnTo>
                    <a:pt x="939914" y="2025904"/>
                  </a:lnTo>
                  <a:lnTo>
                    <a:pt x="945248" y="2026285"/>
                  </a:lnTo>
                  <a:lnTo>
                    <a:pt x="946937" y="2002536"/>
                  </a:lnTo>
                  <a:lnTo>
                    <a:pt x="947051" y="2001012"/>
                  </a:lnTo>
                  <a:lnTo>
                    <a:pt x="911936" y="1983613"/>
                  </a:lnTo>
                  <a:lnTo>
                    <a:pt x="882942" y="1945767"/>
                  </a:lnTo>
                  <a:lnTo>
                    <a:pt x="863561" y="1909445"/>
                  </a:lnTo>
                  <a:lnTo>
                    <a:pt x="844664" y="1865122"/>
                  </a:lnTo>
                  <a:lnTo>
                    <a:pt x="826554" y="1813560"/>
                  </a:lnTo>
                  <a:lnTo>
                    <a:pt x="809409" y="1755394"/>
                  </a:lnTo>
                  <a:lnTo>
                    <a:pt x="793432" y="1691513"/>
                  </a:lnTo>
                  <a:lnTo>
                    <a:pt x="778954" y="1622552"/>
                  </a:lnTo>
                  <a:lnTo>
                    <a:pt x="765987" y="1549146"/>
                  </a:lnTo>
                  <a:lnTo>
                    <a:pt x="760107" y="1510919"/>
                  </a:lnTo>
                  <a:lnTo>
                    <a:pt x="754710" y="1471930"/>
                  </a:lnTo>
                  <a:lnTo>
                    <a:pt x="749769" y="1432179"/>
                  </a:lnTo>
                  <a:lnTo>
                    <a:pt x="745413" y="1391920"/>
                  </a:lnTo>
                  <a:lnTo>
                    <a:pt x="741527" y="1350772"/>
                  </a:lnTo>
                  <a:lnTo>
                    <a:pt x="738111" y="1309370"/>
                  </a:lnTo>
                  <a:lnTo>
                    <a:pt x="735469" y="1269111"/>
                  </a:lnTo>
                  <a:lnTo>
                    <a:pt x="733247" y="1226439"/>
                  </a:lnTo>
                  <a:lnTo>
                    <a:pt x="731608" y="1183513"/>
                  </a:lnTo>
                  <a:lnTo>
                    <a:pt x="730542" y="1140460"/>
                  </a:lnTo>
                  <a:lnTo>
                    <a:pt x="730250" y="1097292"/>
                  </a:lnTo>
                  <a:lnTo>
                    <a:pt x="730719" y="1054862"/>
                  </a:lnTo>
                  <a:lnTo>
                    <a:pt x="731964" y="1012190"/>
                  </a:lnTo>
                  <a:lnTo>
                    <a:pt x="734136" y="969772"/>
                  </a:lnTo>
                  <a:lnTo>
                    <a:pt x="737082" y="927608"/>
                  </a:lnTo>
                  <a:lnTo>
                    <a:pt x="740778" y="885825"/>
                  </a:lnTo>
                  <a:lnTo>
                    <a:pt x="745223" y="844423"/>
                  </a:lnTo>
                  <a:lnTo>
                    <a:pt x="750341" y="803402"/>
                  </a:lnTo>
                  <a:lnTo>
                    <a:pt x="756221" y="763016"/>
                  </a:lnTo>
                  <a:lnTo>
                    <a:pt x="762749" y="723392"/>
                  </a:lnTo>
                  <a:lnTo>
                    <a:pt x="769861" y="684403"/>
                  </a:lnTo>
                  <a:lnTo>
                    <a:pt x="777621" y="646430"/>
                  </a:lnTo>
                  <a:lnTo>
                    <a:pt x="785952" y="609219"/>
                  </a:lnTo>
                  <a:lnTo>
                    <a:pt x="804291" y="538099"/>
                  </a:lnTo>
                  <a:lnTo>
                    <a:pt x="824534" y="471678"/>
                  </a:lnTo>
                  <a:lnTo>
                    <a:pt x="846505" y="410718"/>
                  </a:lnTo>
                  <a:lnTo>
                    <a:pt x="870013" y="355854"/>
                  </a:lnTo>
                  <a:lnTo>
                    <a:pt x="894651" y="307721"/>
                  </a:lnTo>
                  <a:lnTo>
                    <a:pt x="920254" y="267208"/>
                  </a:lnTo>
                  <a:lnTo>
                    <a:pt x="946416" y="235077"/>
                  </a:lnTo>
                  <a:lnTo>
                    <a:pt x="957059" y="224840"/>
                  </a:lnTo>
                  <a:lnTo>
                    <a:pt x="967092" y="247396"/>
                  </a:lnTo>
                  <a:lnTo>
                    <a:pt x="1009319" y="195961"/>
                  </a:lnTo>
                  <a:lnTo>
                    <a:pt x="1021207" y="181483"/>
                  </a:lnTo>
                  <a:close/>
                </a:path>
                <a:path w="6369684" h="2653665">
                  <a:moveTo>
                    <a:pt x="1725104" y="181483"/>
                  </a:moveTo>
                  <a:lnTo>
                    <a:pt x="1640014" y="177927"/>
                  </a:lnTo>
                  <a:lnTo>
                    <a:pt x="1650492" y="201345"/>
                  </a:lnTo>
                  <a:lnTo>
                    <a:pt x="1649285" y="201930"/>
                  </a:lnTo>
                  <a:lnTo>
                    <a:pt x="1617281" y="234823"/>
                  </a:lnTo>
                  <a:lnTo>
                    <a:pt x="1589849" y="273558"/>
                  </a:lnTo>
                  <a:lnTo>
                    <a:pt x="1563814" y="319659"/>
                  </a:lnTo>
                  <a:lnTo>
                    <a:pt x="1539049" y="372872"/>
                  </a:lnTo>
                  <a:lnTo>
                    <a:pt x="1515808" y="432181"/>
                  </a:lnTo>
                  <a:lnTo>
                    <a:pt x="1494472" y="497205"/>
                  </a:lnTo>
                  <a:lnTo>
                    <a:pt x="1474787" y="567055"/>
                  </a:lnTo>
                  <a:lnTo>
                    <a:pt x="1457515" y="641350"/>
                  </a:lnTo>
                  <a:lnTo>
                    <a:pt x="1449641" y="679958"/>
                  </a:lnTo>
                  <a:lnTo>
                    <a:pt x="1442402" y="719328"/>
                  </a:lnTo>
                  <a:lnTo>
                    <a:pt x="1435798" y="759460"/>
                  </a:lnTo>
                  <a:lnTo>
                    <a:pt x="1429956" y="800227"/>
                  </a:lnTo>
                  <a:lnTo>
                    <a:pt x="1424749" y="841756"/>
                  </a:lnTo>
                  <a:lnTo>
                    <a:pt x="1420164" y="883539"/>
                  </a:lnTo>
                  <a:lnTo>
                    <a:pt x="1416494" y="925957"/>
                  </a:lnTo>
                  <a:lnTo>
                    <a:pt x="1413573" y="968502"/>
                  </a:lnTo>
                  <a:lnTo>
                    <a:pt x="1411401" y="1011428"/>
                  </a:lnTo>
                  <a:lnTo>
                    <a:pt x="1410144" y="1054608"/>
                  </a:lnTo>
                  <a:lnTo>
                    <a:pt x="1409763" y="1097292"/>
                  </a:lnTo>
                  <a:lnTo>
                    <a:pt x="1410004" y="1139825"/>
                  </a:lnTo>
                  <a:lnTo>
                    <a:pt x="1411008" y="1182497"/>
                  </a:lnTo>
                  <a:lnTo>
                    <a:pt x="1411020" y="1183513"/>
                  </a:lnTo>
                  <a:lnTo>
                    <a:pt x="1412633" y="1225169"/>
                  </a:lnTo>
                  <a:lnTo>
                    <a:pt x="1414754" y="1267460"/>
                  </a:lnTo>
                  <a:lnTo>
                    <a:pt x="1417637" y="1311402"/>
                  </a:lnTo>
                  <a:lnTo>
                    <a:pt x="1421066" y="1353185"/>
                  </a:lnTo>
                  <a:lnTo>
                    <a:pt x="1425003" y="1394587"/>
                  </a:lnTo>
                  <a:lnTo>
                    <a:pt x="1429448" y="1435354"/>
                  </a:lnTo>
                  <a:lnTo>
                    <a:pt x="1434401" y="1475486"/>
                  </a:lnTo>
                  <a:lnTo>
                    <a:pt x="1439862" y="1514729"/>
                  </a:lnTo>
                  <a:lnTo>
                    <a:pt x="1445831" y="1553337"/>
                  </a:lnTo>
                  <a:lnTo>
                    <a:pt x="1452054" y="1591056"/>
                  </a:lnTo>
                  <a:lnTo>
                    <a:pt x="1466151" y="1662938"/>
                  </a:lnTo>
                  <a:lnTo>
                    <a:pt x="1481518" y="1730502"/>
                  </a:lnTo>
                  <a:lnTo>
                    <a:pt x="1498409" y="1792732"/>
                  </a:lnTo>
                  <a:lnTo>
                    <a:pt x="1516443" y="1848993"/>
                  </a:lnTo>
                  <a:lnTo>
                    <a:pt x="1535747" y="1898650"/>
                  </a:lnTo>
                  <a:lnTo>
                    <a:pt x="1556067" y="1941195"/>
                  </a:lnTo>
                  <a:lnTo>
                    <a:pt x="1577403" y="1976120"/>
                  </a:lnTo>
                  <a:lnTo>
                    <a:pt x="1605851" y="2007870"/>
                  </a:lnTo>
                  <a:lnTo>
                    <a:pt x="1644713" y="2025904"/>
                  </a:lnTo>
                  <a:lnTo>
                    <a:pt x="1650047" y="2026285"/>
                  </a:lnTo>
                  <a:lnTo>
                    <a:pt x="1651825" y="2002536"/>
                  </a:lnTo>
                  <a:lnTo>
                    <a:pt x="1651952" y="2001012"/>
                  </a:lnTo>
                  <a:lnTo>
                    <a:pt x="1616773" y="1983613"/>
                  </a:lnTo>
                  <a:lnTo>
                    <a:pt x="1587817" y="1945767"/>
                  </a:lnTo>
                  <a:lnTo>
                    <a:pt x="1568386" y="1909445"/>
                  </a:lnTo>
                  <a:lnTo>
                    <a:pt x="1549463" y="1865122"/>
                  </a:lnTo>
                  <a:lnTo>
                    <a:pt x="1531429" y="1813560"/>
                  </a:lnTo>
                  <a:lnTo>
                    <a:pt x="1514284" y="1755394"/>
                  </a:lnTo>
                  <a:lnTo>
                    <a:pt x="1498282" y="1691513"/>
                  </a:lnTo>
                  <a:lnTo>
                    <a:pt x="1483804" y="1622552"/>
                  </a:lnTo>
                  <a:lnTo>
                    <a:pt x="1470850" y="1549146"/>
                  </a:lnTo>
                  <a:lnTo>
                    <a:pt x="1465008" y="1510919"/>
                  </a:lnTo>
                  <a:lnTo>
                    <a:pt x="1459547" y="1471930"/>
                  </a:lnTo>
                  <a:lnTo>
                    <a:pt x="1454594" y="1432179"/>
                  </a:lnTo>
                  <a:lnTo>
                    <a:pt x="1450276" y="1391920"/>
                  </a:lnTo>
                  <a:lnTo>
                    <a:pt x="1446339" y="1350772"/>
                  </a:lnTo>
                  <a:lnTo>
                    <a:pt x="1442910" y="1309370"/>
                  </a:lnTo>
                  <a:lnTo>
                    <a:pt x="1440345" y="1269111"/>
                  </a:lnTo>
                  <a:lnTo>
                    <a:pt x="1438148" y="1226439"/>
                  </a:lnTo>
                  <a:lnTo>
                    <a:pt x="1436471" y="1183513"/>
                  </a:lnTo>
                  <a:lnTo>
                    <a:pt x="1435430" y="1140460"/>
                  </a:lnTo>
                  <a:lnTo>
                    <a:pt x="1435036" y="1097292"/>
                  </a:lnTo>
                  <a:lnTo>
                    <a:pt x="1435544" y="1054862"/>
                  </a:lnTo>
                  <a:lnTo>
                    <a:pt x="1436814" y="1012190"/>
                  </a:lnTo>
                  <a:lnTo>
                    <a:pt x="1438973" y="969772"/>
                  </a:lnTo>
                  <a:lnTo>
                    <a:pt x="1441894" y="927608"/>
                  </a:lnTo>
                  <a:lnTo>
                    <a:pt x="1445577" y="885825"/>
                  </a:lnTo>
                  <a:lnTo>
                    <a:pt x="1450022" y="844423"/>
                  </a:lnTo>
                  <a:lnTo>
                    <a:pt x="1455102" y="803402"/>
                  </a:lnTo>
                  <a:lnTo>
                    <a:pt x="1460944" y="763016"/>
                  </a:lnTo>
                  <a:lnTo>
                    <a:pt x="1467548" y="723392"/>
                  </a:lnTo>
                  <a:lnTo>
                    <a:pt x="1474660" y="684403"/>
                  </a:lnTo>
                  <a:lnTo>
                    <a:pt x="1482407" y="646430"/>
                  </a:lnTo>
                  <a:lnTo>
                    <a:pt x="1490662" y="609219"/>
                  </a:lnTo>
                  <a:lnTo>
                    <a:pt x="1508823" y="538099"/>
                  </a:lnTo>
                  <a:lnTo>
                    <a:pt x="1529143" y="471678"/>
                  </a:lnTo>
                  <a:lnTo>
                    <a:pt x="1550987" y="410718"/>
                  </a:lnTo>
                  <a:lnTo>
                    <a:pt x="1574355" y="355727"/>
                  </a:lnTo>
                  <a:lnTo>
                    <a:pt x="1598993" y="307721"/>
                  </a:lnTo>
                  <a:lnTo>
                    <a:pt x="1624520" y="267208"/>
                  </a:lnTo>
                  <a:lnTo>
                    <a:pt x="1650555" y="235077"/>
                  </a:lnTo>
                  <a:lnTo>
                    <a:pt x="1661045" y="224891"/>
                  </a:lnTo>
                  <a:lnTo>
                    <a:pt x="1671129" y="247396"/>
                  </a:lnTo>
                  <a:lnTo>
                    <a:pt x="1713242" y="195961"/>
                  </a:lnTo>
                  <a:lnTo>
                    <a:pt x="1725104" y="181483"/>
                  </a:lnTo>
                  <a:close/>
                </a:path>
                <a:path w="6369684" h="2653665">
                  <a:moveTo>
                    <a:pt x="2425128" y="181483"/>
                  </a:moveTo>
                  <a:lnTo>
                    <a:pt x="2340038" y="178562"/>
                  </a:lnTo>
                  <a:lnTo>
                    <a:pt x="2351633" y="203911"/>
                  </a:lnTo>
                  <a:lnTo>
                    <a:pt x="2334831" y="216535"/>
                  </a:lnTo>
                  <a:lnTo>
                    <a:pt x="2334069" y="217043"/>
                  </a:lnTo>
                  <a:lnTo>
                    <a:pt x="2333434" y="217678"/>
                  </a:lnTo>
                  <a:lnTo>
                    <a:pt x="2332799" y="218440"/>
                  </a:lnTo>
                  <a:lnTo>
                    <a:pt x="2318829" y="234696"/>
                  </a:lnTo>
                  <a:lnTo>
                    <a:pt x="2291905" y="273177"/>
                  </a:lnTo>
                  <a:lnTo>
                    <a:pt x="2266251" y="319278"/>
                  </a:lnTo>
                  <a:lnTo>
                    <a:pt x="2241867" y="372110"/>
                  </a:lnTo>
                  <a:lnTo>
                    <a:pt x="2219007" y="431292"/>
                  </a:lnTo>
                  <a:lnTo>
                    <a:pt x="2197925" y="496062"/>
                  </a:lnTo>
                  <a:lnTo>
                    <a:pt x="2178748" y="565658"/>
                  </a:lnTo>
                  <a:lnTo>
                    <a:pt x="2161603" y="639699"/>
                  </a:lnTo>
                  <a:lnTo>
                    <a:pt x="2153856" y="678053"/>
                  </a:lnTo>
                  <a:lnTo>
                    <a:pt x="2146744" y="717423"/>
                  </a:lnTo>
                  <a:lnTo>
                    <a:pt x="2140267" y="757301"/>
                  </a:lnTo>
                  <a:lnTo>
                    <a:pt x="2134425" y="798068"/>
                  </a:lnTo>
                  <a:lnTo>
                    <a:pt x="2129345" y="839343"/>
                  </a:lnTo>
                  <a:lnTo>
                    <a:pt x="2125027" y="880999"/>
                  </a:lnTo>
                  <a:lnTo>
                    <a:pt x="2121217" y="923290"/>
                  </a:lnTo>
                  <a:lnTo>
                    <a:pt x="2118423" y="965708"/>
                  </a:lnTo>
                  <a:lnTo>
                    <a:pt x="2116264" y="1008507"/>
                  </a:lnTo>
                  <a:lnTo>
                    <a:pt x="2114994" y="1051433"/>
                  </a:lnTo>
                  <a:lnTo>
                    <a:pt x="2114613" y="1093851"/>
                  </a:lnTo>
                  <a:lnTo>
                    <a:pt x="2114854" y="1136523"/>
                  </a:lnTo>
                  <a:lnTo>
                    <a:pt x="2115858" y="1178941"/>
                  </a:lnTo>
                  <a:lnTo>
                    <a:pt x="2117471" y="1221359"/>
                  </a:lnTo>
                  <a:lnTo>
                    <a:pt x="2119604" y="1263523"/>
                  </a:lnTo>
                  <a:lnTo>
                    <a:pt x="2122487" y="1307338"/>
                  </a:lnTo>
                  <a:lnTo>
                    <a:pt x="2125916" y="1348994"/>
                  </a:lnTo>
                  <a:lnTo>
                    <a:pt x="2129853" y="1390269"/>
                  </a:lnTo>
                  <a:lnTo>
                    <a:pt x="2134298" y="1430909"/>
                  </a:lnTo>
                  <a:lnTo>
                    <a:pt x="2139251" y="1470914"/>
                  </a:lnTo>
                  <a:lnTo>
                    <a:pt x="2144712" y="1510030"/>
                  </a:lnTo>
                  <a:lnTo>
                    <a:pt x="2150681" y="1548384"/>
                  </a:lnTo>
                  <a:lnTo>
                    <a:pt x="2156904" y="1585976"/>
                  </a:lnTo>
                  <a:lnTo>
                    <a:pt x="2171001" y="1657731"/>
                  </a:lnTo>
                  <a:lnTo>
                    <a:pt x="2186368" y="1725041"/>
                  </a:lnTo>
                  <a:lnTo>
                    <a:pt x="2203259" y="1786890"/>
                  </a:lnTo>
                  <a:lnTo>
                    <a:pt x="2221293" y="1843024"/>
                  </a:lnTo>
                  <a:lnTo>
                    <a:pt x="2240597" y="1892427"/>
                  </a:lnTo>
                  <a:lnTo>
                    <a:pt x="2260917" y="1934972"/>
                  </a:lnTo>
                  <a:lnTo>
                    <a:pt x="2282253" y="1969770"/>
                  </a:lnTo>
                  <a:lnTo>
                    <a:pt x="2310574" y="2001266"/>
                  </a:lnTo>
                  <a:lnTo>
                    <a:pt x="2349817" y="2019554"/>
                  </a:lnTo>
                  <a:lnTo>
                    <a:pt x="2355151" y="2019808"/>
                  </a:lnTo>
                  <a:lnTo>
                    <a:pt x="2356447" y="1996186"/>
                  </a:lnTo>
                  <a:lnTo>
                    <a:pt x="2356548" y="1994408"/>
                  </a:lnTo>
                  <a:lnTo>
                    <a:pt x="2321496" y="1977009"/>
                  </a:lnTo>
                  <a:lnTo>
                    <a:pt x="2292667" y="1939417"/>
                  </a:lnTo>
                  <a:lnTo>
                    <a:pt x="2273236" y="1903222"/>
                  </a:lnTo>
                  <a:lnTo>
                    <a:pt x="2254313" y="1859026"/>
                  </a:lnTo>
                  <a:lnTo>
                    <a:pt x="2236279" y="1807718"/>
                  </a:lnTo>
                  <a:lnTo>
                    <a:pt x="2219134" y="1749806"/>
                  </a:lnTo>
                  <a:lnTo>
                    <a:pt x="2203132" y="1686052"/>
                  </a:lnTo>
                  <a:lnTo>
                    <a:pt x="2188654" y="1617345"/>
                  </a:lnTo>
                  <a:lnTo>
                    <a:pt x="2175700" y="1544193"/>
                  </a:lnTo>
                  <a:lnTo>
                    <a:pt x="2169858" y="1506093"/>
                  </a:lnTo>
                  <a:lnTo>
                    <a:pt x="2164397" y="1467358"/>
                  </a:lnTo>
                  <a:lnTo>
                    <a:pt x="2159444" y="1427734"/>
                  </a:lnTo>
                  <a:lnTo>
                    <a:pt x="2155126" y="1387475"/>
                  </a:lnTo>
                  <a:lnTo>
                    <a:pt x="2151189" y="1346581"/>
                  </a:lnTo>
                  <a:lnTo>
                    <a:pt x="2147760" y="1305179"/>
                  </a:lnTo>
                  <a:lnTo>
                    <a:pt x="2145195" y="1265174"/>
                  </a:lnTo>
                  <a:lnTo>
                    <a:pt x="2142998" y="1222756"/>
                  </a:lnTo>
                  <a:lnTo>
                    <a:pt x="2141321" y="1179957"/>
                  </a:lnTo>
                  <a:lnTo>
                    <a:pt x="2140280" y="1137158"/>
                  </a:lnTo>
                  <a:lnTo>
                    <a:pt x="2139886" y="1093990"/>
                  </a:lnTo>
                  <a:lnTo>
                    <a:pt x="2140394" y="1051687"/>
                  </a:lnTo>
                  <a:lnTo>
                    <a:pt x="2141664" y="1009269"/>
                  </a:lnTo>
                  <a:lnTo>
                    <a:pt x="2143696" y="966978"/>
                  </a:lnTo>
                  <a:lnTo>
                    <a:pt x="2146617" y="924941"/>
                  </a:lnTo>
                  <a:lnTo>
                    <a:pt x="2150300" y="883285"/>
                  </a:lnTo>
                  <a:lnTo>
                    <a:pt x="2154618" y="842010"/>
                  </a:lnTo>
                  <a:lnTo>
                    <a:pt x="2159698" y="801116"/>
                  </a:lnTo>
                  <a:lnTo>
                    <a:pt x="2165413" y="760984"/>
                  </a:lnTo>
                  <a:lnTo>
                    <a:pt x="2171763" y="721487"/>
                  </a:lnTo>
                  <a:lnTo>
                    <a:pt x="2178748" y="682625"/>
                  </a:lnTo>
                  <a:lnTo>
                    <a:pt x="2186495" y="644779"/>
                  </a:lnTo>
                  <a:lnTo>
                    <a:pt x="2203386" y="571754"/>
                  </a:lnTo>
                  <a:lnTo>
                    <a:pt x="2222309" y="503047"/>
                  </a:lnTo>
                  <a:lnTo>
                    <a:pt x="2243137" y="439547"/>
                  </a:lnTo>
                  <a:lnTo>
                    <a:pt x="2265362" y="381635"/>
                  </a:lnTo>
                  <a:lnTo>
                    <a:pt x="2289111" y="330327"/>
                  </a:lnTo>
                  <a:lnTo>
                    <a:pt x="2313749" y="286131"/>
                  </a:lnTo>
                  <a:lnTo>
                    <a:pt x="2339149" y="249936"/>
                  </a:lnTo>
                  <a:lnTo>
                    <a:pt x="2350452" y="236855"/>
                  </a:lnTo>
                  <a:lnTo>
                    <a:pt x="2351163" y="236029"/>
                  </a:lnTo>
                  <a:lnTo>
                    <a:pt x="2352598" y="234950"/>
                  </a:lnTo>
                  <a:lnTo>
                    <a:pt x="2362454" y="227545"/>
                  </a:lnTo>
                  <a:lnTo>
                    <a:pt x="2371788" y="247904"/>
                  </a:lnTo>
                  <a:lnTo>
                    <a:pt x="2412073" y="197739"/>
                  </a:lnTo>
                  <a:lnTo>
                    <a:pt x="2425128" y="181483"/>
                  </a:lnTo>
                  <a:close/>
                </a:path>
                <a:path w="6369684" h="2653665">
                  <a:moveTo>
                    <a:pt x="5093398" y="1392682"/>
                  </a:moveTo>
                  <a:lnTo>
                    <a:pt x="5067998" y="1392682"/>
                  </a:lnTo>
                  <a:lnTo>
                    <a:pt x="5067998" y="25400"/>
                  </a:lnTo>
                  <a:lnTo>
                    <a:pt x="5067998" y="12700"/>
                  </a:lnTo>
                  <a:lnTo>
                    <a:pt x="5067998" y="5715"/>
                  </a:lnTo>
                  <a:lnTo>
                    <a:pt x="5062283" y="0"/>
                  </a:lnTo>
                  <a:lnTo>
                    <a:pt x="396214" y="0"/>
                  </a:lnTo>
                  <a:lnTo>
                    <a:pt x="390525" y="5715"/>
                  </a:lnTo>
                  <a:lnTo>
                    <a:pt x="390525" y="95885"/>
                  </a:lnTo>
                  <a:lnTo>
                    <a:pt x="415925" y="95885"/>
                  </a:lnTo>
                  <a:lnTo>
                    <a:pt x="415925" y="25400"/>
                  </a:lnTo>
                  <a:lnTo>
                    <a:pt x="5042598" y="25400"/>
                  </a:lnTo>
                  <a:lnTo>
                    <a:pt x="5042598" y="1392682"/>
                  </a:lnTo>
                  <a:lnTo>
                    <a:pt x="5017198" y="1392682"/>
                  </a:lnTo>
                  <a:lnTo>
                    <a:pt x="5055298" y="1468882"/>
                  </a:lnTo>
                  <a:lnTo>
                    <a:pt x="5087048" y="1405382"/>
                  </a:lnTo>
                  <a:lnTo>
                    <a:pt x="5093398" y="1392682"/>
                  </a:lnTo>
                  <a:close/>
                </a:path>
                <a:path w="6369684" h="2653665">
                  <a:moveTo>
                    <a:pt x="6369113" y="2577465"/>
                  </a:moveTo>
                  <a:lnTo>
                    <a:pt x="6343713" y="2577465"/>
                  </a:lnTo>
                  <a:lnTo>
                    <a:pt x="6343713" y="1594358"/>
                  </a:lnTo>
                  <a:lnTo>
                    <a:pt x="6343713" y="1581658"/>
                  </a:lnTo>
                  <a:lnTo>
                    <a:pt x="6343713" y="1574673"/>
                  </a:lnTo>
                  <a:lnTo>
                    <a:pt x="6337986" y="1568958"/>
                  </a:lnTo>
                  <a:lnTo>
                    <a:pt x="5194236" y="1568958"/>
                  </a:lnTo>
                  <a:lnTo>
                    <a:pt x="5194236" y="1594358"/>
                  </a:lnTo>
                  <a:lnTo>
                    <a:pt x="6318313" y="1594358"/>
                  </a:lnTo>
                  <a:lnTo>
                    <a:pt x="6318313" y="2577465"/>
                  </a:lnTo>
                  <a:lnTo>
                    <a:pt x="6292913" y="2577465"/>
                  </a:lnTo>
                  <a:lnTo>
                    <a:pt x="6331013" y="2653665"/>
                  </a:lnTo>
                  <a:lnTo>
                    <a:pt x="6362763" y="2590165"/>
                  </a:lnTo>
                  <a:lnTo>
                    <a:pt x="6369113" y="2577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9137" y="2252725"/>
              <a:ext cx="76200" cy="144653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4525" y="2243200"/>
              <a:ext cx="76200" cy="152781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28901" y="2252725"/>
              <a:ext cx="76200" cy="14668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24226" y="2243200"/>
              <a:ext cx="76200" cy="152781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557651" y="2395600"/>
              <a:ext cx="2252345" cy="273050"/>
            </a:xfrm>
            <a:custGeom>
              <a:avLst/>
              <a:gdLst/>
              <a:ahLst/>
              <a:cxnLst/>
              <a:rect l="l" t="t" r="r" b="b"/>
              <a:pathLst>
                <a:path w="2252345" h="273050">
                  <a:moveTo>
                    <a:pt x="2252218" y="273050"/>
                  </a:moveTo>
                  <a:lnTo>
                    <a:pt x="1126109" y="273050"/>
                  </a:lnTo>
                  <a:lnTo>
                    <a:pt x="1126109" y="0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597650" y="541972"/>
            <a:ext cx="232854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Repeat: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Use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1</a:t>
            </a:r>
            <a:r>
              <a:rPr sz="1425" spc="202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compute </a:t>
            </a:r>
            <a:r>
              <a:rPr sz="1500" dirty="0">
                <a:latin typeface="Arial"/>
                <a:cs typeface="Arial"/>
              </a:rPr>
              <a:t>new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vector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</a:t>
            </a:r>
            <a:r>
              <a:rPr sz="1425" spc="-37" baseline="-17543" dirty="0">
                <a:latin typeface="Arial"/>
                <a:cs typeface="Arial"/>
              </a:rPr>
              <a:t>2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106" name="object 106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6653276" y="2567051"/>
            <a:ext cx="333375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662801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779894" y="1315656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6786626" y="2147951"/>
            <a:ext cx="76835" cy="422275"/>
          </a:xfrm>
          <a:custGeom>
            <a:avLst/>
            <a:gdLst/>
            <a:ahLst/>
            <a:cxnLst/>
            <a:rect l="l" t="t" r="r" b="b"/>
            <a:pathLst>
              <a:path w="76834" h="422275">
                <a:moveTo>
                  <a:pt x="50800" y="63500"/>
                </a:moveTo>
                <a:lnTo>
                  <a:pt x="25400" y="63500"/>
                </a:lnTo>
                <a:lnTo>
                  <a:pt x="25400" y="421767"/>
                </a:lnTo>
                <a:lnTo>
                  <a:pt x="50800" y="421767"/>
                </a:lnTo>
                <a:lnTo>
                  <a:pt x="50800" y="63500"/>
                </a:lnTo>
                <a:close/>
              </a:path>
              <a:path w="76834" h="422275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903" y="63500"/>
                </a:lnTo>
                <a:lnTo>
                  <a:pt x="38100" y="0"/>
                </a:lnTo>
                <a:close/>
              </a:path>
              <a:path w="76834" h="422275">
                <a:moveTo>
                  <a:pt x="69903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63" y="76200"/>
                </a:lnTo>
                <a:lnTo>
                  <a:pt x="6990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6843776" y="3443287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6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688174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926" y="63500"/>
                </a:moveTo>
                <a:lnTo>
                  <a:pt x="25400" y="63500"/>
                </a:lnTo>
                <a:lnTo>
                  <a:pt x="25400" y="418338"/>
                </a:lnTo>
                <a:lnTo>
                  <a:pt x="50800" y="418338"/>
                </a:lnTo>
                <a:lnTo>
                  <a:pt x="50926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926" y="63500"/>
                </a:lnTo>
                <a:lnTo>
                  <a:pt x="50922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538724" y="2757550"/>
            <a:ext cx="1228725" cy="685165"/>
          </a:xfrm>
          <a:custGeom>
            <a:avLst/>
            <a:gdLst/>
            <a:ahLst/>
            <a:cxnLst/>
            <a:rect l="l" t="t" r="r" b="b"/>
            <a:pathLst>
              <a:path w="1228725" h="685164">
                <a:moveTo>
                  <a:pt x="277495" y="40640"/>
                </a:moveTo>
                <a:lnTo>
                  <a:pt x="251472" y="27305"/>
                </a:lnTo>
                <a:lnTo>
                  <a:pt x="201676" y="1778"/>
                </a:lnTo>
                <a:lnTo>
                  <a:pt x="201409" y="27203"/>
                </a:lnTo>
                <a:lnTo>
                  <a:pt x="127" y="25400"/>
                </a:lnTo>
                <a:lnTo>
                  <a:pt x="0" y="50673"/>
                </a:lnTo>
                <a:lnTo>
                  <a:pt x="201155" y="52590"/>
                </a:lnTo>
                <a:lnTo>
                  <a:pt x="213855" y="52705"/>
                </a:lnTo>
                <a:lnTo>
                  <a:pt x="201155" y="52705"/>
                </a:lnTo>
                <a:lnTo>
                  <a:pt x="200914" y="77978"/>
                </a:lnTo>
                <a:lnTo>
                  <a:pt x="252742" y="52705"/>
                </a:lnTo>
                <a:lnTo>
                  <a:pt x="277495" y="40640"/>
                </a:lnTo>
                <a:close/>
              </a:path>
              <a:path w="1228725" h="685164">
                <a:moveTo>
                  <a:pt x="1113917" y="38100"/>
                </a:moveTo>
                <a:lnTo>
                  <a:pt x="1088517" y="25400"/>
                </a:lnTo>
                <a:lnTo>
                  <a:pt x="1037717" y="0"/>
                </a:lnTo>
                <a:lnTo>
                  <a:pt x="1037717" y="25400"/>
                </a:lnTo>
                <a:lnTo>
                  <a:pt x="600075" y="25400"/>
                </a:lnTo>
                <a:lnTo>
                  <a:pt x="600075" y="50800"/>
                </a:lnTo>
                <a:lnTo>
                  <a:pt x="1037717" y="50800"/>
                </a:lnTo>
                <a:lnTo>
                  <a:pt x="1037717" y="76200"/>
                </a:lnTo>
                <a:lnTo>
                  <a:pt x="1088517" y="50800"/>
                </a:lnTo>
                <a:lnTo>
                  <a:pt x="1113917" y="38100"/>
                </a:lnTo>
                <a:close/>
              </a:path>
              <a:path w="1228725" h="685164">
                <a:moveTo>
                  <a:pt x="1228725" y="342900"/>
                </a:moveTo>
                <a:lnTo>
                  <a:pt x="1222375" y="330200"/>
                </a:lnTo>
                <a:lnTo>
                  <a:pt x="1190625" y="266700"/>
                </a:lnTo>
                <a:lnTo>
                  <a:pt x="1152525" y="342900"/>
                </a:lnTo>
                <a:lnTo>
                  <a:pt x="1177925" y="342900"/>
                </a:lnTo>
                <a:lnTo>
                  <a:pt x="1177925" y="685038"/>
                </a:lnTo>
                <a:lnTo>
                  <a:pt x="1203325" y="685038"/>
                </a:lnTo>
                <a:lnTo>
                  <a:pt x="1203439" y="342900"/>
                </a:lnTo>
                <a:lnTo>
                  <a:pt x="1228725" y="342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7284719" y="2206942"/>
            <a:ext cx="165417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Use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vector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decoder: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</a:t>
            </a:r>
            <a:r>
              <a:rPr sz="1425" spc="225" baseline="-17543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= </a:t>
            </a:r>
            <a:r>
              <a:rPr sz="1500" dirty="0">
                <a:latin typeface="Arial"/>
                <a:cs typeface="Arial"/>
              </a:rPr>
              <a:t>g</a:t>
            </a:r>
            <a:r>
              <a:rPr sz="1425" baseline="-17543" dirty="0">
                <a:latin typeface="Arial"/>
                <a:cs typeface="Arial"/>
              </a:rPr>
              <a:t>U</a:t>
            </a:r>
            <a:r>
              <a:rPr sz="1500" dirty="0">
                <a:latin typeface="Arial"/>
                <a:cs typeface="Arial"/>
              </a:rPr>
              <a:t>(y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</a:t>
            </a:r>
            <a:r>
              <a:rPr sz="1425" spc="-37" baseline="-17543" dirty="0">
                <a:latin typeface="Arial"/>
                <a:cs typeface="Arial"/>
              </a:rPr>
              <a:t>t</a:t>
            </a:r>
            <a:r>
              <a:rPr sz="1500" spc="-25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2" name="object 1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21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23" name="object 1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115" name="object 115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6540881" y="4220527"/>
            <a:ext cx="5283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53151" y="3433826"/>
            <a:ext cx="123825" cy="228600"/>
          </a:xfrm>
          <a:custGeom>
            <a:avLst/>
            <a:gdLst/>
            <a:ahLst/>
            <a:cxnLst/>
            <a:rect l="l" t="t" r="r" b="b"/>
            <a:pathLst>
              <a:path w="123825" h="228600">
                <a:moveTo>
                  <a:pt x="0" y="228600"/>
                </a:moveTo>
                <a:lnTo>
                  <a:pt x="123825" y="228600"/>
                </a:lnTo>
                <a:lnTo>
                  <a:pt x="1238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4662" y="2560701"/>
            <a:ext cx="336550" cy="469900"/>
            <a:chOff x="474662" y="2560701"/>
            <a:chExt cx="336550" cy="469900"/>
          </a:xfrm>
        </p:grpSpPr>
        <p:sp>
          <p:nvSpPr>
            <p:cNvPr id="7" name="object 7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7369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79512" y="2560701"/>
            <a:ext cx="336550" cy="469900"/>
            <a:chOff x="1179512" y="2560701"/>
            <a:chExt cx="336550" cy="469900"/>
          </a:xfrm>
        </p:grpSpPr>
        <p:sp>
          <p:nvSpPr>
            <p:cNvPr id="11" name="object 11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53236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15" name="object 15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55800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19" name="object 1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79751" y="2560701"/>
            <a:ext cx="346075" cy="469900"/>
            <a:chOff x="2579751" y="2560701"/>
            <a:chExt cx="346075" cy="469900"/>
          </a:xfrm>
        </p:grpSpPr>
        <p:sp>
          <p:nvSpPr>
            <p:cNvPr id="24" name="object 24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658745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4837" y="2252726"/>
            <a:ext cx="5541010" cy="1189990"/>
            <a:chOff x="604837" y="2252726"/>
            <a:chExt cx="5541010" cy="1189990"/>
          </a:xfrm>
        </p:grpSpPr>
        <p:sp>
          <p:nvSpPr>
            <p:cNvPr id="28" name="object 28"/>
            <p:cNvSpPr/>
            <p:nvPr/>
          </p:nvSpPr>
          <p:spPr>
            <a:xfrm>
              <a:off x="604837" y="2252725"/>
              <a:ext cx="5145405" cy="1189990"/>
            </a:xfrm>
            <a:custGeom>
              <a:avLst/>
              <a:gdLst/>
              <a:ahLst/>
              <a:cxnLst/>
              <a:rect l="l" t="t" r="r" b="b"/>
              <a:pathLst>
                <a:path w="5145405" h="1189989">
                  <a:moveTo>
                    <a:pt x="53505" y="1189863"/>
                  </a:moveTo>
                  <a:lnTo>
                    <a:pt x="51282" y="847852"/>
                  </a:lnTo>
                  <a:lnTo>
                    <a:pt x="25882" y="847852"/>
                  </a:lnTo>
                  <a:lnTo>
                    <a:pt x="28092" y="1189863"/>
                  </a:lnTo>
                  <a:lnTo>
                    <a:pt x="28105" y="1189990"/>
                  </a:lnTo>
                  <a:lnTo>
                    <a:pt x="53505" y="1189863"/>
                  </a:lnTo>
                  <a:close/>
                </a:path>
                <a:path w="5145405" h="118998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5145405" h="1189989">
                  <a:moveTo>
                    <a:pt x="76695" y="847471"/>
                  </a:moveTo>
                  <a:lnTo>
                    <a:pt x="70358" y="835025"/>
                  </a:lnTo>
                  <a:lnTo>
                    <a:pt x="38100" y="771525"/>
                  </a:lnTo>
                  <a:lnTo>
                    <a:pt x="495" y="847852"/>
                  </a:lnTo>
                  <a:lnTo>
                    <a:pt x="25869" y="847737"/>
                  </a:lnTo>
                  <a:lnTo>
                    <a:pt x="51269" y="847610"/>
                  </a:lnTo>
                  <a:lnTo>
                    <a:pt x="76695" y="847471"/>
                  </a:lnTo>
                  <a:close/>
                </a:path>
                <a:path w="5145405" h="1189989">
                  <a:moveTo>
                    <a:pt x="575627" y="542925"/>
                  </a:moveTo>
                  <a:lnTo>
                    <a:pt x="550227" y="530225"/>
                  </a:lnTo>
                  <a:lnTo>
                    <a:pt x="499427" y="504825"/>
                  </a:lnTo>
                  <a:lnTo>
                    <a:pt x="499427" y="530225"/>
                  </a:lnTo>
                  <a:lnTo>
                    <a:pt x="200025" y="530225"/>
                  </a:lnTo>
                  <a:lnTo>
                    <a:pt x="200025" y="555625"/>
                  </a:lnTo>
                  <a:lnTo>
                    <a:pt x="499427" y="555625"/>
                  </a:lnTo>
                  <a:lnTo>
                    <a:pt x="499427" y="581025"/>
                  </a:lnTo>
                  <a:lnTo>
                    <a:pt x="550227" y="555625"/>
                  </a:lnTo>
                  <a:lnTo>
                    <a:pt x="575627" y="542925"/>
                  </a:lnTo>
                  <a:close/>
                </a:path>
                <a:path w="5145405" h="1189989">
                  <a:moveTo>
                    <a:pt x="780986" y="847725"/>
                  </a:moveTo>
                  <a:lnTo>
                    <a:pt x="774636" y="835025"/>
                  </a:lnTo>
                  <a:lnTo>
                    <a:pt x="742886" y="771525"/>
                  </a:lnTo>
                  <a:lnTo>
                    <a:pt x="704786" y="847725"/>
                  </a:lnTo>
                  <a:lnTo>
                    <a:pt x="730186" y="847725"/>
                  </a:lnTo>
                  <a:lnTo>
                    <a:pt x="730313" y="1189990"/>
                  </a:lnTo>
                  <a:lnTo>
                    <a:pt x="755713" y="1189990"/>
                  </a:lnTo>
                  <a:lnTo>
                    <a:pt x="755586" y="847725"/>
                  </a:lnTo>
                  <a:lnTo>
                    <a:pt x="780986" y="847725"/>
                  </a:lnTo>
                  <a:close/>
                </a:path>
                <a:path w="5145405" h="1189989">
                  <a:moveTo>
                    <a:pt x="780986" y="76200"/>
                  </a:moveTo>
                  <a:lnTo>
                    <a:pt x="774636" y="63500"/>
                  </a:lnTo>
                  <a:lnTo>
                    <a:pt x="742886" y="0"/>
                  </a:lnTo>
                  <a:lnTo>
                    <a:pt x="704786" y="76200"/>
                  </a:lnTo>
                  <a:lnTo>
                    <a:pt x="730186" y="76200"/>
                  </a:lnTo>
                  <a:lnTo>
                    <a:pt x="730313" y="314325"/>
                  </a:lnTo>
                  <a:lnTo>
                    <a:pt x="755713" y="314325"/>
                  </a:lnTo>
                  <a:lnTo>
                    <a:pt x="755586" y="76200"/>
                  </a:lnTo>
                  <a:lnTo>
                    <a:pt x="780986" y="76200"/>
                  </a:lnTo>
                  <a:close/>
                </a:path>
                <a:path w="5145405" h="1189989">
                  <a:moveTo>
                    <a:pt x="1277810" y="542925"/>
                  </a:moveTo>
                  <a:lnTo>
                    <a:pt x="1252410" y="530225"/>
                  </a:lnTo>
                  <a:lnTo>
                    <a:pt x="1201610" y="504825"/>
                  </a:lnTo>
                  <a:lnTo>
                    <a:pt x="1201610" y="530225"/>
                  </a:lnTo>
                  <a:lnTo>
                    <a:pt x="904938" y="530225"/>
                  </a:lnTo>
                  <a:lnTo>
                    <a:pt x="904938" y="555625"/>
                  </a:lnTo>
                  <a:lnTo>
                    <a:pt x="1201610" y="555625"/>
                  </a:lnTo>
                  <a:lnTo>
                    <a:pt x="1201610" y="581025"/>
                  </a:lnTo>
                  <a:lnTo>
                    <a:pt x="1252410" y="555625"/>
                  </a:lnTo>
                  <a:lnTo>
                    <a:pt x="1277810" y="542925"/>
                  </a:lnTo>
                  <a:close/>
                </a:path>
                <a:path w="5145405" h="1189989">
                  <a:moveTo>
                    <a:pt x="1485836" y="847725"/>
                  </a:moveTo>
                  <a:lnTo>
                    <a:pt x="1479486" y="835025"/>
                  </a:lnTo>
                  <a:lnTo>
                    <a:pt x="1447736" y="771525"/>
                  </a:lnTo>
                  <a:lnTo>
                    <a:pt x="1409636" y="847725"/>
                  </a:lnTo>
                  <a:lnTo>
                    <a:pt x="1435036" y="847725"/>
                  </a:lnTo>
                  <a:lnTo>
                    <a:pt x="1435163" y="1189990"/>
                  </a:lnTo>
                  <a:lnTo>
                    <a:pt x="1460563" y="1189990"/>
                  </a:lnTo>
                  <a:lnTo>
                    <a:pt x="1460436" y="847725"/>
                  </a:lnTo>
                  <a:lnTo>
                    <a:pt x="1485836" y="847725"/>
                  </a:lnTo>
                  <a:close/>
                </a:path>
                <a:path w="5145405" h="1189989">
                  <a:moveTo>
                    <a:pt x="1486598" y="76200"/>
                  </a:moveTo>
                  <a:lnTo>
                    <a:pt x="1480286" y="63500"/>
                  </a:lnTo>
                  <a:lnTo>
                    <a:pt x="1448752" y="0"/>
                  </a:lnTo>
                  <a:lnTo>
                    <a:pt x="1410322" y="76200"/>
                  </a:lnTo>
                  <a:lnTo>
                    <a:pt x="1435747" y="76200"/>
                  </a:lnTo>
                  <a:lnTo>
                    <a:pt x="1435163" y="314325"/>
                  </a:lnTo>
                  <a:lnTo>
                    <a:pt x="1460563" y="314325"/>
                  </a:lnTo>
                  <a:lnTo>
                    <a:pt x="1461160" y="76200"/>
                  </a:lnTo>
                  <a:lnTo>
                    <a:pt x="1486598" y="76200"/>
                  </a:lnTo>
                  <a:close/>
                </a:path>
                <a:path w="5145405" h="1189989">
                  <a:moveTo>
                    <a:pt x="1982660" y="542925"/>
                  </a:moveTo>
                  <a:lnTo>
                    <a:pt x="1957260" y="530225"/>
                  </a:lnTo>
                  <a:lnTo>
                    <a:pt x="1906460" y="504825"/>
                  </a:lnTo>
                  <a:lnTo>
                    <a:pt x="1906460" y="530225"/>
                  </a:lnTo>
                  <a:lnTo>
                    <a:pt x="1609661" y="530225"/>
                  </a:lnTo>
                  <a:lnTo>
                    <a:pt x="1609661" y="555625"/>
                  </a:lnTo>
                  <a:lnTo>
                    <a:pt x="1906460" y="555625"/>
                  </a:lnTo>
                  <a:lnTo>
                    <a:pt x="1906460" y="581025"/>
                  </a:lnTo>
                  <a:lnTo>
                    <a:pt x="1957260" y="555625"/>
                  </a:lnTo>
                  <a:lnTo>
                    <a:pt x="1982660" y="542925"/>
                  </a:lnTo>
                  <a:close/>
                </a:path>
                <a:path w="5145405" h="1189989">
                  <a:moveTo>
                    <a:pt x="2181161" y="847725"/>
                  </a:moveTo>
                  <a:lnTo>
                    <a:pt x="2174811" y="835025"/>
                  </a:lnTo>
                  <a:lnTo>
                    <a:pt x="2143061" y="771525"/>
                  </a:lnTo>
                  <a:lnTo>
                    <a:pt x="2104961" y="847725"/>
                  </a:lnTo>
                  <a:lnTo>
                    <a:pt x="2130361" y="847725"/>
                  </a:lnTo>
                  <a:lnTo>
                    <a:pt x="2130488" y="1189990"/>
                  </a:lnTo>
                  <a:lnTo>
                    <a:pt x="2155888" y="1189990"/>
                  </a:lnTo>
                  <a:lnTo>
                    <a:pt x="2155761" y="847725"/>
                  </a:lnTo>
                  <a:lnTo>
                    <a:pt x="2181161" y="847725"/>
                  </a:lnTo>
                  <a:close/>
                </a:path>
                <a:path w="5145405" h="1189989">
                  <a:moveTo>
                    <a:pt x="2181288" y="76200"/>
                  </a:moveTo>
                  <a:lnTo>
                    <a:pt x="2174913" y="63500"/>
                  </a:lnTo>
                  <a:lnTo>
                    <a:pt x="2143061" y="0"/>
                  </a:lnTo>
                  <a:lnTo>
                    <a:pt x="2105088" y="76200"/>
                  </a:lnTo>
                  <a:lnTo>
                    <a:pt x="2130361" y="76200"/>
                  </a:lnTo>
                  <a:lnTo>
                    <a:pt x="2130488" y="314325"/>
                  </a:lnTo>
                  <a:lnTo>
                    <a:pt x="2155888" y="314325"/>
                  </a:lnTo>
                  <a:lnTo>
                    <a:pt x="2155761" y="76200"/>
                  </a:lnTo>
                  <a:lnTo>
                    <a:pt x="2181288" y="76200"/>
                  </a:lnTo>
                  <a:close/>
                </a:path>
                <a:path w="5145405" h="1189989">
                  <a:moveTo>
                    <a:pt x="5145214" y="1101471"/>
                  </a:moveTo>
                  <a:lnTo>
                    <a:pt x="5119814" y="1101471"/>
                  </a:lnTo>
                  <a:lnTo>
                    <a:pt x="5119814" y="555625"/>
                  </a:lnTo>
                  <a:lnTo>
                    <a:pt x="5119814" y="542925"/>
                  </a:lnTo>
                  <a:lnTo>
                    <a:pt x="5119814" y="535813"/>
                  </a:lnTo>
                  <a:lnTo>
                    <a:pt x="5114099" y="530225"/>
                  </a:lnTo>
                  <a:lnTo>
                    <a:pt x="3933761" y="530225"/>
                  </a:lnTo>
                  <a:lnTo>
                    <a:pt x="3933761" y="555625"/>
                  </a:lnTo>
                  <a:lnTo>
                    <a:pt x="5094414" y="555625"/>
                  </a:lnTo>
                  <a:lnTo>
                    <a:pt x="5094414" y="1101471"/>
                  </a:lnTo>
                  <a:lnTo>
                    <a:pt x="5069014" y="1101471"/>
                  </a:lnTo>
                  <a:lnTo>
                    <a:pt x="5107114" y="1177671"/>
                  </a:lnTo>
                  <a:lnTo>
                    <a:pt x="5138864" y="1114171"/>
                  </a:lnTo>
                  <a:lnTo>
                    <a:pt x="5145214" y="1101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15076" y="2786126"/>
              <a:ext cx="123825" cy="238125"/>
            </a:xfrm>
            <a:custGeom>
              <a:avLst/>
              <a:gdLst/>
              <a:ahLst/>
              <a:cxnLst/>
              <a:rect l="l" t="t" r="r" b="b"/>
              <a:pathLst>
                <a:path w="123825" h="238125">
                  <a:moveTo>
                    <a:pt x="0" y="238125"/>
                  </a:moveTo>
                  <a:lnTo>
                    <a:pt x="123825" y="238125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815076" y="2567051"/>
            <a:ext cx="323850" cy="4572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11190" y="4211637"/>
            <a:ext cx="540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05576" y="3443287"/>
            <a:ext cx="314325" cy="447675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618226" y="2147951"/>
            <a:ext cx="501650" cy="1749425"/>
            <a:chOff x="5618226" y="2147951"/>
            <a:chExt cx="501650" cy="1749425"/>
          </a:xfrm>
        </p:grpSpPr>
        <p:sp>
          <p:nvSpPr>
            <p:cNvPr id="37" name="object 37"/>
            <p:cNvSpPr/>
            <p:nvPr/>
          </p:nvSpPr>
          <p:spPr>
            <a:xfrm>
              <a:off x="5938901" y="2147950"/>
              <a:ext cx="180975" cy="1294765"/>
            </a:xfrm>
            <a:custGeom>
              <a:avLst/>
              <a:gdLst/>
              <a:ahLst/>
              <a:cxnLst/>
              <a:rect l="l" t="t" r="r" b="b"/>
              <a:pathLst>
                <a:path w="180975" h="1294764">
                  <a:moveTo>
                    <a:pt x="76263" y="76200"/>
                  </a:moveTo>
                  <a:lnTo>
                    <a:pt x="6990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421767"/>
                  </a:lnTo>
                  <a:lnTo>
                    <a:pt x="50800" y="421767"/>
                  </a:lnTo>
                  <a:lnTo>
                    <a:pt x="50800" y="76200"/>
                  </a:lnTo>
                  <a:lnTo>
                    <a:pt x="76263" y="76200"/>
                  </a:lnTo>
                  <a:close/>
                </a:path>
                <a:path w="180975" h="1294764">
                  <a:moveTo>
                    <a:pt x="180975" y="952500"/>
                  </a:moveTo>
                  <a:lnTo>
                    <a:pt x="174625" y="939800"/>
                  </a:lnTo>
                  <a:lnTo>
                    <a:pt x="142875" y="876300"/>
                  </a:lnTo>
                  <a:lnTo>
                    <a:pt x="104775" y="952500"/>
                  </a:lnTo>
                  <a:lnTo>
                    <a:pt x="130162" y="952500"/>
                  </a:lnTo>
                  <a:lnTo>
                    <a:pt x="130048" y="1294638"/>
                  </a:lnTo>
                  <a:lnTo>
                    <a:pt x="155448" y="1294638"/>
                  </a:lnTo>
                  <a:lnTo>
                    <a:pt x="155562" y="952500"/>
                  </a:lnTo>
                  <a:lnTo>
                    <a:pt x="180975" y="952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605526" y="3587496"/>
            <a:ext cx="342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824601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673" y="63500"/>
                </a:moveTo>
                <a:lnTo>
                  <a:pt x="25400" y="63500"/>
                </a:lnTo>
                <a:lnTo>
                  <a:pt x="25273" y="418338"/>
                </a:lnTo>
                <a:lnTo>
                  <a:pt x="50673" y="418338"/>
                </a:lnTo>
                <a:lnTo>
                  <a:pt x="50673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673" y="63500"/>
                </a:lnTo>
                <a:lnTo>
                  <a:pt x="50673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462776" y="3443287"/>
            <a:ext cx="304800" cy="45720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6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46087" y="1960626"/>
            <a:ext cx="3128010" cy="447675"/>
            <a:chOff x="446087" y="1960626"/>
            <a:chExt cx="3128010" cy="447675"/>
          </a:xfrm>
        </p:grpSpPr>
        <p:sp>
          <p:nvSpPr>
            <p:cNvPr id="44" name="object 44"/>
            <p:cNvSpPr/>
            <p:nvPr/>
          </p:nvSpPr>
          <p:spPr>
            <a:xfrm>
              <a:off x="633412" y="2395474"/>
              <a:ext cx="2927985" cy="635"/>
            </a:xfrm>
            <a:custGeom>
              <a:avLst/>
              <a:gdLst/>
              <a:ahLst/>
              <a:cxnLst/>
              <a:rect l="l" t="t" r="r" b="b"/>
              <a:pathLst>
                <a:path w="2927985" h="635">
                  <a:moveTo>
                    <a:pt x="2927413" y="126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26097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150937" y="1960626"/>
            <a:ext cx="393700" cy="298450"/>
            <a:chOff x="1150937" y="1960626"/>
            <a:chExt cx="393700" cy="298450"/>
          </a:xfrm>
        </p:grpSpPr>
        <p:sp>
          <p:nvSpPr>
            <p:cNvPr id="49" name="object 49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231582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855851" y="1960626"/>
            <a:ext cx="393700" cy="298450"/>
            <a:chOff x="1855851" y="1960626"/>
            <a:chExt cx="393700" cy="298450"/>
          </a:xfrm>
        </p:grpSpPr>
        <p:sp>
          <p:nvSpPr>
            <p:cNvPr id="53" name="object 53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935479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560701" y="1960626"/>
            <a:ext cx="384175" cy="298450"/>
            <a:chOff x="2560701" y="1960626"/>
            <a:chExt cx="384175" cy="298450"/>
          </a:xfrm>
        </p:grpSpPr>
        <p:sp>
          <p:nvSpPr>
            <p:cNvPr id="57" name="object 57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2637408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24</a:t>
            </a:r>
            <a:endParaRPr sz="6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52437" y="1576450"/>
            <a:ext cx="2486025" cy="238125"/>
          </a:xfrm>
          <a:custGeom>
            <a:avLst/>
            <a:gdLst/>
            <a:ahLst/>
            <a:cxnLst/>
            <a:rect l="l" t="t" r="r" b="b"/>
            <a:pathLst>
              <a:path w="2486025" h="238125">
                <a:moveTo>
                  <a:pt x="0" y="238125"/>
                </a:moveTo>
                <a:lnTo>
                  <a:pt x="2486025" y="238125"/>
                </a:lnTo>
                <a:lnTo>
                  <a:pt x="24860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349375" y="1557337"/>
            <a:ext cx="6927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46087" y="1141475"/>
            <a:ext cx="393700" cy="298450"/>
            <a:chOff x="446087" y="1141475"/>
            <a:chExt cx="393700" cy="298450"/>
          </a:xfrm>
        </p:grpSpPr>
        <p:sp>
          <p:nvSpPr>
            <p:cNvPr id="63" name="object 63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26097" y="1228661"/>
            <a:ext cx="2349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150937" y="1141475"/>
            <a:ext cx="393700" cy="298450"/>
            <a:chOff x="1150937" y="1141475"/>
            <a:chExt cx="393700" cy="298450"/>
          </a:xfrm>
        </p:grpSpPr>
        <p:sp>
          <p:nvSpPr>
            <p:cNvPr id="67" name="object 67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31582" y="1226820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855851" y="1141475"/>
            <a:ext cx="393700" cy="298450"/>
            <a:chOff x="1855851" y="1141475"/>
            <a:chExt cx="393700" cy="298450"/>
          </a:xfrm>
        </p:grpSpPr>
        <p:sp>
          <p:nvSpPr>
            <p:cNvPr id="71" name="object 71"/>
            <p:cNvSpPr/>
            <p:nvPr/>
          </p:nvSpPr>
          <p:spPr>
            <a:xfrm>
              <a:off x="1862201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62201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1934591" y="1223898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560701" y="1131950"/>
            <a:ext cx="384175" cy="298450"/>
            <a:chOff x="2560701" y="1131950"/>
            <a:chExt cx="384175" cy="298450"/>
          </a:xfrm>
        </p:grpSpPr>
        <p:sp>
          <p:nvSpPr>
            <p:cNvPr id="75" name="object 75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637408" y="1220152"/>
            <a:ext cx="2349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81000" y="780986"/>
            <a:ext cx="5050155" cy="1706880"/>
            <a:chOff x="381000" y="780986"/>
            <a:chExt cx="5050155" cy="1706880"/>
          </a:xfrm>
        </p:grpSpPr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485" y="1814448"/>
              <a:ext cx="76200" cy="15608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386" y="1804923"/>
              <a:ext cx="76200" cy="15608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5235" y="1814448"/>
              <a:ext cx="76200" cy="15608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9610" y="1814448"/>
              <a:ext cx="76200" cy="15608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9610" y="1414525"/>
              <a:ext cx="76200" cy="15595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5235" y="1433575"/>
              <a:ext cx="76200" cy="15595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911" y="1433575"/>
              <a:ext cx="76200" cy="155956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960" y="1424050"/>
              <a:ext cx="76200" cy="15595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00" y="780986"/>
              <a:ext cx="500062" cy="404812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5375" y="780986"/>
              <a:ext cx="500062" cy="40481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0225" y="780986"/>
              <a:ext cx="490537" cy="404812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5550" y="790511"/>
              <a:ext cx="500062" cy="404812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9926" y="1014475"/>
              <a:ext cx="76263" cy="12623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14727" y="1024000"/>
              <a:ext cx="76200" cy="12395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1275" y="1024000"/>
              <a:ext cx="76200" cy="12687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8474" y="1014475"/>
              <a:ext cx="76136" cy="13906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157851" y="2252726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228600"/>
                  </a:moveTo>
                  <a:lnTo>
                    <a:pt x="266700" y="228600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5221604" y="2231072"/>
            <a:ext cx="137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Arial"/>
                <a:cs typeface="Arial"/>
              </a:rPr>
              <a:t>+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230187" y="780033"/>
            <a:ext cx="6369685" cy="2659380"/>
            <a:chOff x="230187" y="780033"/>
            <a:chExt cx="6369685" cy="2659380"/>
          </a:xfrm>
        </p:grpSpPr>
        <p:sp>
          <p:nvSpPr>
            <p:cNvPr id="98" name="object 98"/>
            <p:cNvSpPr/>
            <p:nvPr/>
          </p:nvSpPr>
          <p:spPr>
            <a:xfrm>
              <a:off x="1357375" y="792733"/>
              <a:ext cx="3935729" cy="1464945"/>
            </a:xfrm>
            <a:custGeom>
              <a:avLst/>
              <a:gdLst/>
              <a:ahLst/>
              <a:cxnLst/>
              <a:rect l="l" t="t" r="r" b="b"/>
              <a:pathLst>
                <a:path w="3935729" h="1464945">
                  <a:moveTo>
                    <a:pt x="1390650" y="88391"/>
                  </a:moveTo>
                  <a:lnTo>
                    <a:pt x="1390650" y="0"/>
                  </a:lnTo>
                  <a:lnTo>
                    <a:pt x="3927729" y="0"/>
                  </a:lnTo>
                  <a:lnTo>
                    <a:pt x="3927729" y="1457578"/>
                  </a:lnTo>
                </a:path>
                <a:path w="3935729" h="1464945">
                  <a:moveTo>
                    <a:pt x="695325" y="88391"/>
                  </a:moveTo>
                  <a:lnTo>
                    <a:pt x="695325" y="15620"/>
                  </a:lnTo>
                  <a:lnTo>
                    <a:pt x="3929507" y="15620"/>
                  </a:lnTo>
                  <a:lnTo>
                    <a:pt x="3929507" y="1464436"/>
                  </a:lnTo>
                </a:path>
                <a:path w="3935729" h="1464945">
                  <a:moveTo>
                    <a:pt x="0" y="88391"/>
                  </a:moveTo>
                  <a:lnTo>
                    <a:pt x="0" y="15620"/>
                  </a:lnTo>
                  <a:lnTo>
                    <a:pt x="3935603" y="15620"/>
                  </a:lnTo>
                  <a:lnTo>
                    <a:pt x="3935603" y="146443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30187" y="785240"/>
              <a:ext cx="6369685" cy="2653665"/>
            </a:xfrm>
            <a:custGeom>
              <a:avLst/>
              <a:gdLst/>
              <a:ahLst/>
              <a:cxnLst/>
              <a:rect l="l" t="t" r="r" b="b"/>
              <a:pathLst>
                <a:path w="6369684" h="2653665">
                  <a:moveTo>
                    <a:pt x="304927" y="181483"/>
                  </a:moveTo>
                  <a:lnTo>
                    <a:pt x="219748" y="179832"/>
                  </a:lnTo>
                  <a:lnTo>
                    <a:pt x="231622" y="204876"/>
                  </a:lnTo>
                  <a:lnTo>
                    <a:pt x="216027" y="216662"/>
                  </a:lnTo>
                  <a:lnTo>
                    <a:pt x="215265" y="217170"/>
                  </a:lnTo>
                  <a:lnTo>
                    <a:pt x="214579" y="217932"/>
                  </a:lnTo>
                  <a:lnTo>
                    <a:pt x="213956" y="218567"/>
                  </a:lnTo>
                  <a:lnTo>
                    <a:pt x="186893" y="253238"/>
                  </a:lnTo>
                  <a:lnTo>
                    <a:pt x="161175" y="295656"/>
                  </a:lnTo>
                  <a:lnTo>
                    <a:pt x="136575" y="345313"/>
                  </a:lnTo>
                  <a:lnTo>
                    <a:pt x="113436" y="401574"/>
                  </a:lnTo>
                  <a:lnTo>
                    <a:pt x="91909" y="463677"/>
                  </a:lnTo>
                  <a:lnTo>
                    <a:pt x="72021" y="531114"/>
                  </a:lnTo>
                  <a:lnTo>
                    <a:pt x="54203" y="603123"/>
                  </a:lnTo>
                  <a:lnTo>
                    <a:pt x="46050" y="640715"/>
                  </a:lnTo>
                  <a:lnTo>
                    <a:pt x="38582" y="679196"/>
                  </a:lnTo>
                  <a:lnTo>
                    <a:pt x="31584" y="718439"/>
                  </a:lnTo>
                  <a:lnTo>
                    <a:pt x="25273" y="758571"/>
                  </a:lnTo>
                  <a:lnTo>
                    <a:pt x="19519" y="799338"/>
                  </a:lnTo>
                  <a:lnTo>
                    <a:pt x="14541" y="840613"/>
                  </a:lnTo>
                  <a:lnTo>
                    <a:pt x="10236" y="882396"/>
                  </a:lnTo>
                  <a:lnTo>
                    <a:pt x="6604" y="924687"/>
                  </a:lnTo>
                  <a:lnTo>
                    <a:pt x="3733" y="967359"/>
                  </a:lnTo>
                  <a:lnTo>
                    <a:pt x="1714" y="1010158"/>
                  </a:lnTo>
                  <a:lnTo>
                    <a:pt x="368" y="1053338"/>
                  </a:lnTo>
                  <a:lnTo>
                    <a:pt x="0" y="1096137"/>
                  </a:lnTo>
                  <a:lnTo>
                    <a:pt x="279" y="1138555"/>
                  </a:lnTo>
                  <a:lnTo>
                    <a:pt x="1320" y="1181227"/>
                  </a:lnTo>
                  <a:lnTo>
                    <a:pt x="2908" y="1223645"/>
                  </a:lnTo>
                  <a:lnTo>
                    <a:pt x="5080" y="1265809"/>
                  </a:lnTo>
                  <a:lnTo>
                    <a:pt x="7950" y="1309751"/>
                  </a:lnTo>
                  <a:lnTo>
                    <a:pt x="11391" y="1351407"/>
                  </a:lnTo>
                  <a:lnTo>
                    <a:pt x="15316" y="1392809"/>
                  </a:lnTo>
                  <a:lnTo>
                    <a:pt x="19723" y="1433449"/>
                  </a:lnTo>
                  <a:lnTo>
                    <a:pt x="24701" y="1473581"/>
                  </a:lnTo>
                  <a:lnTo>
                    <a:pt x="30149" y="1512824"/>
                  </a:lnTo>
                  <a:lnTo>
                    <a:pt x="36080" y="1551305"/>
                  </a:lnTo>
                  <a:lnTo>
                    <a:pt x="49212" y="1625346"/>
                  </a:lnTo>
                  <a:lnTo>
                    <a:pt x="63881" y="1695069"/>
                  </a:lnTo>
                  <a:lnTo>
                    <a:pt x="80111" y="1759839"/>
                  </a:lnTo>
                  <a:lnTo>
                    <a:pt x="97624" y="1819021"/>
                  </a:lnTo>
                  <a:lnTo>
                    <a:pt x="116293" y="1871980"/>
                  </a:lnTo>
                  <a:lnTo>
                    <a:pt x="136042" y="1918081"/>
                  </a:lnTo>
                  <a:lnTo>
                    <a:pt x="156870" y="1956816"/>
                  </a:lnTo>
                  <a:lnTo>
                    <a:pt x="184289" y="1993773"/>
                  </a:lnTo>
                  <a:lnTo>
                    <a:pt x="214871" y="2017141"/>
                  </a:lnTo>
                  <a:lnTo>
                    <a:pt x="240626" y="2023364"/>
                  </a:lnTo>
                  <a:lnTo>
                    <a:pt x="241884" y="1999615"/>
                  </a:lnTo>
                  <a:lnTo>
                    <a:pt x="241973" y="1998091"/>
                  </a:lnTo>
                  <a:lnTo>
                    <a:pt x="207086" y="1980692"/>
                  </a:lnTo>
                  <a:lnTo>
                    <a:pt x="178092" y="1942846"/>
                  </a:lnTo>
                  <a:lnTo>
                    <a:pt x="158724" y="1906651"/>
                  </a:lnTo>
                  <a:lnTo>
                    <a:pt x="139801" y="1862328"/>
                  </a:lnTo>
                  <a:lnTo>
                    <a:pt x="121704" y="1810893"/>
                  </a:lnTo>
                  <a:lnTo>
                    <a:pt x="104546" y="1752981"/>
                  </a:lnTo>
                  <a:lnTo>
                    <a:pt x="88582" y="1689100"/>
                  </a:lnTo>
                  <a:lnTo>
                    <a:pt x="74104" y="1620266"/>
                  </a:lnTo>
                  <a:lnTo>
                    <a:pt x="61137" y="1546987"/>
                  </a:lnTo>
                  <a:lnTo>
                    <a:pt x="55257" y="1508887"/>
                  </a:lnTo>
                  <a:lnTo>
                    <a:pt x="49847" y="1470025"/>
                  </a:lnTo>
                  <a:lnTo>
                    <a:pt x="44919" y="1430274"/>
                  </a:lnTo>
                  <a:lnTo>
                    <a:pt x="40563" y="1390015"/>
                  </a:lnTo>
                  <a:lnTo>
                    <a:pt x="36677" y="1349121"/>
                  </a:lnTo>
                  <a:lnTo>
                    <a:pt x="33261" y="1307719"/>
                  </a:lnTo>
                  <a:lnTo>
                    <a:pt x="30619" y="1267460"/>
                  </a:lnTo>
                  <a:lnTo>
                    <a:pt x="28397" y="1225042"/>
                  </a:lnTo>
                  <a:lnTo>
                    <a:pt x="26746" y="1182116"/>
                  </a:lnTo>
                  <a:lnTo>
                    <a:pt x="25692" y="1139190"/>
                  </a:lnTo>
                  <a:lnTo>
                    <a:pt x="25400" y="1096137"/>
                  </a:lnTo>
                  <a:lnTo>
                    <a:pt x="25781" y="1053338"/>
                  </a:lnTo>
                  <a:lnTo>
                    <a:pt x="27114" y="1010920"/>
                  </a:lnTo>
                  <a:lnTo>
                    <a:pt x="29095" y="968502"/>
                  </a:lnTo>
                  <a:lnTo>
                    <a:pt x="31940" y="926338"/>
                  </a:lnTo>
                  <a:lnTo>
                    <a:pt x="35547" y="884682"/>
                  </a:lnTo>
                  <a:lnTo>
                    <a:pt x="39814" y="843153"/>
                  </a:lnTo>
                  <a:lnTo>
                    <a:pt x="44742" y="802386"/>
                  </a:lnTo>
                  <a:lnTo>
                    <a:pt x="50419" y="762000"/>
                  </a:lnTo>
                  <a:lnTo>
                    <a:pt x="56680" y="722503"/>
                  </a:lnTo>
                  <a:lnTo>
                    <a:pt x="63588" y="683641"/>
                  </a:lnTo>
                  <a:lnTo>
                    <a:pt x="70980" y="645541"/>
                  </a:lnTo>
                  <a:lnTo>
                    <a:pt x="87630" y="572389"/>
                  </a:lnTo>
                  <a:lnTo>
                    <a:pt x="106172" y="503555"/>
                  </a:lnTo>
                  <a:lnTo>
                    <a:pt x="126568" y="439928"/>
                  </a:lnTo>
                  <a:lnTo>
                    <a:pt x="148437" y="381889"/>
                  </a:lnTo>
                  <a:lnTo>
                    <a:pt x="171627" y="330454"/>
                  </a:lnTo>
                  <a:lnTo>
                    <a:pt x="195922" y="286131"/>
                  </a:lnTo>
                  <a:lnTo>
                    <a:pt x="220789" y="249936"/>
                  </a:lnTo>
                  <a:lnTo>
                    <a:pt x="242760" y="228346"/>
                  </a:lnTo>
                  <a:lnTo>
                    <a:pt x="252412" y="248666"/>
                  </a:lnTo>
                  <a:lnTo>
                    <a:pt x="291515" y="198628"/>
                  </a:lnTo>
                  <a:lnTo>
                    <a:pt x="304927" y="181483"/>
                  </a:lnTo>
                  <a:close/>
                </a:path>
                <a:path w="6369684" h="2653665">
                  <a:moveTo>
                    <a:pt x="1021207" y="181483"/>
                  </a:moveTo>
                  <a:lnTo>
                    <a:pt x="936104" y="177673"/>
                  </a:lnTo>
                  <a:lnTo>
                    <a:pt x="946581" y="201256"/>
                  </a:lnTo>
                  <a:lnTo>
                    <a:pt x="945159" y="201930"/>
                  </a:lnTo>
                  <a:lnTo>
                    <a:pt x="913104" y="234823"/>
                  </a:lnTo>
                  <a:lnTo>
                    <a:pt x="885634" y="273431"/>
                  </a:lnTo>
                  <a:lnTo>
                    <a:pt x="859396" y="319659"/>
                  </a:lnTo>
                  <a:lnTo>
                    <a:pt x="834580" y="372872"/>
                  </a:lnTo>
                  <a:lnTo>
                    <a:pt x="811377" y="432181"/>
                  </a:lnTo>
                  <a:lnTo>
                    <a:pt x="789851" y="497205"/>
                  </a:lnTo>
                  <a:lnTo>
                    <a:pt x="770178" y="567055"/>
                  </a:lnTo>
                  <a:lnTo>
                    <a:pt x="752729" y="641350"/>
                  </a:lnTo>
                  <a:lnTo>
                    <a:pt x="744867" y="679958"/>
                  </a:lnTo>
                  <a:lnTo>
                    <a:pt x="737692" y="719328"/>
                  </a:lnTo>
                  <a:lnTo>
                    <a:pt x="731075" y="759460"/>
                  </a:lnTo>
                  <a:lnTo>
                    <a:pt x="725144" y="800227"/>
                  </a:lnTo>
                  <a:lnTo>
                    <a:pt x="719975" y="841756"/>
                  </a:lnTo>
                  <a:lnTo>
                    <a:pt x="715467" y="883539"/>
                  </a:lnTo>
                  <a:lnTo>
                    <a:pt x="711733" y="925957"/>
                  </a:lnTo>
                  <a:lnTo>
                    <a:pt x="708774" y="968502"/>
                  </a:lnTo>
                  <a:lnTo>
                    <a:pt x="706564" y="1011428"/>
                  </a:lnTo>
                  <a:lnTo>
                    <a:pt x="705332" y="1054608"/>
                  </a:lnTo>
                  <a:lnTo>
                    <a:pt x="704850" y="1097292"/>
                  </a:lnTo>
                  <a:lnTo>
                    <a:pt x="705129" y="1139825"/>
                  </a:lnTo>
                  <a:lnTo>
                    <a:pt x="706170" y="1182497"/>
                  </a:lnTo>
                  <a:lnTo>
                    <a:pt x="707771" y="1225169"/>
                  </a:lnTo>
                  <a:lnTo>
                    <a:pt x="709930" y="1267460"/>
                  </a:lnTo>
                  <a:lnTo>
                    <a:pt x="712800" y="1311402"/>
                  </a:lnTo>
                  <a:lnTo>
                    <a:pt x="716241" y="1353185"/>
                  </a:lnTo>
                  <a:lnTo>
                    <a:pt x="720166" y="1394587"/>
                  </a:lnTo>
                  <a:lnTo>
                    <a:pt x="724573" y="1435354"/>
                  </a:lnTo>
                  <a:lnTo>
                    <a:pt x="729538" y="1475486"/>
                  </a:lnTo>
                  <a:lnTo>
                    <a:pt x="734999" y="1514729"/>
                  </a:lnTo>
                  <a:lnTo>
                    <a:pt x="740930" y="1553337"/>
                  </a:lnTo>
                  <a:lnTo>
                    <a:pt x="747255" y="1591056"/>
                  </a:lnTo>
                  <a:lnTo>
                    <a:pt x="761238" y="1662938"/>
                  </a:lnTo>
                  <a:lnTo>
                    <a:pt x="776693" y="1730502"/>
                  </a:lnTo>
                  <a:lnTo>
                    <a:pt x="793521" y="1792732"/>
                  </a:lnTo>
                  <a:lnTo>
                    <a:pt x="811657" y="1848993"/>
                  </a:lnTo>
                  <a:lnTo>
                    <a:pt x="830922" y="1898650"/>
                  </a:lnTo>
                  <a:lnTo>
                    <a:pt x="851192" y="1941195"/>
                  </a:lnTo>
                  <a:lnTo>
                    <a:pt x="872540" y="1976120"/>
                  </a:lnTo>
                  <a:lnTo>
                    <a:pt x="900988" y="2007870"/>
                  </a:lnTo>
                  <a:lnTo>
                    <a:pt x="939914" y="2025904"/>
                  </a:lnTo>
                  <a:lnTo>
                    <a:pt x="945248" y="2026285"/>
                  </a:lnTo>
                  <a:lnTo>
                    <a:pt x="946937" y="2002536"/>
                  </a:lnTo>
                  <a:lnTo>
                    <a:pt x="947051" y="2001012"/>
                  </a:lnTo>
                  <a:lnTo>
                    <a:pt x="911936" y="1983613"/>
                  </a:lnTo>
                  <a:lnTo>
                    <a:pt x="882942" y="1945767"/>
                  </a:lnTo>
                  <a:lnTo>
                    <a:pt x="863561" y="1909445"/>
                  </a:lnTo>
                  <a:lnTo>
                    <a:pt x="844664" y="1865122"/>
                  </a:lnTo>
                  <a:lnTo>
                    <a:pt x="826554" y="1813560"/>
                  </a:lnTo>
                  <a:lnTo>
                    <a:pt x="809409" y="1755394"/>
                  </a:lnTo>
                  <a:lnTo>
                    <a:pt x="793432" y="1691513"/>
                  </a:lnTo>
                  <a:lnTo>
                    <a:pt x="778954" y="1622552"/>
                  </a:lnTo>
                  <a:lnTo>
                    <a:pt x="765987" y="1549146"/>
                  </a:lnTo>
                  <a:lnTo>
                    <a:pt x="760107" y="1510919"/>
                  </a:lnTo>
                  <a:lnTo>
                    <a:pt x="754710" y="1471930"/>
                  </a:lnTo>
                  <a:lnTo>
                    <a:pt x="749769" y="1432179"/>
                  </a:lnTo>
                  <a:lnTo>
                    <a:pt x="745413" y="1391920"/>
                  </a:lnTo>
                  <a:lnTo>
                    <a:pt x="741527" y="1350772"/>
                  </a:lnTo>
                  <a:lnTo>
                    <a:pt x="738111" y="1309370"/>
                  </a:lnTo>
                  <a:lnTo>
                    <a:pt x="735469" y="1269111"/>
                  </a:lnTo>
                  <a:lnTo>
                    <a:pt x="733247" y="1226439"/>
                  </a:lnTo>
                  <a:lnTo>
                    <a:pt x="731608" y="1183513"/>
                  </a:lnTo>
                  <a:lnTo>
                    <a:pt x="730542" y="1140460"/>
                  </a:lnTo>
                  <a:lnTo>
                    <a:pt x="730250" y="1097292"/>
                  </a:lnTo>
                  <a:lnTo>
                    <a:pt x="730719" y="1054862"/>
                  </a:lnTo>
                  <a:lnTo>
                    <a:pt x="731964" y="1012190"/>
                  </a:lnTo>
                  <a:lnTo>
                    <a:pt x="734136" y="969772"/>
                  </a:lnTo>
                  <a:lnTo>
                    <a:pt x="737082" y="927608"/>
                  </a:lnTo>
                  <a:lnTo>
                    <a:pt x="740778" y="885825"/>
                  </a:lnTo>
                  <a:lnTo>
                    <a:pt x="745223" y="844423"/>
                  </a:lnTo>
                  <a:lnTo>
                    <a:pt x="750341" y="803402"/>
                  </a:lnTo>
                  <a:lnTo>
                    <a:pt x="756221" y="763016"/>
                  </a:lnTo>
                  <a:lnTo>
                    <a:pt x="762749" y="723392"/>
                  </a:lnTo>
                  <a:lnTo>
                    <a:pt x="769861" y="684403"/>
                  </a:lnTo>
                  <a:lnTo>
                    <a:pt x="777621" y="646430"/>
                  </a:lnTo>
                  <a:lnTo>
                    <a:pt x="785952" y="609219"/>
                  </a:lnTo>
                  <a:lnTo>
                    <a:pt x="804291" y="538099"/>
                  </a:lnTo>
                  <a:lnTo>
                    <a:pt x="824534" y="471678"/>
                  </a:lnTo>
                  <a:lnTo>
                    <a:pt x="846505" y="410718"/>
                  </a:lnTo>
                  <a:lnTo>
                    <a:pt x="870013" y="355854"/>
                  </a:lnTo>
                  <a:lnTo>
                    <a:pt x="894651" y="307721"/>
                  </a:lnTo>
                  <a:lnTo>
                    <a:pt x="920254" y="267208"/>
                  </a:lnTo>
                  <a:lnTo>
                    <a:pt x="946416" y="235077"/>
                  </a:lnTo>
                  <a:lnTo>
                    <a:pt x="957059" y="224840"/>
                  </a:lnTo>
                  <a:lnTo>
                    <a:pt x="967092" y="247396"/>
                  </a:lnTo>
                  <a:lnTo>
                    <a:pt x="1009319" y="195961"/>
                  </a:lnTo>
                  <a:lnTo>
                    <a:pt x="1021207" y="181483"/>
                  </a:lnTo>
                  <a:close/>
                </a:path>
                <a:path w="6369684" h="2653665">
                  <a:moveTo>
                    <a:pt x="1725104" y="181483"/>
                  </a:moveTo>
                  <a:lnTo>
                    <a:pt x="1640014" y="177927"/>
                  </a:lnTo>
                  <a:lnTo>
                    <a:pt x="1650492" y="201345"/>
                  </a:lnTo>
                  <a:lnTo>
                    <a:pt x="1649285" y="201930"/>
                  </a:lnTo>
                  <a:lnTo>
                    <a:pt x="1617281" y="234823"/>
                  </a:lnTo>
                  <a:lnTo>
                    <a:pt x="1589849" y="273558"/>
                  </a:lnTo>
                  <a:lnTo>
                    <a:pt x="1563814" y="319659"/>
                  </a:lnTo>
                  <a:lnTo>
                    <a:pt x="1539049" y="372872"/>
                  </a:lnTo>
                  <a:lnTo>
                    <a:pt x="1515808" y="432181"/>
                  </a:lnTo>
                  <a:lnTo>
                    <a:pt x="1494472" y="497205"/>
                  </a:lnTo>
                  <a:lnTo>
                    <a:pt x="1474787" y="567055"/>
                  </a:lnTo>
                  <a:lnTo>
                    <a:pt x="1457515" y="641350"/>
                  </a:lnTo>
                  <a:lnTo>
                    <a:pt x="1449641" y="679958"/>
                  </a:lnTo>
                  <a:lnTo>
                    <a:pt x="1442402" y="719328"/>
                  </a:lnTo>
                  <a:lnTo>
                    <a:pt x="1435798" y="759460"/>
                  </a:lnTo>
                  <a:lnTo>
                    <a:pt x="1429956" y="800227"/>
                  </a:lnTo>
                  <a:lnTo>
                    <a:pt x="1424749" y="841756"/>
                  </a:lnTo>
                  <a:lnTo>
                    <a:pt x="1420164" y="883539"/>
                  </a:lnTo>
                  <a:lnTo>
                    <a:pt x="1416494" y="925957"/>
                  </a:lnTo>
                  <a:lnTo>
                    <a:pt x="1413573" y="968502"/>
                  </a:lnTo>
                  <a:lnTo>
                    <a:pt x="1411401" y="1011428"/>
                  </a:lnTo>
                  <a:lnTo>
                    <a:pt x="1410144" y="1054608"/>
                  </a:lnTo>
                  <a:lnTo>
                    <a:pt x="1409763" y="1097292"/>
                  </a:lnTo>
                  <a:lnTo>
                    <a:pt x="1410004" y="1139825"/>
                  </a:lnTo>
                  <a:lnTo>
                    <a:pt x="1411008" y="1182497"/>
                  </a:lnTo>
                  <a:lnTo>
                    <a:pt x="1411020" y="1183513"/>
                  </a:lnTo>
                  <a:lnTo>
                    <a:pt x="1412633" y="1225169"/>
                  </a:lnTo>
                  <a:lnTo>
                    <a:pt x="1414754" y="1267460"/>
                  </a:lnTo>
                  <a:lnTo>
                    <a:pt x="1417637" y="1311402"/>
                  </a:lnTo>
                  <a:lnTo>
                    <a:pt x="1421066" y="1353185"/>
                  </a:lnTo>
                  <a:lnTo>
                    <a:pt x="1425003" y="1394587"/>
                  </a:lnTo>
                  <a:lnTo>
                    <a:pt x="1429448" y="1435354"/>
                  </a:lnTo>
                  <a:lnTo>
                    <a:pt x="1434401" y="1475486"/>
                  </a:lnTo>
                  <a:lnTo>
                    <a:pt x="1439862" y="1514729"/>
                  </a:lnTo>
                  <a:lnTo>
                    <a:pt x="1445831" y="1553337"/>
                  </a:lnTo>
                  <a:lnTo>
                    <a:pt x="1452054" y="1591056"/>
                  </a:lnTo>
                  <a:lnTo>
                    <a:pt x="1466151" y="1662938"/>
                  </a:lnTo>
                  <a:lnTo>
                    <a:pt x="1481518" y="1730502"/>
                  </a:lnTo>
                  <a:lnTo>
                    <a:pt x="1498409" y="1792732"/>
                  </a:lnTo>
                  <a:lnTo>
                    <a:pt x="1516443" y="1848993"/>
                  </a:lnTo>
                  <a:lnTo>
                    <a:pt x="1535747" y="1898650"/>
                  </a:lnTo>
                  <a:lnTo>
                    <a:pt x="1556067" y="1941195"/>
                  </a:lnTo>
                  <a:lnTo>
                    <a:pt x="1577403" y="1976120"/>
                  </a:lnTo>
                  <a:lnTo>
                    <a:pt x="1605851" y="2007870"/>
                  </a:lnTo>
                  <a:lnTo>
                    <a:pt x="1644713" y="2025904"/>
                  </a:lnTo>
                  <a:lnTo>
                    <a:pt x="1650047" y="2026285"/>
                  </a:lnTo>
                  <a:lnTo>
                    <a:pt x="1651825" y="2002536"/>
                  </a:lnTo>
                  <a:lnTo>
                    <a:pt x="1651952" y="2001012"/>
                  </a:lnTo>
                  <a:lnTo>
                    <a:pt x="1616773" y="1983613"/>
                  </a:lnTo>
                  <a:lnTo>
                    <a:pt x="1587817" y="1945767"/>
                  </a:lnTo>
                  <a:lnTo>
                    <a:pt x="1568386" y="1909445"/>
                  </a:lnTo>
                  <a:lnTo>
                    <a:pt x="1549463" y="1865122"/>
                  </a:lnTo>
                  <a:lnTo>
                    <a:pt x="1531429" y="1813560"/>
                  </a:lnTo>
                  <a:lnTo>
                    <a:pt x="1514284" y="1755394"/>
                  </a:lnTo>
                  <a:lnTo>
                    <a:pt x="1498282" y="1691513"/>
                  </a:lnTo>
                  <a:lnTo>
                    <a:pt x="1483804" y="1622552"/>
                  </a:lnTo>
                  <a:lnTo>
                    <a:pt x="1470850" y="1549146"/>
                  </a:lnTo>
                  <a:lnTo>
                    <a:pt x="1465008" y="1510919"/>
                  </a:lnTo>
                  <a:lnTo>
                    <a:pt x="1459547" y="1471930"/>
                  </a:lnTo>
                  <a:lnTo>
                    <a:pt x="1454594" y="1432179"/>
                  </a:lnTo>
                  <a:lnTo>
                    <a:pt x="1450276" y="1391920"/>
                  </a:lnTo>
                  <a:lnTo>
                    <a:pt x="1446339" y="1350772"/>
                  </a:lnTo>
                  <a:lnTo>
                    <a:pt x="1442910" y="1309370"/>
                  </a:lnTo>
                  <a:lnTo>
                    <a:pt x="1440345" y="1269111"/>
                  </a:lnTo>
                  <a:lnTo>
                    <a:pt x="1438148" y="1226439"/>
                  </a:lnTo>
                  <a:lnTo>
                    <a:pt x="1436471" y="1183513"/>
                  </a:lnTo>
                  <a:lnTo>
                    <a:pt x="1435430" y="1140460"/>
                  </a:lnTo>
                  <a:lnTo>
                    <a:pt x="1435036" y="1097292"/>
                  </a:lnTo>
                  <a:lnTo>
                    <a:pt x="1435544" y="1054862"/>
                  </a:lnTo>
                  <a:lnTo>
                    <a:pt x="1436814" y="1012190"/>
                  </a:lnTo>
                  <a:lnTo>
                    <a:pt x="1438973" y="969772"/>
                  </a:lnTo>
                  <a:lnTo>
                    <a:pt x="1441894" y="927608"/>
                  </a:lnTo>
                  <a:lnTo>
                    <a:pt x="1445577" y="885825"/>
                  </a:lnTo>
                  <a:lnTo>
                    <a:pt x="1450022" y="844423"/>
                  </a:lnTo>
                  <a:lnTo>
                    <a:pt x="1455102" y="803402"/>
                  </a:lnTo>
                  <a:lnTo>
                    <a:pt x="1460944" y="763016"/>
                  </a:lnTo>
                  <a:lnTo>
                    <a:pt x="1467548" y="723392"/>
                  </a:lnTo>
                  <a:lnTo>
                    <a:pt x="1474660" y="684403"/>
                  </a:lnTo>
                  <a:lnTo>
                    <a:pt x="1482407" y="646430"/>
                  </a:lnTo>
                  <a:lnTo>
                    <a:pt x="1490662" y="609219"/>
                  </a:lnTo>
                  <a:lnTo>
                    <a:pt x="1508823" y="538099"/>
                  </a:lnTo>
                  <a:lnTo>
                    <a:pt x="1529143" y="471678"/>
                  </a:lnTo>
                  <a:lnTo>
                    <a:pt x="1550987" y="410718"/>
                  </a:lnTo>
                  <a:lnTo>
                    <a:pt x="1574355" y="355727"/>
                  </a:lnTo>
                  <a:lnTo>
                    <a:pt x="1598993" y="307721"/>
                  </a:lnTo>
                  <a:lnTo>
                    <a:pt x="1624520" y="267208"/>
                  </a:lnTo>
                  <a:lnTo>
                    <a:pt x="1650555" y="235077"/>
                  </a:lnTo>
                  <a:lnTo>
                    <a:pt x="1661045" y="224891"/>
                  </a:lnTo>
                  <a:lnTo>
                    <a:pt x="1671129" y="247396"/>
                  </a:lnTo>
                  <a:lnTo>
                    <a:pt x="1713242" y="195961"/>
                  </a:lnTo>
                  <a:lnTo>
                    <a:pt x="1725104" y="181483"/>
                  </a:lnTo>
                  <a:close/>
                </a:path>
                <a:path w="6369684" h="2653665">
                  <a:moveTo>
                    <a:pt x="2425128" y="181483"/>
                  </a:moveTo>
                  <a:lnTo>
                    <a:pt x="2340038" y="178562"/>
                  </a:lnTo>
                  <a:lnTo>
                    <a:pt x="2351633" y="203911"/>
                  </a:lnTo>
                  <a:lnTo>
                    <a:pt x="2334831" y="216535"/>
                  </a:lnTo>
                  <a:lnTo>
                    <a:pt x="2334069" y="217043"/>
                  </a:lnTo>
                  <a:lnTo>
                    <a:pt x="2333434" y="217678"/>
                  </a:lnTo>
                  <a:lnTo>
                    <a:pt x="2332799" y="218440"/>
                  </a:lnTo>
                  <a:lnTo>
                    <a:pt x="2318829" y="234696"/>
                  </a:lnTo>
                  <a:lnTo>
                    <a:pt x="2291905" y="273177"/>
                  </a:lnTo>
                  <a:lnTo>
                    <a:pt x="2266251" y="319278"/>
                  </a:lnTo>
                  <a:lnTo>
                    <a:pt x="2241867" y="372110"/>
                  </a:lnTo>
                  <a:lnTo>
                    <a:pt x="2219007" y="431292"/>
                  </a:lnTo>
                  <a:lnTo>
                    <a:pt x="2197925" y="496062"/>
                  </a:lnTo>
                  <a:lnTo>
                    <a:pt x="2178748" y="565658"/>
                  </a:lnTo>
                  <a:lnTo>
                    <a:pt x="2161603" y="639699"/>
                  </a:lnTo>
                  <a:lnTo>
                    <a:pt x="2153856" y="678053"/>
                  </a:lnTo>
                  <a:lnTo>
                    <a:pt x="2146744" y="717423"/>
                  </a:lnTo>
                  <a:lnTo>
                    <a:pt x="2140267" y="757301"/>
                  </a:lnTo>
                  <a:lnTo>
                    <a:pt x="2134425" y="798068"/>
                  </a:lnTo>
                  <a:lnTo>
                    <a:pt x="2129345" y="839343"/>
                  </a:lnTo>
                  <a:lnTo>
                    <a:pt x="2125027" y="880999"/>
                  </a:lnTo>
                  <a:lnTo>
                    <a:pt x="2121217" y="923290"/>
                  </a:lnTo>
                  <a:lnTo>
                    <a:pt x="2118423" y="965708"/>
                  </a:lnTo>
                  <a:lnTo>
                    <a:pt x="2116264" y="1008507"/>
                  </a:lnTo>
                  <a:lnTo>
                    <a:pt x="2114994" y="1051433"/>
                  </a:lnTo>
                  <a:lnTo>
                    <a:pt x="2114613" y="1093851"/>
                  </a:lnTo>
                  <a:lnTo>
                    <a:pt x="2114854" y="1136523"/>
                  </a:lnTo>
                  <a:lnTo>
                    <a:pt x="2115858" y="1178941"/>
                  </a:lnTo>
                  <a:lnTo>
                    <a:pt x="2117471" y="1221359"/>
                  </a:lnTo>
                  <a:lnTo>
                    <a:pt x="2119604" y="1263523"/>
                  </a:lnTo>
                  <a:lnTo>
                    <a:pt x="2122487" y="1307338"/>
                  </a:lnTo>
                  <a:lnTo>
                    <a:pt x="2125916" y="1348994"/>
                  </a:lnTo>
                  <a:lnTo>
                    <a:pt x="2129853" y="1390269"/>
                  </a:lnTo>
                  <a:lnTo>
                    <a:pt x="2134298" y="1430909"/>
                  </a:lnTo>
                  <a:lnTo>
                    <a:pt x="2139251" y="1470914"/>
                  </a:lnTo>
                  <a:lnTo>
                    <a:pt x="2144712" y="1510030"/>
                  </a:lnTo>
                  <a:lnTo>
                    <a:pt x="2150681" y="1548384"/>
                  </a:lnTo>
                  <a:lnTo>
                    <a:pt x="2156904" y="1585976"/>
                  </a:lnTo>
                  <a:lnTo>
                    <a:pt x="2171001" y="1657731"/>
                  </a:lnTo>
                  <a:lnTo>
                    <a:pt x="2186368" y="1725041"/>
                  </a:lnTo>
                  <a:lnTo>
                    <a:pt x="2203259" y="1786890"/>
                  </a:lnTo>
                  <a:lnTo>
                    <a:pt x="2221293" y="1843024"/>
                  </a:lnTo>
                  <a:lnTo>
                    <a:pt x="2240597" y="1892427"/>
                  </a:lnTo>
                  <a:lnTo>
                    <a:pt x="2260917" y="1934972"/>
                  </a:lnTo>
                  <a:lnTo>
                    <a:pt x="2282253" y="1969770"/>
                  </a:lnTo>
                  <a:lnTo>
                    <a:pt x="2310574" y="2001266"/>
                  </a:lnTo>
                  <a:lnTo>
                    <a:pt x="2349817" y="2019554"/>
                  </a:lnTo>
                  <a:lnTo>
                    <a:pt x="2355151" y="2019808"/>
                  </a:lnTo>
                  <a:lnTo>
                    <a:pt x="2356447" y="1996186"/>
                  </a:lnTo>
                  <a:lnTo>
                    <a:pt x="2356548" y="1994408"/>
                  </a:lnTo>
                  <a:lnTo>
                    <a:pt x="2321496" y="1977009"/>
                  </a:lnTo>
                  <a:lnTo>
                    <a:pt x="2292667" y="1939417"/>
                  </a:lnTo>
                  <a:lnTo>
                    <a:pt x="2273236" y="1903222"/>
                  </a:lnTo>
                  <a:lnTo>
                    <a:pt x="2254313" y="1859026"/>
                  </a:lnTo>
                  <a:lnTo>
                    <a:pt x="2236279" y="1807718"/>
                  </a:lnTo>
                  <a:lnTo>
                    <a:pt x="2219134" y="1749806"/>
                  </a:lnTo>
                  <a:lnTo>
                    <a:pt x="2203132" y="1686052"/>
                  </a:lnTo>
                  <a:lnTo>
                    <a:pt x="2188654" y="1617345"/>
                  </a:lnTo>
                  <a:lnTo>
                    <a:pt x="2175700" y="1544193"/>
                  </a:lnTo>
                  <a:lnTo>
                    <a:pt x="2169858" y="1506093"/>
                  </a:lnTo>
                  <a:lnTo>
                    <a:pt x="2164397" y="1467358"/>
                  </a:lnTo>
                  <a:lnTo>
                    <a:pt x="2159444" y="1427734"/>
                  </a:lnTo>
                  <a:lnTo>
                    <a:pt x="2155126" y="1387475"/>
                  </a:lnTo>
                  <a:lnTo>
                    <a:pt x="2151189" y="1346581"/>
                  </a:lnTo>
                  <a:lnTo>
                    <a:pt x="2147760" y="1305179"/>
                  </a:lnTo>
                  <a:lnTo>
                    <a:pt x="2145195" y="1265174"/>
                  </a:lnTo>
                  <a:lnTo>
                    <a:pt x="2142998" y="1222756"/>
                  </a:lnTo>
                  <a:lnTo>
                    <a:pt x="2141321" y="1179957"/>
                  </a:lnTo>
                  <a:lnTo>
                    <a:pt x="2140280" y="1137158"/>
                  </a:lnTo>
                  <a:lnTo>
                    <a:pt x="2139886" y="1093990"/>
                  </a:lnTo>
                  <a:lnTo>
                    <a:pt x="2140394" y="1051687"/>
                  </a:lnTo>
                  <a:lnTo>
                    <a:pt x="2141664" y="1009269"/>
                  </a:lnTo>
                  <a:lnTo>
                    <a:pt x="2143696" y="966978"/>
                  </a:lnTo>
                  <a:lnTo>
                    <a:pt x="2146617" y="924941"/>
                  </a:lnTo>
                  <a:lnTo>
                    <a:pt x="2150300" y="883285"/>
                  </a:lnTo>
                  <a:lnTo>
                    <a:pt x="2154618" y="842010"/>
                  </a:lnTo>
                  <a:lnTo>
                    <a:pt x="2159698" y="801116"/>
                  </a:lnTo>
                  <a:lnTo>
                    <a:pt x="2165413" y="760984"/>
                  </a:lnTo>
                  <a:lnTo>
                    <a:pt x="2171763" y="721487"/>
                  </a:lnTo>
                  <a:lnTo>
                    <a:pt x="2178748" y="682625"/>
                  </a:lnTo>
                  <a:lnTo>
                    <a:pt x="2186495" y="644779"/>
                  </a:lnTo>
                  <a:lnTo>
                    <a:pt x="2203386" y="571754"/>
                  </a:lnTo>
                  <a:lnTo>
                    <a:pt x="2222309" y="503047"/>
                  </a:lnTo>
                  <a:lnTo>
                    <a:pt x="2243137" y="439547"/>
                  </a:lnTo>
                  <a:lnTo>
                    <a:pt x="2265362" y="381635"/>
                  </a:lnTo>
                  <a:lnTo>
                    <a:pt x="2289111" y="330327"/>
                  </a:lnTo>
                  <a:lnTo>
                    <a:pt x="2313749" y="286131"/>
                  </a:lnTo>
                  <a:lnTo>
                    <a:pt x="2339149" y="249936"/>
                  </a:lnTo>
                  <a:lnTo>
                    <a:pt x="2350452" y="236855"/>
                  </a:lnTo>
                  <a:lnTo>
                    <a:pt x="2351163" y="236029"/>
                  </a:lnTo>
                  <a:lnTo>
                    <a:pt x="2352598" y="234950"/>
                  </a:lnTo>
                  <a:lnTo>
                    <a:pt x="2362454" y="227545"/>
                  </a:lnTo>
                  <a:lnTo>
                    <a:pt x="2371788" y="247904"/>
                  </a:lnTo>
                  <a:lnTo>
                    <a:pt x="2412073" y="197739"/>
                  </a:lnTo>
                  <a:lnTo>
                    <a:pt x="2425128" y="181483"/>
                  </a:lnTo>
                  <a:close/>
                </a:path>
                <a:path w="6369684" h="2653665">
                  <a:moveTo>
                    <a:pt x="5093398" y="1392682"/>
                  </a:moveTo>
                  <a:lnTo>
                    <a:pt x="5067998" y="1392682"/>
                  </a:lnTo>
                  <a:lnTo>
                    <a:pt x="5067998" y="25400"/>
                  </a:lnTo>
                  <a:lnTo>
                    <a:pt x="5067998" y="12700"/>
                  </a:lnTo>
                  <a:lnTo>
                    <a:pt x="5067998" y="5715"/>
                  </a:lnTo>
                  <a:lnTo>
                    <a:pt x="5062283" y="0"/>
                  </a:lnTo>
                  <a:lnTo>
                    <a:pt x="396214" y="0"/>
                  </a:lnTo>
                  <a:lnTo>
                    <a:pt x="390525" y="5715"/>
                  </a:lnTo>
                  <a:lnTo>
                    <a:pt x="390525" y="95885"/>
                  </a:lnTo>
                  <a:lnTo>
                    <a:pt x="415925" y="95885"/>
                  </a:lnTo>
                  <a:lnTo>
                    <a:pt x="415925" y="25400"/>
                  </a:lnTo>
                  <a:lnTo>
                    <a:pt x="5042598" y="25400"/>
                  </a:lnTo>
                  <a:lnTo>
                    <a:pt x="5042598" y="1392682"/>
                  </a:lnTo>
                  <a:lnTo>
                    <a:pt x="5017198" y="1392682"/>
                  </a:lnTo>
                  <a:lnTo>
                    <a:pt x="5055298" y="1468882"/>
                  </a:lnTo>
                  <a:lnTo>
                    <a:pt x="5087048" y="1405382"/>
                  </a:lnTo>
                  <a:lnTo>
                    <a:pt x="5093398" y="1392682"/>
                  </a:lnTo>
                  <a:close/>
                </a:path>
                <a:path w="6369684" h="2653665">
                  <a:moveTo>
                    <a:pt x="6369113" y="2577465"/>
                  </a:moveTo>
                  <a:lnTo>
                    <a:pt x="6343713" y="2577465"/>
                  </a:lnTo>
                  <a:lnTo>
                    <a:pt x="6343713" y="1594358"/>
                  </a:lnTo>
                  <a:lnTo>
                    <a:pt x="6343713" y="1581658"/>
                  </a:lnTo>
                  <a:lnTo>
                    <a:pt x="6343713" y="1574673"/>
                  </a:lnTo>
                  <a:lnTo>
                    <a:pt x="6337986" y="1568958"/>
                  </a:lnTo>
                  <a:lnTo>
                    <a:pt x="5194236" y="1568958"/>
                  </a:lnTo>
                  <a:lnTo>
                    <a:pt x="5194236" y="1594358"/>
                  </a:lnTo>
                  <a:lnTo>
                    <a:pt x="6318313" y="1594358"/>
                  </a:lnTo>
                  <a:lnTo>
                    <a:pt x="6318313" y="2577465"/>
                  </a:lnTo>
                  <a:lnTo>
                    <a:pt x="6292913" y="2577465"/>
                  </a:lnTo>
                  <a:lnTo>
                    <a:pt x="6331013" y="2653665"/>
                  </a:lnTo>
                  <a:lnTo>
                    <a:pt x="6362763" y="2590165"/>
                  </a:lnTo>
                  <a:lnTo>
                    <a:pt x="6369113" y="2577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9137" y="2252725"/>
              <a:ext cx="76200" cy="144653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4525" y="2243200"/>
              <a:ext cx="76200" cy="152781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28901" y="2252725"/>
              <a:ext cx="76200" cy="14668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24226" y="2243200"/>
              <a:ext cx="76200" cy="152781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557651" y="2395600"/>
              <a:ext cx="2252345" cy="273050"/>
            </a:xfrm>
            <a:custGeom>
              <a:avLst/>
              <a:gdLst/>
              <a:ahLst/>
              <a:cxnLst/>
              <a:rect l="l" t="t" r="r" b="b"/>
              <a:pathLst>
                <a:path w="2252345" h="273050">
                  <a:moveTo>
                    <a:pt x="2252218" y="273050"/>
                  </a:moveTo>
                  <a:lnTo>
                    <a:pt x="1126109" y="273050"/>
                  </a:lnTo>
                  <a:lnTo>
                    <a:pt x="1126109" y="0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597650" y="541972"/>
            <a:ext cx="232854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Repeat: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Use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1</a:t>
            </a:r>
            <a:r>
              <a:rPr sz="1425" spc="202" baseline="-17543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compute </a:t>
            </a:r>
            <a:r>
              <a:rPr sz="1500" dirty="0">
                <a:latin typeface="Arial"/>
                <a:cs typeface="Arial"/>
              </a:rPr>
              <a:t>new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vector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</a:t>
            </a:r>
            <a:r>
              <a:rPr sz="1425" spc="-37" baseline="-17543" dirty="0">
                <a:latin typeface="Arial"/>
                <a:cs typeface="Arial"/>
              </a:rPr>
              <a:t>2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106" name="object 106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6653276" y="2567051"/>
            <a:ext cx="333375" cy="457200"/>
          </a:xfrm>
          <a:prstGeom prst="rect">
            <a:avLst/>
          </a:prstGeom>
          <a:solidFill>
            <a:srgbClr val="DCECEF"/>
          </a:solidFill>
          <a:ln w="12700">
            <a:solidFill>
              <a:srgbClr val="56A7B5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662801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6786626" y="2147951"/>
            <a:ext cx="76835" cy="422275"/>
          </a:xfrm>
          <a:custGeom>
            <a:avLst/>
            <a:gdLst/>
            <a:ahLst/>
            <a:cxnLst/>
            <a:rect l="l" t="t" r="r" b="b"/>
            <a:pathLst>
              <a:path w="76834" h="422275">
                <a:moveTo>
                  <a:pt x="50800" y="63500"/>
                </a:moveTo>
                <a:lnTo>
                  <a:pt x="25400" y="63500"/>
                </a:lnTo>
                <a:lnTo>
                  <a:pt x="25400" y="421767"/>
                </a:lnTo>
                <a:lnTo>
                  <a:pt x="50800" y="421767"/>
                </a:lnTo>
                <a:lnTo>
                  <a:pt x="50800" y="63500"/>
                </a:lnTo>
                <a:close/>
              </a:path>
              <a:path w="76834" h="422275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903" y="63500"/>
                </a:lnTo>
                <a:lnTo>
                  <a:pt x="38100" y="0"/>
                </a:lnTo>
                <a:close/>
              </a:path>
              <a:path w="76834" h="422275">
                <a:moveTo>
                  <a:pt x="69903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63" y="76200"/>
                </a:lnTo>
                <a:lnTo>
                  <a:pt x="6990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6843776" y="3443287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6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6881748" y="3024251"/>
            <a:ext cx="76200" cy="418465"/>
          </a:xfrm>
          <a:custGeom>
            <a:avLst/>
            <a:gdLst/>
            <a:ahLst/>
            <a:cxnLst/>
            <a:rect l="l" t="t" r="r" b="b"/>
            <a:pathLst>
              <a:path w="76200" h="418464">
                <a:moveTo>
                  <a:pt x="50926" y="63500"/>
                </a:moveTo>
                <a:lnTo>
                  <a:pt x="25400" y="63500"/>
                </a:lnTo>
                <a:lnTo>
                  <a:pt x="25400" y="418338"/>
                </a:lnTo>
                <a:lnTo>
                  <a:pt x="50800" y="418338"/>
                </a:lnTo>
                <a:lnTo>
                  <a:pt x="50926" y="63500"/>
                </a:lnTo>
                <a:close/>
              </a:path>
              <a:path w="76200" h="418464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8464">
                <a:moveTo>
                  <a:pt x="69850" y="63500"/>
                </a:moveTo>
                <a:lnTo>
                  <a:pt x="50926" y="63500"/>
                </a:lnTo>
                <a:lnTo>
                  <a:pt x="50922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538724" y="2757550"/>
            <a:ext cx="1228725" cy="685165"/>
          </a:xfrm>
          <a:custGeom>
            <a:avLst/>
            <a:gdLst/>
            <a:ahLst/>
            <a:cxnLst/>
            <a:rect l="l" t="t" r="r" b="b"/>
            <a:pathLst>
              <a:path w="1228725" h="685164">
                <a:moveTo>
                  <a:pt x="277495" y="40640"/>
                </a:moveTo>
                <a:lnTo>
                  <a:pt x="251472" y="27305"/>
                </a:lnTo>
                <a:lnTo>
                  <a:pt x="201676" y="1778"/>
                </a:lnTo>
                <a:lnTo>
                  <a:pt x="201409" y="27203"/>
                </a:lnTo>
                <a:lnTo>
                  <a:pt x="127" y="25400"/>
                </a:lnTo>
                <a:lnTo>
                  <a:pt x="0" y="50673"/>
                </a:lnTo>
                <a:lnTo>
                  <a:pt x="201155" y="52590"/>
                </a:lnTo>
                <a:lnTo>
                  <a:pt x="213855" y="52705"/>
                </a:lnTo>
                <a:lnTo>
                  <a:pt x="201155" y="52705"/>
                </a:lnTo>
                <a:lnTo>
                  <a:pt x="200914" y="77978"/>
                </a:lnTo>
                <a:lnTo>
                  <a:pt x="252742" y="52705"/>
                </a:lnTo>
                <a:lnTo>
                  <a:pt x="277495" y="40640"/>
                </a:lnTo>
                <a:close/>
              </a:path>
              <a:path w="1228725" h="685164">
                <a:moveTo>
                  <a:pt x="1113917" y="38100"/>
                </a:moveTo>
                <a:lnTo>
                  <a:pt x="1088517" y="25400"/>
                </a:lnTo>
                <a:lnTo>
                  <a:pt x="1037717" y="0"/>
                </a:lnTo>
                <a:lnTo>
                  <a:pt x="1037717" y="25400"/>
                </a:lnTo>
                <a:lnTo>
                  <a:pt x="600075" y="25400"/>
                </a:lnTo>
                <a:lnTo>
                  <a:pt x="600075" y="50800"/>
                </a:lnTo>
                <a:lnTo>
                  <a:pt x="1037717" y="50800"/>
                </a:lnTo>
                <a:lnTo>
                  <a:pt x="1037717" y="76200"/>
                </a:lnTo>
                <a:lnTo>
                  <a:pt x="1088517" y="50800"/>
                </a:lnTo>
                <a:lnTo>
                  <a:pt x="1113917" y="38100"/>
                </a:lnTo>
                <a:close/>
              </a:path>
              <a:path w="1228725" h="685164">
                <a:moveTo>
                  <a:pt x="1228725" y="342900"/>
                </a:moveTo>
                <a:lnTo>
                  <a:pt x="1222375" y="330200"/>
                </a:lnTo>
                <a:lnTo>
                  <a:pt x="1190625" y="266700"/>
                </a:lnTo>
                <a:lnTo>
                  <a:pt x="1152525" y="342900"/>
                </a:lnTo>
                <a:lnTo>
                  <a:pt x="1177925" y="342900"/>
                </a:lnTo>
                <a:lnTo>
                  <a:pt x="1177925" y="685038"/>
                </a:lnTo>
                <a:lnTo>
                  <a:pt x="1203325" y="685038"/>
                </a:lnTo>
                <a:lnTo>
                  <a:pt x="1203439" y="342900"/>
                </a:lnTo>
                <a:lnTo>
                  <a:pt x="1228725" y="342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7284719" y="2206942"/>
            <a:ext cx="165417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Use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vector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decoder: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</a:t>
            </a:r>
            <a:r>
              <a:rPr sz="1425" spc="225" baseline="-17543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= </a:t>
            </a:r>
            <a:r>
              <a:rPr sz="1500" dirty="0">
                <a:latin typeface="Arial"/>
                <a:cs typeface="Arial"/>
              </a:rPr>
              <a:t>g</a:t>
            </a:r>
            <a:r>
              <a:rPr sz="1425" baseline="-17543" dirty="0">
                <a:latin typeface="Arial"/>
                <a:cs typeface="Arial"/>
              </a:rPr>
              <a:t>U</a:t>
            </a:r>
            <a:r>
              <a:rPr sz="1500" dirty="0">
                <a:latin typeface="Arial"/>
                <a:cs typeface="Arial"/>
              </a:rPr>
              <a:t>(y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425" baseline="-17543" dirty="0">
                <a:latin typeface="Arial"/>
                <a:cs typeface="Arial"/>
              </a:rPr>
              <a:t>t-1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</a:t>
            </a:r>
            <a:r>
              <a:rPr sz="1425" spc="-37" baseline="-17543" dirty="0">
                <a:latin typeface="Arial"/>
                <a:cs typeface="Arial"/>
              </a:rPr>
              <a:t>t</a:t>
            </a:r>
            <a:r>
              <a:rPr sz="1500" spc="-25" dirty="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3" name="object 1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22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24" name="object 1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114" name="object 114"/>
          <p:cNvSpPr txBox="1"/>
          <p:nvPr/>
        </p:nvSpPr>
        <p:spPr>
          <a:xfrm>
            <a:off x="3138551" y="3097212"/>
            <a:ext cx="2284730" cy="140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Intuition</a:t>
            </a:r>
            <a:r>
              <a:rPr sz="1500" dirty="0">
                <a:latin typeface="Arial"/>
                <a:cs typeface="Arial"/>
              </a:rPr>
              <a:t>: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vector </a:t>
            </a:r>
            <a:r>
              <a:rPr sz="15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attends</a:t>
            </a:r>
            <a:r>
              <a:rPr sz="1500" u="none" spc="-35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to</a:t>
            </a:r>
            <a:r>
              <a:rPr sz="1500" u="none" spc="-5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the</a:t>
            </a:r>
            <a:r>
              <a:rPr sz="1500" u="none" spc="30" dirty="0">
                <a:latin typeface="Arial"/>
                <a:cs typeface="Arial"/>
              </a:rPr>
              <a:t> </a:t>
            </a:r>
            <a:r>
              <a:rPr sz="1500" u="none" spc="-10" dirty="0">
                <a:latin typeface="Arial"/>
                <a:cs typeface="Arial"/>
              </a:rPr>
              <a:t>relevant </a:t>
            </a:r>
            <a:r>
              <a:rPr sz="1500" u="none" dirty="0">
                <a:latin typeface="Arial"/>
                <a:cs typeface="Arial"/>
              </a:rPr>
              <a:t>part</a:t>
            </a:r>
            <a:r>
              <a:rPr sz="1500" u="none" spc="-2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of</a:t>
            </a:r>
            <a:r>
              <a:rPr sz="1500" u="none" spc="-2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the</a:t>
            </a:r>
            <a:r>
              <a:rPr sz="1500" u="none" spc="20" dirty="0">
                <a:latin typeface="Arial"/>
                <a:cs typeface="Arial"/>
              </a:rPr>
              <a:t> </a:t>
            </a:r>
            <a:r>
              <a:rPr sz="1500" u="none" dirty="0">
                <a:latin typeface="Arial"/>
                <a:cs typeface="Arial"/>
              </a:rPr>
              <a:t>input</a:t>
            </a:r>
            <a:r>
              <a:rPr sz="1500" u="none" spc="-20" dirty="0">
                <a:latin typeface="Arial"/>
                <a:cs typeface="Arial"/>
              </a:rPr>
              <a:t> </a:t>
            </a:r>
            <a:r>
              <a:rPr sz="1500" u="none" spc="-10" dirty="0">
                <a:latin typeface="Arial"/>
                <a:cs typeface="Arial"/>
              </a:rPr>
              <a:t>sequence </a:t>
            </a:r>
            <a:r>
              <a:rPr sz="1500" i="1" u="none" dirty="0">
                <a:latin typeface="Arial"/>
                <a:cs typeface="Arial"/>
              </a:rPr>
              <a:t>“il”</a:t>
            </a:r>
            <a:r>
              <a:rPr sz="1500" i="1" u="none" spc="-15" dirty="0">
                <a:latin typeface="Arial"/>
                <a:cs typeface="Arial"/>
              </a:rPr>
              <a:t> </a:t>
            </a:r>
            <a:r>
              <a:rPr sz="1500" b="1" i="1" u="none" dirty="0">
                <a:latin typeface="Arial"/>
                <a:cs typeface="Arial"/>
              </a:rPr>
              <a:t>=</a:t>
            </a:r>
            <a:r>
              <a:rPr sz="1500" b="1" i="1" u="none" spc="-10" dirty="0">
                <a:latin typeface="Arial"/>
                <a:cs typeface="Arial"/>
              </a:rPr>
              <a:t> </a:t>
            </a:r>
            <a:r>
              <a:rPr sz="1500" i="1" u="none" spc="-10" dirty="0">
                <a:latin typeface="Arial"/>
                <a:cs typeface="Arial"/>
              </a:rPr>
              <a:t>“the”</a:t>
            </a:r>
            <a:endParaRPr sz="1500">
              <a:latin typeface="Arial"/>
              <a:cs typeface="Arial"/>
            </a:endParaRPr>
          </a:p>
          <a:p>
            <a:pPr marL="38100" marR="217804">
              <a:lnSpc>
                <a:spcPct val="100000"/>
              </a:lnSpc>
              <a:spcBef>
                <a:spcPts val="15"/>
              </a:spcBef>
            </a:pPr>
            <a:r>
              <a:rPr sz="1500" dirty="0">
                <a:latin typeface="Arial"/>
                <a:cs typeface="Arial"/>
              </a:rPr>
              <a:t>so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maybe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</a:t>
            </a:r>
            <a:r>
              <a:rPr sz="1425" spc="-15" baseline="-17543" dirty="0">
                <a:latin typeface="Arial"/>
                <a:cs typeface="Arial"/>
              </a:rPr>
              <a:t>21</a:t>
            </a:r>
            <a:r>
              <a:rPr sz="1500" spc="-10" dirty="0">
                <a:latin typeface="Arial"/>
                <a:cs typeface="Arial"/>
              </a:rPr>
              <a:t>=a</a:t>
            </a:r>
            <a:r>
              <a:rPr sz="1425" spc="-15" baseline="-17543" dirty="0">
                <a:latin typeface="Arial"/>
                <a:cs typeface="Arial"/>
              </a:rPr>
              <a:t>22</a:t>
            </a:r>
            <a:r>
              <a:rPr sz="1500" spc="-10" dirty="0">
                <a:latin typeface="Arial"/>
                <a:cs typeface="Arial"/>
              </a:rPr>
              <a:t>=0.05,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425" baseline="-17543" dirty="0">
                <a:latin typeface="Arial"/>
                <a:cs typeface="Arial"/>
              </a:rPr>
              <a:t>24</a:t>
            </a:r>
            <a:r>
              <a:rPr sz="1500" dirty="0">
                <a:latin typeface="Arial"/>
                <a:cs typeface="Arial"/>
              </a:rPr>
              <a:t>=0.1, </a:t>
            </a:r>
            <a:r>
              <a:rPr sz="1500" spc="-10" dirty="0">
                <a:latin typeface="Arial"/>
                <a:cs typeface="Arial"/>
              </a:rPr>
              <a:t>a</a:t>
            </a:r>
            <a:r>
              <a:rPr sz="1425" spc="-15" baseline="-17543" dirty="0">
                <a:latin typeface="Arial"/>
                <a:cs typeface="Arial"/>
              </a:rPr>
              <a:t>23</a:t>
            </a:r>
            <a:r>
              <a:rPr sz="1500" spc="-10" dirty="0">
                <a:latin typeface="Arial"/>
                <a:cs typeface="Arial"/>
              </a:rPr>
              <a:t>=0.8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779894" y="1315656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6540881" y="4220527"/>
            <a:ext cx="5283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3712" y="3429063"/>
            <a:ext cx="7840980" cy="468630"/>
            <a:chOff x="493712" y="3429063"/>
            <a:chExt cx="7840980" cy="468630"/>
          </a:xfrm>
        </p:grpSpPr>
        <p:sp>
          <p:nvSpPr>
            <p:cNvPr id="3" name="object 3"/>
            <p:cNvSpPr/>
            <p:nvPr/>
          </p:nvSpPr>
          <p:spPr>
            <a:xfrm>
              <a:off x="5653151" y="3433826"/>
              <a:ext cx="2676525" cy="238125"/>
            </a:xfrm>
            <a:custGeom>
              <a:avLst/>
              <a:gdLst/>
              <a:ahLst/>
              <a:cxnLst/>
              <a:rect l="l" t="t" r="r" b="b"/>
              <a:pathLst>
                <a:path w="2676525" h="238125">
                  <a:moveTo>
                    <a:pt x="0" y="228600"/>
                  </a:moveTo>
                  <a:lnTo>
                    <a:pt x="123825" y="228600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  <a:path w="2676525" h="238125">
                  <a:moveTo>
                    <a:pt x="847725" y="238125"/>
                  </a:moveTo>
                  <a:lnTo>
                    <a:pt x="971550" y="238125"/>
                  </a:lnTo>
                  <a:lnTo>
                    <a:pt x="971550" y="9525"/>
                  </a:lnTo>
                  <a:lnTo>
                    <a:pt x="847725" y="9525"/>
                  </a:lnTo>
                  <a:lnTo>
                    <a:pt x="847725" y="238125"/>
                  </a:lnTo>
                  <a:close/>
                </a:path>
                <a:path w="2676525" h="238125">
                  <a:moveTo>
                    <a:pt x="1695450" y="238125"/>
                  </a:moveTo>
                  <a:lnTo>
                    <a:pt x="1819275" y="238125"/>
                  </a:lnTo>
                  <a:lnTo>
                    <a:pt x="1819275" y="0"/>
                  </a:lnTo>
                  <a:lnTo>
                    <a:pt x="1695450" y="0"/>
                  </a:lnTo>
                  <a:lnTo>
                    <a:pt x="1695450" y="238125"/>
                  </a:lnTo>
                  <a:close/>
                </a:path>
                <a:path w="2676525" h="238125">
                  <a:moveTo>
                    <a:pt x="2552700" y="238125"/>
                  </a:moveTo>
                  <a:lnTo>
                    <a:pt x="2676525" y="238125"/>
                  </a:lnTo>
                  <a:lnTo>
                    <a:pt x="2676525" y="0"/>
                  </a:lnTo>
                  <a:lnTo>
                    <a:pt x="2552700" y="0"/>
                  </a:lnTo>
                  <a:lnTo>
                    <a:pt x="255270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3402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8562" y="3436937"/>
            <a:ext cx="298450" cy="460375"/>
            <a:chOff x="1198562" y="3436937"/>
            <a:chExt cx="298450" cy="460375"/>
          </a:xfrm>
        </p:grpSpPr>
        <p:sp>
          <p:nvSpPr>
            <p:cNvPr id="8" name="object 8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56283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03476" y="3436937"/>
            <a:ext cx="298450" cy="460375"/>
            <a:chOff x="1903476" y="3436937"/>
            <a:chExt cx="298450" cy="460375"/>
          </a:xfrm>
        </p:grpSpPr>
        <p:sp>
          <p:nvSpPr>
            <p:cNvPr id="12" name="object 12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58975" y="3587496"/>
            <a:ext cx="176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4662" y="2560701"/>
            <a:ext cx="336550" cy="469900"/>
            <a:chOff x="474662" y="2560701"/>
            <a:chExt cx="336550" cy="469900"/>
          </a:xfrm>
        </p:grpSpPr>
        <p:sp>
          <p:nvSpPr>
            <p:cNvPr id="16" name="object 16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7369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79512" y="2560701"/>
            <a:ext cx="336550" cy="469900"/>
            <a:chOff x="1179512" y="2560701"/>
            <a:chExt cx="336550" cy="469900"/>
          </a:xfrm>
        </p:grpSpPr>
        <p:sp>
          <p:nvSpPr>
            <p:cNvPr id="20" name="object 20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53236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24" name="object 24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955800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28" name="object 28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98801" y="3436937"/>
            <a:ext cx="298450" cy="460375"/>
            <a:chOff x="2598801" y="3436937"/>
            <a:chExt cx="298450" cy="460375"/>
          </a:xfrm>
        </p:grpSpPr>
        <p:sp>
          <p:nvSpPr>
            <p:cNvPr id="32" name="object 32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7E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661920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579751" y="2560701"/>
            <a:ext cx="346075" cy="469900"/>
            <a:chOff x="2579751" y="2560701"/>
            <a:chExt cx="346075" cy="469900"/>
          </a:xfrm>
        </p:grpSpPr>
        <p:sp>
          <p:nvSpPr>
            <p:cNvPr id="36" name="object 36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658745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4837" y="2252726"/>
            <a:ext cx="7005955" cy="1189990"/>
            <a:chOff x="604837" y="2252726"/>
            <a:chExt cx="7005955" cy="1189990"/>
          </a:xfrm>
        </p:grpSpPr>
        <p:sp>
          <p:nvSpPr>
            <p:cNvPr id="40" name="object 40"/>
            <p:cNvSpPr/>
            <p:nvPr/>
          </p:nvSpPr>
          <p:spPr>
            <a:xfrm>
              <a:off x="604837" y="2252725"/>
              <a:ext cx="5145405" cy="1189990"/>
            </a:xfrm>
            <a:custGeom>
              <a:avLst/>
              <a:gdLst/>
              <a:ahLst/>
              <a:cxnLst/>
              <a:rect l="l" t="t" r="r" b="b"/>
              <a:pathLst>
                <a:path w="5145405" h="1189989">
                  <a:moveTo>
                    <a:pt x="53505" y="1189863"/>
                  </a:moveTo>
                  <a:lnTo>
                    <a:pt x="51282" y="847852"/>
                  </a:lnTo>
                  <a:lnTo>
                    <a:pt x="25882" y="847852"/>
                  </a:lnTo>
                  <a:lnTo>
                    <a:pt x="28092" y="1189863"/>
                  </a:lnTo>
                  <a:lnTo>
                    <a:pt x="28105" y="1189990"/>
                  </a:lnTo>
                  <a:lnTo>
                    <a:pt x="53505" y="1189863"/>
                  </a:lnTo>
                  <a:close/>
                </a:path>
                <a:path w="5145405" h="118998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5145405" h="1189989">
                  <a:moveTo>
                    <a:pt x="76695" y="847471"/>
                  </a:moveTo>
                  <a:lnTo>
                    <a:pt x="70358" y="835025"/>
                  </a:lnTo>
                  <a:lnTo>
                    <a:pt x="38100" y="771525"/>
                  </a:lnTo>
                  <a:lnTo>
                    <a:pt x="495" y="847852"/>
                  </a:lnTo>
                  <a:lnTo>
                    <a:pt x="25869" y="847737"/>
                  </a:lnTo>
                  <a:lnTo>
                    <a:pt x="51269" y="847610"/>
                  </a:lnTo>
                  <a:lnTo>
                    <a:pt x="76695" y="847471"/>
                  </a:lnTo>
                  <a:close/>
                </a:path>
                <a:path w="5145405" h="1189989">
                  <a:moveTo>
                    <a:pt x="575627" y="542925"/>
                  </a:moveTo>
                  <a:lnTo>
                    <a:pt x="550227" y="530225"/>
                  </a:lnTo>
                  <a:lnTo>
                    <a:pt x="499427" y="504825"/>
                  </a:lnTo>
                  <a:lnTo>
                    <a:pt x="499427" y="530225"/>
                  </a:lnTo>
                  <a:lnTo>
                    <a:pt x="200025" y="530225"/>
                  </a:lnTo>
                  <a:lnTo>
                    <a:pt x="200025" y="555625"/>
                  </a:lnTo>
                  <a:lnTo>
                    <a:pt x="499427" y="555625"/>
                  </a:lnTo>
                  <a:lnTo>
                    <a:pt x="499427" y="581025"/>
                  </a:lnTo>
                  <a:lnTo>
                    <a:pt x="550227" y="555625"/>
                  </a:lnTo>
                  <a:lnTo>
                    <a:pt x="575627" y="542925"/>
                  </a:lnTo>
                  <a:close/>
                </a:path>
                <a:path w="5145405" h="1189989">
                  <a:moveTo>
                    <a:pt x="780986" y="847725"/>
                  </a:moveTo>
                  <a:lnTo>
                    <a:pt x="774636" y="835025"/>
                  </a:lnTo>
                  <a:lnTo>
                    <a:pt x="742886" y="771525"/>
                  </a:lnTo>
                  <a:lnTo>
                    <a:pt x="704786" y="847725"/>
                  </a:lnTo>
                  <a:lnTo>
                    <a:pt x="730186" y="847725"/>
                  </a:lnTo>
                  <a:lnTo>
                    <a:pt x="730313" y="1189990"/>
                  </a:lnTo>
                  <a:lnTo>
                    <a:pt x="755713" y="1189990"/>
                  </a:lnTo>
                  <a:lnTo>
                    <a:pt x="755586" y="847725"/>
                  </a:lnTo>
                  <a:lnTo>
                    <a:pt x="780986" y="847725"/>
                  </a:lnTo>
                  <a:close/>
                </a:path>
                <a:path w="5145405" h="1189989">
                  <a:moveTo>
                    <a:pt x="780986" y="76200"/>
                  </a:moveTo>
                  <a:lnTo>
                    <a:pt x="774636" y="63500"/>
                  </a:lnTo>
                  <a:lnTo>
                    <a:pt x="742886" y="0"/>
                  </a:lnTo>
                  <a:lnTo>
                    <a:pt x="704786" y="76200"/>
                  </a:lnTo>
                  <a:lnTo>
                    <a:pt x="730186" y="76200"/>
                  </a:lnTo>
                  <a:lnTo>
                    <a:pt x="730313" y="314325"/>
                  </a:lnTo>
                  <a:lnTo>
                    <a:pt x="755713" y="314325"/>
                  </a:lnTo>
                  <a:lnTo>
                    <a:pt x="755586" y="76200"/>
                  </a:lnTo>
                  <a:lnTo>
                    <a:pt x="780986" y="76200"/>
                  </a:lnTo>
                  <a:close/>
                </a:path>
                <a:path w="5145405" h="1189989">
                  <a:moveTo>
                    <a:pt x="1277810" y="542925"/>
                  </a:moveTo>
                  <a:lnTo>
                    <a:pt x="1252410" y="530225"/>
                  </a:lnTo>
                  <a:lnTo>
                    <a:pt x="1201610" y="504825"/>
                  </a:lnTo>
                  <a:lnTo>
                    <a:pt x="1201610" y="530225"/>
                  </a:lnTo>
                  <a:lnTo>
                    <a:pt x="904938" y="530225"/>
                  </a:lnTo>
                  <a:lnTo>
                    <a:pt x="904938" y="555625"/>
                  </a:lnTo>
                  <a:lnTo>
                    <a:pt x="1201610" y="555625"/>
                  </a:lnTo>
                  <a:lnTo>
                    <a:pt x="1201610" y="581025"/>
                  </a:lnTo>
                  <a:lnTo>
                    <a:pt x="1252410" y="555625"/>
                  </a:lnTo>
                  <a:lnTo>
                    <a:pt x="1277810" y="542925"/>
                  </a:lnTo>
                  <a:close/>
                </a:path>
                <a:path w="5145405" h="1189989">
                  <a:moveTo>
                    <a:pt x="1485836" y="847725"/>
                  </a:moveTo>
                  <a:lnTo>
                    <a:pt x="1479486" y="835025"/>
                  </a:lnTo>
                  <a:lnTo>
                    <a:pt x="1447736" y="771525"/>
                  </a:lnTo>
                  <a:lnTo>
                    <a:pt x="1409636" y="847725"/>
                  </a:lnTo>
                  <a:lnTo>
                    <a:pt x="1435036" y="847725"/>
                  </a:lnTo>
                  <a:lnTo>
                    <a:pt x="1435163" y="1189990"/>
                  </a:lnTo>
                  <a:lnTo>
                    <a:pt x="1460563" y="1189990"/>
                  </a:lnTo>
                  <a:lnTo>
                    <a:pt x="1460436" y="847725"/>
                  </a:lnTo>
                  <a:lnTo>
                    <a:pt x="1485836" y="847725"/>
                  </a:lnTo>
                  <a:close/>
                </a:path>
                <a:path w="5145405" h="1189989">
                  <a:moveTo>
                    <a:pt x="1486598" y="76200"/>
                  </a:moveTo>
                  <a:lnTo>
                    <a:pt x="1480286" y="63500"/>
                  </a:lnTo>
                  <a:lnTo>
                    <a:pt x="1448752" y="0"/>
                  </a:lnTo>
                  <a:lnTo>
                    <a:pt x="1410322" y="76200"/>
                  </a:lnTo>
                  <a:lnTo>
                    <a:pt x="1435747" y="76200"/>
                  </a:lnTo>
                  <a:lnTo>
                    <a:pt x="1435163" y="314325"/>
                  </a:lnTo>
                  <a:lnTo>
                    <a:pt x="1460563" y="314325"/>
                  </a:lnTo>
                  <a:lnTo>
                    <a:pt x="1461160" y="76200"/>
                  </a:lnTo>
                  <a:lnTo>
                    <a:pt x="1486598" y="76200"/>
                  </a:lnTo>
                  <a:close/>
                </a:path>
                <a:path w="5145405" h="1189989">
                  <a:moveTo>
                    <a:pt x="1982660" y="542925"/>
                  </a:moveTo>
                  <a:lnTo>
                    <a:pt x="1957260" y="530225"/>
                  </a:lnTo>
                  <a:lnTo>
                    <a:pt x="1906460" y="504825"/>
                  </a:lnTo>
                  <a:lnTo>
                    <a:pt x="1906460" y="530225"/>
                  </a:lnTo>
                  <a:lnTo>
                    <a:pt x="1609661" y="530225"/>
                  </a:lnTo>
                  <a:lnTo>
                    <a:pt x="1609661" y="555625"/>
                  </a:lnTo>
                  <a:lnTo>
                    <a:pt x="1906460" y="555625"/>
                  </a:lnTo>
                  <a:lnTo>
                    <a:pt x="1906460" y="581025"/>
                  </a:lnTo>
                  <a:lnTo>
                    <a:pt x="1957260" y="555625"/>
                  </a:lnTo>
                  <a:lnTo>
                    <a:pt x="1982660" y="542925"/>
                  </a:lnTo>
                  <a:close/>
                </a:path>
                <a:path w="5145405" h="1189989">
                  <a:moveTo>
                    <a:pt x="2181161" y="847725"/>
                  </a:moveTo>
                  <a:lnTo>
                    <a:pt x="2174811" y="835025"/>
                  </a:lnTo>
                  <a:lnTo>
                    <a:pt x="2143061" y="771525"/>
                  </a:lnTo>
                  <a:lnTo>
                    <a:pt x="2104961" y="847725"/>
                  </a:lnTo>
                  <a:lnTo>
                    <a:pt x="2130361" y="847725"/>
                  </a:lnTo>
                  <a:lnTo>
                    <a:pt x="2130488" y="1189990"/>
                  </a:lnTo>
                  <a:lnTo>
                    <a:pt x="2155888" y="1189990"/>
                  </a:lnTo>
                  <a:lnTo>
                    <a:pt x="2155761" y="847725"/>
                  </a:lnTo>
                  <a:lnTo>
                    <a:pt x="2181161" y="847725"/>
                  </a:lnTo>
                  <a:close/>
                </a:path>
                <a:path w="5145405" h="1189989">
                  <a:moveTo>
                    <a:pt x="2181288" y="76200"/>
                  </a:moveTo>
                  <a:lnTo>
                    <a:pt x="2174913" y="63500"/>
                  </a:lnTo>
                  <a:lnTo>
                    <a:pt x="2143061" y="0"/>
                  </a:lnTo>
                  <a:lnTo>
                    <a:pt x="2105088" y="76200"/>
                  </a:lnTo>
                  <a:lnTo>
                    <a:pt x="2130361" y="76200"/>
                  </a:lnTo>
                  <a:lnTo>
                    <a:pt x="2130488" y="314325"/>
                  </a:lnTo>
                  <a:lnTo>
                    <a:pt x="2155888" y="314325"/>
                  </a:lnTo>
                  <a:lnTo>
                    <a:pt x="2155761" y="76200"/>
                  </a:lnTo>
                  <a:lnTo>
                    <a:pt x="2181288" y="76200"/>
                  </a:lnTo>
                  <a:close/>
                </a:path>
                <a:path w="5145405" h="1189989">
                  <a:moveTo>
                    <a:pt x="5145214" y="1101471"/>
                  </a:moveTo>
                  <a:lnTo>
                    <a:pt x="5119814" y="1101471"/>
                  </a:lnTo>
                  <a:lnTo>
                    <a:pt x="5119814" y="555625"/>
                  </a:lnTo>
                  <a:lnTo>
                    <a:pt x="5119814" y="542925"/>
                  </a:lnTo>
                  <a:lnTo>
                    <a:pt x="5119814" y="535813"/>
                  </a:lnTo>
                  <a:lnTo>
                    <a:pt x="5114099" y="530225"/>
                  </a:lnTo>
                  <a:lnTo>
                    <a:pt x="3933761" y="530225"/>
                  </a:lnTo>
                  <a:lnTo>
                    <a:pt x="3933761" y="555625"/>
                  </a:lnTo>
                  <a:lnTo>
                    <a:pt x="5094414" y="555625"/>
                  </a:lnTo>
                  <a:lnTo>
                    <a:pt x="5094414" y="1101471"/>
                  </a:lnTo>
                  <a:lnTo>
                    <a:pt x="5069014" y="1101471"/>
                  </a:lnTo>
                  <a:lnTo>
                    <a:pt x="5107114" y="1177671"/>
                  </a:lnTo>
                  <a:lnTo>
                    <a:pt x="5138864" y="1114171"/>
                  </a:lnTo>
                  <a:lnTo>
                    <a:pt x="5145214" y="1101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15076" y="2786126"/>
              <a:ext cx="1790700" cy="238125"/>
            </a:xfrm>
            <a:custGeom>
              <a:avLst/>
              <a:gdLst/>
              <a:ahLst/>
              <a:cxnLst/>
              <a:rect l="l" t="t" r="r" b="b"/>
              <a:pathLst>
                <a:path w="1790700" h="238125">
                  <a:moveTo>
                    <a:pt x="0" y="238125"/>
                  </a:moveTo>
                  <a:lnTo>
                    <a:pt x="123825" y="238125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  <a:path w="1790700" h="238125">
                  <a:moveTo>
                    <a:pt x="1676400" y="238125"/>
                  </a:moveTo>
                  <a:lnTo>
                    <a:pt x="1790700" y="238125"/>
                  </a:lnTo>
                  <a:lnTo>
                    <a:pt x="1790700" y="0"/>
                  </a:lnTo>
                  <a:lnTo>
                    <a:pt x="1676400" y="0"/>
                  </a:lnTo>
                  <a:lnTo>
                    <a:pt x="167640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890895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646926" y="2560701"/>
            <a:ext cx="346075" cy="469900"/>
            <a:chOff x="6646926" y="2560701"/>
            <a:chExt cx="346075" cy="469900"/>
          </a:xfrm>
        </p:grpSpPr>
        <p:sp>
          <p:nvSpPr>
            <p:cNvPr id="46" name="object 46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734809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711190" y="4211637"/>
            <a:ext cx="540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99226" y="3436937"/>
            <a:ext cx="327025" cy="460375"/>
            <a:chOff x="5999226" y="3436937"/>
            <a:chExt cx="327025" cy="460375"/>
          </a:xfrm>
        </p:grpSpPr>
        <p:sp>
          <p:nvSpPr>
            <p:cNvPr id="51" name="object 51"/>
            <p:cNvSpPr/>
            <p:nvPr/>
          </p:nvSpPr>
          <p:spPr>
            <a:xfrm>
              <a:off x="6005576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3143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14325" y="4476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05576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0" y="447675"/>
                  </a:moveTo>
                  <a:lnTo>
                    <a:pt x="314325" y="447675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074790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62801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485126" y="2560701"/>
            <a:ext cx="336550" cy="469900"/>
            <a:chOff x="7485126" y="2560701"/>
            <a:chExt cx="336550" cy="469900"/>
          </a:xfrm>
        </p:grpSpPr>
        <p:sp>
          <p:nvSpPr>
            <p:cNvPr id="57" name="object 57"/>
            <p:cNvSpPr/>
            <p:nvPr/>
          </p:nvSpPr>
          <p:spPr>
            <a:xfrm>
              <a:off x="74914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4914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567676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332851" y="2560701"/>
            <a:ext cx="346075" cy="469900"/>
            <a:chOff x="8332851" y="2560701"/>
            <a:chExt cx="346075" cy="469900"/>
          </a:xfrm>
        </p:grpSpPr>
        <p:sp>
          <p:nvSpPr>
            <p:cNvPr id="61" name="object 61"/>
            <p:cNvSpPr/>
            <p:nvPr/>
          </p:nvSpPr>
          <p:spPr>
            <a:xfrm>
              <a:off x="83392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C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3392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8422385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5010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348726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280145" y="1315148"/>
            <a:ext cx="4629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[STOP]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618226" y="2147951"/>
            <a:ext cx="2930525" cy="1749425"/>
            <a:chOff x="5618226" y="2147951"/>
            <a:chExt cx="2930525" cy="1749425"/>
          </a:xfrm>
        </p:grpSpPr>
        <p:sp>
          <p:nvSpPr>
            <p:cNvPr id="68" name="object 68"/>
            <p:cNvSpPr/>
            <p:nvPr/>
          </p:nvSpPr>
          <p:spPr>
            <a:xfrm>
              <a:off x="6043676" y="2147950"/>
              <a:ext cx="2505075" cy="1298575"/>
            </a:xfrm>
            <a:custGeom>
              <a:avLst/>
              <a:gdLst/>
              <a:ahLst/>
              <a:cxnLst/>
              <a:rect l="l" t="t" r="r" b="b"/>
              <a:pathLst>
                <a:path w="2505075" h="1298575">
                  <a:moveTo>
                    <a:pt x="76200" y="952500"/>
                  </a:moveTo>
                  <a:lnTo>
                    <a:pt x="69850" y="939800"/>
                  </a:lnTo>
                  <a:lnTo>
                    <a:pt x="38100" y="876300"/>
                  </a:lnTo>
                  <a:lnTo>
                    <a:pt x="0" y="952500"/>
                  </a:lnTo>
                  <a:lnTo>
                    <a:pt x="25387" y="952500"/>
                  </a:lnTo>
                  <a:lnTo>
                    <a:pt x="25273" y="1294638"/>
                  </a:lnTo>
                  <a:lnTo>
                    <a:pt x="50673" y="1294638"/>
                  </a:lnTo>
                  <a:lnTo>
                    <a:pt x="50787" y="952500"/>
                  </a:lnTo>
                  <a:lnTo>
                    <a:pt x="76200" y="952500"/>
                  </a:lnTo>
                  <a:close/>
                </a:path>
                <a:path w="2505075" h="1298575">
                  <a:moveTo>
                    <a:pt x="608965" y="647700"/>
                  </a:moveTo>
                  <a:lnTo>
                    <a:pt x="583565" y="635000"/>
                  </a:lnTo>
                  <a:lnTo>
                    <a:pt x="532765" y="609600"/>
                  </a:lnTo>
                  <a:lnTo>
                    <a:pt x="532765" y="635000"/>
                  </a:lnTo>
                  <a:lnTo>
                    <a:pt x="95123" y="635000"/>
                  </a:lnTo>
                  <a:lnTo>
                    <a:pt x="95123" y="660400"/>
                  </a:lnTo>
                  <a:lnTo>
                    <a:pt x="532765" y="660400"/>
                  </a:lnTo>
                  <a:lnTo>
                    <a:pt x="532765" y="685800"/>
                  </a:lnTo>
                  <a:lnTo>
                    <a:pt x="583565" y="660400"/>
                  </a:lnTo>
                  <a:lnTo>
                    <a:pt x="608965" y="647700"/>
                  </a:lnTo>
                  <a:close/>
                </a:path>
                <a:path w="2505075" h="1298575">
                  <a:moveTo>
                    <a:pt x="1445768" y="647700"/>
                  </a:moveTo>
                  <a:lnTo>
                    <a:pt x="1420368" y="635000"/>
                  </a:lnTo>
                  <a:lnTo>
                    <a:pt x="1369568" y="609600"/>
                  </a:lnTo>
                  <a:lnTo>
                    <a:pt x="1369568" y="635000"/>
                  </a:lnTo>
                  <a:lnTo>
                    <a:pt x="942848" y="635000"/>
                  </a:lnTo>
                  <a:lnTo>
                    <a:pt x="942848" y="660400"/>
                  </a:lnTo>
                  <a:lnTo>
                    <a:pt x="1369568" y="660400"/>
                  </a:lnTo>
                  <a:lnTo>
                    <a:pt x="1369568" y="685800"/>
                  </a:lnTo>
                  <a:lnTo>
                    <a:pt x="1420368" y="660400"/>
                  </a:lnTo>
                  <a:lnTo>
                    <a:pt x="1445768" y="647700"/>
                  </a:lnTo>
                  <a:close/>
                </a:path>
                <a:path w="2505075" h="1298575">
                  <a:moveTo>
                    <a:pt x="1647761" y="76200"/>
                  </a:moveTo>
                  <a:lnTo>
                    <a:pt x="1641398" y="63500"/>
                  </a:lnTo>
                  <a:lnTo>
                    <a:pt x="1609598" y="0"/>
                  </a:lnTo>
                  <a:lnTo>
                    <a:pt x="1571498" y="76200"/>
                  </a:lnTo>
                  <a:lnTo>
                    <a:pt x="1596898" y="76200"/>
                  </a:lnTo>
                  <a:lnTo>
                    <a:pt x="1597025" y="421767"/>
                  </a:lnTo>
                  <a:lnTo>
                    <a:pt x="1622425" y="421767"/>
                  </a:lnTo>
                  <a:lnTo>
                    <a:pt x="1622298" y="76200"/>
                  </a:lnTo>
                  <a:lnTo>
                    <a:pt x="1647761" y="76200"/>
                  </a:lnTo>
                  <a:close/>
                </a:path>
                <a:path w="2505075" h="1298575">
                  <a:moveTo>
                    <a:pt x="2296287" y="647700"/>
                  </a:moveTo>
                  <a:lnTo>
                    <a:pt x="2270887" y="635000"/>
                  </a:lnTo>
                  <a:lnTo>
                    <a:pt x="2220087" y="609600"/>
                  </a:lnTo>
                  <a:lnTo>
                    <a:pt x="2220087" y="635000"/>
                  </a:lnTo>
                  <a:lnTo>
                    <a:pt x="1771523" y="635000"/>
                  </a:lnTo>
                  <a:lnTo>
                    <a:pt x="1771523" y="660400"/>
                  </a:lnTo>
                  <a:lnTo>
                    <a:pt x="2220087" y="660400"/>
                  </a:lnTo>
                  <a:lnTo>
                    <a:pt x="2220087" y="685800"/>
                  </a:lnTo>
                  <a:lnTo>
                    <a:pt x="2270887" y="660400"/>
                  </a:lnTo>
                  <a:lnTo>
                    <a:pt x="2296287" y="647700"/>
                  </a:lnTo>
                  <a:close/>
                </a:path>
                <a:path w="2505075" h="1298575">
                  <a:moveTo>
                    <a:pt x="2504948" y="952373"/>
                  </a:moveTo>
                  <a:lnTo>
                    <a:pt x="2498598" y="939673"/>
                  </a:lnTo>
                  <a:lnTo>
                    <a:pt x="2466848" y="876173"/>
                  </a:lnTo>
                  <a:lnTo>
                    <a:pt x="2428748" y="952373"/>
                  </a:lnTo>
                  <a:lnTo>
                    <a:pt x="2454148" y="952373"/>
                  </a:lnTo>
                  <a:lnTo>
                    <a:pt x="2454275" y="1298067"/>
                  </a:lnTo>
                  <a:lnTo>
                    <a:pt x="2479675" y="1298067"/>
                  </a:lnTo>
                  <a:lnTo>
                    <a:pt x="2479548" y="952373"/>
                  </a:lnTo>
                  <a:lnTo>
                    <a:pt x="2504948" y="952373"/>
                  </a:lnTo>
                  <a:close/>
                </a:path>
                <a:path w="2505075" h="1298575">
                  <a:moveTo>
                    <a:pt x="2504948" y="76200"/>
                  </a:moveTo>
                  <a:lnTo>
                    <a:pt x="2498598" y="63500"/>
                  </a:lnTo>
                  <a:lnTo>
                    <a:pt x="2466848" y="0"/>
                  </a:lnTo>
                  <a:lnTo>
                    <a:pt x="2428748" y="76200"/>
                  </a:lnTo>
                  <a:lnTo>
                    <a:pt x="2454148" y="76200"/>
                  </a:lnTo>
                  <a:lnTo>
                    <a:pt x="2454275" y="421767"/>
                  </a:lnTo>
                  <a:lnTo>
                    <a:pt x="2479675" y="421767"/>
                  </a:lnTo>
                  <a:lnTo>
                    <a:pt x="2479548" y="76200"/>
                  </a:lnTo>
                  <a:lnTo>
                    <a:pt x="250494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688076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824601" y="3024251"/>
            <a:ext cx="1330325" cy="882650"/>
            <a:chOff x="5824601" y="3024251"/>
            <a:chExt cx="1330325" cy="882650"/>
          </a:xfrm>
        </p:grpSpPr>
        <p:sp>
          <p:nvSpPr>
            <p:cNvPr id="73" name="object 73"/>
            <p:cNvSpPr/>
            <p:nvPr/>
          </p:nvSpPr>
          <p:spPr>
            <a:xfrm>
              <a:off x="5824601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673" y="63500"/>
                  </a:moveTo>
                  <a:lnTo>
                    <a:pt x="25400" y="63500"/>
                  </a:lnTo>
                  <a:lnTo>
                    <a:pt x="25273" y="418338"/>
                  </a:lnTo>
                  <a:lnTo>
                    <a:pt x="50673" y="418338"/>
                  </a:lnTo>
                  <a:lnTo>
                    <a:pt x="50673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395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673" y="63500"/>
                  </a:lnTo>
                  <a:lnTo>
                    <a:pt x="50673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43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304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800" y="457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43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457200"/>
                  </a:moveTo>
                  <a:lnTo>
                    <a:pt x="304800" y="457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912609" y="3590861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456426" y="3024251"/>
            <a:ext cx="501650" cy="882650"/>
            <a:chOff x="6456426" y="3024251"/>
            <a:chExt cx="501650" cy="882650"/>
          </a:xfrm>
        </p:grpSpPr>
        <p:sp>
          <p:nvSpPr>
            <p:cNvPr id="78" name="object 78"/>
            <p:cNvSpPr/>
            <p:nvPr/>
          </p:nvSpPr>
          <p:spPr>
            <a:xfrm>
              <a:off x="6881749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462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304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800" y="457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462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457200"/>
                  </a:moveTo>
                  <a:lnTo>
                    <a:pt x="304800" y="457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6525641" y="3590861"/>
            <a:ext cx="1765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662673" y="3024251"/>
            <a:ext cx="1330960" cy="873125"/>
            <a:chOff x="6662673" y="3024251"/>
            <a:chExt cx="1330960" cy="873125"/>
          </a:xfrm>
        </p:grpSpPr>
        <p:sp>
          <p:nvSpPr>
            <p:cNvPr id="83" name="object 83"/>
            <p:cNvSpPr/>
            <p:nvPr/>
          </p:nvSpPr>
          <p:spPr>
            <a:xfrm>
              <a:off x="6662673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681975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681975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7751191" y="3587496"/>
            <a:ext cx="176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7285101" y="3024251"/>
            <a:ext cx="511175" cy="873125"/>
            <a:chOff x="7285101" y="3024251"/>
            <a:chExt cx="511175" cy="873125"/>
          </a:xfrm>
        </p:grpSpPr>
        <p:sp>
          <p:nvSpPr>
            <p:cNvPr id="88" name="object 88"/>
            <p:cNvSpPr/>
            <p:nvPr/>
          </p:nvSpPr>
          <p:spPr>
            <a:xfrm>
              <a:off x="7719949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29145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3143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14325" y="4476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29145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0" y="447675"/>
                  </a:moveTo>
                  <a:lnTo>
                    <a:pt x="314325" y="447675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7364476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7500873" y="3024251"/>
            <a:ext cx="1359535" cy="873125"/>
            <a:chOff x="7500873" y="3024251"/>
            <a:chExt cx="1359535" cy="873125"/>
          </a:xfrm>
        </p:grpSpPr>
        <p:sp>
          <p:nvSpPr>
            <p:cNvPr id="93" name="object 93"/>
            <p:cNvSpPr/>
            <p:nvPr/>
          </p:nvSpPr>
          <p:spPr>
            <a:xfrm>
              <a:off x="7500873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548750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548750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8615933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151876" y="3024251"/>
            <a:ext cx="511175" cy="873125"/>
            <a:chOff x="8151876" y="3024251"/>
            <a:chExt cx="511175" cy="873125"/>
          </a:xfrm>
        </p:grpSpPr>
        <p:sp>
          <p:nvSpPr>
            <p:cNvPr id="98" name="object 98"/>
            <p:cNvSpPr/>
            <p:nvPr/>
          </p:nvSpPr>
          <p:spPr>
            <a:xfrm>
              <a:off x="8586724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800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800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15822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5822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8229345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633412" y="2147951"/>
            <a:ext cx="7810500" cy="1936750"/>
            <a:chOff x="633412" y="2147951"/>
            <a:chExt cx="7810500" cy="1936750"/>
          </a:xfrm>
        </p:grpSpPr>
        <p:sp>
          <p:nvSpPr>
            <p:cNvPr id="103" name="object 103"/>
            <p:cNvSpPr/>
            <p:nvPr/>
          </p:nvSpPr>
          <p:spPr>
            <a:xfrm>
              <a:off x="6135751" y="2897123"/>
              <a:ext cx="2308225" cy="545465"/>
            </a:xfrm>
            <a:custGeom>
              <a:avLst/>
              <a:gdLst/>
              <a:ahLst/>
              <a:cxnLst/>
              <a:rect l="l" t="t" r="r" b="b"/>
              <a:pathLst>
                <a:path w="2308225" h="545464">
                  <a:moveTo>
                    <a:pt x="464439" y="463042"/>
                  </a:moveTo>
                  <a:lnTo>
                    <a:pt x="439039" y="463042"/>
                  </a:lnTo>
                  <a:lnTo>
                    <a:pt x="439039" y="25400"/>
                  </a:lnTo>
                  <a:lnTo>
                    <a:pt x="439039" y="5715"/>
                  </a:lnTo>
                  <a:lnTo>
                    <a:pt x="433324" y="0"/>
                  </a:lnTo>
                  <a:lnTo>
                    <a:pt x="5588" y="0"/>
                  </a:lnTo>
                  <a:lnTo>
                    <a:pt x="0" y="5715"/>
                  </a:lnTo>
                  <a:lnTo>
                    <a:pt x="0" y="12827"/>
                  </a:lnTo>
                  <a:lnTo>
                    <a:pt x="25400" y="12827"/>
                  </a:lnTo>
                  <a:lnTo>
                    <a:pt x="12700" y="25400"/>
                  </a:lnTo>
                  <a:lnTo>
                    <a:pt x="413639" y="25400"/>
                  </a:lnTo>
                  <a:lnTo>
                    <a:pt x="413639" y="12827"/>
                  </a:lnTo>
                  <a:lnTo>
                    <a:pt x="413766" y="12827"/>
                  </a:lnTo>
                  <a:lnTo>
                    <a:pt x="413639" y="463042"/>
                  </a:lnTo>
                  <a:lnTo>
                    <a:pt x="388239" y="463042"/>
                  </a:lnTo>
                  <a:lnTo>
                    <a:pt x="426339" y="539242"/>
                  </a:lnTo>
                  <a:lnTo>
                    <a:pt x="458089" y="475742"/>
                  </a:lnTo>
                  <a:lnTo>
                    <a:pt x="464439" y="463042"/>
                  </a:lnTo>
                  <a:close/>
                </a:path>
                <a:path w="2308225" h="545464">
                  <a:moveTo>
                    <a:pt x="1311021" y="467233"/>
                  </a:moveTo>
                  <a:lnTo>
                    <a:pt x="1285621" y="467233"/>
                  </a:lnTo>
                  <a:lnTo>
                    <a:pt x="1285621" y="33655"/>
                  </a:lnTo>
                  <a:lnTo>
                    <a:pt x="1285621" y="13970"/>
                  </a:lnTo>
                  <a:lnTo>
                    <a:pt x="1284478" y="12827"/>
                  </a:lnTo>
                  <a:lnTo>
                    <a:pt x="1279906" y="8255"/>
                  </a:lnTo>
                  <a:lnTo>
                    <a:pt x="860298" y="8255"/>
                  </a:lnTo>
                  <a:lnTo>
                    <a:pt x="864870" y="12827"/>
                  </a:lnTo>
                  <a:lnTo>
                    <a:pt x="847598" y="12827"/>
                  </a:lnTo>
                  <a:lnTo>
                    <a:pt x="847598" y="27940"/>
                  </a:lnTo>
                  <a:lnTo>
                    <a:pt x="853313" y="33655"/>
                  </a:lnTo>
                  <a:lnTo>
                    <a:pt x="1260221" y="33655"/>
                  </a:lnTo>
                  <a:lnTo>
                    <a:pt x="1260221" y="467233"/>
                  </a:lnTo>
                  <a:lnTo>
                    <a:pt x="1234821" y="467233"/>
                  </a:lnTo>
                  <a:lnTo>
                    <a:pt x="1272921" y="543433"/>
                  </a:lnTo>
                  <a:lnTo>
                    <a:pt x="1304671" y="479933"/>
                  </a:lnTo>
                  <a:lnTo>
                    <a:pt x="1311021" y="467233"/>
                  </a:lnTo>
                  <a:close/>
                </a:path>
                <a:path w="2308225" h="545464">
                  <a:moveTo>
                    <a:pt x="2169668" y="461391"/>
                  </a:moveTo>
                  <a:lnTo>
                    <a:pt x="2144268" y="461391"/>
                  </a:lnTo>
                  <a:lnTo>
                    <a:pt x="2144268" y="25908"/>
                  </a:lnTo>
                  <a:lnTo>
                    <a:pt x="2144268" y="6223"/>
                  </a:lnTo>
                  <a:lnTo>
                    <a:pt x="2141347" y="3302"/>
                  </a:lnTo>
                  <a:lnTo>
                    <a:pt x="2138553" y="508"/>
                  </a:lnTo>
                  <a:lnTo>
                    <a:pt x="1688973" y="508"/>
                  </a:lnTo>
                  <a:lnTo>
                    <a:pt x="1691792" y="3302"/>
                  </a:lnTo>
                  <a:lnTo>
                    <a:pt x="1676400" y="3302"/>
                  </a:lnTo>
                  <a:lnTo>
                    <a:pt x="1676400" y="20193"/>
                  </a:lnTo>
                  <a:lnTo>
                    <a:pt x="1681988" y="25908"/>
                  </a:lnTo>
                  <a:lnTo>
                    <a:pt x="2118868" y="25908"/>
                  </a:lnTo>
                  <a:lnTo>
                    <a:pt x="2118868" y="461391"/>
                  </a:lnTo>
                  <a:lnTo>
                    <a:pt x="2093468" y="461391"/>
                  </a:lnTo>
                  <a:lnTo>
                    <a:pt x="2131568" y="537591"/>
                  </a:lnTo>
                  <a:lnTo>
                    <a:pt x="2163318" y="474091"/>
                  </a:lnTo>
                  <a:lnTo>
                    <a:pt x="2169668" y="461391"/>
                  </a:lnTo>
                  <a:close/>
                </a:path>
                <a:path w="2308225" h="545464">
                  <a:moveTo>
                    <a:pt x="2308098" y="203327"/>
                  </a:moveTo>
                  <a:lnTo>
                    <a:pt x="2301748" y="190627"/>
                  </a:lnTo>
                  <a:lnTo>
                    <a:pt x="2269998" y="127127"/>
                  </a:lnTo>
                  <a:lnTo>
                    <a:pt x="2231898" y="203327"/>
                  </a:lnTo>
                  <a:lnTo>
                    <a:pt x="2257298" y="203327"/>
                  </a:lnTo>
                  <a:lnTo>
                    <a:pt x="2257298" y="545465"/>
                  </a:lnTo>
                  <a:lnTo>
                    <a:pt x="2282698" y="545465"/>
                  </a:lnTo>
                  <a:lnTo>
                    <a:pt x="2282698" y="203327"/>
                  </a:lnTo>
                  <a:lnTo>
                    <a:pt x="2308098" y="203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548126" y="4071937"/>
              <a:ext cx="4765675" cy="0"/>
            </a:xfrm>
            <a:custGeom>
              <a:avLst/>
              <a:gdLst/>
              <a:ahLst/>
              <a:cxnLst/>
              <a:rect l="l" t="t" r="r" b="b"/>
              <a:pathLst>
                <a:path w="4765675">
                  <a:moveTo>
                    <a:pt x="0" y="0"/>
                  </a:moveTo>
                  <a:lnTo>
                    <a:pt x="4765421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9826" y="3900487"/>
              <a:ext cx="76200" cy="16889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7423" y="3900487"/>
              <a:ext cx="76200" cy="168897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5623" y="3900487"/>
              <a:ext cx="76200" cy="168897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1923" y="3900487"/>
              <a:ext cx="76200" cy="16889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3557523" y="2395601"/>
              <a:ext cx="635" cy="1672589"/>
            </a:xfrm>
            <a:custGeom>
              <a:avLst/>
              <a:gdLst/>
              <a:ahLst/>
              <a:cxnLst/>
              <a:rect l="l" t="t" r="r" b="b"/>
              <a:pathLst>
                <a:path w="635" h="1672589">
                  <a:moveTo>
                    <a:pt x="126" y="167258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33412" y="2147950"/>
              <a:ext cx="6229985" cy="687705"/>
            </a:xfrm>
            <a:custGeom>
              <a:avLst/>
              <a:gdLst/>
              <a:ahLst/>
              <a:cxnLst/>
              <a:rect l="l" t="t" r="r" b="b"/>
              <a:pathLst>
                <a:path w="6229984" h="687705">
                  <a:moveTo>
                    <a:pt x="2927413" y="247650"/>
                  </a:moveTo>
                  <a:lnTo>
                    <a:pt x="2902089" y="234950"/>
                  </a:lnTo>
                  <a:lnTo>
                    <a:pt x="2851213" y="209423"/>
                  </a:lnTo>
                  <a:lnTo>
                    <a:pt x="2851213" y="234950"/>
                  </a:lnTo>
                  <a:lnTo>
                    <a:pt x="0" y="234950"/>
                  </a:lnTo>
                  <a:lnTo>
                    <a:pt x="0" y="260350"/>
                  </a:lnTo>
                  <a:lnTo>
                    <a:pt x="2851213" y="260350"/>
                  </a:lnTo>
                  <a:lnTo>
                    <a:pt x="2851213" y="285623"/>
                  </a:lnTo>
                  <a:lnTo>
                    <a:pt x="2901924" y="260350"/>
                  </a:lnTo>
                  <a:lnTo>
                    <a:pt x="2927413" y="247650"/>
                  </a:lnTo>
                  <a:close/>
                </a:path>
                <a:path w="6229984" h="687705">
                  <a:moveTo>
                    <a:pt x="5182806" y="650240"/>
                  </a:moveTo>
                  <a:lnTo>
                    <a:pt x="5156784" y="636905"/>
                  </a:lnTo>
                  <a:lnTo>
                    <a:pt x="5106987" y="611378"/>
                  </a:lnTo>
                  <a:lnTo>
                    <a:pt x="5106721" y="636803"/>
                  </a:lnTo>
                  <a:lnTo>
                    <a:pt x="4905438" y="635000"/>
                  </a:lnTo>
                  <a:lnTo>
                    <a:pt x="4905311" y="660273"/>
                  </a:lnTo>
                  <a:lnTo>
                    <a:pt x="5106467" y="662190"/>
                  </a:lnTo>
                  <a:lnTo>
                    <a:pt x="5119167" y="662305"/>
                  </a:lnTo>
                  <a:lnTo>
                    <a:pt x="5106467" y="662305"/>
                  </a:lnTo>
                  <a:lnTo>
                    <a:pt x="5106225" y="687578"/>
                  </a:lnTo>
                  <a:lnTo>
                    <a:pt x="5158054" y="662305"/>
                  </a:lnTo>
                  <a:lnTo>
                    <a:pt x="5182806" y="650240"/>
                  </a:lnTo>
                  <a:close/>
                </a:path>
                <a:path w="6229984" h="687705">
                  <a:moveTo>
                    <a:pt x="5381752" y="76200"/>
                  </a:moveTo>
                  <a:lnTo>
                    <a:pt x="5375389" y="63500"/>
                  </a:lnTo>
                  <a:lnTo>
                    <a:pt x="5343588" y="0"/>
                  </a:lnTo>
                  <a:lnTo>
                    <a:pt x="5305488" y="76200"/>
                  </a:lnTo>
                  <a:lnTo>
                    <a:pt x="5330888" y="76200"/>
                  </a:lnTo>
                  <a:lnTo>
                    <a:pt x="5330888" y="421767"/>
                  </a:lnTo>
                  <a:lnTo>
                    <a:pt x="5356288" y="421767"/>
                  </a:lnTo>
                  <a:lnTo>
                    <a:pt x="5356288" y="76200"/>
                  </a:lnTo>
                  <a:lnTo>
                    <a:pt x="5381752" y="76200"/>
                  </a:lnTo>
                  <a:close/>
                </a:path>
                <a:path w="6229984" h="687705">
                  <a:moveTo>
                    <a:pt x="6229477" y="76200"/>
                  </a:moveTo>
                  <a:lnTo>
                    <a:pt x="6223114" y="63500"/>
                  </a:lnTo>
                  <a:lnTo>
                    <a:pt x="6191313" y="0"/>
                  </a:lnTo>
                  <a:lnTo>
                    <a:pt x="6153213" y="76200"/>
                  </a:lnTo>
                  <a:lnTo>
                    <a:pt x="6178613" y="76200"/>
                  </a:lnTo>
                  <a:lnTo>
                    <a:pt x="6178613" y="421767"/>
                  </a:lnTo>
                  <a:lnTo>
                    <a:pt x="6204013" y="421767"/>
                  </a:lnTo>
                  <a:lnTo>
                    <a:pt x="6204013" y="76200"/>
                  </a:lnTo>
                  <a:lnTo>
                    <a:pt x="6229477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217487" y="710882"/>
            <a:ext cx="526923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Use</a:t>
            </a:r>
            <a:r>
              <a:rPr sz="1500" b="1" spc="-8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a</a:t>
            </a:r>
            <a:r>
              <a:rPr sz="1500" b="1" spc="-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different</a:t>
            </a:r>
            <a:r>
              <a:rPr sz="1500" b="1" spc="2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8AAB42"/>
                </a:solidFill>
                <a:latin typeface="Arial"/>
                <a:cs typeface="Arial"/>
              </a:rPr>
              <a:t>context</a:t>
            </a:r>
            <a:r>
              <a:rPr sz="1500" b="1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vector</a:t>
            </a:r>
            <a:r>
              <a:rPr sz="1500" b="1" spc="-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in</a:t>
            </a:r>
            <a:r>
              <a:rPr sz="150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each</a:t>
            </a:r>
            <a:r>
              <a:rPr sz="1500" b="1" spc="-8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timestep</a:t>
            </a:r>
            <a:r>
              <a:rPr sz="150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500" b="1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8AAB42"/>
                </a:solidFill>
                <a:latin typeface="Arial"/>
                <a:cs typeface="Arial"/>
              </a:rPr>
              <a:t>decoder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5" name="object 1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23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26" name="object 1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112" name="object 112"/>
          <p:cNvSpPr txBox="1"/>
          <p:nvPr/>
        </p:nvSpPr>
        <p:spPr>
          <a:xfrm>
            <a:off x="217487" y="1169098"/>
            <a:ext cx="525081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-"/>
              <a:tabLst>
                <a:tab pos="269875" algn="l"/>
              </a:tabLst>
            </a:pP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Input</a:t>
            </a:r>
            <a:r>
              <a:rPr sz="1500" b="1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sequence</a:t>
            </a:r>
            <a:r>
              <a:rPr sz="1500" b="1" spc="-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not</a:t>
            </a:r>
            <a:r>
              <a:rPr sz="1500" b="1" spc="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8AAB42"/>
                </a:solidFill>
                <a:latin typeface="Arial"/>
                <a:cs typeface="Arial"/>
              </a:rPr>
              <a:t>bottlenecked</a:t>
            </a:r>
            <a:r>
              <a:rPr sz="1500" b="1" spc="-8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through</a:t>
            </a:r>
            <a:r>
              <a:rPr sz="1500" b="1" spc="-7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single</a:t>
            </a:r>
            <a:r>
              <a:rPr sz="1500" b="1" spc="-7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8AAB42"/>
                </a:solidFill>
                <a:latin typeface="Arial"/>
                <a:cs typeface="Arial"/>
              </a:rPr>
              <a:t>vector</a:t>
            </a:r>
            <a:endParaRPr sz="1500">
              <a:latin typeface="Arial"/>
              <a:cs typeface="Arial"/>
            </a:endParaRPr>
          </a:p>
          <a:p>
            <a:pPr marL="269875" indent="-25717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Arial"/>
              <a:buChar char="-"/>
              <a:tabLst>
                <a:tab pos="269875" algn="l"/>
              </a:tabLst>
            </a:pP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At</a:t>
            </a:r>
            <a:r>
              <a:rPr sz="1500" b="1" spc="-6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each</a:t>
            </a:r>
            <a:r>
              <a:rPr sz="1500" b="1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timestep</a:t>
            </a:r>
            <a:r>
              <a:rPr sz="1500" b="1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500" b="1" spc="-6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decoder,</a:t>
            </a:r>
            <a:r>
              <a:rPr sz="1500" b="1" spc="-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context vector</a:t>
            </a:r>
            <a:r>
              <a:rPr sz="1500" b="1" spc="-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“looks</a:t>
            </a:r>
            <a:r>
              <a:rPr sz="1500" b="1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8AAB42"/>
                </a:solidFill>
                <a:latin typeface="Arial"/>
                <a:cs typeface="Arial"/>
              </a:rPr>
              <a:t>at”</a:t>
            </a:r>
            <a:endParaRPr sz="1500"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</a:pP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different</a:t>
            </a:r>
            <a:r>
              <a:rPr sz="1500" b="1" spc="-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parts</a:t>
            </a:r>
            <a:r>
              <a:rPr sz="1500" b="1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500" b="1" spc="-6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the</a:t>
            </a:r>
            <a:r>
              <a:rPr sz="1500" b="1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8AAB42"/>
                </a:solidFill>
                <a:latin typeface="Arial"/>
                <a:cs typeface="Arial"/>
              </a:rPr>
              <a:t>input</a:t>
            </a:r>
            <a:r>
              <a:rPr sz="1500" b="1" spc="-7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8AAB42"/>
                </a:solidFill>
                <a:latin typeface="Arial"/>
                <a:cs typeface="Arial"/>
              </a:rPr>
              <a:t>sequence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3" name="object 113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114" name="object 114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8351519" y="4218622"/>
            <a:ext cx="2997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548501" y="4218622"/>
            <a:ext cx="5276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625715" y="4218622"/>
            <a:ext cx="825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712840" y="1319466"/>
            <a:ext cx="5295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6779894" y="1315656"/>
            <a:ext cx="8255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504810" y="1314196"/>
            <a:ext cx="3009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9250" y="1162050"/>
            <a:ext cx="3333750" cy="3467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11803" y="659130"/>
            <a:ext cx="2096770" cy="57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Example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English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Arial"/>
                <a:cs typeface="Arial"/>
              </a:rPr>
              <a:t>French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translation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5453" y="770890"/>
            <a:ext cx="308165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Arial"/>
                <a:cs typeface="Arial"/>
              </a:rPr>
              <a:t>Visualize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attention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weights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a</a:t>
            </a:r>
            <a:r>
              <a:rPr sz="1800" spc="-30" baseline="-18518" dirty="0">
                <a:latin typeface="Arial"/>
                <a:cs typeface="Arial"/>
              </a:rPr>
              <a:t>t,i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006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4912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9826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4662" y="2560701"/>
            <a:ext cx="336550" cy="469900"/>
            <a:chOff x="474662" y="2560701"/>
            <a:chExt cx="336550" cy="469900"/>
          </a:xfrm>
        </p:grpSpPr>
        <p:sp>
          <p:nvSpPr>
            <p:cNvPr id="10" name="object 10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7369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79512" y="2560701"/>
            <a:ext cx="336550" cy="469900"/>
            <a:chOff x="1179512" y="2560701"/>
            <a:chExt cx="336550" cy="469900"/>
          </a:xfrm>
        </p:grpSpPr>
        <p:sp>
          <p:nvSpPr>
            <p:cNvPr id="14" name="object 14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53236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18" name="object 18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55800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05151" y="3443287"/>
            <a:ext cx="285750" cy="447675"/>
          </a:xfrm>
          <a:prstGeom prst="rect">
            <a:avLst/>
          </a:prstGeom>
          <a:solidFill>
            <a:srgbClr val="F7EBD4"/>
          </a:solidFill>
          <a:ln w="12700">
            <a:solidFill>
              <a:srgbClr val="D79F3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79751" y="2560701"/>
            <a:ext cx="346075" cy="469900"/>
            <a:chOff x="2579751" y="2560701"/>
            <a:chExt cx="346075" cy="469900"/>
          </a:xfrm>
        </p:grpSpPr>
        <p:sp>
          <p:nvSpPr>
            <p:cNvPr id="23" name="object 23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58745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6087" y="1960626"/>
            <a:ext cx="2340610" cy="1482090"/>
            <a:chOff x="446087" y="1960626"/>
            <a:chExt cx="2340610" cy="1482090"/>
          </a:xfrm>
        </p:grpSpPr>
        <p:sp>
          <p:nvSpPr>
            <p:cNvPr id="27" name="object 27"/>
            <p:cNvSpPr/>
            <p:nvPr/>
          </p:nvSpPr>
          <p:spPr>
            <a:xfrm>
              <a:off x="604837" y="2252725"/>
              <a:ext cx="2181860" cy="1189990"/>
            </a:xfrm>
            <a:custGeom>
              <a:avLst/>
              <a:gdLst/>
              <a:ahLst/>
              <a:cxnLst/>
              <a:rect l="l" t="t" r="r" b="b"/>
              <a:pathLst>
                <a:path w="2181860" h="1189989">
                  <a:moveTo>
                    <a:pt x="53505" y="1189863"/>
                  </a:moveTo>
                  <a:lnTo>
                    <a:pt x="51282" y="847852"/>
                  </a:lnTo>
                  <a:lnTo>
                    <a:pt x="25882" y="847852"/>
                  </a:lnTo>
                  <a:lnTo>
                    <a:pt x="28092" y="1189863"/>
                  </a:lnTo>
                  <a:lnTo>
                    <a:pt x="28105" y="1189990"/>
                  </a:lnTo>
                  <a:lnTo>
                    <a:pt x="53505" y="1189863"/>
                  </a:lnTo>
                  <a:close/>
                </a:path>
                <a:path w="2181860" h="118998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2181860" h="1189989">
                  <a:moveTo>
                    <a:pt x="76695" y="847471"/>
                  </a:moveTo>
                  <a:lnTo>
                    <a:pt x="70358" y="835025"/>
                  </a:lnTo>
                  <a:lnTo>
                    <a:pt x="38100" y="771525"/>
                  </a:lnTo>
                  <a:lnTo>
                    <a:pt x="495" y="847852"/>
                  </a:lnTo>
                  <a:lnTo>
                    <a:pt x="25869" y="847737"/>
                  </a:lnTo>
                  <a:lnTo>
                    <a:pt x="51269" y="847610"/>
                  </a:lnTo>
                  <a:lnTo>
                    <a:pt x="76695" y="847471"/>
                  </a:lnTo>
                  <a:close/>
                </a:path>
                <a:path w="2181860" h="1189989">
                  <a:moveTo>
                    <a:pt x="575627" y="542925"/>
                  </a:moveTo>
                  <a:lnTo>
                    <a:pt x="550227" y="530225"/>
                  </a:lnTo>
                  <a:lnTo>
                    <a:pt x="499427" y="504825"/>
                  </a:lnTo>
                  <a:lnTo>
                    <a:pt x="499427" y="530225"/>
                  </a:lnTo>
                  <a:lnTo>
                    <a:pt x="200025" y="530225"/>
                  </a:lnTo>
                  <a:lnTo>
                    <a:pt x="200025" y="555625"/>
                  </a:lnTo>
                  <a:lnTo>
                    <a:pt x="499427" y="555625"/>
                  </a:lnTo>
                  <a:lnTo>
                    <a:pt x="499427" y="581025"/>
                  </a:lnTo>
                  <a:lnTo>
                    <a:pt x="550227" y="555625"/>
                  </a:lnTo>
                  <a:lnTo>
                    <a:pt x="575627" y="542925"/>
                  </a:lnTo>
                  <a:close/>
                </a:path>
                <a:path w="2181860" h="1189989">
                  <a:moveTo>
                    <a:pt x="780986" y="847725"/>
                  </a:moveTo>
                  <a:lnTo>
                    <a:pt x="774636" y="835025"/>
                  </a:lnTo>
                  <a:lnTo>
                    <a:pt x="742886" y="771525"/>
                  </a:lnTo>
                  <a:lnTo>
                    <a:pt x="704786" y="847725"/>
                  </a:lnTo>
                  <a:lnTo>
                    <a:pt x="730186" y="847725"/>
                  </a:lnTo>
                  <a:lnTo>
                    <a:pt x="730313" y="1189990"/>
                  </a:lnTo>
                  <a:lnTo>
                    <a:pt x="755713" y="1189990"/>
                  </a:lnTo>
                  <a:lnTo>
                    <a:pt x="755586" y="847725"/>
                  </a:lnTo>
                  <a:lnTo>
                    <a:pt x="780986" y="847725"/>
                  </a:lnTo>
                  <a:close/>
                </a:path>
                <a:path w="2181860" h="1189989">
                  <a:moveTo>
                    <a:pt x="780986" y="76200"/>
                  </a:moveTo>
                  <a:lnTo>
                    <a:pt x="774636" y="63500"/>
                  </a:lnTo>
                  <a:lnTo>
                    <a:pt x="742886" y="0"/>
                  </a:lnTo>
                  <a:lnTo>
                    <a:pt x="704786" y="76200"/>
                  </a:lnTo>
                  <a:lnTo>
                    <a:pt x="730186" y="76200"/>
                  </a:lnTo>
                  <a:lnTo>
                    <a:pt x="730313" y="314325"/>
                  </a:lnTo>
                  <a:lnTo>
                    <a:pt x="755713" y="314325"/>
                  </a:lnTo>
                  <a:lnTo>
                    <a:pt x="755586" y="76200"/>
                  </a:lnTo>
                  <a:lnTo>
                    <a:pt x="780986" y="76200"/>
                  </a:lnTo>
                  <a:close/>
                </a:path>
                <a:path w="2181860" h="1189989">
                  <a:moveTo>
                    <a:pt x="1277810" y="542925"/>
                  </a:moveTo>
                  <a:lnTo>
                    <a:pt x="1252410" y="530225"/>
                  </a:lnTo>
                  <a:lnTo>
                    <a:pt x="1201610" y="504825"/>
                  </a:lnTo>
                  <a:lnTo>
                    <a:pt x="1201610" y="530225"/>
                  </a:lnTo>
                  <a:lnTo>
                    <a:pt x="904938" y="530225"/>
                  </a:lnTo>
                  <a:lnTo>
                    <a:pt x="904938" y="555625"/>
                  </a:lnTo>
                  <a:lnTo>
                    <a:pt x="1201610" y="555625"/>
                  </a:lnTo>
                  <a:lnTo>
                    <a:pt x="1201610" y="581025"/>
                  </a:lnTo>
                  <a:lnTo>
                    <a:pt x="1252410" y="555625"/>
                  </a:lnTo>
                  <a:lnTo>
                    <a:pt x="1277810" y="542925"/>
                  </a:lnTo>
                  <a:close/>
                </a:path>
                <a:path w="2181860" h="1189989">
                  <a:moveTo>
                    <a:pt x="1485836" y="847725"/>
                  </a:moveTo>
                  <a:lnTo>
                    <a:pt x="1479486" y="835025"/>
                  </a:lnTo>
                  <a:lnTo>
                    <a:pt x="1447736" y="771525"/>
                  </a:lnTo>
                  <a:lnTo>
                    <a:pt x="1409636" y="847725"/>
                  </a:lnTo>
                  <a:lnTo>
                    <a:pt x="1435036" y="847725"/>
                  </a:lnTo>
                  <a:lnTo>
                    <a:pt x="1435163" y="1189990"/>
                  </a:lnTo>
                  <a:lnTo>
                    <a:pt x="1460563" y="1189990"/>
                  </a:lnTo>
                  <a:lnTo>
                    <a:pt x="1460436" y="847725"/>
                  </a:lnTo>
                  <a:lnTo>
                    <a:pt x="1485836" y="847725"/>
                  </a:lnTo>
                  <a:close/>
                </a:path>
                <a:path w="2181860" h="1189989">
                  <a:moveTo>
                    <a:pt x="1486598" y="76200"/>
                  </a:moveTo>
                  <a:lnTo>
                    <a:pt x="1480286" y="63500"/>
                  </a:lnTo>
                  <a:lnTo>
                    <a:pt x="1448752" y="0"/>
                  </a:lnTo>
                  <a:lnTo>
                    <a:pt x="1410322" y="76200"/>
                  </a:lnTo>
                  <a:lnTo>
                    <a:pt x="1435747" y="76200"/>
                  </a:lnTo>
                  <a:lnTo>
                    <a:pt x="1435163" y="314325"/>
                  </a:lnTo>
                  <a:lnTo>
                    <a:pt x="1460563" y="314325"/>
                  </a:lnTo>
                  <a:lnTo>
                    <a:pt x="1461160" y="76200"/>
                  </a:lnTo>
                  <a:lnTo>
                    <a:pt x="1486598" y="76200"/>
                  </a:lnTo>
                  <a:close/>
                </a:path>
                <a:path w="2181860" h="1189989">
                  <a:moveTo>
                    <a:pt x="1982660" y="542925"/>
                  </a:moveTo>
                  <a:lnTo>
                    <a:pt x="1957260" y="530225"/>
                  </a:lnTo>
                  <a:lnTo>
                    <a:pt x="1906460" y="504825"/>
                  </a:lnTo>
                  <a:lnTo>
                    <a:pt x="1906460" y="530225"/>
                  </a:lnTo>
                  <a:lnTo>
                    <a:pt x="1609661" y="530225"/>
                  </a:lnTo>
                  <a:lnTo>
                    <a:pt x="1609661" y="555625"/>
                  </a:lnTo>
                  <a:lnTo>
                    <a:pt x="1906460" y="555625"/>
                  </a:lnTo>
                  <a:lnTo>
                    <a:pt x="1906460" y="581025"/>
                  </a:lnTo>
                  <a:lnTo>
                    <a:pt x="1957260" y="555625"/>
                  </a:lnTo>
                  <a:lnTo>
                    <a:pt x="1982660" y="542925"/>
                  </a:lnTo>
                  <a:close/>
                </a:path>
                <a:path w="2181860" h="1189989">
                  <a:moveTo>
                    <a:pt x="2181161" y="847725"/>
                  </a:moveTo>
                  <a:lnTo>
                    <a:pt x="2174811" y="835025"/>
                  </a:lnTo>
                  <a:lnTo>
                    <a:pt x="2143061" y="771525"/>
                  </a:lnTo>
                  <a:lnTo>
                    <a:pt x="2104961" y="847725"/>
                  </a:lnTo>
                  <a:lnTo>
                    <a:pt x="2130361" y="847725"/>
                  </a:lnTo>
                  <a:lnTo>
                    <a:pt x="2130488" y="1189990"/>
                  </a:lnTo>
                  <a:lnTo>
                    <a:pt x="2155888" y="1189990"/>
                  </a:lnTo>
                  <a:lnTo>
                    <a:pt x="2155761" y="847725"/>
                  </a:lnTo>
                  <a:lnTo>
                    <a:pt x="2181161" y="847725"/>
                  </a:lnTo>
                  <a:close/>
                </a:path>
                <a:path w="2181860" h="1189989">
                  <a:moveTo>
                    <a:pt x="2181288" y="76200"/>
                  </a:moveTo>
                  <a:lnTo>
                    <a:pt x="2174913" y="63500"/>
                  </a:lnTo>
                  <a:lnTo>
                    <a:pt x="2143061" y="0"/>
                  </a:lnTo>
                  <a:lnTo>
                    <a:pt x="2105088" y="76200"/>
                  </a:lnTo>
                  <a:lnTo>
                    <a:pt x="2130361" y="76200"/>
                  </a:lnTo>
                  <a:lnTo>
                    <a:pt x="2130488" y="314325"/>
                  </a:lnTo>
                  <a:lnTo>
                    <a:pt x="2155888" y="314325"/>
                  </a:lnTo>
                  <a:lnTo>
                    <a:pt x="2155761" y="76200"/>
                  </a:lnTo>
                  <a:lnTo>
                    <a:pt x="218128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26097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50937" y="1960626"/>
            <a:ext cx="393700" cy="298450"/>
            <a:chOff x="1150937" y="1960626"/>
            <a:chExt cx="393700" cy="298450"/>
          </a:xfrm>
        </p:grpSpPr>
        <p:sp>
          <p:nvSpPr>
            <p:cNvPr id="32" name="object 32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31582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855851" y="1960626"/>
            <a:ext cx="393700" cy="298450"/>
            <a:chOff x="1855851" y="1960626"/>
            <a:chExt cx="393700" cy="298450"/>
          </a:xfrm>
        </p:grpSpPr>
        <p:sp>
          <p:nvSpPr>
            <p:cNvPr id="36" name="object 36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935479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560701" y="1960626"/>
            <a:ext cx="384175" cy="298450"/>
            <a:chOff x="2560701" y="1960626"/>
            <a:chExt cx="384175" cy="298450"/>
          </a:xfrm>
        </p:grpSpPr>
        <p:sp>
          <p:nvSpPr>
            <p:cNvPr id="40" name="object 40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637408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24</a:t>
            </a:r>
            <a:endParaRPr sz="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52437" y="1576450"/>
            <a:ext cx="2486025" cy="238125"/>
          </a:xfrm>
          <a:custGeom>
            <a:avLst/>
            <a:gdLst/>
            <a:ahLst/>
            <a:cxnLst/>
            <a:rect l="l" t="t" r="r" b="b"/>
            <a:pathLst>
              <a:path w="2486025" h="238125">
                <a:moveTo>
                  <a:pt x="0" y="238125"/>
                </a:moveTo>
                <a:lnTo>
                  <a:pt x="2486025" y="238125"/>
                </a:lnTo>
                <a:lnTo>
                  <a:pt x="24860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349375" y="1557337"/>
            <a:ext cx="6927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46087" y="1131950"/>
            <a:ext cx="2499360" cy="307975"/>
            <a:chOff x="446087" y="1131950"/>
            <a:chExt cx="2499360" cy="307975"/>
          </a:xfrm>
        </p:grpSpPr>
        <p:sp>
          <p:nvSpPr>
            <p:cNvPr id="46" name="object 46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862200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62200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7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6237" y="1043050"/>
            <a:ext cx="2638425" cy="457200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600">
              <a:latin typeface="Times New Roman"/>
              <a:cs typeface="Times New Roman"/>
            </a:endParaRPr>
          </a:p>
          <a:p>
            <a:pPr marL="187325">
              <a:lnSpc>
                <a:spcPct val="100000"/>
              </a:lnSpc>
              <a:spcBef>
                <a:spcPts val="5"/>
              </a:spcBef>
              <a:tabLst>
                <a:tab pos="892810" algn="l"/>
                <a:tab pos="1596390" algn="l"/>
                <a:tab pos="2298700" algn="l"/>
              </a:tabLst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21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22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23</a:t>
            </a:r>
            <a:r>
              <a:rPr sz="900" baseline="4629" dirty="0">
                <a:latin typeface="Arial"/>
                <a:cs typeface="Arial"/>
              </a:rPr>
              <a:t>	</a:t>
            </a:r>
            <a:r>
              <a:rPr sz="1350" spc="-37" baseline="12345" dirty="0">
                <a:latin typeface="Arial"/>
                <a:cs typeface="Arial"/>
              </a:rPr>
              <a:t>a</a:t>
            </a:r>
            <a:r>
              <a:rPr sz="900" spc="-37" baseline="4629" dirty="0">
                <a:latin typeface="Arial"/>
                <a:cs typeface="Arial"/>
              </a:rPr>
              <a:t>24</a:t>
            </a:r>
            <a:endParaRPr sz="900" baseline="4629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30187" y="780986"/>
            <a:ext cx="2765425" cy="2030730"/>
            <a:chOff x="230187" y="780986"/>
            <a:chExt cx="2765425" cy="2030730"/>
          </a:xfrm>
        </p:grpSpPr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485" y="1814448"/>
              <a:ext cx="76200" cy="15608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0386" y="1804923"/>
              <a:ext cx="76200" cy="15608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5235" y="1814448"/>
              <a:ext cx="76200" cy="15608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9610" y="1814448"/>
              <a:ext cx="76200" cy="15608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9610" y="1414525"/>
              <a:ext cx="76200" cy="15595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15235" y="1433575"/>
              <a:ext cx="76200" cy="15595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9911" y="1433575"/>
              <a:ext cx="76200" cy="15595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960" y="1424050"/>
              <a:ext cx="76200" cy="15595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780986"/>
              <a:ext cx="500062" cy="40481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5375" y="780986"/>
              <a:ext cx="500062" cy="40481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0225" y="780986"/>
              <a:ext cx="490537" cy="40481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95550" y="790511"/>
              <a:ext cx="500062" cy="40481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09926" y="1014475"/>
              <a:ext cx="76263" cy="126237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14727" y="1024000"/>
              <a:ext cx="76200" cy="12395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8474" y="1014475"/>
              <a:ext cx="76136" cy="13906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11275" y="1024000"/>
              <a:ext cx="76200" cy="126873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230187" y="962913"/>
              <a:ext cx="2425700" cy="1849120"/>
            </a:xfrm>
            <a:custGeom>
              <a:avLst/>
              <a:gdLst/>
              <a:ahLst/>
              <a:cxnLst/>
              <a:rect l="l" t="t" r="r" b="b"/>
              <a:pathLst>
                <a:path w="2425700" h="1849120">
                  <a:moveTo>
                    <a:pt x="304927" y="3810"/>
                  </a:moveTo>
                  <a:lnTo>
                    <a:pt x="219748" y="2159"/>
                  </a:lnTo>
                  <a:lnTo>
                    <a:pt x="231622" y="27203"/>
                  </a:lnTo>
                  <a:lnTo>
                    <a:pt x="216027" y="38989"/>
                  </a:lnTo>
                  <a:lnTo>
                    <a:pt x="215265" y="39497"/>
                  </a:lnTo>
                  <a:lnTo>
                    <a:pt x="214579" y="40259"/>
                  </a:lnTo>
                  <a:lnTo>
                    <a:pt x="213956" y="40894"/>
                  </a:lnTo>
                  <a:lnTo>
                    <a:pt x="186893" y="75565"/>
                  </a:lnTo>
                  <a:lnTo>
                    <a:pt x="161175" y="117983"/>
                  </a:lnTo>
                  <a:lnTo>
                    <a:pt x="136575" y="167640"/>
                  </a:lnTo>
                  <a:lnTo>
                    <a:pt x="113436" y="223901"/>
                  </a:lnTo>
                  <a:lnTo>
                    <a:pt x="91909" y="286004"/>
                  </a:lnTo>
                  <a:lnTo>
                    <a:pt x="72021" y="353441"/>
                  </a:lnTo>
                  <a:lnTo>
                    <a:pt x="54203" y="425450"/>
                  </a:lnTo>
                  <a:lnTo>
                    <a:pt x="46050" y="463042"/>
                  </a:lnTo>
                  <a:lnTo>
                    <a:pt x="38582" y="501523"/>
                  </a:lnTo>
                  <a:lnTo>
                    <a:pt x="31584" y="540766"/>
                  </a:lnTo>
                  <a:lnTo>
                    <a:pt x="25273" y="580898"/>
                  </a:lnTo>
                  <a:lnTo>
                    <a:pt x="19519" y="621665"/>
                  </a:lnTo>
                  <a:lnTo>
                    <a:pt x="14541" y="662940"/>
                  </a:lnTo>
                  <a:lnTo>
                    <a:pt x="10236" y="704723"/>
                  </a:lnTo>
                  <a:lnTo>
                    <a:pt x="6604" y="747014"/>
                  </a:lnTo>
                  <a:lnTo>
                    <a:pt x="3733" y="789686"/>
                  </a:lnTo>
                  <a:lnTo>
                    <a:pt x="1714" y="832485"/>
                  </a:lnTo>
                  <a:lnTo>
                    <a:pt x="368" y="875665"/>
                  </a:lnTo>
                  <a:lnTo>
                    <a:pt x="0" y="918464"/>
                  </a:lnTo>
                  <a:lnTo>
                    <a:pt x="279" y="960882"/>
                  </a:lnTo>
                  <a:lnTo>
                    <a:pt x="1320" y="1003554"/>
                  </a:lnTo>
                  <a:lnTo>
                    <a:pt x="2908" y="1045972"/>
                  </a:lnTo>
                  <a:lnTo>
                    <a:pt x="5080" y="1088136"/>
                  </a:lnTo>
                  <a:lnTo>
                    <a:pt x="7950" y="1132078"/>
                  </a:lnTo>
                  <a:lnTo>
                    <a:pt x="11391" y="1173734"/>
                  </a:lnTo>
                  <a:lnTo>
                    <a:pt x="15316" y="1215136"/>
                  </a:lnTo>
                  <a:lnTo>
                    <a:pt x="19723" y="1255776"/>
                  </a:lnTo>
                  <a:lnTo>
                    <a:pt x="24701" y="1295908"/>
                  </a:lnTo>
                  <a:lnTo>
                    <a:pt x="30149" y="1335151"/>
                  </a:lnTo>
                  <a:lnTo>
                    <a:pt x="36080" y="1373632"/>
                  </a:lnTo>
                  <a:lnTo>
                    <a:pt x="49212" y="1447673"/>
                  </a:lnTo>
                  <a:lnTo>
                    <a:pt x="63881" y="1517396"/>
                  </a:lnTo>
                  <a:lnTo>
                    <a:pt x="80111" y="1582166"/>
                  </a:lnTo>
                  <a:lnTo>
                    <a:pt x="97624" y="1641348"/>
                  </a:lnTo>
                  <a:lnTo>
                    <a:pt x="116293" y="1694307"/>
                  </a:lnTo>
                  <a:lnTo>
                    <a:pt x="136042" y="1740408"/>
                  </a:lnTo>
                  <a:lnTo>
                    <a:pt x="156870" y="1779143"/>
                  </a:lnTo>
                  <a:lnTo>
                    <a:pt x="184289" y="1816100"/>
                  </a:lnTo>
                  <a:lnTo>
                    <a:pt x="214871" y="1839468"/>
                  </a:lnTo>
                  <a:lnTo>
                    <a:pt x="240626" y="1845691"/>
                  </a:lnTo>
                  <a:lnTo>
                    <a:pt x="241884" y="1821942"/>
                  </a:lnTo>
                  <a:lnTo>
                    <a:pt x="241973" y="1820418"/>
                  </a:lnTo>
                  <a:lnTo>
                    <a:pt x="207086" y="1803019"/>
                  </a:lnTo>
                  <a:lnTo>
                    <a:pt x="178092" y="1765173"/>
                  </a:lnTo>
                  <a:lnTo>
                    <a:pt x="158724" y="1728978"/>
                  </a:lnTo>
                  <a:lnTo>
                    <a:pt x="139801" y="1684655"/>
                  </a:lnTo>
                  <a:lnTo>
                    <a:pt x="121704" y="1633220"/>
                  </a:lnTo>
                  <a:lnTo>
                    <a:pt x="104546" y="1575308"/>
                  </a:lnTo>
                  <a:lnTo>
                    <a:pt x="88582" y="1511427"/>
                  </a:lnTo>
                  <a:lnTo>
                    <a:pt x="74104" y="1442593"/>
                  </a:lnTo>
                  <a:lnTo>
                    <a:pt x="61137" y="1369314"/>
                  </a:lnTo>
                  <a:lnTo>
                    <a:pt x="55257" y="1331214"/>
                  </a:lnTo>
                  <a:lnTo>
                    <a:pt x="49847" y="1292352"/>
                  </a:lnTo>
                  <a:lnTo>
                    <a:pt x="44919" y="1252601"/>
                  </a:lnTo>
                  <a:lnTo>
                    <a:pt x="40563" y="1212342"/>
                  </a:lnTo>
                  <a:lnTo>
                    <a:pt x="36677" y="1171448"/>
                  </a:lnTo>
                  <a:lnTo>
                    <a:pt x="33261" y="1130046"/>
                  </a:lnTo>
                  <a:lnTo>
                    <a:pt x="30619" y="1089787"/>
                  </a:lnTo>
                  <a:lnTo>
                    <a:pt x="28397" y="1047369"/>
                  </a:lnTo>
                  <a:lnTo>
                    <a:pt x="26746" y="1004443"/>
                  </a:lnTo>
                  <a:lnTo>
                    <a:pt x="25692" y="961517"/>
                  </a:lnTo>
                  <a:lnTo>
                    <a:pt x="25400" y="918464"/>
                  </a:lnTo>
                  <a:lnTo>
                    <a:pt x="25781" y="875665"/>
                  </a:lnTo>
                  <a:lnTo>
                    <a:pt x="27114" y="833247"/>
                  </a:lnTo>
                  <a:lnTo>
                    <a:pt x="29095" y="790829"/>
                  </a:lnTo>
                  <a:lnTo>
                    <a:pt x="31940" y="748665"/>
                  </a:lnTo>
                  <a:lnTo>
                    <a:pt x="35547" y="707009"/>
                  </a:lnTo>
                  <a:lnTo>
                    <a:pt x="39814" y="665480"/>
                  </a:lnTo>
                  <a:lnTo>
                    <a:pt x="44742" y="624713"/>
                  </a:lnTo>
                  <a:lnTo>
                    <a:pt x="50419" y="584327"/>
                  </a:lnTo>
                  <a:lnTo>
                    <a:pt x="56680" y="544830"/>
                  </a:lnTo>
                  <a:lnTo>
                    <a:pt x="63588" y="505968"/>
                  </a:lnTo>
                  <a:lnTo>
                    <a:pt x="70980" y="467868"/>
                  </a:lnTo>
                  <a:lnTo>
                    <a:pt x="87630" y="394716"/>
                  </a:lnTo>
                  <a:lnTo>
                    <a:pt x="106172" y="325882"/>
                  </a:lnTo>
                  <a:lnTo>
                    <a:pt x="126568" y="262255"/>
                  </a:lnTo>
                  <a:lnTo>
                    <a:pt x="148437" y="204216"/>
                  </a:lnTo>
                  <a:lnTo>
                    <a:pt x="171627" y="152781"/>
                  </a:lnTo>
                  <a:lnTo>
                    <a:pt x="195922" y="108458"/>
                  </a:lnTo>
                  <a:lnTo>
                    <a:pt x="220789" y="72263"/>
                  </a:lnTo>
                  <a:lnTo>
                    <a:pt x="242760" y="50673"/>
                  </a:lnTo>
                  <a:lnTo>
                    <a:pt x="252412" y="70993"/>
                  </a:lnTo>
                  <a:lnTo>
                    <a:pt x="291515" y="20955"/>
                  </a:lnTo>
                  <a:lnTo>
                    <a:pt x="304927" y="3810"/>
                  </a:lnTo>
                  <a:close/>
                </a:path>
                <a:path w="2425700" h="1849120">
                  <a:moveTo>
                    <a:pt x="1021207" y="3810"/>
                  </a:moveTo>
                  <a:lnTo>
                    <a:pt x="936104" y="0"/>
                  </a:lnTo>
                  <a:lnTo>
                    <a:pt x="946581" y="23583"/>
                  </a:lnTo>
                  <a:lnTo>
                    <a:pt x="945159" y="24257"/>
                  </a:lnTo>
                  <a:lnTo>
                    <a:pt x="913104" y="57150"/>
                  </a:lnTo>
                  <a:lnTo>
                    <a:pt x="885634" y="95758"/>
                  </a:lnTo>
                  <a:lnTo>
                    <a:pt x="859396" y="141986"/>
                  </a:lnTo>
                  <a:lnTo>
                    <a:pt x="834580" y="195199"/>
                  </a:lnTo>
                  <a:lnTo>
                    <a:pt x="811377" y="254508"/>
                  </a:lnTo>
                  <a:lnTo>
                    <a:pt x="789851" y="319532"/>
                  </a:lnTo>
                  <a:lnTo>
                    <a:pt x="770178" y="389382"/>
                  </a:lnTo>
                  <a:lnTo>
                    <a:pt x="752729" y="463677"/>
                  </a:lnTo>
                  <a:lnTo>
                    <a:pt x="744867" y="502285"/>
                  </a:lnTo>
                  <a:lnTo>
                    <a:pt x="737692" y="541655"/>
                  </a:lnTo>
                  <a:lnTo>
                    <a:pt x="731075" y="581787"/>
                  </a:lnTo>
                  <a:lnTo>
                    <a:pt x="725144" y="622554"/>
                  </a:lnTo>
                  <a:lnTo>
                    <a:pt x="719975" y="664083"/>
                  </a:lnTo>
                  <a:lnTo>
                    <a:pt x="715467" y="705866"/>
                  </a:lnTo>
                  <a:lnTo>
                    <a:pt x="711733" y="748284"/>
                  </a:lnTo>
                  <a:lnTo>
                    <a:pt x="708774" y="790829"/>
                  </a:lnTo>
                  <a:lnTo>
                    <a:pt x="706564" y="833755"/>
                  </a:lnTo>
                  <a:lnTo>
                    <a:pt x="705332" y="876935"/>
                  </a:lnTo>
                  <a:lnTo>
                    <a:pt x="704850" y="919619"/>
                  </a:lnTo>
                  <a:lnTo>
                    <a:pt x="705129" y="962152"/>
                  </a:lnTo>
                  <a:lnTo>
                    <a:pt x="706170" y="1004824"/>
                  </a:lnTo>
                  <a:lnTo>
                    <a:pt x="707771" y="1047496"/>
                  </a:lnTo>
                  <a:lnTo>
                    <a:pt x="709930" y="1089787"/>
                  </a:lnTo>
                  <a:lnTo>
                    <a:pt x="712800" y="1133729"/>
                  </a:lnTo>
                  <a:lnTo>
                    <a:pt x="716241" y="1175512"/>
                  </a:lnTo>
                  <a:lnTo>
                    <a:pt x="720166" y="1216914"/>
                  </a:lnTo>
                  <a:lnTo>
                    <a:pt x="724573" y="1257681"/>
                  </a:lnTo>
                  <a:lnTo>
                    <a:pt x="729538" y="1297813"/>
                  </a:lnTo>
                  <a:lnTo>
                    <a:pt x="734999" y="1337056"/>
                  </a:lnTo>
                  <a:lnTo>
                    <a:pt x="740930" y="1375664"/>
                  </a:lnTo>
                  <a:lnTo>
                    <a:pt x="747255" y="1413383"/>
                  </a:lnTo>
                  <a:lnTo>
                    <a:pt x="761238" y="1485265"/>
                  </a:lnTo>
                  <a:lnTo>
                    <a:pt x="776693" y="1552829"/>
                  </a:lnTo>
                  <a:lnTo>
                    <a:pt x="793521" y="1615059"/>
                  </a:lnTo>
                  <a:lnTo>
                    <a:pt x="811657" y="1671320"/>
                  </a:lnTo>
                  <a:lnTo>
                    <a:pt x="830922" y="1720977"/>
                  </a:lnTo>
                  <a:lnTo>
                    <a:pt x="851192" y="1763522"/>
                  </a:lnTo>
                  <a:lnTo>
                    <a:pt x="872540" y="1798447"/>
                  </a:lnTo>
                  <a:lnTo>
                    <a:pt x="900988" y="1830197"/>
                  </a:lnTo>
                  <a:lnTo>
                    <a:pt x="939914" y="1848231"/>
                  </a:lnTo>
                  <a:lnTo>
                    <a:pt x="945248" y="1848612"/>
                  </a:lnTo>
                  <a:lnTo>
                    <a:pt x="946937" y="1824863"/>
                  </a:lnTo>
                  <a:lnTo>
                    <a:pt x="947051" y="1823339"/>
                  </a:lnTo>
                  <a:lnTo>
                    <a:pt x="911936" y="1805940"/>
                  </a:lnTo>
                  <a:lnTo>
                    <a:pt x="882942" y="1768094"/>
                  </a:lnTo>
                  <a:lnTo>
                    <a:pt x="863561" y="1731772"/>
                  </a:lnTo>
                  <a:lnTo>
                    <a:pt x="844664" y="1687449"/>
                  </a:lnTo>
                  <a:lnTo>
                    <a:pt x="826554" y="1635887"/>
                  </a:lnTo>
                  <a:lnTo>
                    <a:pt x="809409" y="1577721"/>
                  </a:lnTo>
                  <a:lnTo>
                    <a:pt x="793432" y="1513840"/>
                  </a:lnTo>
                  <a:lnTo>
                    <a:pt x="778954" y="1444879"/>
                  </a:lnTo>
                  <a:lnTo>
                    <a:pt x="765987" y="1371473"/>
                  </a:lnTo>
                  <a:lnTo>
                    <a:pt x="760107" y="1333246"/>
                  </a:lnTo>
                  <a:lnTo>
                    <a:pt x="754710" y="1294257"/>
                  </a:lnTo>
                  <a:lnTo>
                    <a:pt x="749769" y="1254506"/>
                  </a:lnTo>
                  <a:lnTo>
                    <a:pt x="745413" y="1214247"/>
                  </a:lnTo>
                  <a:lnTo>
                    <a:pt x="741527" y="1173099"/>
                  </a:lnTo>
                  <a:lnTo>
                    <a:pt x="738111" y="1131697"/>
                  </a:lnTo>
                  <a:lnTo>
                    <a:pt x="735469" y="1091438"/>
                  </a:lnTo>
                  <a:lnTo>
                    <a:pt x="733247" y="1048766"/>
                  </a:lnTo>
                  <a:lnTo>
                    <a:pt x="731608" y="1005840"/>
                  </a:lnTo>
                  <a:lnTo>
                    <a:pt x="730542" y="962787"/>
                  </a:lnTo>
                  <a:lnTo>
                    <a:pt x="730250" y="919619"/>
                  </a:lnTo>
                  <a:lnTo>
                    <a:pt x="730719" y="877189"/>
                  </a:lnTo>
                  <a:lnTo>
                    <a:pt x="731964" y="834517"/>
                  </a:lnTo>
                  <a:lnTo>
                    <a:pt x="734136" y="792099"/>
                  </a:lnTo>
                  <a:lnTo>
                    <a:pt x="737082" y="749935"/>
                  </a:lnTo>
                  <a:lnTo>
                    <a:pt x="740778" y="708152"/>
                  </a:lnTo>
                  <a:lnTo>
                    <a:pt x="745223" y="666750"/>
                  </a:lnTo>
                  <a:lnTo>
                    <a:pt x="750341" y="625729"/>
                  </a:lnTo>
                  <a:lnTo>
                    <a:pt x="756221" y="585343"/>
                  </a:lnTo>
                  <a:lnTo>
                    <a:pt x="762749" y="545719"/>
                  </a:lnTo>
                  <a:lnTo>
                    <a:pt x="769861" y="506730"/>
                  </a:lnTo>
                  <a:lnTo>
                    <a:pt x="777621" y="468757"/>
                  </a:lnTo>
                  <a:lnTo>
                    <a:pt x="785952" y="431546"/>
                  </a:lnTo>
                  <a:lnTo>
                    <a:pt x="804291" y="360426"/>
                  </a:lnTo>
                  <a:lnTo>
                    <a:pt x="824534" y="294005"/>
                  </a:lnTo>
                  <a:lnTo>
                    <a:pt x="846505" y="233045"/>
                  </a:lnTo>
                  <a:lnTo>
                    <a:pt x="870013" y="178181"/>
                  </a:lnTo>
                  <a:lnTo>
                    <a:pt x="894651" y="130048"/>
                  </a:lnTo>
                  <a:lnTo>
                    <a:pt x="920254" y="89535"/>
                  </a:lnTo>
                  <a:lnTo>
                    <a:pt x="946416" y="57404"/>
                  </a:lnTo>
                  <a:lnTo>
                    <a:pt x="957059" y="47167"/>
                  </a:lnTo>
                  <a:lnTo>
                    <a:pt x="967092" y="69723"/>
                  </a:lnTo>
                  <a:lnTo>
                    <a:pt x="1009319" y="18288"/>
                  </a:lnTo>
                  <a:lnTo>
                    <a:pt x="1021207" y="3810"/>
                  </a:lnTo>
                  <a:close/>
                </a:path>
                <a:path w="2425700" h="1849120">
                  <a:moveTo>
                    <a:pt x="1725104" y="3810"/>
                  </a:moveTo>
                  <a:lnTo>
                    <a:pt x="1640014" y="254"/>
                  </a:lnTo>
                  <a:lnTo>
                    <a:pt x="1650492" y="23672"/>
                  </a:lnTo>
                  <a:lnTo>
                    <a:pt x="1649285" y="24257"/>
                  </a:lnTo>
                  <a:lnTo>
                    <a:pt x="1617281" y="57150"/>
                  </a:lnTo>
                  <a:lnTo>
                    <a:pt x="1589849" y="95885"/>
                  </a:lnTo>
                  <a:lnTo>
                    <a:pt x="1563814" y="141986"/>
                  </a:lnTo>
                  <a:lnTo>
                    <a:pt x="1539049" y="195199"/>
                  </a:lnTo>
                  <a:lnTo>
                    <a:pt x="1515808" y="254508"/>
                  </a:lnTo>
                  <a:lnTo>
                    <a:pt x="1494472" y="319532"/>
                  </a:lnTo>
                  <a:lnTo>
                    <a:pt x="1474787" y="389382"/>
                  </a:lnTo>
                  <a:lnTo>
                    <a:pt x="1457515" y="463677"/>
                  </a:lnTo>
                  <a:lnTo>
                    <a:pt x="1449641" y="502285"/>
                  </a:lnTo>
                  <a:lnTo>
                    <a:pt x="1442402" y="541655"/>
                  </a:lnTo>
                  <a:lnTo>
                    <a:pt x="1435798" y="581787"/>
                  </a:lnTo>
                  <a:lnTo>
                    <a:pt x="1429956" y="622554"/>
                  </a:lnTo>
                  <a:lnTo>
                    <a:pt x="1424749" y="664083"/>
                  </a:lnTo>
                  <a:lnTo>
                    <a:pt x="1420164" y="705866"/>
                  </a:lnTo>
                  <a:lnTo>
                    <a:pt x="1416494" y="748284"/>
                  </a:lnTo>
                  <a:lnTo>
                    <a:pt x="1413573" y="790829"/>
                  </a:lnTo>
                  <a:lnTo>
                    <a:pt x="1411401" y="833755"/>
                  </a:lnTo>
                  <a:lnTo>
                    <a:pt x="1410144" y="876935"/>
                  </a:lnTo>
                  <a:lnTo>
                    <a:pt x="1409763" y="919619"/>
                  </a:lnTo>
                  <a:lnTo>
                    <a:pt x="1410004" y="962152"/>
                  </a:lnTo>
                  <a:lnTo>
                    <a:pt x="1411008" y="1004824"/>
                  </a:lnTo>
                  <a:lnTo>
                    <a:pt x="1411020" y="1005840"/>
                  </a:lnTo>
                  <a:lnTo>
                    <a:pt x="1412633" y="1047496"/>
                  </a:lnTo>
                  <a:lnTo>
                    <a:pt x="1414754" y="1089787"/>
                  </a:lnTo>
                  <a:lnTo>
                    <a:pt x="1417637" y="1133729"/>
                  </a:lnTo>
                  <a:lnTo>
                    <a:pt x="1421066" y="1175512"/>
                  </a:lnTo>
                  <a:lnTo>
                    <a:pt x="1425003" y="1216914"/>
                  </a:lnTo>
                  <a:lnTo>
                    <a:pt x="1429448" y="1257681"/>
                  </a:lnTo>
                  <a:lnTo>
                    <a:pt x="1434401" y="1297813"/>
                  </a:lnTo>
                  <a:lnTo>
                    <a:pt x="1439862" y="1337056"/>
                  </a:lnTo>
                  <a:lnTo>
                    <a:pt x="1445831" y="1375664"/>
                  </a:lnTo>
                  <a:lnTo>
                    <a:pt x="1452054" y="1413383"/>
                  </a:lnTo>
                  <a:lnTo>
                    <a:pt x="1466151" y="1485265"/>
                  </a:lnTo>
                  <a:lnTo>
                    <a:pt x="1481518" y="1552829"/>
                  </a:lnTo>
                  <a:lnTo>
                    <a:pt x="1498409" y="1615059"/>
                  </a:lnTo>
                  <a:lnTo>
                    <a:pt x="1516443" y="1671320"/>
                  </a:lnTo>
                  <a:lnTo>
                    <a:pt x="1535747" y="1720977"/>
                  </a:lnTo>
                  <a:lnTo>
                    <a:pt x="1556067" y="1763522"/>
                  </a:lnTo>
                  <a:lnTo>
                    <a:pt x="1577403" y="1798447"/>
                  </a:lnTo>
                  <a:lnTo>
                    <a:pt x="1605851" y="1830197"/>
                  </a:lnTo>
                  <a:lnTo>
                    <a:pt x="1644713" y="1848231"/>
                  </a:lnTo>
                  <a:lnTo>
                    <a:pt x="1650047" y="1848612"/>
                  </a:lnTo>
                  <a:lnTo>
                    <a:pt x="1651825" y="1824863"/>
                  </a:lnTo>
                  <a:lnTo>
                    <a:pt x="1651952" y="1823339"/>
                  </a:lnTo>
                  <a:lnTo>
                    <a:pt x="1616773" y="1805940"/>
                  </a:lnTo>
                  <a:lnTo>
                    <a:pt x="1587817" y="1768094"/>
                  </a:lnTo>
                  <a:lnTo>
                    <a:pt x="1568386" y="1731772"/>
                  </a:lnTo>
                  <a:lnTo>
                    <a:pt x="1549463" y="1687449"/>
                  </a:lnTo>
                  <a:lnTo>
                    <a:pt x="1531429" y="1635887"/>
                  </a:lnTo>
                  <a:lnTo>
                    <a:pt x="1514284" y="1577721"/>
                  </a:lnTo>
                  <a:lnTo>
                    <a:pt x="1498282" y="1513840"/>
                  </a:lnTo>
                  <a:lnTo>
                    <a:pt x="1483804" y="1444879"/>
                  </a:lnTo>
                  <a:lnTo>
                    <a:pt x="1470850" y="1371473"/>
                  </a:lnTo>
                  <a:lnTo>
                    <a:pt x="1465008" y="1333246"/>
                  </a:lnTo>
                  <a:lnTo>
                    <a:pt x="1459547" y="1294257"/>
                  </a:lnTo>
                  <a:lnTo>
                    <a:pt x="1454594" y="1254506"/>
                  </a:lnTo>
                  <a:lnTo>
                    <a:pt x="1450276" y="1214247"/>
                  </a:lnTo>
                  <a:lnTo>
                    <a:pt x="1446339" y="1173099"/>
                  </a:lnTo>
                  <a:lnTo>
                    <a:pt x="1442910" y="1131697"/>
                  </a:lnTo>
                  <a:lnTo>
                    <a:pt x="1440345" y="1091438"/>
                  </a:lnTo>
                  <a:lnTo>
                    <a:pt x="1438148" y="1048766"/>
                  </a:lnTo>
                  <a:lnTo>
                    <a:pt x="1436471" y="1005840"/>
                  </a:lnTo>
                  <a:lnTo>
                    <a:pt x="1435430" y="962787"/>
                  </a:lnTo>
                  <a:lnTo>
                    <a:pt x="1435036" y="919619"/>
                  </a:lnTo>
                  <a:lnTo>
                    <a:pt x="1435544" y="877189"/>
                  </a:lnTo>
                  <a:lnTo>
                    <a:pt x="1436814" y="834517"/>
                  </a:lnTo>
                  <a:lnTo>
                    <a:pt x="1438973" y="792099"/>
                  </a:lnTo>
                  <a:lnTo>
                    <a:pt x="1441894" y="749935"/>
                  </a:lnTo>
                  <a:lnTo>
                    <a:pt x="1445577" y="708152"/>
                  </a:lnTo>
                  <a:lnTo>
                    <a:pt x="1450022" y="666750"/>
                  </a:lnTo>
                  <a:lnTo>
                    <a:pt x="1455102" y="625729"/>
                  </a:lnTo>
                  <a:lnTo>
                    <a:pt x="1460944" y="585343"/>
                  </a:lnTo>
                  <a:lnTo>
                    <a:pt x="1467548" y="545719"/>
                  </a:lnTo>
                  <a:lnTo>
                    <a:pt x="1474660" y="506730"/>
                  </a:lnTo>
                  <a:lnTo>
                    <a:pt x="1482407" y="468757"/>
                  </a:lnTo>
                  <a:lnTo>
                    <a:pt x="1490662" y="431546"/>
                  </a:lnTo>
                  <a:lnTo>
                    <a:pt x="1508823" y="360426"/>
                  </a:lnTo>
                  <a:lnTo>
                    <a:pt x="1529143" y="294005"/>
                  </a:lnTo>
                  <a:lnTo>
                    <a:pt x="1550987" y="233045"/>
                  </a:lnTo>
                  <a:lnTo>
                    <a:pt x="1574355" y="178054"/>
                  </a:lnTo>
                  <a:lnTo>
                    <a:pt x="1598993" y="130048"/>
                  </a:lnTo>
                  <a:lnTo>
                    <a:pt x="1624520" y="89535"/>
                  </a:lnTo>
                  <a:lnTo>
                    <a:pt x="1650555" y="57404"/>
                  </a:lnTo>
                  <a:lnTo>
                    <a:pt x="1661045" y="47218"/>
                  </a:lnTo>
                  <a:lnTo>
                    <a:pt x="1671129" y="69723"/>
                  </a:lnTo>
                  <a:lnTo>
                    <a:pt x="1713242" y="18288"/>
                  </a:lnTo>
                  <a:lnTo>
                    <a:pt x="1725104" y="3810"/>
                  </a:lnTo>
                  <a:close/>
                </a:path>
                <a:path w="2425700" h="1849120">
                  <a:moveTo>
                    <a:pt x="2425128" y="3810"/>
                  </a:moveTo>
                  <a:lnTo>
                    <a:pt x="2340038" y="889"/>
                  </a:lnTo>
                  <a:lnTo>
                    <a:pt x="2351633" y="26238"/>
                  </a:lnTo>
                  <a:lnTo>
                    <a:pt x="2334831" y="38862"/>
                  </a:lnTo>
                  <a:lnTo>
                    <a:pt x="2334069" y="39370"/>
                  </a:lnTo>
                  <a:lnTo>
                    <a:pt x="2333434" y="40005"/>
                  </a:lnTo>
                  <a:lnTo>
                    <a:pt x="2332799" y="40767"/>
                  </a:lnTo>
                  <a:lnTo>
                    <a:pt x="2318829" y="57023"/>
                  </a:lnTo>
                  <a:lnTo>
                    <a:pt x="2291905" y="95504"/>
                  </a:lnTo>
                  <a:lnTo>
                    <a:pt x="2266251" y="141605"/>
                  </a:lnTo>
                  <a:lnTo>
                    <a:pt x="2241867" y="194437"/>
                  </a:lnTo>
                  <a:lnTo>
                    <a:pt x="2219007" y="253619"/>
                  </a:lnTo>
                  <a:lnTo>
                    <a:pt x="2197925" y="318389"/>
                  </a:lnTo>
                  <a:lnTo>
                    <a:pt x="2178748" y="387985"/>
                  </a:lnTo>
                  <a:lnTo>
                    <a:pt x="2161603" y="462026"/>
                  </a:lnTo>
                  <a:lnTo>
                    <a:pt x="2153856" y="500380"/>
                  </a:lnTo>
                  <a:lnTo>
                    <a:pt x="2146744" y="539750"/>
                  </a:lnTo>
                  <a:lnTo>
                    <a:pt x="2140267" y="579628"/>
                  </a:lnTo>
                  <a:lnTo>
                    <a:pt x="2134425" y="620395"/>
                  </a:lnTo>
                  <a:lnTo>
                    <a:pt x="2129345" y="661670"/>
                  </a:lnTo>
                  <a:lnTo>
                    <a:pt x="2125027" y="703326"/>
                  </a:lnTo>
                  <a:lnTo>
                    <a:pt x="2121217" y="745617"/>
                  </a:lnTo>
                  <a:lnTo>
                    <a:pt x="2118423" y="788035"/>
                  </a:lnTo>
                  <a:lnTo>
                    <a:pt x="2116264" y="830834"/>
                  </a:lnTo>
                  <a:lnTo>
                    <a:pt x="2114994" y="873760"/>
                  </a:lnTo>
                  <a:lnTo>
                    <a:pt x="2114613" y="916178"/>
                  </a:lnTo>
                  <a:lnTo>
                    <a:pt x="2114854" y="958850"/>
                  </a:lnTo>
                  <a:lnTo>
                    <a:pt x="2115858" y="1001268"/>
                  </a:lnTo>
                  <a:lnTo>
                    <a:pt x="2117471" y="1043686"/>
                  </a:lnTo>
                  <a:lnTo>
                    <a:pt x="2119604" y="1085850"/>
                  </a:lnTo>
                  <a:lnTo>
                    <a:pt x="2122487" y="1129665"/>
                  </a:lnTo>
                  <a:lnTo>
                    <a:pt x="2125916" y="1171321"/>
                  </a:lnTo>
                  <a:lnTo>
                    <a:pt x="2129853" y="1212596"/>
                  </a:lnTo>
                  <a:lnTo>
                    <a:pt x="2134298" y="1253236"/>
                  </a:lnTo>
                  <a:lnTo>
                    <a:pt x="2139251" y="1293241"/>
                  </a:lnTo>
                  <a:lnTo>
                    <a:pt x="2144712" y="1332357"/>
                  </a:lnTo>
                  <a:lnTo>
                    <a:pt x="2150681" y="1370711"/>
                  </a:lnTo>
                  <a:lnTo>
                    <a:pt x="2156904" y="1408303"/>
                  </a:lnTo>
                  <a:lnTo>
                    <a:pt x="2171001" y="1480058"/>
                  </a:lnTo>
                  <a:lnTo>
                    <a:pt x="2186368" y="1547368"/>
                  </a:lnTo>
                  <a:lnTo>
                    <a:pt x="2203259" y="1609217"/>
                  </a:lnTo>
                  <a:lnTo>
                    <a:pt x="2221293" y="1665351"/>
                  </a:lnTo>
                  <a:lnTo>
                    <a:pt x="2240597" y="1714754"/>
                  </a:lnTo>
                  <a:lnTo>
                    <a:pt x="2260917" y="1757299"/>
                  </a:lnTo>
                  <a:lnTo>
                    <a:pt x="2282253" y="1792097"/>
                  </a:lnTo>
                  <a:lnTo>
                    <a:pt x="2310574" y="1823593"/>
                  </a:lnTo>
                  <a:lnTo>
                    <a:pt x="2349817" y="1841881"/>
                  </a:lnTo>
                  <a:lnTo>
                    <a:pt x="2355151" y="1842135"/>
                  </a:lnTo>
                  <a:lnTo>
                    <a:pt x="2356447" y="1818513"/>
                  </a:lnTo>
                  <a:lnTo>
                    <a:pt x="2356548" y="1816735"/>
                  </a:lnTo>
                  <a:lnTo>
                    <a:pt x="2321496" y="1799336"/>
                  </a:lnTo>
                  <a:lnTo>
                    <a:pt x="2292667" y="1761744"/>
                  </a:lnTo>
                  <a:lnTo>
                    <a:pt x="2273236" y="1725549"/>
                  </a:lnTo>
                  <a:lnTo>
                    <a:pt x="2254313" y="1681353"/>
                  </a:lnTo>
                  <a:lnTo>
                    <a:pt x="2236279" y="1630045"/>
                  </a:lnTo>
                  <a:lnTo>
                    <a:pt x="2219134" y="1572133"/>
                  </a:lnTo>
                  <a:lnTo>
                    <a:pt x="2203132" y="1508379"/>
                  </a:lnTo>
                  <a:lnTo>
                    <a:pt x="2188654" y="1439672"/>
                  </a:lnTo>
                  <a:lnTo>
                    <a:pt x="2175700" y="1366520"/>
                  </a:lnTo>
                  <a:lnTo>
                    <a:pt x="2169858" y="1328420"/>
                  </a:lnTo>
                  <a:lnTo>
                    <a:pt x="2164397" y="1289685"/>
                  </a:lnTo>
                  <a:lnTo>
                    <a:pt x="2159444" y="1250061"/>
                  </a:lnTo>
                  <a:lnTo>
                    <a:pt x="2155126" y="1209802"/>
                  </a:lnTo>
                  <a:lnTo>
                    <a:pt x="2151189" y="1168908"/>
                  </a:lnTo>
                  <a:lnTo>
                    <a:pt x="2147760" y="1127506"/>
                  </a:lnTo>
                  <a:lnTo>
                    <a:pt x="2145195" y="1087501"/>
                  </a:lnTo>
                  <a:lnTo>
                    <a:pt x="2142998" y="1045083"/>
                  </a:lnTo>
                  <a:lnTo>
                    <a:pt x="2141321" y="1002284"/>
                  </a:lnTo>
                  <a:lnTo>
                    <a:pt x="2140280" y="959485"/>
                  </a:lnTo>
                  <a:lnTo>
                    <a:pt x="2139886" y="916317"/>
                  </a:lnTo>
                  <a:lnTo>
                    <a:pt x="2140394" y="874014"/>
                  </a:lnTo>
                  <a:lnTo>
                    <a:pt x="2141664" y="831596"/>
                  </a:lnTo>
                  <a:lnTo>
                    <a:pt x="2143696" y="789305"/>
                  </a:lnTo>
                  <a:lnTo>
                    <a:pt x="2146617" y="747268"/>
                  </a:lnTo>
                  <a:lnTo>
                    <a:pt x="2150300" y="705612"/>
                  </a:lnTo>
                  <a:lnTo>
                    <a:pt x="2154618" y="664337"/>
                  </a:lnTo>
                  <a:lnTo>
                    <a:pt x="2159698" y="623443"/>
                  </a:lnTo>
                  <a:lnTo>
                    <a:pt x="2165413" y="583311"/>
                  </a:lnTo>
                  <a:lnTo>
                    <a:pt x="2171763" y="543814"/>
                  </a:lnTo>
                  <a:lnTo>
                    <a:pt x="2178748" y="504952"/>
                  </a:lnTo>
                  <a:lnTo>
                    <a:pt x="2186495" y="467106"/>
                  </a:lnTo>
                  <a:lnTo>
                    <a:pt x="2203386" y="394081"/>
                  </a:lnTo>
                  <a:lnTo>
                    <a:pt x="2222309" y="325374"/>
                  </a:lnTo>
                  <a:lnTo>
                    <a:pt x="2243137" y="261874"/>
                  </a:lnTo>
                  <a:lnTo>
                    <a:pt x="2265362" y="203962"/>
                  </a:lnTo>
                  <a:lnTo>
                    <a:pt x="2289111" y="152654"/>
                  </a:lnTo>
                  <a:lnTo>
                    <a:pt x="2313749" y="108458"/>
                  </a:lnTo>
                  <a:lnTo>
                    <a:pt x="2339149" y="72263"/>
                  </a:lnTo>
                  <a:lnTo>
                    <a:pt x="2350452" y="59182"/>
                  </a:lnTo>
                  <a:lnTo>
                    <a:pt x="2351163" y="58356"/>
                  </a:lnTo>
                  <a:lnTo>
                    <a:pt x="2352598" y="57277"/>
                  </a:lnTo>
                  <a:lnTo>
                    <a:pt x="2362454" y="49872"/>
                  </a:lnTo>
                  <a:lnTo>
                    <a:pt x="2371788" y="70231"/>
                  </a:lnTo>
                  <a:lnTo>
                    <a:pt x="2412073" y="20066"/>
                  </a:lnTo>
                  <a:lnTo>
                    <a:pt x="2425128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9137" y="2252726"/>
              <a:ext cx="76200" cy="14465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14525" y="2243201"/>
              <a:ext cx="76200" cy="152781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28901" y="2252726"/>
              <a:ext cx="76200" cy="14668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24226" y="2243201"/>
              <a:ext cx="76200" cy="152781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24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9250" y="1162050"/>
            <a:ext cx="3333750" cy="3467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11803" y="659130"/>
            <a:ext cx="209677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Example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English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4639125"/>
            <a:ext cx="4084954" cy="483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490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25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5" dirty="0"/>
              <a:t> </a:t>
            </a:r>
            <a:r>
              <a:rPr dirty="0"/>
              <a:t>24,</a:t>
            </a:r>
            <a:r>
              <a:rPr spc="-55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11803" y="936307"/>
            <a:ext cx="18624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French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translation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45453" y="770890"/>
            <a:ext cx="308165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Arial"/>
                <a:cs typeface="Arial"/>
              </a:rPr>
              <a:t>Visualize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attention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weights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a</a:t>
            </a:r>
            <a:r>
              <a:rPr sz="1800" spc="-30" baseline="-18518" dirty="0">
                <a:latin typeface="Arial"/>
                <a:cs typeface="Arial"/>
              </a:rPr>
              <a:t>t,i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7487" y="1582737"/>
            <a:ext cx="3124835" cy="19513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26034" algn="just">
              <a:lnSpc>
                <a:spcPct val="100899"/>
              </a:lnSpc>
              <a:spcBef>
                <a:spcPts val="80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agreement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European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Economic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Area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was </a:t>
            </a:r>
            <a:r>
              <a:rPr sz="1800" dirty="0">
                <a:latin typeface="Arial"/>
                <a:cs typeface="Arial"/>
              </a:rPr>
              <a:t>signed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August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1992.”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1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“L’accord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zone </a:t>
            </a:r>
            <a:r>
              <a:rPr sz="1800" dirty="0">
                <a:latin typeface="Arial"/>
                <a:cs typeface="Arial"/>
              </a:rPr>
              <a:t>économique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européenne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été </a:t>
            </a:r>
            <a:r>
              <a:rPr sz="1800" dirty="0">
                <a:latin typeface="Arial"/>
                <a:cs typeface="Arial"/>
              </a:rPr>
              <a:t>signé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août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1992.”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29250" y="1141475"/>
            <a:ext cx="3373754" cy="3546475"/>
            <a:chOff x="5429250" y="1141475"/>
            <a:chExt cx="3373754" cy="3546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9250" y="1162049"/>
              <a:ext cx="3333750" cy="3467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38875" y="1166875"/>
              <a:ext cx="1200150" cy="1438275"/>
            </a:xfrm>
            <a:custGeom>
              <a:avLst/>
              <a:gdLst/>
              <a:ahLst/>
              <a:cxnLst/>
              <a:rect l="l" t="t" r="r" b="b"/>
              <a:pathLst>
                <a:path w="1200150" h="1438275">
                  <a:moveTo>
                    <a:pt x="457200" y="1438275"/>
                  </a:moveTo>
                  <a:lnTo>
                    <a:pt x="1200150" y="1438275"/>
                  </a:lnTo>
                  <a:lnTo>
                    <a:pt x="1200150" y="723900"/>
                  </a:lnTo>
                  <a:lnTo>
                    <a:pt x="457200" y="723900"/>
                  </a:lnTo>
                  <a:lnTo>
                    <a:pt x="457200" y="1438275"/>
                  </a:lnTo>
                  <a:close/>
                </a:path>
                <a:path w="1200150" h="1438275">
                  <a:moveTo>
                    <a:pt x="0" y="1409700"/>
                  </a:moveTo>
                  <a:lnTo>
                    <a:pt x="457200" y="1409700"/>
                  </a:lnTo>
                  <a:lnTo>
                    <a:pt x="457200" y="685800"/>
                  </a:lnTo>
                  <a:lnTo>
                    <a:pt x="0" y="685800"/>
                  </a:lnTo>
                  <a:lnTo>
                    <a:pt x="0" y="1409700"/>
                  </a:lnTo>
                  <a:close/>
                </a:path>
                <a:path w="1200150" h="1438275">
                  <a:moveTo>
                    <a:pt x="457200" y="723900"/>
                  </a:moveTo>
                  <a:lnTo>
                    <a:pt x="1162050" y="723900"/>
                  </a:lnTo>
                  <a:lnTo>
                    <a:pt x="1162050" y="0"/>
                  </a:lnTo>
                  <a:lnTo>
                    <a:pt x="457200" y="0"/>
                  </a:lnTo>
                  <a:lnTo>
                    <a:pt x="457200" y="723900"/>
                  </a:lnTo>
                  <a:close/>
                </a:path>
              </a:pathLst>
            </a:custGeom>
            <a:ln w="508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9825" y="1300225"/>
              <a:ext cx="3057525" cy="3362325"/>
            </a:xfrm>
            <a:custGeom>
              <a:avLst/>
              <a:gdLst/>
              <a:ahLst/>
              <a:cxnLst/>
              <a:rect l="l" t="t" r="r" b="b"/>
              <a:pathLst>
                <a:path w="3057525" h="3362325">
                  <a:moveTo>
                    <a:pt x="2162175" y="3343211"/>
                  </a:moveTo>
                  <a:lnTo>
                    <a:pt x="3057525" y="3343211"/>
                  </a:lnTo>
                  <a:lnTo>
                    <a:pt x="3057525" y="2428811"/>
                  </a:lnTo>
                  <a:lnTo>
                    <a:pt x="2162175" y="2428811"/>
                  </a:lnTo>
                  <a:lnTo>
                    <a:pt x="2162175" y="3343211"/>
                  </a:lnTo>
                  <a:close/>
                </a:path>
                <a:path w="3057525" h="3362325">
                  <a:moveTo>
                    <a:pt x="0" y="3362261"/>
                  </a:moveTo>
                  <a:lnTo>
                    <a:pt x="447675" y="3362261"/>
                  </a:lnTo>
                  <a:lnTo>
                    <a:pt x="447675" y="2447861"/>
                  </a:lnTo>
                  <a:lnTo>
                    <a:pt x="0" y="2447861"/>
                  </a:lnTo>
                  <a:lnTo>
                    <a:pt x="0" y="3362261"/>
                  </a:lnTo>
                  <a:close/>
                </a:path>
                <a:path w="3057525" h="3362325">
                  <a:moveTo>
                    <a:pt x="2181225" y="561975"/>
                  </a:moveTo>
                  <a:lnTo>
                    <a:pt x="3057525" y="561975"/>
                  </a:lnTo>
                  <a:lnTo>
                    <a:pt x="3057525" y="0"/>
                  </a:lnTo>
                  <a:lnTo>
                    <a:pt x="2181225" y="0"/>
                  </a:lnTo>
                  <a:lnTo>
                    <a:pt x="2181225" y="561975"/>
                  </a:lnTo>
                  <a:close/>
                </a:path>
              </a:pathLst>
            </a:custGeom>
            <a:ln w="50800">
              <a:solidFill>
                <a:srgbClr val="8A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63234" y="829627"/>
            <a:ext cx="2903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Visualize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attention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weights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39" y="3840755"/>
            <a:ext cx="5546725" cy="930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839"/>
              </a:lnSpc>
            </a:pPr>
            <a:r>
              <a:rPr sz="1550" dirty="0">
                <a:solidFill>
                  <a:srgbClr val="8A81D2"/>
                </a:solidFill>
                <a:latin typeface="Arial"/>
                <a:cs typeface="Arial"/>
              </a:rPr>
              <a:t>Diagonal</a:t>
            </a:r>
            <a:r>
              <a:rPr sz="1550" spc="1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8A81D2"/>
                </a:solidFill>
                <a:latin typeface="Arial"/>
                <a:cs typeface="Arial"/>
              </a:rPr>
              <a:t>attention</a:t>
            </a:r>
            <a:endParaRPr sz="1550">
              <a:latin typeface="Arial"/>
              <a:cs typeface="Arial"/>
            </a:endParaRPr>
          </a:p>
          <a:p>
            <a:pPr marL="3768725" marR="9525" indent="554355" algn="r">
              <a:lnSpc>
                <a:spcPts val="1950"/>
              </a:lnSpc>
              <a:spcBef>
                <a:spcPts val="10"/>
              </a:spcBef>
            </a:pPr>
            <a:r>
              <a:rPr sz="1550" dirty="0">
                <a:solidFill>
                  <a:srgbClr val="8A81D2"/>
                </a:solidFill>
                <a:latin typeface="Arial"/>
                <a:cs typeface="Arial"/>
              </a:rPr>
              <a:t>means</a:t>
            </a:r>
            <a:r>
              <a:rPr sz="1550" spc="12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8A81D2"/>
                </a:solidFill>
                <a:latin typeface="Arial"/>
                <a:cs typeface="Arial"/>
              </a:rPr>
              <a:t>words </a:t>
            </a:r>
            <a:r>
              <a:rPr sz="1550" dirty="0">
                <a:solidFill>
                  <a:srgbClr val="8A81D2"/>
                </a:solidFill>
                <a:latin typeface="Arial"/>
                <a:cs typeface="Arial"/>
              </a:rPr>
              <a:t>correspond</a:t>
            </a:r>
            <a:r>
              <a:rPr sz="1550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81D2"/>
                </a:solidFill>
                <a:latin typeface="Arial"/>
                <a:cs typeface="Arial"/>
              </a:rPr>
              <a:t>in</a:t>
            </a:r>
            <a:r>
              <a:rPr sz="1550" spc="10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8A81D2"/>
                </a:solidFill>
                <a:latin typeface="Arial"/>
                <a:cs typeface="Arial"/>
              </a:rPr>
              <a:t>order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26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49055" y="953452"/>
            <a:ext cx="1454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t,i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7487" y="1582737"/>
            <a:ext cx="3162300" cy="8540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899"/>
              </a:lnSpc>
              <a:spcBef>
                <a:spcPts val="80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The</a:t>
            </a:r>
            <a:r>
              <a:rPr sz="1800" b="1" spc="-1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agreement</a:t>
            </a:r>
            <a:r>
              <a:rPr sz="1800" b="1" spc="-5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on</a:t>
            </a:r>
            <a:r>
              <a:rPr sz="1800" b="1" spc="-3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3981B9"/>
                </a:solidFill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European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Economic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Area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was </a:t>
            </a:r>
            <a:r>
              <a:rPr sz="1800" dirty="0">
                <a:latin typeface="Arial"/>
                <a:cs typeface="Arial"/>
              </a:rPr>
              <a:t>signed in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8A81D2"/>
                </a:solidFill>
                <a:latin typeface="Arial"/>
                <a:cs typeface="Arial"/>
              </a:rPr>
              <a:t>August</a:t>
            </a:r>
            <a:r>
              <a:rPr sz="180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8A81D2"/>
                </a:solidFill>
                <a:latin typeface="Arial"/>
                <a:cs typeface="Arial"/>
              </a:rPr>
              <a:t>1992.</a:t>
            </a:r>
            <a:r>
              <a:rPr sz="1800" spc="-10" dirty="0">
                <a:latin typeface="Arial"/>
                <a:cs typeface="Arial"/>
              </a:rPr>
              <a:t>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487" y="2689225"/>
            <a:ext cx="3169285" cy="844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9100"/>
              </a:lnSpc>
              <a:spcBef>
                <a:spcPts val="12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L’accord</a:t>
            </a:r>
            <a:r>
              <a:rPr sz="1800" b="1" spc="-5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sur</a:t>
            </a:r>
            <a:r>
              <a:rPr sz="1800" b="1" spc="-2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la</a:t>
            </a:r>
            <a:r>
              <a:rPr sz="1800" b="1" spc="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zone </a:t>
            </a:r>
            <a:r>
              <a:rPr sz="1800" dirty="0">
                <a:latin typeface="Arial"/>
                <a:cs typeface="Arial"/>
              </a:rPr>
              <a:t>économique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européenne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été </a:t>
            </a:r>
            <a:r>
              <a:rPr sz="1800" dirty="0">
                <a:latin typeface="Arial"/>
                <a:cs typeface="Arial"/>
              </a:rPr>
              <a:t>signé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8A81D2"/>
                </a:solidFill>
                <a:latin typeface="Arial"/>
                <a:cs typeface="Arial"/>
              </a:rPr>
              <a:t>en</a:t>
            </a:r>
            <a:r>
              <a:rPr sz="1800" b="1" spc="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8A81D2"/>
                </a:solidFill>
                <a:latin typeface="Arial"/>
                <a:cs typeface="Arial"/>
              </a:rPr>
              <a:t>août</a:t>
            </a:r>
            <a:r>
              <a:rPr sz="1800" b="1" spc="-10" dirty="0">
                <a:solidFill>
                  <a:srgbClr val="8A81D2"/>
                </a:solidFill>
                <a:latin typeface="Arial"/>
                <a:cs typeface="Arial"/>
              </a:rPr>
              <a:t> 1992.</a:t>
            </a:r>
            <a:r>
              <a:rPr sz="1800" spc="-10" dirty="0">
                <a:latin typeface="Arial"/>
                <a:cs typeface="Arial"/>
              </a:rPr>
              <a:t>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1803" y="659130"/>
            <a:ext cx="209677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Example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English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1803" y="936307"/>
            <a:ext cx="18624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French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translation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5140" y="1766252"/>
            <a:ext cx="179070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26364" algn="r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solidFill>
                  <a:srgbClr val="3981B9"/>
                </a:solidFill>
                <a:latin typeface="Arial"/>
                <a:cs typeface="Arial"/>
              </a:rPr>
              <a:t>Diagonal</a:t>
            </a:r>
            <a:r>
              <a:rPr sz="1550" spc="13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981B9"/>
                </a:solidFill>
                <a:latin typeface="Arial"/>
                <a:cs typeface="Arial"/>
              </a:rPr>
              <a:t>attention </a:t>
            </a:r>
            <a:r>
              <a:rPr sz="1550" dirty="0">
                <a:solidFill>
                  <a:srgbClr val="3981B9"/>
                </a:solidFill>
                <a:latin typeface="Arial"/>
                <a:cs typeface="Arial"/>
              </a:rPr>
              <a:t>means</a:t>
            </a:r>
            <a:r>
              <a:rPr sz="1550" spc="12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981B9"/>
                </a:solidFill>
                <a:latin typeface="Arial"/>
                <a:cs typeface="Arial"/>
              </a:rPr>
              <a:t>words </a:t>
            </a:r>
            <a:r>
              <a:rPr sz="1550" dirty="0">
                <a:solidFill>
                  <a:srgbClr val="3981B9"/>
                </a:solidFill>
                <a:latin typeface="Arial"/>
                <a:cs typeface="Arial"/>
              </a:rPr>
              <a:t>correspond</a:t>
            </a:r>
            <a:r>
              <a:rPr sz="1550" spc="9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3981B9"/>
                </a:solidFill>
                <a:latin typeface="Arial"/>
                <a:cs typeface="Arial"/>
              </a:rPr>
              <a:t>in</a:t>
            </a:r>
            <a:r>
              <a:rPr sz="1550" spc="10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3981B9"/>
                </a:solidFill>
                <a:latin typeface="Arial"/>
                <a:cs typeface="Arial"/>
              </a:rPr>
              <a:t>order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9250" y="1162050"/>
            <a:ext cx="3333750" cy="3467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63234" y="829627"/>
            <a:ext cx="2903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Visualize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attention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weights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9055" y="953452"/>
            <a:ext cx="1454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t,i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22951" y="1103375"/>
            <a:ext cx="3479800" cy="3584575"/>
            <a:chOff x="5322951" y="1103375"/>
            <a:chExt cx="3479800" cy="3584575"/>
          </a:xfrm>
        </p:grpSpPr>
        <p:sp>
          <p:nvSpPr>
            <p:cNvPr id="6" name="object 6"/>
            <p:cNvSpPr/>
            <p:nvPr/>
          </p:nvSpPr>
          <p:spPr>
            <a:xfrm>
              <a:off x="5738876" y="1166875"/>
              <a:ext cx="1200150" cy="1438275"/>
            </a:xfrm>
            <a:custGeom>
              <a:avLst/>
              <a:gdLst/>
              <a:ahLst/>
              <a:cxnLst/>
              <a:rect l="l" t="t" r="r" b="b"/>
              <a:pathLst>
                <a:path w="1200150" h="1438275">
                  <a:moveTo>
                    <a:pt x="457200" y="1438275"/>
                  </a:moveTo>
                  <a:lnTo>
                    <a:pt x="1200150" y="1438275"/>
                  </a:lnTo>
                  <a:lnTo>
                    <a:pt x="1200150" y="723900"/>
                  </a:lnTo>
                  <a:lnTo>
                    <a:pt x="457200" y="723900"/>
                  </a:lnTo>
                  <a:lnTo>
                    <a:pt x="457200" y="1438275"/>
                  </a:lnTo>
                  <a:close/>
                </a:path>
                <a:path w="1200150" h="1438275">
                  <a:moveTo>
                    <a:pt x="0" y="1409700"/>
                  </a:moveTo>
                  <a:lnTo>
                    <a:pt x="457200" y="1409700"/>
                  </a:lnTo>
                  <a:lnTo>
                    <a:pt x="457200" y="685800"/>
                  </a:lnTo>
                  <a:lnTo>
                    <a:pt x="0" y="685800"/>
                  </a:lnTo>
                  <a:lnTo>
                    <a:pt x="0" y="1409700"/>
                  </a:lnTo>
                  <a:close/>
                </a:path>
                <a:path w="1200150" h="1438275">
                  <a:moveTo>
                    <a:pt x="457200" y="723900"/>
                  </a:moveTo>
                  <a:lnTo>
                    <a:pt x="1162050" y="723900"/>
                  </a:lnTo>
                  <a:lnTo>
                    <a:pt x="1162050" y="0"/>
                  </a:lnTo>
                  <a:lnTo>
                    <a:pt x="457200" y="0"/>
                  </a:lnTo>
                  <a:lnTo>
                    <a:pt x="457200" y="723900"/>
                  </a:lnTo>
                  <a:close/>
                </a:path>
              </a:pathLst>
            </a:custGeom>
            <a:ln w="508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9826" y="1300225"/>
              <a:ext cx="3057525" cy="3362325"/>
            </a:xfrm>
            <a:custGeom>
              <a:avLst/>
              <a:gdLst/>
              <a:ahLst/>
              <a:cxnLst/>
              <a:rect l="l" t="t" r="r" b="b"/>
              <a:pathLst>
                <a:path w="3057525" h="3362325">
                  <a:moveTo>
                    <a:pt x="2162175" y="3343211"/>
                  </a:moveTo>
                  <a:lnTo>
                    <a:pt x="3057525" y="3343211"/>
                  </a:lnTo>
                  <a:lnTo>
                    <a:pt x="3057525" y="2428811"/>
                  </a:lnTo>
                  <a:lnTo>
                    <a:pt x="2162175" y="2428811"/>
                  </a:lnTo>
                  <a:lnTo>
                    <a:pt x="2162175" y="3343211"/>
                  </a:lnTo>
                  <a:close/>
                </a:path>
                <a:path w="3057525" h="3362325">
                  <a:moveTo>
                    <a:pt x="0" y="3362261"/>
                  </a:moveTo>
                  <a:lnTo>
                    <a:pt x="447675" y="3362261"/>
                  </a:lnTo>
                  <a:lnTo>
                    <a:pt x="447675" y="2447861"/>
                  </a:lnTo>
                  <a:lnTo>
                    <a:pt x="0" y="2447861"/>
                  </a:lnTo>
                  <a:lnTo>
                    <a:pt x="0" y="3362261"/>
                  </a:lnTo>
                  <a:close/>
                </a:path>
                <a:path w="3057525" h="3362325">
                  <a:moveTo>
                    <a:pt x="2181225" y="561975"/>
                  </a:moveTo>
                  <a:lnTo>
                    <a:pt x="3057525" y="561975"/>
                  </a:lnTo>
                  <a:lnTo>
                    <a:pt x="3057525" y="0"/>
                  </a:lnTo>
                  <a:lnTo>
                    <a:pt x="2181225" y="0"/>
                  </a:lnTo>
                  <a:lnTo>
                    <a:pt x="2181225" y="561975"/>
                  </a:lnTo>
                  <a:close/>
                </a:path>
              </a:pathLst>
            </a:custGeom>
            <a:ln w="50800">
              <a:solidFill>
                <a:srgbClr val="8A8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8351" y="1128775"/>
              <a:ext cx="2133600" cy="2047875"/>
            </a:xfrm>
            <a:custGeom>
              <a:avLst/>
              <a:gdLst/>
              <a:ahLst/>
              <a:cxnLst/>
              <a:rect l="l" t="t" r="r" b="b"/>
              <a:pathLst>
                <a:path w="2133600" h="2047875">
                  <a:moveTo>
                    <a:pt x="0" y="2028825"/>
                  </a:moveTo>
                  <a:lnTo>
                    <a:pt x="819150" y="2028825"/>
                  </a:lnTo>
                  <a:lnTo>
                    <a:pt x="819150" y="1476375"/>
                  </a:lnTo>
                  <a:lnTo>
                    <a:pt x="0" y="1476375"/>
                  </a:lnTo>
                  <a:lnTo>
                    <a:pt x="0" y="2028825"/>
                  </a:lnTo>
                  <a:close/>
                </a:path>
                <a:path w="2133600" h="2047875">
                  <a:moveTo>
                    <a:pt x="1552575" y="723900"/>
                  </a:moveTo>
                  <a:lnTo>
                    <a:pt x="2133600" y="723900"/>
                  </a:lnTo>
                  <a:lnTo>
                    <a:pt x="2133600" y="0"/>
                  </a:lnTo>
                  <a:lnTo>
                    <a:pt x="1552575" y="0"/>
                  </a:lnTo>
                  <a:lnTo>
                    <a:pt x="1552575" y="723900"/>
                  </a:lnTo>
                  <a:close/>
                </a:path>
                <a:path w="2133600" h="2047875">
                  <a:moveTo>
                    <a:pt x="1552575" y="2047875"/>
                  </a:moveTo>
                  <a:lnTo>
                    <a:pt x="2133600" y="2047875"/>
                  </a:lnTo>
                  <a:lnTo>
                    <a:pt x="2133600" y="1447800"/>
                  </a:lnTo>
                  <a:lnTo>
                    <a:pt x="1552575" y="1447800"/>
                  </a:lnTo>
                  <a:lnTo>
                    <a:pt x="1552575" y="2047875"/>
                  </a:lnTo>
                  <a:close/>
                </a:path>
              </a:pathLst>
            </a:custGeom>
            <a:ln w="508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795140" y="1766252"/>
            <a:ext cx="179070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26364" algn="r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solidFill>
                  <a:srgbClr val="3981B9"/>
                </a:solidFill>
                <a:latin typeface="Arial"/>
                <a:cs typeface="Arial"/>
              </a:rPr>
              <a:t>Diagonal</a:t>
            </a:r>
            <a:r>
              <a:rPr sz="1550" spc="13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981B9"/>
                </a:solidFill>
                <a:latin typeface="Arial"/>
                <a:cs typeface="Arial"/>
              </a:rPr>
              <a:t>attention </a:t>
            </a:r>
            <a:r>
              <a:rPr sz="1550" dirty="0">
                <a:solidFill>
                  <a:srgbClr val="3981B9"/>
                </a:solidFill>
                <a:latin typeface="Arial"/>
                <a:cs typeface="Arial"/>
              </a:rPr>
              <a:t>means</a:t>
            </a:r>
            <a:r>
              <a:rPr sz="1550" spc="12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3981B9"/>
                </a:solidFill>
                <a:latin typeface="Arial"/>
                <a:cs typeface="Arial"/>
              </a:rPr>
              <a:t>words </a:t>
            </a:r>
            <a:r>
              <a:rPr sz="1550" dirty="0">
                <a:solidFill>
                  <a:srgbClr val="3981B9"/>
                </a:solidFill>
                <a:latin typeface="Arial"/>
                <a:cs typeface="Arial"/>
              </a:rPr>
              <a:t>correspond</a:t>
            </a:r>
            <a:r>
              <a:rPr sz="1550" spc="9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3981B9"/>
                </a:solidFill>
                <a:latin typeface="Arial"/>
                <a:cs typeface="Arial"/>
              </a:rPr>
              <a:t>in</a:t>
            </a:r>
            <a:r>
              <a:rPr sz="1550" spc="10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3981B9"/>
                </a:solidFill>
                <a:latin typeface="Arial"/>
                <a:cs typeface="Arial"/>
              </a:rPr>
              <a:t>order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3840755"/>
            <a:ext cx="5546725" cy="930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839"/>
              </a:lnSpc>
            </a:pPr>
            <a:r>
              <a:rPr sz="1550" dirty="0">
                <a:solidFill>
                  <a:srgbClr val="8A81D2"/>
                </a:solidFill>
                <a:latin typeface="Arial"/>
                <a:cs typeface="Arial"/>
              </a:rPr>
              <a:t>Diagonal</a:t>
            </a:r>
            <a:r>
              <a:rPr sz="1550" spc="1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8A81D2"/>
                </a:solidFill>
                <a:latin typeface="Arial"/>
                <a:cs typeface="Arial"/>
              </a:rPr>
              <a:t>attention</a:t>
            </a:r>
            <a:endParaRPr sz="1550">
              <a:latin typeface="Arial"/>
              <a:cs typeface="Arial"/>
            </a:endParaRPr>
          </a:p>
          <a:p>
            <a:pPr marL="3768725" marR="9525" indent="554355" algn="r">
              <a:lnSpc>
                <a:spcPts val="1950"/>
              </a:lnSpc>
              <a:spcBef>
                <a:spcPts val="10"/>
              </a:spcBef>
            </a:pPr>
            <a:r>
              <a:rPr sz="1550" dirty="0">
                <a:solidFill>
                  <a:srgbClr val="8A81D2"/>
                </a:solidFill>
                <a:latin typeface="Arial"/>
                <a:cs typeface="Arial"/>
              </a:rPr>
              <a:t>means</a:t>
            </a:r>
            <a:r>
              <a:rPr sz="1550" spc="12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8A81D2"/>
                </a:solidFill>
                <a:latin typeface="Arial"/>
                <a:cs typeface="Arial"/>
              </a:rPr>
              <a:t>words </a:t>
            </a:r>
            <a:r>
              <a:rPr sz="1550" dirty="0">
                <a:solidFill>
                  <a:srgbClr val="8A81D2"/>
                </a:solidFill>
                <a:latin typeface="Arial"/>
                <a:cs typeface="Arial"/>
              </a:rPr>
              <a:t>correspond</a:t>
            </a:r>
            <a:r>
              <a:rPr sz="1550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81D2"/>
                </a:solidFill>
                <a:latin typeface="Arial"/>
                <a:cs typeface="Arial"/>
              </a:rPr>
              <a:t>in</a:t>
            </a:r>
            <a:r>
              <a:rPr sz="1550" spc="10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8A81D2"/>
                </a:solidFill>
                <a:latin typeface="Arial"/>
                <a:cs typeface="Arial"/>
              </a:rPr>
              <a:t>order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750" dirty="0">
                <a:latin typeface="Arial"/>
                <a:cs typeface="Arial"/>
              </a:rPr>
              <a:t>Bahdanau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et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al, “Neural</a:t>
            </a:r>
            <a:r>
              <a:rPr sz="750" spc="-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machine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translation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by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jointly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learning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to</a:t>
            </a:r>
            <a:r>
              <a:rPr sz="750" spc="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align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and</a:t>
            </a:r>
            <a:r>
              <a:rPr sz="750" spc="4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translate”,</a:t>
            </a:r>
            <a:r>
              <a:rPr sz="750" spc="30" dirty="0">
                <a:latin typeface="Arial"/>
                <a:cs typeface="Arial"/>
              </a:rPr>
              <a:t> </a:t>
            </a:r>
            <a:r>
              <a:rPr sz="750" dirty="0">
                <a:latin typeface="Arial"/>
                <a:cs typeface="Arial"/>
              </a:rPr>
              <a:t>ICLR</a:t>
            </a:r>
            <a:r>
              <a:rPr sz="750" spc="1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2015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2335"/>
              </a:lnSpc>
            </a:pPr>
            <a:r>
              <a:rPr sz="2700" baseline="1543" dirty="0"/>
              <a:t>Lecture</a:t>
            </a:r>
            <a:r>
              <a:rPr sz="2700" spc="-44" baseline="1543" dirty="0"/>
              <a:t> </a:t>
            </a:r>
            <a:r>
              <a:rPr sz="2700" baseline="1543" dirty="0"/>
              <a:t>8</a:t>
            </a:r>
            <a:r>
              <a:rPr sz="2700" spc="-37" baseline="1543" dirty="0"/>
              <a:t> </a:t>
            </a:r>
            <a:r>
              <a:rPr sz="2700" baseline="1543" dirty="0"/>
              <a:t>-</a:t>
            </a:r>
            <a:r>
              <a:rPr sz="2700" spc="375" baseline="1543" dirty="0"/>
              <a:t> </a:t>
            </a:r>
            <a:fld id="{81D60167-4931-47E6-BA6A-407CBD079E47}" type="slidenum">
              <a:rPr sz="2000" spc="-25" dirty="0">
                <a:latin typeface="Arial"/>
                <a:cs typeface="Arial"/>
              </a:rPr>
              <a:t>27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7487" y="1582737"/>
            <a:ext cx="3283585" cy="8540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b="1" dirty="0">
                <a:latin typeface="Arial"/>
                <a:cs typeface="Arial"/>
              </a:rPr>
              <a:t>Input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The</a:t>
            </a:r>
            <a:r>
              <a:rPr sz="1800" b="1" spc="-1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agreement</a:t>
            </a:r>
            <a:r>
              <a:rPr sz="1800" b="1" spc="-5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on</a:t>
            </a:r>
            <a:r>
              <a:rPr sz="1800" b="1" spc="-3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3981B9"/>
                </a:solidFill>
                <a:latin typeface="Arial"/>
                <a:cs typeface="Arial"/>
              </a:rPr>
              <a:t>the </a:t>
            </a:r>
            <a:r>
              <a:rPr sz="1800" b="1" dirty="0">
                <a:solidFill>
                  <a:srgbClr val="D79F39"/>
                </a:solidFill>
                <a:latin typeface="Arial"/>
                <a:cs typeface="Arial"/>
              </a:rPr>
              <a:t>European</a:t>
            </a:r>
            <a:r>
              <a:rPr sz="1800" b="1" spc="-5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79F39"/>
                </a:solidFill>
                <a:latin typeface="Arial"/>
                <a:cs typeface="Arial"/>
              </a:rPr>
              <a:t>Economic</a:t>
            </a:r>
            <a:r>
              <a:rPr sz="1800" b="1" spc="-2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79F39"/>
                </a:solidFill>
                <a:latin typeface="Arial"/>
                <a:cs typeface="Arial"/>
              </a:rPr>
              <a:t>Area</a:t>
            </a:r>
            <a:r>
              <a:rPr sz="1800" b="1" spc="-3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was </a:t>
            </a:r>
            <a:r>
              <a:rPr sz="1800" dirty="0">
                <a:latin typeface="Arial"/>
                <a:cs typeface="Arial"/>
              </a:rPr>
              <a:t>signed in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8A81D2"/>
                </a:solidFill>
                <a:latin typeface="Arial"/>
                <a:cs typeface="Arial"/>
              </a:rPr>
              <a:t>August</a:t>
            </a:r>
            <a:r>
              <a:rPr sz="180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8A81D2"/>
                </a:solidFill>
                <a:latin typeface="Arial"/>
                <a:cs typeface="Arial"/>
              </a:rPr>
              <a:t>1992.</a:t>
            </a:r>
            <a:r>
              <a:rPr sz="1800" spc="-10" dirty="0">
                <a:latin typeface="Arial"/>
                <a:cs typeface="Arial"/>
              </a:rPr>
              <a:t>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7487" y="2689225"/>
            <a:ext cx="3305175" cy="844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25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L’accord</a:t>
            </a:r>
            <a:r>
              <a:rPr sz="1800" b="1" spc="-5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sur</a:t>
            </a:r>
            <a:r>
              <a:rPr sz="1800" b="1" spc="-2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981B9"/>
                </a:solidFill>
                <a:latin typeface="Arial"/>
                <a:cs typeface="Arial"/>
              </a:rPr>
              <a:t>la</a:t>
            </a:r>
            <a:r>
              <a:rPr sz="1800" b="1" spc="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D79F39"/>
                </a:solidFill>
                <a:latin typeface="Arial"/>
                <a:cs typeface="Arial"/>
              </a:rPr>
              <a:t>zone </a:t>
            </a:r>
            <a:r>
              <a:rPr sz="1800" b="1" dirty="0">
                <a:solidFill>
                  <a:srgbClr val="D79F39"/>
                </a:solidFill>
                <a:latin typeface="Arial"/>
                <a:cs typeface="Arial"/>
              </a:rPr>
              <a:t>économique</a:t>
            </a:r>
            <a:r>
              <a:rPr sz="180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79F39"/>
                </a:solidFill>
                <a:latin typeface="Arial"/>
                <a:cs typeface="Arial"/>
              </a:rPr>
              <a:t>européenne</a:t>
            </a:r>
            <a:r>
              <a:rPr sz="1800" b="1" spc="-2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été </a:t>
            </a:r>
            <a:r>
              <a:rPr sz="1800" dirty="0">
                <a:latin typeface="Arial"/>
                <a:cs typeface="Arial"/>
              </a:rPr>
              <a:t>signé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8A81D2"/>
                </a:solidFill>
                <a:latin typeface="Arial"/>
                <a:cs typeface="Arial"/>
              </a:rPr>
              <a:t>en</a:t>
            </a:r>
            <a:r>
              <a:rPr sz="1800" b="1" spc="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8A81D2"/>
                </a:solidFill>
                <a:latin typeface="Arial"/>
                <a:cs typeface="Arial"/>
              </a:rPr>
              <a:t>août</a:t>
            </a:r>
            <a:r>
              <a:rPr sz="1800" b="1" spc="-10" dirty="0">
                <a:solidFill>
                  <a:srgbClr val="8A81D2"/>
                </a:solidFill>
                <a:latin typeface="Arial"/>
                <a:cs typeface="Arial"/>
              </a:rPr>
              <a:t> 1992.</a:t>
            </a:r>
            <a:r>
              <a:rPr sz="1800" spc="-10" dirty="0">
                <a:latin typeface="Arial"/>
                <a:cs typeface="Arial"/>
              </a:rPr>
              <a:t>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1803" y="659130"/>
            <a:ext cx="2096770" cy="57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Arial"/>
                <a:cs typeface="Arial"/>
              </a:rPr>
              <a:t>Example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English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Arial"/>
                <a:cs typeface="Arial"/>
              </a:rPr>
              <a:t>French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translation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86504" y="2576448"/>
            <a:ext cx="1497965" cy="7531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solidFill>
                  <a:srgbClr val="D79F39"/>
                </a:solidFill>
                <a:latin typeface="Arial"/>
                <a:cs typeface="Arial"/>
              </a:rPr>
              <a:t>Attention</a:t>
            </a:r>
            <a:r>
              <a:rPr sz="1550" spc="14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D79F39"/>
                </a:solidFill>
                <a:latin typeface="Arial"/>
                <a:cs typeface="Arial"/>
              </a:rPr>
              <a:t>figures</a:t>
            </a:r>
            <a:endParaRPr sz="15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0"/>
              </a:spcBef>
            </a:pPr>
            <a:r>
              <a:rPr sz="1550" dirty="0">
                <a:solidFill>
                  <a:srgbClr val="D79F39"/>
                </a:solidFill>
                <a:latin typeface="Arial"/>
                <a:cs typeface="Arial"/>
              </a:rPr>
              <a:t>out</a:t>
            </a:r>
            <a:r>
              <a:rPr sz="1550" spc="9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D79F39"/>
                </a:solidFill>
                <a:latin typeface="Arial"/>
                <a:cs typeface="Arial"/>
              </a:rPr>
              <a:t>other</a:t>
            </a:r>
            <a:r>
              <a:rPr sz="1550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D79F39"/>
                </a:solidFill>
                <a:latin typeface="Arial"/>
                <a:cs typeface="Arial"/>
              </a:rPr>
              <a:t>word</a:t>
            </a:r>
            <a:endParaRPr sz="1550">
              <a:latin typeface="Arial"/>
              <a:cs typeface="Arial"/>
            </a:endParaRPr>
          </a:p>
          <a:p>
            <a:pPr marR="7620" algn="r">
              <a:lnSpc>
                <a:spcPct val="100000"/>
              </a:lnSpc>
              <a:spcBef>
                <a:spcPts val="90"/>
              </a:spcBef>
            </a:pPr>
            <a:r>
              <a:rPr sz="1550" spc="-10" dirty="0">
                <a:solidFill>
                  <a:srgbClr val="D79F39"/>
                </a:solidFill>
                <a:latin typeface="Arial"/>
                <a:cs typeface="Arial"/>
              </a:rPr>
              <a:t>orders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3712" y="3429063"/>
            <a:ext cx="7840980" cy="468630"/>
            <a:chOff x="493712" y="3429063"/>
            <a:chExt cx="7840980" cy="468630"/>
          </a:xfrm>
        </p:grpSpPr>
        <p:sp>
          <p:nvSpPr>
            <p:cNvPr id="3" name="object 3"/>
            <p:cNvSpPr/>
            <p:nvPr/>
          </p:nvSpPr>
          <p:spPr>
            <a:xfrm>
              <a:off x="5653151" y="3433826"/>
              <a:ext cx="2676525" cy="238125"/>
            </a:xfrm>
            <a:custGeom>
              <a:avLst/>
              <a:gdLst/>
              <a:ahLst/>
              <a:cxnLst/>
              <a:rect l="l" t="t" r="r" b="b"/>
              <a:pathLst>
                <a:path w="2676525" h="238125">
                  <a:moveTo>
                    <a:pt x="0" y="228600"/>
                  </a:moveTo>
                  <a:lnTo>
                    <a:pt x="123825" y="228600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  <a:path w="2676525" h="238125">
                  <a:moveTo>
                    <a:pt x="847725" y="238125"/>
                  </a:moveTo>
                  <a:lnTo>
                    <a:pt x="971550" y="238125"/>
                  </a:lnTo>
                  <a:lnTo>
                    <a:pt x="971550" y="9525"/>
                  </a:lnTo>
                  <a:lnTo>
                    <a:pt x="847725" y="9525"/>
                  </a:lnTo>
                  <a:lnTo>
                    <a:pt x="847725" y="238125"/>
                  </a:lnTo>
                  <a:close/>
                </a:path>
                <a:path w="2676525" h="238125">
                  <a:moveTo>
                    <a:pt x="1695450" y="238125"/>
                  </a:moveTo>
                  <a:lnTo>
                    <a:pt x="1819275" y="238125"/>
                  </a:lnTo>
                  <a:lnTo>
                    <a:pt x="1819275" y="0"/>
                  </a:lnTo>
                  <a:lnTo>
                    <a:pt x="1695450" y="0"/>
                  </a:lnTo>
                  <a:lnTo>
                    <a:pt x="1695450" y="238125"/>
                  </a:lnTo>
                  <a:close/>
                </a:path>
                <a:path w="2676525" h="238125">
                  <a:moveTo>
                    <a:pt x="2552700" y="238125"/>
                  </a:moveTo>
                  <a:lnTo>
                    <a:pt x="2676525" y="238125"/>
                  </a:lnTo>
                  <a:lnTo>
                    <a:pt x="2676525" y="0"/>
                  </a:lnTo>
                  <a:lnTo>
                    <a:pt x="2552700" y="0"/>
                  </a:lnTo>
                  <a:lnTo>
                    <a:pt x="255270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DD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3402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8562" y="3436937"/>
            <a:ext cx="298450" cy="460375"/>
            <a:chOff x="1198562" y="3436937"/>
            <a:chExt cx="298450" cy="460375"/>
          </a:xfrm>
        </p:grpSpPr>
        <p:sp>
          <p:nvSpPr>
            <p:cNvPr id="8" name="object 8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DD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56283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03476" y="3436937"/>
            <a:ext cx="298450" cy="460375"/>
            <a:chOff x="1903476" y="3436937"/>
            <a:chExt cx="298450" cy="460375"/>
          </a:xfrm>
        </p:grpSpPr>
        <p:sp>
          <p:nvSpPr>
            <p:cNvPr id="12" name="object 12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DD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58975" y="3587496"/>
            <a:ext cx="176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4662" y="2560701"/>
            <a:ext cx="336550" cy="469900"/>
            <a:chOff x="474662" y="2560701"/>
            <a:chExt cx="336550" cy="469900"/>
          </a:xfrm>
        </p:grpSpPr>
        <p:sp>
          <p:nvSpPr>
            <p:cNvPr id="16" name="object 16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7369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79512" y="2560701"/>
            <a:ext cx="336550" cy="469900"/>
            <a:chOff x="1179512" y="2560701"/>
            <a:chExt cx="336550" cy="469900"/>
          </a:xfrm>
        </p:grpSpPr>
        <p:sp>
          <p:nvSpPr>
            <p:cNvPr id="20" name="object 20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53236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24" name="object 24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955800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28" name="object 28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98801" y="3436937"/>
            <a:ext cx="298450" cy="460375"/>
            <a:chOff x="2598801" y="3436937"/>
            <a:chExt cx="298450" cy="460375"/>
          </a:xfrm>
        </p:grpSpPr>
        <p:sp>
          <p:nvSpPr>
            <p:cNvPr id="32" name="object 32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DD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661920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579751" y="2560701"/>
            <a:ext cx="346075" cy="469900"/>
            <a:chOff x="2579751" y="2560701"/>
            <a:chExt cx="346075" cy="469900"/>
          </a:xfrm>
        </p:grpSpPr>
        <p:sp>
          <p:nvSpPr>
            <p:cNvPr id="36" name="object 36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658745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4837" y="2252726"/>
            <a:ext cx="7005955" cy="1189990"/>
            <a:chOff x="604837" y="2252726"/>
            <a:chExt cx="7005955" cy="1189990"/>
          </a:xfrm>
        </p:grpSpPr>
        <p:sp>
          <p:nvSpPr>
            <p:cNvPr id="40" name="object 40"/>
            <p:cNvSpPr/>
            <p:nvPr/>
          </p:nvSpPr>
          <p:spPr>
            <a:xfrm>
              <a:off x="604837" y="2252725"/>
              <a:ext cx="5145405" cy="1189990"/>
            </a:xfrm>
            <a:custGeom>
              <a:avLst/>
              <a:gdLst/>
              <a:ahLst/>
              <a:cxnLst/>
              <a:rect l="l" t="t" r="r" b="b"/>
              <a:pathLst>
                <a:path w="5145405" h="1189989">
                  <a:moveTo>
                    <a:pt x="53505" y="1189863"/>
                  </a:moveTo>
                  <a:lnTo>
                    <a:pt x="51282" y="847852"/>
                  </a:lnTo>
                  <a:lnTo>
                    <a:pt x="25882" y="847852"/>
                  </a:lnTo>
                  <a:lnTo>
                    <a:pt x="28092" y="1189863"/>
                  </a:lnTo>
                  <a:lnTo>
                    <a:pt x="28105" y="1189990"/>
                  </a:lnTo>
                  <a:lnTo>
                    <a:pt x="53505" y="1189863"/>
                  </a:lnTo>
                  <a:close/>
                </a:path>
                <a:path w="5145405" h="118998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5145405" h="1189989">
                  <a:moveTo>
                    <a:pt x="76695" y="847471"/>
                  </a:moveTo>
                  <a:lnTo>
                    <a:pt x="70358" y="835025"/>
                  </a:lnTo>
                  <a:lnTo>
                    <a:pt x="38100" y="771525"/>
                  </a:lnTo>
                  <a:lnTo>
                    <a:pt x="495" y="847852"/>
                  </a:lnTo>
                  <a:lnTo>
                    <a:pt x="25869" y="847737"/>
                  </a:lnTo>
                  <a:lnTo>
                    <a:pt x="51269" y="847610"/>
                  </a:lnTo>
                  <a:lnTo>
                    <a:pt x="76695" y="847471"/>
                  </a:lnTo>
                  <a:close/>
                </a:path>
                <a:path w="5145405" h="1189989">
                  <a:moveTo>
                    <a:pt x="575627" y="542925"/>
                  </a:moveTo>
                  <a:lnTo>
                    <a:pt x="550227" y="530225"/>
                  </a:lnTo>
                  <a:lnTo>
                    <a:pt x="499427" y="504825"/>
                  </a:lnTo>
                  <a:lnTo>
                    <a:pt x="499427" y="530225"/>
                  </a:lnTo>
                  <a:lnTo>
                    <a:pt x="200025" y="530225"/>
                  </a:lnTo>
                  <a:lnTo>
                    <a:pt x="200025" y="555625"/>
                  </a:lnTo>
                  <a:lnTo>
                    <a:pt x="499427" y="555625"/>
                  </a:lnTo>
                  <a:lnTo>
                    <a:pt x="499427" y="581025"/>
                  </a:lnTo>
                  <a:lnTo>
                    <a:pt x="550227" y="555625"/>
                  </a:lnTo>
                  <a:lnTo>
                    <a:pt x="575627" y="542925"/>
                  </a:lnTo>
                  <a:close/>
                </a:path>
                <a:path w="5145405" h="1189989">
                  <a:moveTo>
                    <a:pt x="780986" y="847725"/>
                  </a:moveTo>
                  <a:lnTo>
                    <a:pt x="774636" y="835025"/>
                  </a:lnTo>
                  <a:lnTo>
                    <a:pt x="742886" y="771525"/>
                  </a:lnTo>
                  <a:lnTo>
                    <a:pt x="704786" y="847725"/>
                  </a:lnTo>
                  <a:lnTo>
                    <a:pt x="730186" y="847725"/>
                  </a:lnTo>
                  <a:lnTo>
                    <a:pt x="730313" y="1189990"/>
                  </a:lnTo>
                  <a:lnTo>
                    <a:pt x="755713" y="1189990"/>
                  </a:lnTo>
                  <a:lnTo>
                    <a:pt x="755586" y="847725"/>
                  </a:lnTo>
                  <a:lnTo>
                    <a:pt x="780986" y="847725"/>
                  </a:lnTo>
                  <a:close/>
                </a:path>
                <a:path w="5145405" h="1189989">
                  <a:moveTo>
                    <a:pt x="780986" y="76200"/>
                  </a:moveTo>
                  <a:lnTo>
                    <a:pt x="774636" y="63500"/>
                  </a:lnTo>
                  <a:lnTo>
                    <a:pt x="742886" y="0"/>
                  </a:lnTo>
                  <a:lnTo>
                    <a:pt x="704786" y="76200"/>
                  </a:lnTo>
                  <a:lnTo>
                    <a:pt x="730186" y="76200"/>
                  </a:lnTo>
                  <a:lnTo>
                    <a:pt x="730313" y="314325"/>
                  </a:lnTo>
                  <a:lnTo>
                    <a:pt x="755713" y="314325"/>
                  </a:lnTo>
                  <a:lnTo>
                    <a:pt x="755586" y="76200"/>
                  </a:lnTo>
                  <a:lnTo>
                    <a:pt x="780986" y="76200"/>
                  </a:lnTo>
                  <a:close/>
                </a:path>
                <a:path w="5145405" h="1189989">
                  <a:moveTo>
                    <a:pt x="1277810" y="542925"/>
                  </a:moveTo>
                  <a:lnTo>
                    <a:pt x="1252410" y="530225"/>
                  </a:lnTo>
                  <a:lnTo>
                    <a:pt x="1201610" y="504825"/>
                  </a:lnTo>
                  <a:lnTo>
                    <a:pt x="1201610" y="530225"/>
                  </a:lnTo>
                  <a:lnTo>
                    <a:pt x="904938" y="530225"/>
                  </a:lnTo>
                  <a:lnTo>
                    <a:pt x="904938" y="555625"/>
                  </a:lnTo>
                  <a:lnTo>
                    <a:pt x="1201610" y="555625"/>
                  </a:lnTo>
                  <a:lnTo>
                    <a:pt x="1201610" y="581025"/>
                  </a:lnTo>
                  <a:lnTo>
                    <a:pt x="1252410" y="555625"/>
                  </a:lnTo>
                  <a:lnTo>
                    <a:pt x="1277810" y="542925"/>
                  </a:lnTo>
                  <a:close/>
                </a:path>
                <a:path w="5145405" h="1189989">
                  <a:moveTo>
                    <a:pt x="1485836" y="847725"/>
                  </a:moveTo>
                  <a:lnTo>
                    <a:pt x="1479486" y="835025"/>
                  </a:lnTo>
                  <a:lnTo>
                    <a:pt x="1447736" y="771525"/>
                  </a:lnTo>
                  <a:lnTo>
                    <a:pt x="1409636" y="847725"/>
                  </a:lnTo>
                  <a:lnTo>
                    <a:pt x="1435036" y="847725"/>
                  </a:lnTo>
                  <a:lnTo>
                    <a:pt x="1435163" y="1189990"/>
                  </a:lnTo>
                  <a:lnTo>
                    <a:pt x="1460563" y="1189990"/>
                  </a:lnTo>
                  <a:lnTo>
                    <a:pt x="1460436" y="847725"/>
                  </a:lnTo>
                  <a:lnTo>
                    <a:pt x="1485836" y="847725"/>
                  </a:lnTo>
                  <a:close/>
                </a:path>
                <a:path w="5145405" h="1189989">
                  <a:moveTo>
                    <a:pt x="1486598" y="76200"/>
                  </a:moveTo>
                  <a:lnTo>
                    <a:pt x="1480286" y="63500"/>
                  </a:lnTo>
                  <a:lnTo>
                    <a:pt x="1448752" y="0"/>
                  </a:lnTo>
                  <a:lnTo>
                    <a:pt x="1410322" y="76200"/>
                  </a:lnTo>
                  <a:lnTo>
                    <a:pt x="1435747" y="76200"/>
                  </a:lnTo>
                  <a:lnTo>
                    <a:pt x="1435163" y="314325"/>
                  </a:lnTo>
                  <a:lnTo>
                    <a:pt x="1460563" y="314325"/>
                  </a:lnTo>
                  <a:lnTo>
                    <a:pt x="1461160" y="76200"/>
                  </a:lnTo>
                  <a:lnTo>
                    <a:pt x="1486598" y="76200"/>
                  </a:lnTo>
                  <a:close/>
                </a:path>
                <a:path w="5145405" h="1189989">
                  <a:moveTo>
                    <a:pt x="1982660" y="542925"/>
                  </a:moveTo>
                  <a:lnTo>
                    <a:pt x="1957260" y="530225"/>
                  </a:lnTo>
                  <a:lnTo>
                    <a:pt x="1906460" y="504825"/>
                  </a:lnTo>
                  <a:lnTo>
                    <a:pt x="1906460" y="530225"/>
                  </a:lnTo>
                  <a:lnTo>
                    <a:pt x="1609661" y="530225"/>
                  </a:lnTo>
                  <a:lnTo>
                    <a:pt x="1609661" y="555625"/>
                  </a:lnTo>
                  <a:lnTo>
                    <a:pt x="1906460" y="555625"/>
                  </a:lnTo>
                  <a:lnTo>
                    <a:pt x="1906460" y="581025"/>
                  </a:lnTo>
                  <a:lnTo>
                    <a:pt x="1957260" y="555625"/>
                  </a:lnTo>
                  <a:lnTo>
                    <a:pt x="1982660" y="542925"/>
                  </a:lnTo>
                  <a:close/>
                </a:path>
                <a:path w="5145405" h="1189989">
                  <a:moveTo>
                    <a:pt x="2181161" y="847725"/>
                  </a:moveTo>
                  <a:lnTo>
                    <a:pt x="2174811" y="835025"/>
                  </a:lnTo>
                  <a:lnTo>
                    <a:pt x="2143061" y="771525"/>
                  </a:lnTo>
                  <a:lnTo>
                    <a:pt x="2104961" y="847725"/>
                  </a:lnTo>
                  <a:lnTo>
                    <a:pt x="2130361" y="847725"/>
                  </a:lnTo>
                  <a:lnTo>
                    <a:pt x="2130488" y="1189990"/>
                  </a:lnTo>
                  <a:lnTo>
                    <a:pt x="2155888" y="1189990"/>
                  </a:lnTo>
                  <a:lnTo>
                    <a:pt x="2155761" y="847725"/>
                  </a:lnTo>
                  <a:lnTo>
                    <a:pt x="2181161" y="847725"/>
                  </a:lnTo>
                  <a:close/>
                </a:path>
                <a:path w="5145405" h="1189989">
                  <a:moveTo>
                    <a:pt x="2181288" y="76200"/>
                  </a:moveTo>
                  <a:lnTo>
                    <a:pt x="2174913" y="63500"/>
                  </a:lnTo>
                  <a:lnTo>
                    <a:pt x="2143061" y="0"/>
                  </a:lnTo>
                  <a:lnTo>
                    <a:pt x="2105088" y="76200"/>
                  </a:lnTo>
                  <a:lnTo>
                    <a:pt x="2130361" y="76200"/>
                  </a:lnTo>
                  <a:lnTo>
                    <a:pt x="2130488" y="314325"/>
                  </a:lnTo>
                  <a:lnTo>
                    <a:pt x="2155888" y="314325"/>
                  </a:lnTo>
                  <a:lnTo>
                    <a:pt x="2155761" y="76200"/>
                  </a:lnTo>
                  <a:lnTo>
                    <a:pt x="2181288" y="76200"/>
                  </a:lnTo>
                  <a:close/>
                </a:path>
                <a:path w="5145405" h="1189989">
                  <a:moveTo>
                    <a:pt x="5145214" y="1101471"/>
                  </a:moveTo>
                  <a:lnTo>
                    <a:pt x="5119814" y="1101471"/>
                  </a:lnTo>
                  <a:lnTo>
                    <a:pt x="5119814" y="555625"/>
                  </a:lnTo>
                  <a:lnTo>
                    <a:pt x="5119814" y="542925"/>
                  </a:lnTo>
                  <a:lnTo>
                    <a:pt x="5119814" y="535813"/>
                  </a:lnTo>
                  <a:lnTo>
                    <a:pt x="5114099" y="530225"/>
                  </a:lnTo>
                  <a:lnTo>
                    <a:pt x="3933761" y="530225"/>
                  </a:lnTo>
                  <a:lnTo>
                    <a:pt x="3933761" y="555625"/>
                  </a:lnTo>
                  <a:lnTo>
                    <a:pt x="5094414" y="555625"/>
                  </a:lnTo>
                  <a:lnTo>
                    <a:pt x="5094414" y="1101471"/>
                  </a:lnTo>
                  <a:lnTo>
                    <a:pt x="5069014" y="1101471"/>
                  </a:lnTo>
                  <a:lnTo>
                    <a:pt x="5107114" y="1177671"/>
                  </a:lnTo>
                  <a:lnTo>
                    <a:pt x="5138864" y="1114171"/>
                  </a:lnTo>
                  <a:lnTo>
                    <a:pt x="5145214" y="1101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15076" y="2786126"/>
              <a:ext cx="1790700" cy="238125"/>
            </a:xfrm>
            <a:custGeom>
              <a:avLst/>
              <a:gdLst/>
              <a:ahLst/>
              <a:cxnLst/>
              <a:rect l="l" t="t" r="r" b="b"/>
              <a:pathLst>
                <a:path w="1790700" h="238125">
                  <a:moveTo>
                    <a:pt x="0" y="238125"/>
                  </a:moveTo>
                  <a:lnTo>
                    <a:pt x="123825" y="238125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  <a:path w="1790700" h="238125">
                  <a:moveTo>
                    <a:pt x="1676400" y="238125"/>
                  </a:moveTo>
                  <a:lnTo>
                    <a:pt x="1790700" y="238125"/>
                  </a:lnTo>
                  <a:lnTo>
                    <a:pt x="1790700" y="0"/>
                  </a:lnTo>
                  <a:lnTo>
                    <a:pt x="1676400" y="0"/>
                  </a:lnTo>
                  <a:lnTo>
                    <a:pt x="167640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890895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646926" y="2560701"/>
            <a:ext cx="346075" cy="469900"/>
            <a:chOff x="6646926" y="2560701"/>
            <a:chExt cx="346075" cy="469900"/>
          </a:xfrm>
        </p:grpSpPr>
        <p:sp>
          <p:nvSpPr>
            <p:cNvPr id="46" name="object 46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734809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711190" y="4211637"/>
            <a:ext cx="540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99226" y="3436937"/>
            <a:ext cx="327025" cy="460375"/>
            <a:chOff x="5999226" y="3436937"/>
            <a:chExt cx="327025" cy="460375"/>
          </a:xfrm>
        </p:grpSpPr>
        <p:sp>
          <p:nvSpPr>
            <p:cNvPr id="51" name="object 51"/>
            <p:cNvSpPr/>
            <p:nvPr/>
          </p:nvSpPr>
          <p:spPr>
            <a:xfrm>
              <a:off x="6005576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3143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14325" y="4476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05576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0" y="447675"/>
                  </a:moveTo>
                  <a:lnTo>
                    <a:pt x="314325" y="447675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074790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62801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485126" y="2560701"/>
            <a:ext cx="336550" cy="469900"/>
            <a:chOff x="7485126" y="2560701"/>
            <a:chExt cx="336550" cy="469900"/>
          </a:xfrm>
        </p:grpSpPr>
        <p:sp>
          <p:nvSpPr>
            <p:cNvPr id="57" name="object 57"/>
            <p:cNvSpPr/>
            <p:nvPr/>
          </p:nvSpPr>
          <p:spPr>
            <a:xfrm>
              <a:off x="74914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4914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567676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332851" y="2560701"/>
            <a:ext cx="346075" cy="469900"/>
            <a:chOff x="8332851" y="2560701"/>
            <a:chExt cx="346075" cy="469900"/>
          </a:xfrm>
        </p:grpSpPr>
        <p:sp>
          <p:nvSpPr>
            <p:cNvPr id="61" name="object 61"/>
            <p:cNvSpPr/>
            <p:nvPr/>
          </p:nvSpPr>
          <p:spPr>
            <a:xfrm>
              <a:off x="83392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3392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8422385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5010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348726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280145" y="1315148"/>
            <a:ext cx="4629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[STOP]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618226" y="2147951"/>
            <a:ext cx="2930525" cy="1749425"/>
            <a:chOff x="5618226" y="2147951"/>
            <a:chExt cx="2930525" cy="1749425"/>
          </a:xfrm>
        </p:grpSpPr>
        <p:sp>
          <p:nvSpPr>
            <p:cNvPr id="68" name="object 68"/>
            <p:cNvSpPr/>
            <p:nvPr/>
          </p:nvSpPr>
          <p:spPr>
            <a:xfrm>
              <a:off x="6043676" y="2147950"/>
              <a:ext cx="2505075" cy="1298575"/>
            </a:xfrm>
            <a:custGeom>
              <a:avLst/>
              <a:gdLst/>
              <a:ahLst/>
              <a:cxnLst/>
              <a:rect l="l" t="t" r="r" b="b"/>
              <a:pathLst>
                <a:path w="2505075" h="1298575">
                  <a:moveTo>
                    <a:pt x="76200" y="952500"/>
                  </a:moveTo>
                  <a:lnTo>
                    <a:pt x="69850" y="939800"/>
                  </a:lnTo>
                  <a:lnTo>
                    <a:pt x="38100" y="876300"/>
                  </a:lnTo>
                  <a:lnTo>
                    <a:pt x="0" y="952500"/>
                  </a:lnTo>
                  <a:lnTo>
                    <a:pt x="25387" y="952500"/>
                  </a:lnTo>
                  <a:lnTo>
                    <a:pt x="25273" y="1294638"/>
                  </a:lnTo>
                  <a:lnTo>
                    <a:pt x="50673" y="1294638"/>
                  </a:lnTo>
                  <a:lnTo>
                    <a:pt x="50787" y="952500"/>
                  </a:lnTo>
                  <a:lnTo>
                    <a:pt x="76200" y="952500"/>
                  </a:lnTo>
                  <a:close/>
                </a:path>
                <a:path w="2505075" h="1298575">
                  <a:moveTo>
                    <a:pt x="608965" y="647700"/>
                  </a:moveTo>
                  <a:lnTo>
                    <a:pt x="583565" y="635000"/>
                  </a:lnTo>
                  <a:lnTo>
                    <a:pt x="532765" y="609600"/>
                  </a:lnTo>
                  <a:lnTo>
                    <a:pt x="532765" y="635000"/>
                  </a:lnTo>
                  <a:lnTo>
                    <a:pt x="95123" y="635000"/>
                  </a:lnTo>
                  <a:lnTo>
                    <a:pt x="95123" y="660400"/>
                  </a:lnTo>
                  <a:lnTo>
                    <a:pt x="532765" y="660400"/>
                  </a:lnTo>
                  <a:lnTo>
                    <a:pt x="532765" y="685800"/>
                  </a:lnTo>
                  <a:lnTo>
                    <a:pt x="583565" y="660400"/>
                  </a:lnTo>
                  <a:lnTo>
                    <a:pt x="608965" y="647700"/>
                  </a:lnTo>
                  <a:close/>
                </a:path>
                <a:path w="2505075" h="1298575">
                  <a:moveTo>
                    <a:pt x="1445768" y="647700"/>
                  </a:moveTo>
                  <a:lnTo>
                    <a:pt x="1420368" y="635000"/>
                  </a:lnTo>
                  <a:lnTo>
                    <a:pt x="1369568" y="609600"/>
                  </a:lnTo>
                  <a:lnTo>
                    <a:pt x="1369568" y="635000"/>
                  </a:lnTo>
                  <a:lnTo>
                    <a:pt x="942848" y="635000"/>
                  </a:lnTo>
                  <a:lnTo>
                    <a:pt x="942848" y="660400"/>
                  </a:lnTo>
                  <a:lnTo>
                    <a:pt x="1369568" y="660400"/>
                  </a:lnTo>
                  <a:lnTo>
                    <a:pt x="1369568" y="685800"/>
                  </a:lnTo>
                  <a:lnTo>
                    <a:pt x="1420368" y="660400"/>
                  </a:lnTo>
                  <a:lnTo>
                    <a:pt x="1445768" y="647700"/>
                  </a:lnTo>
                  <a:close/>
                </a:path>
                <a:path w="2505075" h="1298575">
                  <a:moveTo>
                    <a:pt x="1647761" y="76200"/>
                  </a:moveTo>
                  <a:lnTo>
                    <a:pt x="1641398" y="63500"/>
                  </a:lnTo>
                  <a:lnTo>
                    <a:pt x="1609598" y="0"/>
                  </a:lnTo>
                  <a:lnTo>
                    <a:pt x="1571498" y="76200"/>
                  </a:lnTo>
                  <a:lnTo>
                    <a:pt x="1596898" y="76200"/>
                  </a:lnTo>
                  <a:lnTo>
                    <a:pt x="1597025" y="421767"/>
                  </a:lnTo>
                  <a:lnTo>
                    <a:pt x="1622425" y="421767"/>
                  </a:lnTo>
                  <a:lnTo>
                    <a:pt x="1622298" y="76200"/>
                  </a:lnTo>
                  <a:lnTo>
                    <a:pt x="1647761" y="76200"/>
                  </a:lnTo>
                  <a:close/>
                </a:path>
                <a:path w="2505075" h="1298575">
                  <a:moveTo>
                    <a:pt x="2296287" y="647700"/>
                  </a:moveTo>
                  <a:lnTo>
                    <a:pt x="2270887" y="635000"/>
                  </a:lnTo>
                  <a:lnTo>
                    <a:pt x="2220087" y="609600"/>
                  </a:lnTo>
                  <a:lnTo>
                    <a:pt x="2220087" y="635000"/>
                  </a:lnTo>
                  <a:lnTo>
                    <a:pt x="1771523" y="635000"/>
                  </a:lnTo>
                  <a:lnTo>
                    <a:pt x="1771523" y="660400"/>
                  </a:lnTo>
                  <a:lnTo>
                    <a:pt x="2220087" y="660400"/>
                  </a:lnTo>
                  <a:lnTo>
                    <a:pt x="2220087" y="685800"/>
                  </a:lnTo>
                  <a:lnTo>
                    <a:pt x="2270887" y="660400"/>
                  </a:lnTo>
                  <a:lnTo>
                    <a:pt x="2296287" y="647700"/>
                  </a:lnTo>
                  <a:close/>
                </a:path>
                <a:path w="2505075" h="1298575">
                  <a:moveTo>
                    <a:pt x="2504948" y="952373"/>
                  </a:moveTo>
                  <a:lnTo>
                    <a:pt x="2498598" y="939673"/>
                  </a:lnTo>
                  <a:lnTo>
                    <a:pt x="2466848" y="876173"/>
                  </a:lnTo>
                  <a:lnTo>
                    <a:pt x="2428748" y="952373"/>
                  </a:lnTo>
                  <a:lnTo>
                    <a:pt x="2454148" y="952373"/>
                  </a:lnTo>
                  <a:lnTo>
                    <a:pt x="2454275" y="1298067"/>
                  </a:lnTo>
                  <a:lnTo>
                    <a:pt x="2479675" y="1298067"/>
                  </a:lnTo>
                  <a:lnTo>
                    <a:pt x="2479548" y="952373"/>
                  </a:lnTo>
                  <a:lnTo>
                    <a:pt x="2504948" y="952373"/>
                  </a:lnTo>
                  <a:close/>
                </a:path>
                <a:path w="2505075" h="1298575">
                  <a:moveTo>
                    <a:pt x="2504948" y="76200"/>
                  </a:moveTo>
                  <a:lnTo>
                    <a:pt x="2498598" y="63500"/>
                  </a:lnTo>
                  <a:lnTo>
                    <a:pt x="2466848" y="0"/>
                  </a:lnTo>
                  <a:lnTo>
                    <a:pt x="2428748" y="76200"/>
                  </a:lnTo>
                  <a:lnTo>
                    <a:pt x="2454148" y="76200"/>
                  </a:lnTo>
                  <a:lnTo>
                    <a:pt x="2454275" y="421767"/>
                  </a:lnTo>
                  <a:lnTo>
                    <a:pt x="2479675" y="421767"/>
                  </a:lnTo>
                  <a:lnTo>
                    <a:pt x="2479548" y="76200"/>
                  </a:lnTo>
                  <a:lnTo>
                    <a:pt x="250494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688076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824601" y="3024251"/>
            <a:ext cx="1330325" cy="882650"/>
            <a:chOff x="5824601" y="3024251"/>
            <a:chExt cx="1330325" cy="882650"/>
          </a:xfrm>
        </p:grpSpPr>
        <p:sp>
          <p:nvSpPr>
            <p:cNvPr id="73" name="object 73"/>
            <p:cNvSpPr/>
            <p:nvPr/>
          </p:nvSpPr>
          <p:spPr>
            <a:xfrm>
              <a:off x="5824601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673" y="63500"/>
                  </a:moveTo>
                  <a:lnTo>
                    <a:pt x="25400" y="63500"/>
                  </a:lnTo>
                  <a:lnTo>
                    <a:pt x="25273" y="418338"/>
                  </a:lnTo>
                  <a:lnTo>
                    <a:pt x="50673" y="418338"/>
                  </a:lnTo>
                  <a:lnTo>
                    <a:pt x="50673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395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673" y="63500"/>
                  </a:lnTo>
                  <a:lnTo>
                    <a:pt x="50673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43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304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800" y="457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43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457200"/>
                  </a:moveTo>
                  <a:lnTo>
                    <a:pt x="304800" y="457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912609" y="3590861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456426" y="3024251"/>
            <a:ext cx="501650" cy="882650"/>
            <a:chOff x="6456426" y="3024251"/>
            <a:chExt cx="501650" cy="882650"/>
          </a:xfrm>
        </p:grpSpPr>
        <p:sp>
          <p:nvSpPr>
            <p:cNvPr id="78" name="object 78"/>
            <p:cNvSpPr/>
            <p:nvPr/>
          </p:nvSpPr>
          <p:spPr>
            <a:xfrm>
              <a:off x="6881749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462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304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800" y="457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462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457200"/>
                  </a:moveTo>
                  <a:lnTo>
                    <a:pt x="304800" y="457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6525641" y="3590861"/>
            <a:ext cx="1765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662673" y="3024251"/>
            <a:ext cx="1330960" cy="873125"/>
            <a:chOff x="6662673" y="3024251"/>
            <a:chExt cx="1330960" cy="873125"/>
          </a:xfrm>
        </p:grpSpPr>
        <p:sp>
          <p:nvSpPr>
            <p:cNvPr id="83" name="object 83"/>
            <p:cNvSpPr/>
            <p:nvPr/>
          </p:nvSpPr>
          <p:spPr>
            <a:xfrm>
              <a:off x="6662673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681975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681975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7751191" y="3587496"/>
            <a:ext cx="176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7285101" y="3024251"/>
            <a:ext cx="511175" cy="873125"/>
            <a:chOff x="7285101" y="3024251"/>
            <a:chExt cx="511175" cy="873125"/>
          </a:xfrm>
        </p:grpSpPr>
        <p:sp>
          <p:nvSpPr>
            <p:cNvPr id="88" name="object 88"/>
            <p:cNvSpPr/>
            <p:nvPr/>
          </p:nvSpPr>
          <p:spPr>
            <a:xfrm>
              <a:off x="7719949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29145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3143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14325" y="4476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29145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0" y="447675"/>
                  </a:moveTo>
                  <a:lnTo>
                    <a:pt x="314325" y="447675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7364476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7500873" y="3024251"/>
            <a:ext cx="1359535" cy="873125"/>
            <a:chOff x="7500873" y="3024251"/>
            <a:chExt cx="1359535" cy="873125"/>
          </a:xfrm>
        </p:grpSpPr>
        <p:sp>
          <p:nvSpPr>
            <p:cNvPr id="93" name="object 93"/>
            <p:cNvSpPr/>
            <p:nvPr/>
          </p:nvSpPr>
          <p:spPr>
            <a:xfrm>
              <a:off x="7500873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548750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548750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8615933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151876" y="3024251"/>
            <a:ext cx="511175" cy="873125"/>
            <a:chOff x="8151876" y="3024251"/>
            <a:chExt cx="511175" cy="873125"/>
          </a:xfrm>
        </p:grpSpPr>
        <p:sp>
          <p:nvSpPr>
            <p:cNvPr id="98" name="object 98"/>
            <p:cNvSpPr/>
            <p:nvPr/>
          </p:nvSpPr>
          <p:spPr>
            <a:xfrm>
              <a:off x="8586724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800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800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15822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5822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8229345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446087" y="1960626"/>
            <a:ext cx="7997825" cy="2124075"/>
            <a:chOff x="446087" y="1960626"/>
            <a:chExt cx="7997825" cy="2124075"/>
          </a:xfrm>
        </p:grpSpPr>
        <p:sp>
          <p:nvSpPr>
            <p:cNvPr id="103" name="object 103"/>
            <p:cNvSpPr/>
            <p:nvPr/>
          </p:nvSpPr>
          <p:spPr>
            <a:xfrm>
              <a:off x="6135751" y="2897123"/>
              <a:ext cx="2308225" cy="545465"/>
            </a:xfrm>
            <a:custGeom>
              <a:avLst/>
              <a:gdLst/>
              <a:ahLst/>
              <a:cxnLst/>
              <a:rect l="l" t="t" r="r" b="b"/>
              <a:pathLst>
                <a:path w="2308225" h="545464">
                  <a:moveTo>
                    <a:pt x="464439" y="463042"/>
                  </a:moveTo>
                  <a:lnTo>
                    <a:pt x="439039" y="463042"/>
                  </a:lnTo>
                  <a:lnTo>
                    <a:pt x="439039" y="25400"/>
                  </a:lnTo>
                  <a:lnTo>
                    <a:pt x="439039" y="5715"/>
                  </a:lnTo>
                  <a:lnTo>
                    <a:pt x="433324" y="0"/>
                  </a:lnTo>
                  <a:lnTo>
                    <a:pt x="5588" y="0"/>
                  </a:lnTo>
                  <a:lnTo>
                    <a:pt x="0" y="5715"/>
                  </a:lnTo>
                  <a:lnTo>
                    <a:pt x="0" y="12827"/>
                  </a:lnTo>
                  <a:lnTo>
                    <a:pt x="25400" y="12827"/>
                  </a:lnTo>
                  <a:lnTo>
                    <a:pt x="12700" y="25400"/>
                  </a:lnTo>
                  <a:lnTo>
                    <a:pt x="413639" y="25400"/>
                  </a:lnTo>
                  <a:lnTo>
                    <a:pt x="413639" y="12827"/>
                  </a:lnTo>
                  <a:lnTo>
                    <a:pt x="413766" y="12827"/>
                  </a:lnTo>
                  <a:lnTo>
                    <a:pt x="413639" y="463042"/>
                  </a:lnTo>
                  <a:lnTo>
                    <a:pt x="388239" y="463042"/>
                  </a:lnTo>
                  <a:lnTo>
                    <a:pt x="426339" y="539242"/>
                  </a:lnTo>
                  <a:lnTo>
                    <a:pt x="458089" y="475742"/>
                  </a:lnTo>
                  <a:lnTo>
                    <a:pt x="464439" y="463042"/>
                  </a:lnTo>
                  <a:close/>
                </a:path>
                <a:path w="2308225" h="545464">
                  <a:moveTo>
                    <a:pt x="1311021" y="467233"/>
                  </a:moveTo>
                  <a:lnTo>
                    <a:pt x="1285621" y="467233"/>
                  </a:lnTo>
                  <a:lnTo>
                    <a:pt x="1285621" y="33655"/>
                  </a:lnTo>
                  <a:lnTo>
                    <a:pt x="1285621" y="13970"/>
                  </a:lnTo>
                  <a:lnTo>
                    <a:pt x="1284478" y="12827"/>
                  </a:lnTo>
                  <a:lnTo>
                    <a:pt x="1279906" y="8255"/>
                  </a:lnTo>
                  <a:lnTo>
                    <a:pt x="860298" y="8255"/>
                  </a:lnTo>
                  <a:lnTo>
                    <a:pt x="864870" y="12827"/>
                  </a:lnTo>
                  <a:lnTo>
                    <a:pt x="847598" y="12827"/>
                  </a:lnTo>
                  <a:lnTo>
                    <a:pt x="847598" y="27940"/>
                  </a:lnTo>
                  <a:lnTo>
                    <a:pt x="853313" y="33655"/>
                  </a:lnTo>
                  <a:lnTo>
                    <a:pt x="1260221" y="33655"/>
                  </a:lnTo>
                  <a:lnTo>
                    <a:pt x="1260221" y="467233"/>
                  </a:lnTo>
                  <a:lnTo>
                    <a:pt x="1234821" y="467233"/>
                  </a:lnTo>
                  <a:lnTo>
                    <a:pt x="1272921" y="543433"/>
                  </a:lnTo>
                  <a:lnTo>
                    <a:pt x="1304671" y="479933"/>
                  </a:lnTo>
                  <a:lnTo>
                    <a:pt x="1311021" y="467233"/>
                  </a:lnTo>
                  <a:close/>
                </a:path>
                <a:path w="2308225" h="545464">
                  <a:moveTo>
                    <a:pt x="2169668" y="461391"/>
                  </a:moveTo>
                  <a:lnTo>
                    <a:pt x="2144268" y="461391"/>
                  </a:lnTo>
                  <a:lnTo>
                    <a:pt x="2144268" y="25908"/>
                  </a:lnTo>
                  <a:lnTo>
                    <a:pt x="2144268" y="6223"/>
                  </a:lnTo>
                  <a:lnTo>
                    <a:pt x="2141347" y="3302"/>
                  </a:lnTo>
                  <a:lnTo>
                    <a:pt x="2138553" y="508"/>
                  </a:lnTo>
                  <a:lnTo>
                    <a:pt x="1688973" y="508"/>
                  </a:lnTo>
                  <a:lnTo>
                    <a:pt x="1691792" y="3302"/>
                  </a:lnTo>
                  <a:lnTo>
                    <a:pt x="1676400" y="3302"/>
                  </a:lnTo>
                  <a:lnTo>
                    <a:pt x="1676400" y="20193"/>
                  </a:lnTo>
                  <a:lnTo>
                    <a:pt x="1681988" y="25908"/>
                  </a:lnTo>
                  <a:lnTo>
                    <a:pt x="2118868" y="25908"/>
                  </a:lnTo>
                  <a:lnTo>
                    <a:pt x="2118868" y="461391"/>
                  </a:lnTo>
                  <a:lnTo>
                    <a:pt x="2093468" y="461391"/>
                  </a:lnTo>
                  <a:lnTo>
                    <a:pt x="2131568" y="537591"/>
                  </a:lnTo>
                  <a:lnTo>
                    <a:pt x="2163318" y="474091"/>
                  </a:lnTo>
                  <a:lnTo>
                    <a:pt x="2169668" y="461391"/>
                  </a:lnTo>
                  <a:close/>
                </a:path>
                <a:path w="2308225" h="545464">
                  <a:moveTo>
                    <a:pt x="2308098" y="203327"/>
                  </a:moveTo>
                  <a:lnTo>
                    <a:pt x="2301748" y="190627"/>
                  </a:lnTo>
                  <a:lnTo>
                    <a:pt x="2269998" y="127127"/>
                  </a:lnTo>
                  <a:lnTo>
                    <a:pt x="2231898" y="203327"/>
                  </a:lnTo>
                  <a:lnTo>
                    <a:pt x="2257298" y="203327"/>
                  </a:lnTo>
                  <a:lnTo>
                    <a:pt x="2257298" y="545465"/>
                  </a:lnTo>
                  <a:lnTo>
                    <a:pt x="2282698" y="545465"/>
                  </a:lnTo>
                  <a:lnTo>
                    <a:pt x="2282698" y="203327"/>
                  </a:lnTo>
                  <a:lnTo>
                    <a:pt x="2308098" y="203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548126" y="4071937"/>
              <a:ext cx="4765675" cy="0"/>
            </a:xfrm>
            <a:custGeom>
              <a:avLst/>
              <a:gdLst/>
              <a:ahLst/>
              <a:cxnLst/>
              <a:rect l="l" t="t" r="r" b="b"/>
              <a:pathLst>
                <a:path w="4765675">
                  <a:moveTo>
                    <a:pt x="0" y="0"/>
                  </a:moveTo>
                  <a:lnTo>
                    <a:pt x="4765421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9826" y="3900487"/>
              <a:ext cx="76200" cy="16889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7423" y="3900487"/>
              <a:ext cx="76200" cy="168897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5623" y="3900487"/>
              <a:ext cx="76200" cy="168897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1923" y="3900487"/>
              <a:ext cx="76200" cy="16889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3557523" y="2395601"/>
              <a:ext cx="635" cy="1672589"/>
            </a:xfrm>
            <a:custGeom>
              <a:avLst/>
              <a:gdLst/>
              <a:ahLst/>
              <a:cxnLst/>
              <a:rect l="l" t="t" r="r" b="b"/>
              <a:pathLst>
                <a:path w="635" h="1672589">
                  <a:moveTo>
                    <a:pt x="126" y="167258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04837" y="2147950"/>
              <a:ext cx="6258560" cy="685800"/>
            </a:xfrm>
            <a:custGeom>
              <a:avLst/>
              <a:gdLst/>
              <a:ahLst/>
              <a:cxnLst/>
              <a:rect l="l" t="t" r="r" b="b"/>
              <a:pathLst>
                <a:path w="6258559" h="685800">
                  <a:moveTo>
                    <a:pt x="575627" y="647700"/>
                  </a:moveTo>
                  <a:lnTo>
                    <a:pt x="550227" y="635000"/>
                  </a:lnTo>
                  <a:lnTo>
                    <a:pt x="499427" y="609600"/>
                  </a:lnTo>
                  <a:lnTo>
                    <a:pt x="499427" y="635000"/>
                  </a:lnTo>
                  <a:lnTo>
                    <a:pt x="200025" y="635000"/>
                  </a:lnTo>
                  <a:lnTo>
                    <a:pt x="200025" y="660400"/>
                  </a:lnTo>
                  <a:lnTo>
                    <a:pt x="499427" y="660400"/>
                  </a:lnTo>
                  <a:lnTo>
                    <a:pt x="499427" y="685800"/>
                  </a:lnTo>
                  <a:lnTo>
                    <a:pt x="550227" y="660400"/>
                  </a:lnTo>
                  <a:lnTo>
                    <a:pt x="575627" y="647700"/>
                  </a:lnTo>
                  <a:close/>
                </a:path>
                <a:path w="6258559" h="685800">
                  <a:moveTo>
                    <a:pt x="1277810" y="647700"/>
                  </a:moveTo>
                  <a:lnTo>
                    <a:pt x="1252410" y="635000"/>
                  </a:lnTo>
                  <a:lnTo>
                    <a:pt x="1201610" y="609600"/>
                  </a:lnTo>
                  <a:lnTo>
                    <a:pt x="1201610" y="635000"/>
                  </a:lnTo>
                  <a:lnTo>
                    <a:pt x="904938" y="635000"/>
                  </a:lnTo>
                  <a:lnTo>
                    <a:pt x="904938" y="660400"/>
                  </a:lnTo>
                  <a:lnTo>
                    <a:pt x="1201610" y="660400"/>
                  </a:lnTo>
                  <a:lnTo>
                    <a:pt x="1201610" y="685800"/>
                  </a:lnTo>
                  <a:lnTo>
                    <a:pt x="1252410" y="660400"/>
                  </a:lnTo>
                  <a:lnTo>
                    <a:pt x="1277810" y="647700"/>
                  </a:lnTo>
                  <a:close/>
                </a:path>
                <a:path w="6258559" h="685800">
                  <a:moveTo>
                    <a:pt x="1982660" y="647700"/>
                  </a:moveTo>
                  <a:lnTo>
                    <a:pt x="1957260" y="635000"/>
                  </a:lnTo>
                  <a:lnTo>
                    <a:pt x="1906460" y="609600"/>
                  </a:lnTo>
                  <a:lnTo>
                    <a:pt x="1906460" y="635000"/>
                  </a:lnTo>
                  <a:lnTo>
                    <a:pt x="1609661" y="635000"/>
                  </a:lnTo>
                  <a:lnTo>
                    <a:pt x="1609661" y="660400"/>
                  </a:lnTo>
                  <a:lnTo>
                    <a:pt x="1906460" y="660400"/>
                  </a:lnTo>
                  <a:lnTo>
                    <a:pt x="1906460" y="685800"/>
                  </a:lnTo>
                  <a:lnTo>
                    <a:pt x="1957260" y="660400"/>
                  </a:lnTo>
                  <a:lnTo>
                    <a:pt x="1982660" y="647700"/>
                  </a:lnTo>
                  <a:close/>
                </a:path>
                <a:path w="6258559" h="685800">
                  <a:moveTo>
                    <a:pt x="2955988" y="247650"/>
                  </a:moveTo>
                  <a:lnTo>
                    <a:pt x="2930664" y="234950"/>
                  </a:lnTo>
                  <a:lnTo>
                    <a:pt x="2879788" y="209423"/>
                  </a:lnTo>
                  <a:lnTo>
                    <a:pt x="2879788" y="234950"/>
                  </a:lnTo>
                  <a:lnTo>
                    <a:pt x="2155787" y="234950"/>
                  </a:lnTo>
                  <a:lnTo>
                    <a:pt x="2155761" y="180975"/>
                  </a:lnTo>
                  <a:lnTo>
                    <a:pt x="2181288" y="180975"/>
                  </a:lnTo>
                  <a:lnTo>
                    <a:pt x="2174913" y="168275"/>
                  </a:lnTo>
                  <a:lnTo>
                    <a:pt x="2143061" y="104775"/>
                  </a:lnTo>
                  <a:lnTo>
                    <a:pt x="2105088" y="180975"/>
                  </a:lnTo>
                  <a:lnTo>
                    <a:pt x="2130361" y="180975"/>
                  </a:lnTo>
                  <a:lnTo>
                    <a:pt x="2130387" y="234950"/>
                  </a:lnTo>
                  <a:lnTo>
                    <a:pt x="1461020" y="234950"/>
                  </a:lnTo>
                  <a:lnTo>
                    <a:pt x="1461160" y="180975"/>
                  </a:lnTo>
                  <a:lnTo>
                    <a:pt x="1486598" y="180975"/>
                  </a:lnTo>
                  <a:lnTo>
                    <a:pt x="1480286" y="168275"/>
                  </a:lnTo>
                  <a:lnTo>
                    <a:pt x="1448752" y="104775"/>
                  </a:lnTo>
                  <a:lnTo>
                    <a:pt x="1410322" y="180975"/>
                  </a:lnTo>
                  <a:lnTo>
                    <a:pt x="1435747" y="180975"/>
                  </a:lnTo>
                  <a:lnTo>
                    <a:pt x="1435608" y="234950"/>
                  </a:lnTo>
                  <a:lnTo>
                    <a:pt x="755611" y="234950"/>
                  </a:lnTo>
                  <a:lnTo>
                    <a:pt x="755586" y="180975"/>
                  </a:lnTo>
                  <a:lnTo>
                    <a:pt x="780986" y="180975"/>
                  </a:lnTo>
                  <a:lnTo>
                    <a:pt x="774636" y="168275"/>
                  </a:lnTo>
                  <a:lnTo>
                    <a:pt x="742886" y="104775"/>
                  </a:lnTo>
                  <a:lnTo>
                    <a:pt x="704786" y="180975"/>
                  </a:lnTo>
                  <a:lnTo>
                    <a:pt x="730186" y="180975"/>
                  </a:lnTo>
                  <a:lnTo>
                    <a:pt x="730211" y="234950"/>
                  </a:lnTo>
                  <a:lnTo>
                    <a:pt x="50800" y="234950"/>
                  </a:lnTo>
                  <a:lnTo>
                    <a:pt x="50800" y="180975"/>
                  </a:lnTo>
                  <a:lnTo>
                    <a:pt x="76200" y="180975"/>
                  </a:lnTo>
                  <a:lnTo>
                    <a:pt x="69850" y="168275"/>
                  </a:lnTo>
                  <a:lnTo>
                    <a:pt x="38100" y="104775"/>
                  </a:lnTo>
                  <a:lnTo>
                    <a:pt x="0" y="180975"/>
                  </a:lnTo>
                  <a:lnTo>
                    <a:pt x="25400" y="180975"/>
                  </a:lnTo>
                  <a:lnTo>
                    <a:pt x="25400" y="419100"/>
                  </a:lnTo>
                  <a:lnTo>
                    <a:pt x="50800" y="419100"/>
                  </a:lnTo>
                  <a:lnTo>
                    <a:pt x="50800" y="260350"/>
                  </a:lnTo>
                  <a:lnTo>
                    <a:pt x="730224" y="260350"/>
                  </a:lnTo>
                  <a:lnTo>
                    <a:pt x="730313" y="419100"/>
                  </a:lnTo>
                  <a:lnTo>
                    <a:pt x="755713" y="419100"/>
                  </a:lnTo>
                  <a:lnTo>
                    <a:pt x="755624" y="260350"/>
                  </a:lnTo>
                  <a:lnTo>
                    <a:pt x="1435557" y="260350"/>
                  </a:lnTo>
                  <a:lnTo>
                    <a:pt x="1435163" y="419100"/>
                  </a:lnTo>
                  <a:lnTo>
                    <a:pt x="1460563" y="419100"/>
                  </a:lnTo>
                  <a:lnTo>
                    <a:pt x="1460957" y="260350"/>
                  </a:lnTo>
                  <a:lnTo>
                    <a:pt x="2130399" y="260350"/>
                  </a:lnTo>
                  <a:lnTo>
                    <a:pt x="2130488" y="419100"/>
                  </a:lnTo>
                  <a:lnTo>
                    <a:pt x="2155888" y="419100"/>
                  </a:lnTo>
                  <a:lnTo>
                    <a:pt x="2155799" y="260350"/>
                  </a:lnTo>
                  <a:lnTo>
                    <a:pt x="2879788" y="260350"/>
                  </a:lnTo>
                  <a:lnTo>
                    <a:pt x="2879788" y="285623"/>
                  </a:lnTo>
                  <a:lnTo>
                    <a:pt x="2930499" y="260350"/>
                  </a:lnTo>
                  <a:lnTo>
                    <a:pt x="2955988" y="247650"/>
                  </a:lnTo>
                  <a:close/>
                </a:path>
                <a:path w="6258559" h="685800">
                  <a:moveTo>
                    <a:pt x="5410327" y="76200"/>
                  </a:moveTo>
                  <a:lnTo>
                    <a:pt x="5403964" y="63500"/>
                  </a:lnTo>
                  <a:lnTo>
                    <a:pt x="5372163" y="0"/>
                  </a:lnTo>
                  <a:lnTo>
                    <a:pt x="5334063" y="76200"/>
                  </a:lnTo>
                  <a:lnTo>
                    <a:pt x="5359463" y="76200"/>
                  </a:lnTo>
                  <a:lnTo>
                    <a:pt x="5359463" y="421767"/>
                  </a:lnTo>
                  <a:lnTo>
                    <a:pt x="5384863" y="421767"/>
                  </a:lnTo>
                  <a:lnTo>
                    <a:pt x="5384863" y="76200"/>
                  </a:lnTo>
                  <a:lnTo>
                    <a:pt x="5410327" y="76200"/>
                  </a:lnTo>
                  <a:close/>
                </a:path>
                <a:path w="6258559" h="685800">
                  <a:moveTo>
                    <a:pt x="6258052" y="76200"/>
                  </a:moveTo>
                  <a:lnTo>
                    <a:pt x="6251689" y="63500"/>
                  </a:lnTo>
                  <a:lnTo>
                    <a:pt x="6219888" y="0"/>
                  </a:lnTo>
                  <a:lnTo>
                    <a:pt x="6181788" y="76200"/>
                  </a:lnTo>
                  <a:lnTo>
                    <a:pt x="6207188" y="76200"/>
                  </a:lnTo>
                  <a:lnTo>
                    <a:pt x="6207188" y="421767"/>
                  </a:lnTo>
                  <a:lnTo>
                    <a:pt x="6232588" y="421767"/>
                  </a:lnTo>
                  <a:lnTo>
                    <a:pt x="6232588" y="76200"/>
                  </a:lnTo>
                  <a:lnTo>
                    <a:pt x="6258052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33412" y="2395474"/>
              <a:ext cx="2927985" cy="635"/>
            </a:xfrm>
            <a:custGeom>
              <a:avLst/>
              <a:gdLst/>
              <a:ahLst/>
              <a:cxnLst/>
              <a:rect l="l" t="t" r="r" b="b"/>
              <a:pathLst>
                <a:path w="2927985" h="635">
                  <a:moveTo>
                    <a:pt x="2927413" y="126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5243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8351519" y="4218622"/>
            <a:ext cx="2997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548501" y="4218622"/>
            <a:ext cx="5276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625715" y="4218622"/>
            <a:ext cx="825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1" name="object 121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122" name="object 122"/>
          <p:cNvSpPr txBox="1"/>
          <p:nvPr/>
        </p:nvSpPr>
        <p:spPr>
          <a:xfrm>
            <a:off x="526097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1150937" y="1960626"/>
            <a:ext cx="393700" cy="298450"/>
            <a:chOff x="1150937" y="1960626"/>
            <a:chExt cx="393700" cy="298450"/>
          </a:xfrm>
        </p:grpSpPr>
        <p:sp>
          <p:nvSpPr>
            <p:cNvPr id="124" name="object 124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157287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1231582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1855851" y="1960626"/>
            <a:ext cx="393700" cy="298450"/>
            <a:chOff x="1855851" y="1960626"/>
            <a:chExt cx="393700" cy="298450"/>
          </a:xfrm>
        </p:grpSpPr>
        <p:sp>
          <p:nvSpPr>
            <p:cNvPr id="128" name="object 128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862201" y="1966976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1935479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2560701" y="1960626"/>
            <a:ext cx="384175" cy="298450"/>
            <a:chOff x="2560701" y="1960626"/>
            <a:chExt cx="384175" cy="298450"/>
          </a:xfrm>
        </p:grpSpPr>
        <p:sp>
          <p:nvSpPr>
            <p:cNvPr id="132" name="object 132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567051" y="1966976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2637408" y="204749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e</a:t>
            </a:r>
            <a:r>
              <a:rPr sz="600" spc="-25" dirty="0">
                <a:latin typeface="Arial"/>
                <a:cs typeface="Arial"/>
              </a:rPr>
              <a:t>24</a:t>
            </a:r>
            <a:endParaRPr sz="600">
              <a:latin typeface="Arial"/>
              <a:cs typeface="Arial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452437" y="1576450"/>
            <a:ext cx="2486025" cy="238125"/>
          </a:xfrm>
          <a:custGeom>
            <a:avLst/>
            <a:gdLst/>
            <a:ahLst/>
            <a:cxnLst/>
            <a:rect l="l" t="t" r="r" b="b"/>
            <a:pathLst>
              <a:path w="2486025" h="238125">
                <a:moveTo>
                  <a:pt x="0" y="238125"/>
                </a:moveTo>
                <a:lnTo>
                  <a:pt x="2486025" y="238125"/>
                </a:lnTo>
                <a:lnTo>
                  <a:pt x="24860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1349375" y="1557337"/>
            <a:ext cx="6927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softmax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446087" y="1141475"/>
            <a:ext cx="393700" cy="298450"/>
            <a:chOff x="446087" y="1141475"/>
            <a:chExt cx="393700" cy="298450"/>
          </a:xfrm>
        </p:grpSpPr>
        <p:sp>
          <p:nvSpPr>
            <p:cNvPr id="138" name="object 138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5243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526097" y="1228661"/>
            <a:ext cx="2349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150937" y="1141475"/>
            <a:ext cx="393700" cy="298450"/>
            <a:chOff x="1150937" y="1141475"/>
            <a:chExt cx="393700" cy="298450"/>
          </a:xfrm>
        </p:grpSpPr>
        <p:sp>
          <p:nvSpPr>
            <p:cNvPr id="142" name="object 142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157287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1231582" y="1226820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1855851" y="1141475"/>
            <a:ext cx="393700" cy="298450"/>
            <a:chOff x="1855851" y="1141475"/>
            <a:chExt cx="393700" cy="298450"/>
          </a:xfrm>
        </p:grpSpPr>
        <p:sp>
          <p:nvSpPr>
            <p:cNvPr id="146" name="object 146"/>
            <p:cNvSpPr/>
            <p:nvPr/>
          </p:nvSpPr>
          <p:spPr>
            <a:xfrm>
              <a:off x="1862201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381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862201" y="11478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285750"/>
                  </a:moveTo>
                  <a:lnTo>
                    <a:pt x="381000" y="28575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1934591" y="1223898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2560701" y="1131950"/>
            <a:ext cx="384175" cy="298450"/>
            <a:chOff x="2560701" y="1131950"/>
            <a:chExt cx="384175" cy="298450"/>
          </a:xfrm>
        </p:grpSpPr>
        <p:sp>
          <p:nvSpPr>
            <p:cNvPr id="150" name="object 150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3714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71475" y="2857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567051" y="1138300"/>
              <a:ext cx="371475" cy="285750"/>
            </a:xfrm>
            <a:custGeom>
              <a:avLst/>
              <a:gdLst/>
              <a:ahLst/>
              <a:cxnLst/>
              <a:rect l="l" t="t" r="r" b="b"/>
              <a:pathLst>
                <a:path w="371475" h="285750">
                  <a:moveTo>
                    <a:pt x="0" y="285750"/>
                  </a:moveTo>
                  <a:lnTo>
                    <a:pt x="371475" y="285750"/>
                  </a:lnTo>
                  <a:lnTo>
                    <a:pt x="3714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2637408" y="1220152"/>
            <a:ext cx="2349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7" baseline="9259" dirty="0">
                <a:latin typeface="Arial"/>
                <a:cs typeface="Arial"/>
              </a:rPr>
              <a:t>a</a:t>
            </a:r>
            <a:r>
              <a:rPr sz="600" spc="-25" dirty="0">
                <a:latin typeface="Arial"/>
                <a:cs typeface="Arial"/>
              </a:rPr>
              <a:t>24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53" name="object 153"/>
          <p:cNvGrpSpPr/>
          <p:nvPr/>
        </p:nvGrpSpPr>
        <p:grpSpPr>
          <a:xfrm>
            <a:off x="230187" y="780986"/>
            <a:ext cx="5201285" cy="2030730"/>
            <a:chOff x="230187" y="780986"/>
            <a:chExt cx="5201285" cy="2030730"/>
          </a:xfrm>
        </p:grpSpPr>
        <p:pic>
          <p:nvPicPr>
            <p:cNvPr id="154" name="object 1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485" y="1814448"/>
              <a:ext cx="76200" cy="156082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0386" y="1804923"/>
              <a:ext cx="76200" cy="156082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15235" y="1814448"/>
              <a:ext cx="76200" cy="156082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9610" y="1814448"/>
              <a:ext cx="76200" cy="156082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9610" y="1414525"/>
              <a:ext cx="76200" cy="155956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5235" y="1433575"/>
              <a:ext cx="76200" cy="15595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9911" y="1433575"/>
              <a:ext cx="76200" cy="155956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5960" y="1424050"/>
              <a:ext cx="76200" cy="155956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000" y="780986"/>
              <a:ext cx="500062" cy="404812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5375" y="780986"/>
              <a:ext cx="500062" cy="404812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0225" y="780986"/>
              <a:ext cx="490537" cy="404812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95550" y="790511"/>
              <a:ext cx="500062" cy="404812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09926" y="1014475"/>
              <a:ext cx="76263" cy="126237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14727" y="1024000"/>
              <a:ext cx="76200" cy="123951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8474" y="1014475"/>
              <a:ext cx="76136" cy="139064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11275" y="1024000"/>
              <a:ext cx="76200" cy="126873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230187" y="962913"/>
              <a:ext cx="2425700" cy="1849120"/>
            </a:xfrm>
            <a:custGeom>
              <a:avLst/>
              <a:gdLst/>
              <a:ahLst/>
              <a:cxnLst/>
              <a:rect l="l" t="t" r="r" b="b"/>
              <a:pathLst>
                <a:path w="2425700" h="1849120">
                  <a:moveTo>
                    <a:pt x="304927" y="3810"/>
                  </a:moveTo>
                  <a:lnTo>
                    <a:pt x="219748" y="2159"/>
                  </a:lnTo>
                  <a:lnTo>
                    <a:pt x="231622" y="27203"/>
                  </a:lnTo>
                  <a:lnTo>
                    <a:pt x="216027" y="38989"/>
                  </a:lnTo>
                  <a:lnTo>
                    <a:pt x="215265" y="39497"/>
                  </a:lnTo>
                  <a:lnTo>
                    <a:pt x="214579" y="40259"/>
                  </a:lnTo>
                  <a:lnTo>
                    <a:pt x="213956" y="40894"/>
                  </a:lnTo>
                  <a:lnTo>
                    <a:pt x="186893" y="75565"/>
                  </a:lnTo>
                  <a:lnTo>
                    <a:pt x="161175" y="117983"/>
                  </a:lnTo>
                  <a:lnTo>
                    <a:pt x="136575" y="167640"/>
                  </a:lnTo>
                  <a:lnTo>
                    <a:pt x="113436" y="223901"/>
                  </a:lnTo>
                  <a:lnTo>
                    <a:pt x="91909" y="286004"/>
                  </a:lnTo>
                  <a:lnTo>
                    <a:pt x="72021" y="353441"/>
                  </a:lnTo>
                  <a:lnTo>
                    <a:pt x="54203" y="425450"/>
                  </a:lnTo>
                  <a:lnTo>
                    <a:pt x="46050" y="463042"/>
                  </a:lnTo>
                  <a:lnTo>
                    <a:pt x="38582" y="501523"/>
                  </a:lnTo>
                  <a:lnTo>
                    <a:pt x="31584" y="540766"/>
                  </a:lnTo>
                  <a:lnTo>
                    <a:pt x="25273" y="580898"/>
                  </a:lnTo>
                  <a:lnTo>
                    <a:pt x="19519" y="621665"/>
                  </a:lnTo>
                  <a:lnTo>
                    <a:pt x="14541" y="662940"/>
                  </a:lnTo>
                  <a:lnTo>
                    <a:pt x="10236" y="704723"/>
                  </a:lnTo>
                  <a:lnTo>
                    <a:pt x="6604" y="747014"/>
                  </a:lnTo>
                  <a:lnTo>
                    <a:pt x="3733" y="789686"/>
                  </a:lnTo>
                  <a:lnTo>
                    <a:pt x="1714" y="832485"/>
                  </a:lnTo>
                  <a:lnTo>
                    <a:pt x="368" y="875665"/>
                  </a:lnTo>
                  <a:lnTo>
                    <a:pt x="0" y="918464"/>
                  </a:lnTo>
                  <a:lnTo>
                    <a:pt x="279" y="960882"/>
                  </a:lnTo>
                  <a:lnTo>
                    <a:pt x="1320" y="1003554"/>
                  </a:lnTo>
                  <a:lnTo>
                    <a:pt x="2908" y="1045972"/>
                  </a:lnTo>
                  <a:lnTo>
                    <a:pt x="5080" y="1088136"/>
                  </a:lnTo>
                  <a:lnTo>
                    <a:pt x="7950" y="1132078"/>
                  </a:lnTo>
                  <a:lnTo>
                    <a:pt x="11391" y="1173734"/>
                  </a:lnTo>
                  <a:lnTo>
                    <a:pt x="15316" y="1215136"/>
                  </a:lnTo>
                  <a:lnTo>
                    <a:pt x="19723" y="1255776"/>
                  </a:lnTo>
                  <a:lnTo>
                    <a:pt x="24701" y="1295908"/>
                  </a:lnTo>
                  <a:lnTo>
                    <a:pt x="30149" y="1335151"/>
                  </a:lnTo>
                  <a:lnTo>
                    <a:pt x="36080" y="1373632"/>
                  </a:lnTo>
                  <a:lnTo>
                    <a:pt x="49212" y="1447673"/>
                  </a:lnTo>
                  <a:lnTo>
                    <a:pt x="63881" y="1517396"/>
                  </a:lnTo>
                  <a:lnTo>
                    <a:pt x="80111" y="1582166"/>
                  </a:lnTo>
                  <a:lnTo>
                    <a:pt x="97624" y="1641348"/>
                  </a:lnTo>
                  <a:lnTo>
                    <a:pt x="116293" y="1694307"/>
                  </a:lnTo>
                  <a:lnTo>
                    <a:pt x="136042" y="1740408"/>
                  </a:lnTo>
                  <a:lnTo>
                    <a:pt x="156870" y="1779143"/>
                  </a:lnTo>
                  <a:lnTo>
                    <a:pt x="184289" y="1816100"/>
                  </a:lnTo>
                  <a:lnTo>
                    <a:pt x="214871" y="1839468"/>
                  </a:lnTo>
                  <a:lnTo>
                    <a:pt x="240626" y="1845691"/>
                  </a:lnTo>
                  <a:lnTo>
                    <a:pt x="241884" y="1821942"/>
                  </a:lnTo>
                  <a:lnTo>
                    <a:pt x="241973" y="1820418"/>
                  </a:lnTo>
                  <a:lnTo>
                    <a:pt x="207086" y="1803019"/>
                  </a:lnTo>
                  <a:lnTo>
                    <a:pt x="178092" y="1765173"/>
                  </a:lnTo>
                  <a:lnTo>
                    <a:pt x="158724" y="1728978"/>
                  </a:lnTo>
                  <a:lnTo>
                    <a:pt x="139801" y="1684655"/>
                  </a:lnTo>
                  <a:lnTo>
                    <a:pt x="121704" y="1633220"/>
                  </a:lnTo>
                  <a:lnTo>
                    <a:pt x="104546" y="1575308"/>
                  </a:lnTo>
                  <a:lnTo>
                    <a:pt x="88582" y="1511427"/>
                  </a:lnTo>
                  <a:lnTo>
                    <a:pt x="74104" y="1442593"/>
                  </a:lnTo>
                  <a:lnTo>
                    <a:pt x="61137" y="1369314"/>
                  </a:lnTo>
                  <a:lnTo>
                    <a:pt x="55257" y="1331214"/>
                  </a:lnTo>
                  <a:lnTo>
                    <a:pt x="49847" y="1292352"/>
                  </a:lnTo>
                  <a:lnTo>
                    <a:pt x="44919" y="1252601"/>
                  </a:lnTo>
                  <a:lnTo>
                    <a:pt x="40563" y="1212342"/>
                  </a:lnTo>
                  <a:lnTo>
                    <a:pt x="36677" y="1171448"/>
                  </a:lnTo>
                  <a:lnTo>
                    <a:pt x="33261" y="1130046"/>
                  </a:lnTo>
                  <a:lnTo>
                    <a:pt x="30619" y="1089787"/>
                  </a:lnTo>
                  <a:lnTo>
                    <a:pt x="28397" y="1047369"/>
                  </a:lnTo>
                  <a:lnTo>
                    <a:pt x="26746" y="1004443"/>
                  </a:lnTo>
                  <a:lnTo>
                    <a:pt x="25692" y="961517"/>
                  </a:lnTo>
                  <a:lnTo>
                    <a:pt x="25400" y="918464"/>
                  </a:lnTo>
                  <a:lnTo>
                    <a:pt x="25781" y="875665"/>
                  </a:lnTo>
                  <a:lnTo>
                    <a:pt x="27114" y="833247"/>
                  </a:lnTo>
                  <a:lnTo>
                    <a:pt x="29095" y="790829"/>
                  </a:lnTo>
                  <a:lnTo>
                    <a:pt x="31940" y="748665"/>
                  </a:lnTo>
                  <a:lnTo>
                    <a:pt x="35547" y="707009"/>
                  </a:lnTo>
                  <a:lnTo>
                    <a:pt x="39814" y="665480"/>
                  </a:lnTo>
                  <a:lnTo>
                    <a:pt x="44742" y="624713"/>
                  </a:lnTo>
                  <a:lnTo>
                    <a:pt x="50419" y="584327"/>
                  </a:lnTo>
                  <a:lnTo>
                    <a:pt x="56680" y="544830"/>
                  </a:lnTo>
                  <a:lnTo>
                    <a:pt x="63588" y="505968"/>
                  </a:lnTo>
                  <a:lnTo>
                    <a:pt x="70980" y="467868"/>
                  </a:lnTo>
                  <a:lnTo>
                    <a:pt x="87630" y="394716"/>
                  </a:lnTo>
                  <a:lnTo>
                    <a:pt x="106172" y="325882"/>
                  </a:lnTo>
                  <a:lnTo>
                    <a:pt x="126568" y="262255"/>
                  </a:lnTo>
                  <a:lnTo>
                    <a:pt x="148437" y="204216"/>
                  </a:lnTo>
                  <a:lnTo>
                    <a:pt x="171627" y="152781"/>
                  </a:lnTo>
                  <a:lnTo>
                    <a:pt x="195922" y="108458"/>
                  </a:lnTo>
                  <a:lnTo>
                    <a:pt x="220789" y="72263"/>
                  </a:lnTo>
                  <a:lnTo>
                    <a:pt x="242760" y="50673"/>
                  </a:lnTo>
                  <a:lnTo>
                    <a:pt x="252412" y="70993"/>
                  </a:lnTo>
                  <a:lnTo>
                    <a:pt x="291515" y="20955"/>
                  </a:lnTo>
                  <a:lnTo>
                    <a:pt x="304927" y="3810"/>
                  </a:lnTo>
                  <a:close/>
                </a:path>
                <a:path w="2425700" h="1849120">
                  <a:moveTo>
                    <a:pt x="1021207" y="3810"/>
                  </a:moveTo>
                  <a:lnTo>
                    <a:pt x="936104" y="0"/>
                  </a:lnTo>
                  <a:lnTo>
                    <a:pt x="946581" y="23583"/>
                  </a:lnTo>
                  <a:lnTo>
                    <a:pt x="945159" y="24257"/>
                  </a:lnTo>
                  <a:lnTo>
                    <a:pt x="913104" y="57150"/>
                  </a:lnTo>
                  <a:lnTo>
                    <a:pt x="885634" y="95758"/>
                  </a:lnTo>
                  <a:lnTo>
                    <a:pt x="859396" y="141986"/>
                  </a:lnTo>
                  <a:lnTo>
                    <a:pt x="834580" y="195199"/>
                  </a:lnTo>
                  <a:lnTo>
                    <a:pt x="811377" y="254508"/>
                  </a:lnTo>
                  <a:lnTo>
                    <a:pt x="789851" y="319532"/>
                  </a:lnTo>
                  <a:lnTo>
                    <a:pt x="770178" y="389382"/>
                  </a:lnTo>
                  <a:lnTo>
                    <a:pt x="752729" y="463677"/>
                  </a:lnTo>
                  <a:lnTo>
                    <a:pt x="744867" y="502285"/>
                  </a:lnTo>
                  <a:lnTo>
                    <a:pt x="737692" y="541655"/>
                  </a:lnTo>
                  <a:lnTo>
                    <a:pt x="731075" y="581787"/>
                  </a:lnTo>
                  <a:lnTo>
                    <a:pt x="725144" y="622554"/>
                  </a:lnTo>
                  <a:lnTo>
                    <a:pt x="719975" y="664083"/>
                  </a:lnTo>
                  <a:lnTo>
                    <a:pt x="715467" y="705866"/>
                  </a:lnTo>
                  <a:lnTo>
                    <a:pt x="711733" y="748284"/>
                  </a:lnTo>
                  <a:lnTo>
                    <a:pt x="708774" y="790829"/>
                  </a:lnTo>
                  <a:lnTo>
                    <a:pt x="706564" y="833755"/>
                  </a:lnTo>
                  <a:lnTo>
                    <a:pt x="705332" y="876935"/>
                  </a:lnTo>
                  <a:lnTo>
                    <a:pt x="704850" y="919619"/>
                  </a:lnTo>
                  <a:lnTo>
                    <a:pt x="705129" y="962152"/>
                  </a:lnTo>
                  <a:lnTo>
                    <a:pt x="706170" y="1004824"/>
                  </a:lnTo>
                  <a:lnTo>
                    <a:pt x="707771" y="1047496"/>
                  </a:lnTo>
                  <a:lnTo>
                    <a:pt x="709930" y="1089787"/>
                  </a:lnTo>
                  <a:lnTo>
                    <a:pt x="712800" y="1133729"/>
                  </a:lnTo>
                  <a:lnTo>
                    <a:pt x="716241" y="1175512"/>
                  </a:lnTo>
                  <a:lnTo>
                    <a:pt x="720166" y="1216914"/>
                  </a:lnTo>
                  <a:lnTo>
                    <a:pt x="724573" y="1257681"/>
                  </a:lnTo>
                  <a:lnTo>
                    <a:pt x="729538" y="1297813"/>
                  </a:lnTo>
                  <a:lnTo>
                    <a:pt x="734999" y="1337056"/>
                  </a:lnTo>
                  <a:lnTo>
                    <a:pt x="740930" y="1375664"/>
                  </a:lnTo>
                  <a:lnTo>
                    <a:pt x="747255" y="1413383"/>
                  </a:lnTo>
                  <a:lnTo>
                    <a:pt x="761238" y="1485265"/>
                  </a:lnTo>
                  <a:lnTo>
                    <a:pt x="776693" y="1552829"/>
                  </a:lnTo>
                  <a:lnTo>
                    <a:pt x="793521" y="1615059"/>
                  </a:lnTo>
                  <a:lnTo>
                    <a:pt x="811657" y="1671320"/>
                  </a:lnTo>
                  <a:lnTo>
                    <a:pt x="830922" y="1720977"/>
                  </a:lnTo>
                  <a:lnTo>
                    <a:pt x="851192" y="1763522"/>
                  </a:lnTo>
                  <a:lnTo>
                    <a:pt x="872540" y="1798447"/>
                  </a:lnTo>
                  <a:lnTo>
                    <a:pt x="900988" y="1830197"/>
                  </a:lnTo>
                  <a:lnTo>
                    <a:pt x="939914" y="1848231"/>
                  </a:lnTo>
                  <a:lnTo>
                    <a:pt x="945248" y="1848612"/>
                  </a:lnTo>
                  <a:lnTo>
                    <a:pt x="946937" y="1824863"/>
                  </a:lnTo>
                  <a:lnTo>
                    <a:pt x="947051" y="1823339"/>
                  </a:lnTo>
                  <a:lnTo>
                    <a:pt x="911936" y="1805940"/>
                  </a:lnTo>
                  <a:lnTo>
                    <a:pt x="882942" y="1768094"/>
                  </a:lnTo>
                  <a:lnTo>
                    <a:pt x="863561" y="1731772"/>
                  </a:lnTo>
                  <a:lnTo>
                    <a:pt x="844664" y="1687449"/>
                  </a:lnTo>
                  <a:lnTo>
                    <a:pt x="826554" y="1635887"/>
                  </a:lnTo>
                  <a:lnTo>
                    <a:pt x="809409" y="1577721"/>
                  </a:lnTo>
                  <a:lnTo>
                    <a:pt x="793432" y="1513840"/>
                  </a:lnTo>
                  <a:lnTo>
                    <a:pt x="778954" y="1444879"/>
                  </a:lnTo>
                  <a:lnTo>
                    <a:pt x="765987" y="1371473"/>
                  </a:lnTo>
                  <a:lnTo>
                    <a:pt x="760107" y="1333246"/>
                  </a:lnTo>
                  <a:lnTo>
                    <a:pt x="754710" y="1294257"/>
                  </a:lnTo>
                  <a:lnTo>
                    <a:pt x="749769" y="1254506"/>
                  </a:lnTo>
                  <a:lnTo>
                    <a:pt x="745413" y="1214247"/>
                  </a:lnTo>
                  <a:lnTo>
                    <a:pt x="741527" y="1173099"/>
                  </a:lnTo>
                  <a:lnTo>
                    <a:pt x="738111" y="1131697"/>
                  </a:lnTo>
                  <a:lnTo>
                    <a:pt x="735469" y="1091438"/>
                  </a:lnTo>
                  <a:lnTo>
                    <a:pt x="733247" y="1048766"/>
                  </a:lnTo>
                  <a:lnTo>
                    <a:pt x="731608" y="1005840"/>
                  </a:lnTo>
                  <a:lnTo>
                    <a:pt x="730542" y="962787"/>
                  </a:lnTo>
                  <a:lnTo>
                    <a:pt x="730250" y="919619"/>
                  </a:lnTo>
                  <a:lnTo>
                    <a:pt x="730719" y="877189"/>
                  </a:lnTo>
                  <a:lnTo>
                    <a:pt x="731964" y="834517"/>
                  </a:lnTo>
                  <a:lnTo>
                    <a:pt x="734136" y="792099"/>
                  </a:lnTo>
                  <a:lnTo>
                    <a:pt x="737082" y="749935"/>
                  </a:lnTo>
                  <a:lnTo>
                    <a:pt x="740778" y="708152"/>
                  </a:lnTo>
                  <a:lnTo>
                    <a:pt x="745223" y="666750"/>
                  </a:lnTo>
                  <a:lnTo>
                    <a:pt x="750341" y="625729"/>
                  </a:lnTo>
                  <a:lnTo>
                    <a:pt x="756221" y="585343"/>
                  </a:lnTo>
                  <a:lnTo>
                    <a:pt x="762749" y="545719"/>
                  </a:lnTo>
                  <a:lnTo>
                    <a:pt x="769861" y="506730"/>
                  </a:lnTo>
                  <a:lnTo>
                    <a:pt x="777621" y="468757"/>
                  </a:lnTo>
                  <a:lnTo>
                    <a:pt x="785952" y="431546"/>
                  </a:lnTo>
                  <a:lnTo>
                    <a:pt x="804291" y="360426"/>
                  </a:lnTo>
                  <a:lnTo>
                    <a:pt x="824534" y="294005"/>
                  </a:lnTo>
                  <a:lnTo>
                    <a:pt x="846505" y="233045"/>
                  </a:lnTo>
                  <a:lnTo>
                    <a:pt x="870013" y="178181"/>
                  </a:lnTo>
                  <a:lnTo>
                    <a:pt x="894651" y="130048"/>
                  </a:lnTo>
                  <a:lnTo>
                    <a:pt x="920254" y="89535"/>
                  </a:lnTo>
                  <a:lnTo>
                    <a:pt x="946416" y="57404"/>
                  </a:lnTo>
                  <a:lnTo>
                    <a:pt x="957059" y="47167"/>
                  </a:lnTo>
                  <a:lnTo>
                    <a:pt x="967092" y="69723"/>
                  </a:lnTo>
                  <a:lnTo>
                    <a:pt x="1009319" y="18288"/>
                  </a:lnTo>
                  <a:lnTo>
                    <a:pt x="1021207" y="3810"/>
                  </a:lnTo>
                  <a:close/>
                </a:path>
                <a:path w="2425700" h="1849120">
                  <a:moveTo>
                    <a:pt x="1725104" y="3810"/>
                  </a:moveTo>
                  <a:lnTo>
                    <a:pt x="1640014" y="254"/>
                  </a:lnTo>
                  <a:lnTo>
                    <a:pt x="1650492" y="23672"/>
                  </a:lnTo>
                  <a:lnTo>
                    <a:pt x="1649285" y="24257"/>
                  </a:lnTo>
                  <a:lnTo>
                    <a:pt x="1617281" y="57150"/>
                  </a:lnTo>
                  <a:lnTo>
                    <a:pt x="1589849" y="95885"/>
                  </a:lnTo>
                  <a:lnTo>
                    <a:pt x="1563814" y="141986"/>
                  </a:lnTo>
                  <a:lnTo>
                    <a:pt x="1539049" y="195199"/>
                  </a:lnTo>
                  <a:lnTo>
                    <a:pt x="1515808" y="254508"/>
                  </a:lnTo>
                  <a:lnTo>
                    <a:pt x="1494472" y="319532"/>
                  </a:lnTo>
                  <a:lnTo>
                    <a:pt x="1474787" y="389382"/>
                  </a:lnTo>
                  <a:lnTo>
                    <a:pt x="1457515" y="463677"/>
                  </a:lnTo>
                  <a:lnTo>
                    <a:pt x="1449641" y="502285"/>
                  </a:lnTo>
                  <a:lnTo>
                    <a:pt x="1442402" y="541655"/>
                  </a:lnTo>
                  <a:lnTo>
                    <a:pt x="1435798" y="581787"/>
                  </a:lnTo>
                  <a:lnTo>
                    <a:pt x="1429956" y="622554"/>
                  </a:lnTo>
                  <a:lnTo>
                    <a:pt x="1424749" y="664083"/>
                  </a:lnTo>
                  <a:lnTo>
                    <a:pt x="1420164" y="705866"/>
                  </a:lnTo>
                  <a:lnTo>
                    <a:pt x="1416494" y="748284"/>
                  </a:lnTo>
                  <a:lnTo>
                    <a:pt x="1413573" y="790829"/>
                  </a:lnTo>
                  <a:lnTo>
                    <a:pt x="1411401" y="833755"/>
                  </a:lnTo>
                  <a:lnTo>
                    <a:pt x="1410144" y="876935"/>
                  </a:lnTo>
                  <a:lnTo>
                    <a:pt x="1409763" y="919619"/>
                  </a:lnTo>
                  <a:lnTo>
                    <a:pt x="1410004" y="962152"/>
                  </a:lnTo>
                  <a:lnTo>
                    <a:pt x="1411008" y="1004824"/>
                  </a:lnTo>
                  <a:lnTo>
                    <a:pt x="1411020" y="1005840"/>
                  </a:lnTo>
                  <a:lnTo>
                    <a:pt x="1412633" y="1047496"/>
                  </a:lnTo>
                  <a:lnTo>
                    <a:pt x="1414754" y="1089787"/>
                  </a:lnTo>
                  <a:lnTo>
                    <a:pt x="1417637" y="1133729"/>
                  </a:lnTo>
                  <a:lnTo>
                    <a:pt x="1421066" y="1175512"/>
                  </a:lnTo>
                  <a:lnTo>
                    <a:pt x="1425003" y="1216914"/>
                  </a:lnTo>
                  <a:lnTo>
                    <a:pt x="1429448" y="1257681"/>
                  </a:lnTo>
                  <a:lnTo>
                    <a:pt x="1434401" y="1297813"/>
                  </a:lnTo>
                  <a:lnTo>
                    <a:pt x="1439862" y="1337056"/>
                  </a:lnTo>
                  <a:lnTo>
                    <a:pt x="1445831" y="1375664"/>
                  </a:lnTo>
                  <a:lnTo>
                    <a:pt x="1452054" y="1413383"/>
                  </a:lnTo>
                  <a:lnTo>
                    <a:pt x="1466151" y="1485265"/>
                  </a:lnTo>
                  <a:lnTo>
                    <a:pt x="1481518" y="1552829"/>
                  </a:lnTo>
                  <a:lnTo>
                    <a:pt x="1498409" y="1615059"/>
                  </a:lnTo>
                  <a:lnTo>
                    <a:pt x="1516443" y="1671320"/>
                  </a:lnTo>
                  <a:lnTo>
                    <a:pt x="1535747" y="1720977"/>
                  </a:lnTo>
                  <a:lnTo>
                    <a:pt x="1556067" y="1763522"/>
                  </a:lnTo>
                  <a:lnTo>
                    <a:pt x="1577403" y="1798447"/>
                  </a:lnTo>
                  <a:lnTo>
                    <a:pt x="1605851" y="1830197"/>
                  </a:lnTo>
                  <a:lnTo>
                    <a:pt x="1644713" y="1848231"/>
                  </a:lnTo>
                  <a:lnTo>
                    <a:pt x="1650047" y="1848612"/>
                  </a:lnTo>
                  <a:lnTo>
                    <a:pt x="1651825" y="1824863"/>
                  </a:lnTo>
                  <a:lnTo>
                    <a:pt x="1651952" y="1823339"/>
                  </a:lnTo>
                  <a:lnTo>
                    <a:pt x="1616773" y="1805940"/>
                  </a:lnTo>
                  <a:lnTo>
                    <a:pt x="1587817" y="1768094"/>
                  </a:lnTo>
                  <a:lnTo>
                    <a:pt x="1568386" y="1731772"/>
                  </a:lnTo>
                  <a:lnTo>
                    <a:pt x="1549463" y="1687449"/>
                  </a:lnTo>
                  <a:lnTo>
                    <a:pt x="1531429" y="1635887"/>
                  </a:lnTo>
                  <a:lnTo>
                    <a:pt x="1514284" y="1577721"/>
                  </a:lnTo>
                  <a:lnTo>
                    <a:pt x="1498282" y="1513840"/>
                  </a:lnTo>
                  <a:lnTo>
                    <a:pt x="1483804" y="1444879"/>
                  </a:lnTo>
                  <a:lnTo>
                    <a:pt x="1470850" y="1371473"/>
                  </a:lnTo>
                  <a:lnTo>
                    <a:pt x="1465008" y="1333246"/>
                  </a:lnTo>
                  <a:lnTo>
                    <a:pt x="1459547" y="1294257"/>
                  </a:lnTo>
                  <a:lnTo>
                    <a:pt x="1454594" y="1254506"/>
                  </a:lnTo>
                  <a:lnTo>
                    <a:pt x="1450276" y="1214247"/>
                  </a:lnTo>
                  <a:lnTo>
                    <a:pt x="1446339" y="1173099"/>
                  </a:lnTo>
                  <a:lnTo>
                    <a:pt x="1442910" y="1131697"/>
                  </a:lnTo>
                  <a:lnTo>
                    <a:pt x="1440345" y="1091438"/>
                  </a:lnTo>
                  <a:lnTo>
                    <a:pt x="1438148" y="1048766"/>
                  </a:lnTo>
                  <a:lnTo>
                    <a:pt x="1436471" y="1005840"/>
                  </a:lnTo>
                  <a:lnTo>
                    <a:pt x="1435430" y="962787"/>
                  </a:lnTo>
                  <a:lnTo>
                    <a:pt x="1435036" y="919619"/>
                  </a:lnTo>
                  <a:lnTo>
                    <a:pt x="1435544" y="877189"/>
                  </a:lnTo>
                  <a:lnTo>
                    <a:pt x="1436814" y="834517"/>
                  </a:lnTo>
                  <a:lnTo>
                    <a:pt x="1438973" y="792099"/>
                  </a:lnTo>
                  <a:lnTo>
                    <a:pt x="1441894" y="749935"/>
                  </a:lnTo>
                  <a:lnTo>
                    <a:pt x="1445577" y="708152"/>
                  </a:lnTo>
                  <a:lnTo>
                    <a:pt x="1450022" y="666750"/>
                  </a:lnTo>
                  <a:lnTo>
                    <a:pt x="1455102" y="625729"/>
                  </a:lnTo>
                  <a:lnTo>
                    <a:pt x="1460944" y="585343"/>
                  </a:lnTo>
                  <a:lnTo>
                    <a:pt x="1467548" y="545719"/>
                  </a:lnTo>
                  <a:lnTo>
                    <a:pt x="1474660" y="506730"/>
                  </a:lnTo>
                  <a:lnTo>
                    <a:pt x="1482407" y="468757"/>
                  </a:lnTo>
                  <a:lnTo>
                    <a:pt x="1490662" y="431546"/>
                  </a:lnTo>
                  <a:lnTo>
                    <a:pt x="1508823" y="360426"/>
                  </a:lnTo>
                  <a:lnTo>
                    <a:pt x="1529143" y="294005"/>
                  </a:lnTo>
                  <a:lnTo>
                    <a:pt x="1550987" y="233045"/>
                  </a:lnTo>
                  <a:lnTo>
                    <a:pt x="1574355" y="178054"/>
                  </a:lnTo>
                  <a:lnTo>
                    <a:pt x="1598993" y="130048"/>
                  </a:lnTo>
                  <a:lnTo>
                    <a:pt x="1624520" y="89535"/>
                  </a:lnTo>
                  <a:lnTo>
                    <a:pt x="1650555" y="57404"/>
                  </a:lnTo>
                  <a:lnTo>
                    <a:pt x="1661045" y="47218"/>
                  </a:lnTo>
                  <a:lnTo>
                    <a:pt x="1671129" y="69723"/>
                  </a:lnTo>
                  <a:lnTo>
                    <a:pt x="1713242" y="18288"/>
                  </a:lnTo>
                  <a:lnTo>
                    <a:pt x="1725104" y="3810"/>
                  </a:lnTo>
                  <a:close/>
                </a:path>
                <a:path w="2425700" h="1849120">
                  <a:moveTo>
                    <a:pt x="2425128" y="3810"/>
                  </a:moveTo>
                  <a:lnTo>
                    <a:pt x="2340038" y="889"/>
                  </a:lnTo>
                  <a:lnTo>
                    <a:pt x="2351633" y="26238"/>
                  </a:lnTo>
                  <a:lnTo>
                    <a:pt x="2334831" y="38862"/>
                  </a:lnTo>
                  <a:lnTo>
                    <a:pt x="2334069" y="39370"/>
                  </a:lnTo>
                  <a:lnTo>
                    <a:pt x="2333434" y="40005"/>
                  </a:lnTo>
                  <a:lnTo>
                    <a:pt x="2332799" y="40767"/>
                  </a:lnTo>
                  <a:lnTo>
                    <a:pt x="2318829" y="57023"/>
                  </a:lnTo>
                  <a:lnTo>
                    <a:pt x="2291905" y="95504"/>
                  </a:lnTo>
                  <a:lnTo>
                    <a:pt x="2266251" y="141605"/>
                  </a:lnTo>
                  <a:lnTo>
                    <a:pt x="2241867" y="194437"/>
                  </a:lnTo>
                  <a:lnTo>
                    <a:pt x="2219007" y="253619"/>
                  </a:lnTo>
                  <a:lnTo>
                    <a:pt x="2197925" y="318389"/>
                  </a:lnTo>
                  <a:lnTo>
                    <a:pt x="2178748" y="387985"/>
                  </a:lnTo>
                  <a:lnTo>
                    <a:pt x="2161603" y="462026"/>
                  </a:lnTo>
                  <a:lnTo>
                    <a:pt x="2153856" y="500380"/>
                  </a:lnTo>
                  <a:lnTo>
                    <a:pt x="2146744" y="539750"/>
                  </a:lnTo>
                  <a:lnTo>
                    <a:pt x="2140267" y="579628"/>
                  </a:lnTo>
                  <a:lnTo>
                    <a:pt x="2134425" y="620395"/>
                  </a:lnTo>
                  <a:lnTo>
                    <a:pt x="2129345" y="661670"/>
                  </a:lnTo>
                  <a:lnTo>
                    <a:pt x="2125027" y="703326"/>
                  </a:lnTo>
                  <a:lnTo>
                    <a:pt x="2121217" y="745617"/>
                  </a:lnTo>
                  <a:lnTo>
                    <a:pt x="2118423" y="788035"/>
                  </a:lnTo>
                  <a:lnTo>
                    <a:pt x="2116264" y="830834"/>
                  </a:lnTo>
                  <a:lnTo>
                    <a:pt x="2114994" y="873760"/>
                  </a:lnTo>
                  <a:lnTo>
                    <a:pt x="2114613" y="916178"/>
                  </a:lnTo>
                  <a:lnTo>
                    <a:pt x="2114854" y="958850"/>
                  </a:lnTo>
                  <a:lnTo>
                    <a:pt x="2115858" y="1001268"/>
                  </a:lnTo>
                  <a:lnTo>
                    <a:pt x="2117471" y="1043686"/>
                  </a:lnTo>
                  <a:lnTo>
                    <a:pt x="2119604" y="1085850"/>
                  </a:lnTo>
                  <a:lnTo>
                    <a:pt x="2122487" y="1129665"/>
                  </a:lnTo>
                  <a:lnTo>
                    <a:pt x="2125916" y="1171321"/>
                  </a:lnTo>
                  <a:lnTo>
                    <a:pt x="2129853" y="1212596"/>
                  </a:lnTo>
                  <a:lnTo>
                    <a:pt x="2134298" y="1253236"/>
                  </a:lnTo>
                  <a:lnTo>
                    <a:pt x="2139251" y="1293241"/>
                  </a:lnTo>
                  <a:lnTo>
                    <a:pt x="2144712" y="1332357"/>
                  </a:lnTo>
                  <a:lnTo>
                    <a:pt x="2150681" y="1370711"/>
                  </a:lnTo>
                  <a:lnTo>
                    <a:pt x="2156904" y="1408303"/>
                  </a:lnTo>
                  <a:lnTo>
                    <a:pt x="2171001" y="1480058"/>
                  </a:lnTo>
                  <a:lnTo>
                    <a:pt x="2186368" y="1547368"/>
                  </a:lnTo>
                  <a:lnTo>
                    <a:pt x="2203259" y="1609217"/>
                  </a:lnTo>
                  <a:lnTo>
                    <a:pt x="2221293" y="1665351"/>
                  </a:lnTo>
                  <a:lnTo>
                    <a:pt x="2240597" y="1714754"/>
                  </a:lnTo>
                  <a:lnTo>
                    <a:pt x="2260917" y="1757299"/>
                  </a:lnTo>
                  <a:lnTo>
                    <a:pt x="2282253" y="1792097"/>
                  </a:lnTo>
                  <a:lnTo>
                    <a:pt x="2310574" y="1823593"/>
                  </a:lnTo>
                  <a:lnTo>
                    <a:pt x="2349817" y="1841881"/>
                  </a:lnTo>
                  <a:lnTo>
                    <a:pt x="2355151" y="1842135"/>
                  </a:lnTo>
                  <a:lnTo>
                    <a:pt x="2356447" y="1818513"/>
                  </a:lnTo>
                  <a:lnTo>
                    <a:pt x="2356548" y="1816735"/>
                  </a:lnTo>
                  <a:lnTo>
                    <a:pt x="2321496" y="1799336"/>
                  </a:lnTo>
                  <a:lnTo>
                    <a:pt x="2292667" y="1761744"/>
                  </a:lnTo>
                  <a:lnTo>
                    <a:pt x="2273236" y="1725549"/>
                  </a:lnTo>
                  <a:lnTo>
                    <a:pt x="2254313" y="1681353"/>
                  </a:lnTo>
                  <a:lnTo>
                    <a:pt x="2236279" y="1630045"/>
                  </a:lnTo>
                  <a:lnTo>
                    <a:pt x="2219134" y="1572133"/>
                  </a:lnTo>
                  <a:lnTo>
                    <a:pt x="2203132" y="1508379"/>
                  </a:lnTo>
                  <a:lnTo>
                    <a:pt x="2188654" y="1439672"/>
                  </a:lnTo>
                  <a:lnTo>
                    <a:pt x="2175700" y="1366520"/>
                  </a:lnTo>
                  <a:lnTo>
                    <a:pt x="2169858" y="1328420"/>
                  </a:lnTo>
                  <a:lnTo>
                    <a:pt x="2164397" y="1289685"/>
                  </a:lnTo>
                  <a:lnTo>
                    <a:pt x="2159444" y="1250061"/>
                  </a:lnTo>
                  <a:lnTo>
                    <a:pt x="2155126" y="1209802"/>
                  </a:lnTo>
                  <a:lnTo>
                    <a:pt x="2151189" y="1168908"/>
                  </a:lnTo>
                  <a:lnTo>
                    <a:pt x="2147760" y="1127506"/>
                  </a:lnTo>
                  <a:lnTo>
                    <a:pt x="2145195" y="1087501"/>
                  </a:lnTo>
                  <a:lnTo>
                    <a:pt x="2142998" y="1045083"/>
                  </a:lnTo>
                  <a:lnTo>
                    <a:pt x="2141321" y="1002284"/>
                  </a:lnTo>
                  <a:lnTo>
                    <a:pt x="2140280" y="959485"/>
                  </a:lnTo>
                  <a:lnTo>
                    <a:pt x="2139886" y="916317"/>
                  </a:lnTo>
                  <a:lnTo>
                    <a:pt x="2140394" y="874014"/>
                  </a:lnTo>
                  <a:lnTo>
                    <a:pt x="2141664" y="831596"/>
                  </a:lnTo>
                  <a:lnTo>
                    <a:pt x="2143696" y="789305"/>
                  </a:lnTo>
                  <a:lnTo>
                    <a:pt x="2146617" y="747268"/>
                  </a:lnTo>
                  <a:lnTo>
                    <a:pt x="2150300" y="705612"/>
                  </a:lnTo>
                  <a:lnTo>
                    <a:pt x="2154618" y="664337"/>
                  </a:lnTo>
                  <a:lnTo>
                    <a:pt x="2159698" y="623443"/>
                  </a:lnTo>
                  <a:lnTo>
                    <a:pt x="2165413" y="583311"/>
                  </a:lnTo>
                  <a:lnTo>
                    <a:pt x="2171763" y="543814"/>
                  </a:lnTo>
                  <a:lnTo>
                    <a:pt x="2178748" y="504952"/>
                  </a:lnTo>
                  <a:lnTo>
                    <a:pt x="2186495" y="467106"/>
                  </a:lnTo>
                  <a:lnTo>
                    <a:pt x="2203386" y="394081"/>
                  </a:lnTo>
                  <a:lnTo>
                    <a:pt x="2222309" y="325374"/>
                  </a:lnTo>
                  <a:lnTo>
                    <a:pt x="2243137" y="261874"/>
                  </a:lnTo>
                  <a:lnTo>
                    <a:pt x="2265362" y="203962"/>
                  </a:lnTo>
                  <a:lnTo>
                    <a:pt x="2289111" y="152654"/>
                  </a:lnTo>
                  <a:lnTo>
                    <a:pt x="2313749" y="108458"/>
                  </a:lnTo>
                  <a:lnTo>
                    <a:pt x="2339149" y="72263"/>
                  </a:lnTo>
                  <a:lnTo>
                    <a:pt x="2350452" y="59182"/>
                  </a:lnTo>
                  <a:lnTo>
                    <a:pt x="2351163" y="58356"/>
                  </a:lnTo>
                  <a:lnTo>
                    <a:pt x="2352598" y="57277"/>
                  </a:lnTo>
                  <a:lnTo>
                    <a:pt x="2362454" y="49872"/>
                  </a:lnTo>
                  <a:lnTo>
                    <a:pt x="2371788" y="70231"/>
                  </a:lnTo>
                  <a:lnTo>
                    <a:pt x="2412073" y="20066"/>
                  </a:lnTo>
                  <a:lnTo>
                    <a:pt x="2425128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1" name="object 1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9137" y="2252726"/>
              <a:ext cx="76200" cy="144653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14525" y="2243201"/>
              <a:ext cx="76200" cy="152781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28901" y="2252726"/>
              <a:ext cx="76200" cy="146685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24226" y="2243201"/>
              <a:ext cx="76200" cy="152781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5157851" y="2252726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228600"/>
                  </a:moveTo>
                  <a:lnTo>
                    <a:pt x="266700" y="228600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6" name="object 176"/>
          <p:cNvSpPr txBox="1"/>
          <p:nvPr/>
        </p:nvSpPr>
        <p:spPr>
          <a:xfrm>
            <a:off x="5221604" y="2231072"/>
            <a:ext cx="137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Arial"/>
                <a:cs typeface="Arial"/>
              </a:rPr>
              <a:t>+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7" name="object 177"/>
          <p:cNvSpPr/>
          <p:nvPr/>
        </p:nvSpPr>
        <p:spPr>
          <a:xfrm>
            <a:off x="620712" y="785240"/>
            <a:ext cx="5979160" cy="2653665"/>
          </a:xfrm>
          <a:custGeom>
            <a:avLst/>
            <a:gdLst/>
            <a:ahLst/>
            <a:cxnLst/>
            <a:rect l="l" t="t" r="r" b="b"/>
            <a:pathLst>
              <a:path w="5979159" h="2653665">
                <a:moveTo>
                  <a:pt x="4702873" y="1392682"/>
                </a:moveTo>
                <a:lnTo>
                  <a:pt x="4677473" y="1392682"/>
                </a:lnTo>
                <a:lnTo>
                  <a:pt x="4677473" y="25400"/>
                </a:lnTo>
                <a:lnTo>
                  <a:pt x="4677473" y="12700"/>
                </a:lnTo>
                <a:lnTo>
                  <a:pt x="4677473" y="5715"/>
                </a:lnTo>
                <a:lnTo>
                  <a:pt x="4671758" y="0"/>
                </a:lnTo>
                <a:lnTo>
                  <a:pt x="5689" y="0"/>
                </a:lnTo>
                <a:lnTo>
                  <a:pt x="0" y="5715"/>
                </a:lnTo>
                <a:lnTo>
                  <a:pt x="0" y="95885"/>
                </a:lnTo>
                <a:lnTo>
                  <a:pt x="25400" y="95885"/>
                </a:lnTo>
                <a:lnTo>
                  <a:pt x="25400" y="25400"/>
                </a:lnTo>
                <a:lnTo>
                  <a:pt x="4652073" y="25400"/>
                </a:lnTo>
                <a:lnTo>
                  <a:pt x="4652073" y="1392682"/>
                </a:lnTo>
                <a:lnTo>
                  <a:pt x="4626673" y="1392682"/>
                </a:lnTo>
                <a:lnTo>
                  <a:pt x="4664773" y="1468882"/>
                </a:lnTo>
                <a:lnTo>
                  <a:pt x="4696523" y="1405382"/>
                </a:lnTo>
                <a:lnTo>
                  <a:pt x="4702873" y="1392682"/>
                </a:lnTo>
                <a:close/>
              </a:path>
              <a:path w="5979159" h="2653665">
                <a:moveTo>
                  <a:pt x="5195506" y="2012950"/>
                </a:moveTo>
                <a:lnTo>
                  <a:pt x="5169484" y="1999615"/>
                </a:lnTo>
                <a:lnTo>
                  <a:pt x="5119687" y="1974088"/>
                </a:lnTo>
                <a:lnTo>
                  <a:pt x="5119421" y="1999513"/>
                </a:lnTo>
                <a:lnTo>
                  <a:pt x="4918138" y="1997710"/>
                </a:lnTo>
                <a:lnTo>
                  <a:pt x="4918011" y="2022983"/>
                </a:lnTo>
                <a:lnTo>
                  <a:pt x="5119167" y="2024900"/>
                </a:lnTo>
                <a:lnTo>
                  <a:pt x="5131867" y="2025015"/>
                </a:lnTo>
                <a:lnTo>
                  <a:pt x="5119167" y="2025015"/>
                </a:lnTo>
                <a:lnTo>
                  <a:pt x="5118925" y="2050288"/>
                </a:lnTo>
                <a:lnTo>
                  <a:pt x="5170754" y="2025015"/>
                </a:lnTo>
                <a:lnTo>
                  <a:pt x="5195506" y="2012950"/>
                </a:lnTo>
                <a:close/>
              </a:path>
              <a:path w="5979159" h="2653665">
                <a:moveTo>
                  <a:pt x="5978588" y="2577465"/>
                </a:moveTo>
                <a:lnTo>
                  <a:pt x="5953188" y="2577465"/>
                </a:lnTo>
                <a:lnTo>
                  <a:pt x="5953188" y="1594358"/>
                </a:lnTo>
                <a:lnTo>
                  <a:pt x="5953188" y="1581658"/>
                </a:lnTo>
                <a:lnTo>
                  <a:pt x="5953188" y="1574673"/>
                </a:lnTo>
                <a:lnTo>
                  <a:pt x="5947461" y="1568958"/>
                </a:lnTo>
                <a:lnTo>
                  <a:pt x="4803711" y="1568958"/>
                </a:lnTo>
                <a:lnTo>
                  <a:pt x="4803711" y="1594358"/>
                </a:lnTo>
                <a:lnTo>
                  <a:pt x="5927788" y="1594358"/>
                </a:lnTo>
                <a:lnTo>
                  <a:pt x="5927788" y="2577465"/>
                </a:lnTo>
                <a:lnTo>
                  <a:pt x="5902388" y="2577465"/>
                </a:lnTo>
                <a:lnTo>
                  <a:pt x="5940488" y="2653665"/>
                </a:lnTo>
                <a:lnTo>
                  <a:pt x="5972238" y="2590165"/>
                </a:lnTo>
                <a:lnTo>
                  <a:pt x="5978588" y="25774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 txBox="1"/>
          <p:nvPr/>
        </p:nvSpPr>
        <p:spPr>
          <a:xfrm>
            <a:off x="6162040" y="604456"/>
            <a:ext cx="1803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There’s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general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81" name="object 18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82" name="object 1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83" name="object 18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79" name="object 179"/>
          <p:cNvSpPr txBox="1"/>
          <p:nvPr/>
        </p:nvSpPr>
        <p:spPr>
          <a:xfrm>
            <a:off x="5712840" y="881062"/>
            <a:ext cx="2588260" cy="624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64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operator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hiding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here: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1079500" algn="l"/>
                <a:tab pos="1804035" algn="l"/>
              </a:tabLst>
            </a:pPr>
            <a:r>
              <a:rPr sz="1050" spc="-10" dirty="0">
                <a:latin typeface="Arial"/>
                <a:cs typeface="Arial"/>
              </a:rPr>
              <a:t>vediamo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575" spc="-37" baseline="2645" dirty="0">
                <a:latin typeface="Arial"/>
                <a:cs typeface="Arial"/>
              </a:rPr>
              <a:t>il</a:t>
            </a:r>
            <a:r>
              <a:rPr sz="1575" baseline="2645" dirty="0">
                <a:latin typeface="Arial"/>
                <a:cs typeface="Arial"/>
              </a:rPr>
              <a:t>	</a:t>
            </a:r>
            <a:r>
              <a:rPr sz="1575" spc="-30" baseline="2645" dirty="0">
                <a:latin typeface="Arial"/>
                <a:cs typeface="Arial"/>
              </a:rPr>
              <a:t>cielo</a:t>
            </a:r>
            <a:endParaRPr sz="1575" baseline="264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3712" y="3429063"/>
            <a:ext cx="7840980" cy="468630"/>
            <a:chOff x="493712" y="3429063"/>
            <a:chExt cx="7840980" cy="468630"/>
          </a:xfrm>
        </p:grpSpPr>
        <p:sp>
          <p:nvSpPr>
            <p:cNvPr id="3" name="object 3"/>
            <p:cNvSpPr/>
            <p:nvPr/>
          </p:nvSpPr>
          <p:spPr>
            <a:xfrm>
              <a:off x="5653151" y="3433826"/>
              <a:ext cx="2676525" cy="238125"/>
            </a:xfrm>
            <a:custGeom>
              <a:avLst/>
              <a:gdLst/>
              <a:ahLst/>
              <a:cxnLst/>
              <a:rect l="l" t="t" r="r" b="b"/>
              <a:pathLst>
                <a:path w="2676525" h="238125">
                  <a:moveTo>
                    <a:pt x="0" y="228600"/>
                  </a:moveTo>
                  <a:lnTo>
                    <a:pt x="123825" y="228600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  <a:path w="2676525" h="238125">
                  <a:moveTo>
                    <a:pt x="847725" y="238125"/>
                  </a:moveTo>
                  <a:lnTo>
                    <a:pt x="971550" y="238125"/>
                  </a:lnTo>
                  <a:lnTo>
                    <a:pt x="971550" y="9525"/>
                  </a:lnTo>
                  <a:lnTo>
                    <a:pt x="847725" y="9525"/>
                  </a:lnTo>
                  <a:lnTo>
                    <a:pt x="847725" y="238125"/>
                  </a:lnTo>
                  <a:close/>
                </a:path>
                <a:path w="2676525" h="238125">
                  <a:moveTo>
                    <a:pt x="1695450" y="238125"/>
                  </a:moveTo>
                  <a:lnTo>
                    <a:pt x="1819275" y="238125"/>
                  </a:lnTo>
                  <a:lnTo>
                    <a:pt x="1819275" y="0"/>
                  </a:lnTo>
                  <a:lnTo>
                    <a:pt x="1695450" y="0"/>
                  </a:lnTo>
                  <a:lnTo>
                    <a:pt x="1695450" y="238125"/>
                  </a:lnTo>
                  <a:close/>
                </a:path>
                <a:path w="2676525" h="238125">
                  <a:moveTo>
                    <a:pt x="2552700" y="238125"/>
                  </a:moveTo>
                  <a:lnTo>
                    <a:pt x="2676525" y="238125"/>
                  </a:lnTo>
                  <a:lnTo>
                    <a:pt x="2676525" y="0"/>
                  </a:lnTo>
                  <a:lnTo>
                    <a:pt x="2552700" y="0"/>
                  </a:lnTo>
                  <a:lnTo>
                    <a:pt x="255270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DD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006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3402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8562" y="3436937"/>
            <a:ext cx="298450" cy="460375"/>
            <a:chOff x="1198562" y="3436937"/>
            <a:chExt cx="298450" cy="460375"/>
          </a:xfrm>
        </p:grpSpPr>
        <p:sp>
          <p:nvSpPr>
            <p:cNvPr id="8" name="object 8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DD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04912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56283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03476" y="3436937"/>
            <a:ext cx="298450" cy="460375"/>
            <a:chOff x="1903476" y="3436937"/>
            <a:chExt cx="298450" cy="460375"/>
          </a:xfrm>
        </p:grpSpPr>
        <p:sp>
          <p:nvSpPr>
            <p:cNvPr id="12" name="object 12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DD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9826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58975" y="3587496"/>
            <a:ext cx="176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4662" y="2560701"/>
            <a:ext cx="336550" cy="469900"/>
            <a:chOff x="474662" y="2560701"/>
            <a:chExt cx="336550" cy="469900"/>
          </a:xfrm>
        </p:grpSpPr>
        <p:sp>
          <p:nvSpPr>
            <p:cNvPr id="16" name="object 16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101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7369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79512" y="2560701"/>
            <a:ext cx="336550" cy="469900"/>
            <a:chOff x="1179512" y="2560701"/>
            <a:chExt cx="336550" cy="469900"/>
          </a:xfrm>
        </p:grpSpPr>
        <p:sp>
          <p:nvSpPr>
            <p:cNvPr id="20" name="object 20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85862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53236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74901" y="2560701"/>
            <a:ext cx="346075" cy="469900"/>
            <a:chOff x="1874901" y="2560701"/>
            <a:chExt cx="346075" cy="469900"/>
          </a:xfrm>
        </p:grpSpPr>
        <p:sp>
          <p:nvSpPr>
            <p:cNvPr id="24" name="object 24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8125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955800" y="2713672"/>
            <a:ext cx="1828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08526" y="2560701"/>
            <a:ext cx="336550" cy="469900"/>
            <a:chOff x="4208526" y="2560701"/>
            <a:chExt cx="336550" cy="469900"/>
          </a:xfrm>
        </p:grpSpPr>
        <p:sp>
          <p:nvSpPr>
            <p:cNvPr id="28" name="object 28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148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286250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98801" y="3436937"/>
            <a:ext cx="298450" cy="460375"/>
            <a:chOff x="2598801" y="3436937"/>
            <a:chExt cx="298450" cy="460375"/>
          </a:xfrm>
        </p:grpSpPr>
        <p:sp>
          <p:nvSpPr>
            <p:cNvPr id="32" name="object 32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2857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285750" y="447675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DD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05151" y="3443287"/>
              <a:ext cx="285750" cy="447675"/>
            </a:xfrm>
            <a:custGeom>
              <a:avLst/>
              <a:gdLst/>
              <a:ahLst/>
              <a:cxnLst/>
              <a:rect l="l" t="t" r="r" b="b"/>
              <a:pathLst>
                <a:path w="285750" h="447675">
                  <a:moveTo>
                    <a:pt x="0" y="447675"/>
                  </a:moveTo>
                  <a:lnTo>
                    <a:pt x="285750" y="447675"/>
                  </a:lnTo>
                  <a:lnTo>
                    <a:pt x="2857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56A7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661920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x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579751" y="2560701"/>
            <a:ext cx="346075" cy="469900"/>
            <a:chOff x="2579751" y="2560701"/>
            <a:chExt cx="346075" cy="469900"/>
          </a:xfrm>
        </p:grpSpPr>
        <p:sp>
          <p:nvSpPr>
            <p:cNvPr id="36" name="object 36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D4E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861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658745" y="2713672"/>
            <a:ext cx="1822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h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4837" y="2252726"/>
            <a:ext cx="7005955" cy="1189990"/>
            <a:chOff x="604837" y="2252726"/>
            <a:chExt cx="7005955" cy="1189990"/>
          </a:xfrm>
        </p:grpSpPr>
        <p:sp>
          <p:nvSpPr>
            <p:cNvPr id="40" name="object 40"/>
            <p:cNvSpPr/>
            <p:nvPr/>
          </p:nvSpPr>
          <p:spPr>
            <a:xfrm>
              <a:off x="604837" y="2252725"/>
              <a:ext cx="5145405" cy="1189990"/>
            </a:xfrm>
            <a:custGeom>
              <a:avLst/>
              <a:gdLst/>
              <a:ahLst/>
              <a:cxnLst/>
              <a:rect l="l" t="t" r="r" b="b"/>
              <a:pathLst>
                <a:path w="5145405" h="1189989">
                  <a:moveTo>
                    <a:pt x="53505" y="1189863"/>
                  </a:moveTo>
                  <a:lnTo>
                    <a:pt x="51282" y="847852"/>
                  </a:lnTo>
                  <a:lnTo>
                    <a:pt x="25882" y="847852"/>
                  </a:lnTo>
                  <a:lnTo>
                    <a:pt x="28092" y="1189863"/>
                  </a:lnTo>
                  <a:lnTo>
                    <a:pt x="28105" y="1189990"/>
                  </a:lnTo>
                  <a:lnTo>
                    <a:pt x="53505" y="1189863"/>
                  </a:lnTo>
                  <a:close/>
                </a:path>
                <a:path w="5145405" h="118998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314325"/>
                  </a:lnTo>
                  <a:lnTo>
                    <a:pt x="50800" y="314325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5145405" h="1189989">
                  <a:moveTo>
                    <a:pt x="76695" y="847471"/>
                  </a:moveTo>
                  <a:lnTo>
                    <a:pt x="70358" y="835025"/>
                  </a:lnTo>
                  <a:lnTo>
                    <a:pt x="38100" y="771525"/>
                  </a:lnTo>
                  <a:lnTo>
                    <a:pt x="495" y="847852"/>
                  </a:lnTo>
                  <a:lnTo>
                    <a:pt x="25869" y="847737"/>
                  </a:lnTo>
                  <a:lnTo>
                    <a:pt x="51269" y="847610"/>
                  </a:lnTo>
                  <a:lnTo>
                    <a:pt x="76695" y="847471"/>
                  </a:lnTo>
                  <a:close/>
                </a:path>
                <a:path w="5145405" h="1189989">
                  <a:moveTo>
                    <a:pt x="575627" y="542925"/>
                  </a:moveTo>
                  <a:lnTo>
                    <a:pt x="550227" y="530225"/>
                  </a:lnTo>
                  <a:lnTo>
                    <a:pt x="499427" y="504825"/>
                  </a:lnTo>
                  <a:lnTo>
                    <a:pt x="499427" y="530225"/>
                  </a:lnTo>
                  <a:lnTo>
                    <a:pt x="200025" y="530225"/>
                  </a:lnTo>
                  <a:lnTo>
                    <a:pt x="200025" y="555625"/>
                  </a:lnTo>
                  <a:lnTo>
                    <a:pt x="499427" y="555625"/>
                  </a:lnTo>
                  <a:lnTo>
                    <a:pt x="499427" y="581025"/>
                  </a:lnTo>
                  <a:lnTo>
                    <a:pt x="550227" y="555625"/>
                  </a:lnTo>
                  <a:lnTo>
                    <a:pt x="575627" y="542925"/>
                  </a:lnTo>
                  <a:close/>
                </a:path>
                <a:path w="5145405" h="1189989">
                  <a:moveTo>
                    <a:pt x="780986" y="847725"/>
                  </a:moveTo>
                  <a:lnTo>
                    <a:pt x="774636" y="835025"/>
                  </a:lnTo>
                  <a:lnTo>
                    <a:pt x="742886" y="771525"/>
                  </a:lnTo>
                  <a:lnTo>
                    <a:pt x="704786" y="847725"/>
                  </a:lnTo>
                  <a:lnTo>
                    <a:pt x="730186" y="847725"/>
                  </a:lnTo>
                  <a:lnTo>
                    <a:pt x="730313" y="1189990"/>
                  </a:lnTo>
                  <a:lnTo>
                    <a:pt x="755713" y="1189990"/>
                  </a:lnTo>
                  <a:lnTo>
                    <a:pt x="755586" y="847725"/>
                  </a:lnTo>
                  <a:lnTo>
                    <a:pt x="780986" y="847725"/>
                  </a:lnTo>
                  <a:close/>
                </a:path>
                <a:path w="5145405" h="1189989">
                  <a:moveTo>
                    <a:pt x="780986" y="76200"/>
                  </a:moveTo>
                  <a:lnTo>
                    <a:pt x="774636" y="63500"/>
                  </a:lnTo>
                  <a:lnTo>
                    <a:pt x="742886" y="0"/>
                  </a:lnTo>
                  <a:lnTo>
                    <a:pt x="704786" y="76200"/>
                  </a:lnTo>
                  <a:lnTo>
                    <a:pt x="730186" y="76200"/>
                  </a:lnTo>
                  <a:lnTo>
                    <a:pt x="730313" y="314325"/>
                  </a:lnTo>
                  <a:lnTo>
                    <a:pt x="755713" y="314325"/>
                  </a:lnTo>
                  <a:lnTo>
                    <a:pt x="755586" y="76200"/>
                  </a:lnTo>
                  <a:lnTo>
                    <a:pt x="780986" y="76200"/>
                  </a:lnTo>
                  <a:close/>
                </a:path>
                <a:path w="5145405" h="1189989">
                  <a:moveTo>
                    <a:pt x="1277810" y="542925"/>
                  </a:moveTo>
                  <a:lnTo>
                    <a:pt x="1252410" y="530225"/>
                  </a:lnTo>
                  <a:lnTo>
                    <a:pt x="1201610" y="504825"/>
                  </a:lnTo>
                  <a:lnTo>
                    <a:pt x="1201610" y="530225"/>
                  </a:lnTo>
                  <a:lnTo>
                    <a:pt x="904938" y="530225"/>
                  </a:lnTo>
                  <a:lnTo>
                    <a:pt x="904938" y="555625"/>
                  </a:lnTo>
                  <a:lnTo>
                    <a:pt x="1201610" y="555625"/>
                  </a:lnTo>
                  <a:lnTo>
                    <a:pt x="1201610" y="581025"/>
                  </a:lnTo>
                  <a:lnTo>
                    <a:pt x="1252410" y="555625"/>
                  </a:lnTo>
                  <a:lnTo>
                    <a:pt x="1277810" y="542925"/>
                  </a:lnTo>
                  <a:close/>
                </a:path>
                <a:path w="5145405" h="1189989">
                  <a:moveTo>
                    <a:pt x="1485836" y="847725"/>
                  </a:moveTo>
                  <a:lnTo>
                    <a:pt x="1479486" y="835025"/>
                  </a:lnTo>
                  <a:lnTo>
                    <a:pt x="1447736" y="771525"/>
                  </a:lnTo>
                  <a:lnTo>
                    <a:pt x="1409636" y="847725"/>
                  </a:lnTo>
                  <a:lnTo>
                    <a:pt x="1435036" y="847725"/>
                  </a:lnTo>
                  <a:lnTo>
                    <a:pt x="1435163" y="1189990"/>
                  </a:lnTo>
                  <a:lnTo>
                    <a:pt x="1460563" y="1189990"/>
                  </a:lnTo>
                  <a:lnTo>
                    <a:pt x="1460436" y="847725"/>
                  </a:lnTo>
                  <a:lnTo>
                    <a:pt x="1485836" y="847725"/>
                  </a:lnTo>
                  <a:close/>
                </a:path>
                <a:path w="5145405" h="1189989">
                  <a:moveTo>
                    <a:pt x="1486598" y="76200"/>
                  </a:moveTo>
                  <a:lnTo>
                    <a:pt x="1480286" y="63500"/>
                  </a:lnTo>
                  <a:lnTo>
                    <a:pt x="1448752" y="0"/>
                  </a:lnTo>
                  <a:lnTo>
                    <a:pt x="1410322" y="76200"/>
                  </a:lnTo>
                  <a:lnTo>
                    <a:pt x="1435747" y="76200"/>
                  </a:lnTo>
                  <a:lnTo>
                    <a:pt x="1435163" y="314325"/>
                  </a:lnTo>
                  <a:lnTo>
                    <a:pt x="1460563" y="314325"/>
                  </a:lnTo>
                  <a:lnTo>
                    <a:pt x="1461160" y="76200"/>
                  </a:lnTo>
                  <a:lnTo>
                    <a:pt x="1486598" y="76200"/>
                  </a:lnTo>
                  <a:close/>
                </a:path>
                <a:path w="5145405" h="1189989">
                  <a:moveTo>
                    <a:pt x="1982660" y="542925"/>
                  </a:moveTo>
                  <a:lnTo>
                    <a:pt x="1957260" y="530225"/>
                  </a:lnTo>
                  <a:lnTo>
                    <a:pt x="1906460" y="504825"/>
                  </a:lnTo>
                  <a:lnTo>
                    <a:pt x="1906460" y="530225"/>
                  </a:lnTo>
                  <a:lnTo>
                    <a:pt x="1609661" y="530225"/>
                  </a:lnTo>
                  <a:lnTo>
                    <a:pt x="1609661" y="555625"/>
                  </a:lnTo>
                  <a:lnTo>
                    <a:pt x="1906460" y="555625"/>
                  </a:lnTo>
                  <a:lnTo>
                    <a:pt x="1906460" y="581025"/>
                  </a:lnTo>
                  <a:lnTo>
                    <a:pt x="1957260" y="555625"/>
                  </a:lnTo>
                  <a:lnTo>
                    <a:pt x="1982660" y="542925"/>
                  </a:lnTo>
                  <a:close/>
                </a:path>
                <a:path w="5145405" h="1189989">
                  <a:moveTo>
                    <a:pt x="2181161" y="847725"/>
                  </a:moveTo>
                  <a:lnTo>
                    <a:pt x="2174811" y="835025"/>
                  </a:lnTo>
                  <a:lnTo>
                    <a:pt x="2143061" y="771525"/>
                  </a:lnTo>
                  <a:lnTo>
                    <a:pt x="2104961" y="847725"/>
                  </a:lnTo>
                  <a:lnTo>
                    <a:pt x="2130361" y="847725"/>
                  </a:lnTo>
                  <a:lnTo>
                    <a:pt x="2130488" y="1189990"/>
                  </a:lnTo>
                  <a:lnTo>
                    <a:pt x="2155888" y="1189990"/>
                  </a:lnTo>
                  <a:lnTo>
                    <a:pt x="2155761" y="847725"/>
                  </a:lnTo>
                  <a:lnTo>
                    <a:pt x="2181161" y="847725"/>
                  </a:lnTo>
                  <a:close/>
                </a:path>
                <a:path w="5145405" h="1189989">
                  <a:moveTo>
                    <a:pt x="2181288" y="76200"/>
                  </a:moveTo>
                  <a:lnTo>
                    <a:pt x="2174913" y="63500"/>
                  </a:lnTo>
                  <a:lnTo>
                    <a:pt x="2143061" y="0"/>
                  </a:lnTo>
                  <a:lnTo>
                    <a:pt x="2105088" y="76200"/>
                  </a:lnTo>
                  <a:lnTo>
                    <a:pt x="2130361" y="76200"/>
                  </a:lnTo>
                  <a:lnTo>
                    <a:pt x="2130488" y="314325"/>
                  </a:lnTo>
                  <a:lnTo>
                    <a:pt x="2155888" y="314325"/>
                  </a:lnTo>
                  <a:lnTo>
                    <a:pt x="2155761" y="76200"/>
                  </a:lnTo>
                  <a:lnTo>
                    <a:pt x="2181288" y="76200"/>
                  </a:lnTo>
                  <a:close/>
                </a:path>
                <a:path w="5145405" h="1189989">
                  <a:moveTo>
                    <a:pt x="5145214" y="1101471"/>
                  </a:moveTo>
                  <a:lnTo>
                    <a:pt x="5119814" y="1101471"/>
                  </a:lnTo>
                  <a:lnTo>
                    <a:pt x="5119814" y="555625"/>
                  </a:lnTo>
                  <a:lnTo>
                    <a:pt x="5119814" y="542925"/>
                  </a:lnTo>
                  <a:lnTo>
                    <a:pt x="5119814" y="535813"/>
                  </a:lnTo>
                  <a:lnTo>
                    <a:pt x="5114099" y="530225"/>
                  </a:lnTo>
                  <a:lnTo>
                    <a:pt x="3933761" y="530225"/>
                  </a:lnTo>
                  <a:lnTo>
                    <a:pt x="3933761" y="555625"/>
                  </a:lnTo>
                  <a:lnTo>
                    <a:pt x="5094414" y="555625"/>
                  </a:lnTo>
                  <a:lnTo>
                    <a:pt x="5094414" y="1101471"/>
                  </a:lnTo>
                  <a:lnTo>
                    <a:pt x="5069014" y="1101471"/>
                  </a:lnTo>
                  <a:lnTo>
                    <a:pt x="5107114" y="1177671"/>
                  </a:lnTo>
                  <a:lnTo>
                    <a:pt x="5138864" y="1114171"/>
                  </a:lnTo>
                  <a:lnTo>
                    <a:pt x="5145214" y="1101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15076" y="2786126"/>
              <a:ext cx="1790700" cy="238125"/>
            </a:xfrm>
            <a:custGeom>
              <a:avLst/>
              <a:gdLst/>
              <a:ahLst/>
              <a:cxnLst/>
              <a:rect l="l" t="t" r="r" b="b"/>
              <a:pathLst>
                <a:path w="1790700" h="238125">
                  <a:moveTo>
                    <a:pt x="0" y="238125"/>
                  </a:moveTo>
                  <a:lnTo>
                    <a:pt x="123825" y="238125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  <a:path w="1790700" h="238125">
                  <a:moveTo>
                    <a:pt x="1676400" y="238125"/>
                  </a:moveTo>
                  <a:lnTo>
                    <a:pt x="1790700" y="238125"/>
                  </a:lnTo>
                  <a:lnTo>
                    <a:pt x="1790700" y="0"/>
                  </a:lnTo>
                  <a:lnTo>
                    <a:pt x="1676400" y="0"/>
                  </a:lnTo>
                  <a:lnTo>
                    <a:pt x="1676400" y="23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150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890895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646926" y="2560701"/>
            <a:ext cx="346075" cy="469900"/>
            <a:chOff x="6646926" y="2560701"/>
            <a:chExt cx="346075" cy="469900"/>
          </a:xfrm>
        </p:grpSpPr>
        <p:sp>
          <p:nvSpPr>
            <p:cNvPr id="46" name="object 46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53276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734809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711190" y="4211637"/>
            <a:ext cx="540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[START]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99226" y="3436937"/>
            <a:ext cx="327025" cy="460375"/>
            <a:chOff x="5999226" y="3436937"/>
            <a:chExt cx="327025" cy="460375"/>
          </a:xfrm>
        </p:grpSpPr>
        <p:sp>
          <p:nvSpPr>
            <p:cNvPr id="51" name="object 51"/>
            <p:cNvSpPr/>
            <p:nvPr/>
          </p:nvSpPr>
          <p:spPr>
            <a:xfrm>
              <a:off x="6005576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3143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14325" y="4476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05576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0" y="447675"/>
                  </a:moveTo>
                  <a:lnTo>
                    <a:pt x="314325" y="447675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074790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0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246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62801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485126" y="2560701"/>
            <a:ext cx="336550" cy="469900"/>
            <a:chOff x="7485126" y="2560701"/>
            <a:chExt cx="336550" cy="469900"/>
          </a:xfrm>
        </p:grpSpPr>
        <p:sp>
          <p:nvSpPr>
            <p:cNvPr id="57" name="object 57"/>
            <p:cNvSpPr/>
            <p:nvPr/>
          </p:nvSpPr>
          <p:spPr>
            <a:xfrm>
              <a:off x="74914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32385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23850" y="45720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491476" y="2567051"/>
              <a:ext cx="323850" cy="457200"/>
            </a:xfrm>
            <a:custGeom>
              <a:avLst/>
              <a:gdLst/>
              <a:ahLst/>
              <a:cxnLst/>
              <a:rect l="l" t="t" r="r" b="b"/>
              <a:pathLst>
                <a:path w="323850" h="457200">
                  <a:moveTo>
                    <a:pt x="0" y="457200"/>
                  </a:moveTo>
                  <a:lnTo>
                    <a:pt x="323850" y="457200"/>
                  </a:lnTo>
                  <a:lnTo>
                    <a:pt x="32385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567676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332851" y="2560701"/>
            <a:ext cx="346075" cy="469900"/>
            <a:chOff x="8332851" y="2560701"/>
            <a:chExt cx="346075" cy="469900"/>
          </a:xfrm>
        </p:grpSpPr>
        <p:sp>
          <p:nvSpPr>
            <p:cNvPr id="61" name="object 61"/>
            <p:cNvSpPr/>
            <p:nvPr/>
          </p:nvSpPr>
          <p:spPr>
            <a:xfrm>
              <a:off x="83392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3333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33375" y="4572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339201" y="2567051"/>
              <a:ext cx="333375" cy="457200"/>
            </a:xfrm>
            <a:custGeom>
              <a:avLst/>
              <a:gdLst/>
              <a:ahLst/>
              <a:cxnLst/>
              <a:rect l="l" t="t" r="r" b="b"/>
              <a:pathLst>
                <a:path w="333375" h="457200">
                  <a:moveTo>
                    <a:pt x="0" y="457200"/>
                  </a:moveTo>
                  <a:lnTo>
                    <a:pt x="333375" y="457200"/>
                  </a:lnTo>
                  <a:lnTo>
                    <a:pt x="333375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8422385" y="2713672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s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501001" y="1690751"/>
            <a:ext cx="304800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0477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348726" y="1690751"/>
            <a:ext cx="314325" cy="457200"/>
          </a:xfrm>
          <a:prstGeom prst="rect">
            <a:avLst/>
          </a:prstGeom>
          <a:solidFill>
            <a:srgbClr val="EED0D0"/>
          </a:solidFill>
          <a:ln w="12700">
            <a:solidFill>
              <a:srgbClr val="953334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280145" y="1315148"/>
            <a:ext cx="4629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[STOP]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618226" y="2147951"/>
            <a:ext cx="2930525" cy="1749425"/>
            <a:chOff x="5618226" y="2147951"/>
            <a:chExt cx="2930525" cy="1749425"/>
          </a:xfrm>
        </p:grpSpPr>
        <p:sp>
          <p:nvSpPr>
            <p:cNvPr id="68" name="object 68"/>
            <p:cNvSpPr/>
            <p:nvPr/>
          </p:nvSpPr>
          <p:spPr>
            <a:xfrm>
              <a:off x="6043676" y="2147950"/>
              <a:ext cx="2505075" cy="1298575"/>
            </a:xfrm>
            <a:custGeom>
              <a:avLst/>
              <a:gdLst/>
              <a:ahLst/>
              <a:cxnLst/>
              <a:rect l="l" t="t" r="r" b="b"/>
              <a:pathLst>
                <a:path w="2505075" h="1298575">
                  <a:moveTo>
                    <a:pt x="76200" y="952500"/>
                  </a:moveTo>
                  <a:lnTo>
                    <a:pt x="69850" y="939800"/>
                  </a:lnTo>
                  <a:lnTo>
                    <a:pt x="38100" y="876300"/>
                  </a:lnTo>
                  <a:lnTo>
                    <a:pt x="0" y="952500"/>
                  </a:lnTo>
                  <a:lnTo>
                    <a:pt x="25387" y="952500"/>
                  </a:lnTo>
                  <a:lnTo>
                    <a:pt x="25273" y="1294638"/>
                  </a:lnTo>
                  <a:lnTo>
                    <a:pt x="50673" y="1294638"/>
                  </a:lnTo>
                  <a:lnTo>
                    <a:pt x="50787" y="952500"/>
                  </a:lnTo>
                  <a:lnTo>
                    <a:pt x="76200" y="952500"/>
                  </a:lnTo>
                  <a:close/>
                </a:path>
                <a:path w="2505075" h="1298575">
                  <a:moveTo>
                    <a:pt x="608965" y="647700"/>
                  </a:moveTo>
                  <a:lnTo>
                    <a:pt x="583565" y="635000"/>
                  </a:lnTo>
                  <a:lnTo>
                    <a:pt x="532765" y="609600"/>
                  </a:lnTo>
                  <a:lnTo>
                    <a:pt x="532765" y="635000"/>
                  </a:lnTo>
                  <a:lnTo>
                    <a:pt x="95123" y="635000"/>
                  </a:lnTo>
                  <a:lnTo>
                    <a:pt x="95123" y="660400"/>
                  </a:lnTo>
                  <a:lnTo>
                    <a:pt x="532765" y="660400"/>
                  </a:lnTo>
                  <a:lnTo>
                    <a:pt x="532765" y="685800"/>
                  </a:lnTo>
                  <a:lnTo>
                    <a:pt x="583565" y="660400"/>
                  </a:lnTo>
                  <a:lnTo>
                    <a:pt x="608965" y="647700"/>
                  </a:lnTo>
                  <a:close/>
                </a:path>
                <a:path w="2505075" h="1298575">
                  <a:moveTo>
                    <a:pt x="1445768" y="647700"/>
                  </a:moveTo>
                  <a:lnTo>
                    <a:pt x="1420368" y="635000"/>
                  </a:lnTo>
                  <a:lnTo>
                    <a:pt x="1369568" y="609600"/>
                  </a:lnTo>
                  <a:lnTo>
                    <a:pt x="1369568" y="635000"/>
                  </a:lnTo>
                  <a:lnTo>
                    <a:pt x="942848" y="635000"/>
                  </a:lnTo>
                  <a:lnTo>
                    <a:pt x="942848" y="660400"/>
                  </a:lnTo>
                  <a:lnTo>
                    <a:pt x="1369568" y="660400"/>
                  </a:lnTo>
                  <a:lnTo>
                    <a:pt x="1369568" y="685800"/>
                  </a:lnTo>
                  <a:lnTo>
                    <a:pt x="1420368" y="660400"/>
                  </a:lnTo>
                  <a:lnTo>
                    <a:pt x="1445768" y="647700"/>
                  </a:lnTo>
                  <a:close/>
                </a:path>
                <a:path w="2505075" h="1298575">
                  <a:moveTo>
                    <a:pt x="1647761" y="76200"/>
                  </a:moveTo>
                  <a:lnTo>
                    <a:pt x="1641398" y="63500"/>
                  </a:lnTo>
                  <a:lnTo>
                    <a:pt x="1609598" y="0"/>
                  </a:lnTo>
                  <a:lnTo>
                    <a:pt x="1571498" y="76200"/>
                  </a:lnTo>
                  <a:lnTo>
                    <a:pt x="1596898" y="76200"/>
                  </a:lnTo>
                  <a:lnTo>
                    <a:pt x="1597025" y="421767"/>
                  </a:lnTo>
                  <a:lnTo>
                    <a:pt x="1622425" y="421767"/>
                  </a:lnTo>
                  <a:lnTo>
                    <a:pt x="1622298" y="76200"/>
                  </a:lnTo>
                  <a:lnTo>
                    <a:pt x="1647761" y="76200"/>
                  </a:lnTo>
                  <a:close/>
                </a:path>
                <a:path w="2505075" h="1298575">
                  <a:moveTo>
                    <a:pt x="2296287" y="647700"/>
                  </a:moveTo>
                  <a:lnTo>
                    <a:pt x="2270887" y="635000"/>
                  </a:lnTo>
                  <a:lnTo>
                    <a:pt x="2220087" y="609600"/>
                  </a:lnTo>
                  <a:lnTo>
                    <a:pt x="2220087" y="635000"/>
                  </a:lnTo>
                  <a:lnTo>
                    <a:pt x="1771523" y="635000"/>
                  </a:lnTo>
                  <a:lnTo>
                    <a:pt x="1771523" y="660400"/>
                  </a:lnTo>
                  <a:lnTo>
                    <a:pt x="2220087" y="660400"/>
                  </a:lnTo>
                  <a:lnTo>
                    <a:pt x="2220087" y="685800"/>
                  </a:lnTo>
                  <a:lnTo>
                    <a:pt x="2270887" y="660400"/>
                  </a:lnTo>
                  <a:lnTo>
                    <a:pt x="2296287" y="647700"/>
                  </a:lnTo>
                  <a:close/>
                </a:path>
                <a:path w="2505075" h="1298575">
                  <a:moveTo>
                    <a:pt x="2504948" y="952373"/>
                  </a:moveTo>
                  <a:lnTo>
                    <a:pt x="2498598" y="939673"/>
                  </a:lnTo>
                  <a:lnTo>
                    <a:pt x="2466848" y="876173"/>
                  </a:lnTo>
                  <a:lnTo>
                    <a:pt x="2428748" y="952373"/>
                  </a:lnTo>
                  <a:lnTo>
                    <a:pt x="2454148" y="952373"/>
                  </a:lnTo>
                  <a:lnTo>
                    <a:pt x="2454275" y="1298067"/>
                  </a:lnTo>
                  <a:lnTo>
                    <a:pt x="2479675" y="1298067"/>
                  </a:lnTo>
                  <a:lnTo>
                    <a:pt x="2479548" y="952373"/>
                  </a:lnTo>
                  <a:lnTo>
                    <a:pt x="2504948" y="952373"/>
                  </a:lnTo>
                  <a:close/>
                </a:path>
                <a:path w="2505075" h="1298575">
                  <a:moveTo>
                    <a:pt x="2504948" y="76200"/>
                  </a:moveTo>
                  <a:lnTo>
                    <a:pt x="2498598" y="63500"/>
                  </a:lnTo>
                  <a:lnTo>
                    <a:pt x="2466848" y="0"/>
                  </a:lnTo>
                  <a:lnTo>
                    <a:pt x="2428748" y="76200"/>
                  </a:lnTo>
                  <a:lnTo>
                    <a:pt x="2454148" y="76200"/>
                  </a:lnTo>
                  <a:lnTo>
                    <a:pt x="2454275" y="421767"/>
                  </a:lnTo>
                  <a:lnTo>
                    <a:pt x="2479675" y="421767"/>
                  </a:lnTo>
                  <a:lnTo>
                    <a:pt x="2479548" y="76200"/>
                  </a:lnTo>
                  <a:lnTo>
                    <a:pt x="250494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62457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688076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824601" y="3024251"/>
            <a:ext cx="1330325" cy="882650"/>
            <a:chOff x="5824601" y="3024251"/>
            <a:chExt cx="1330325" cy="882650"/>
          </a:xfrm>
        </p:grpSpPr>
        <p:sp>
          <p:nvSpPr>
            <p:cNvPr id="73" name="object 73"/>
            <p:cNvSpPr/>
            <p:nvPr/>
          </p:nvSpPr>
          <p:spPr>
            <a:xfrm>
              <a:off x="5824601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673" y="63500"/>
                  </a:moveTo>
                  <a:lnTo>
                    <a:pt x="25400" y="63500"/>
                  </a:lnTo>
                  <a:lnTo>
                    <a:pt x="25273" y="418338"/>
                  </a:lnTo>
                  <a:lnTo>
                    <a:pt x="50673" y="418338"/>
                  </a:lnTo>
                  <a:lnTo>
                    <a:pt x="50673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395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673" y="63500"/>
                  </a:lnTo>
                  <a:lnTo>
                    <a:pt x="50673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43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304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800" y="457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43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457200"/>
                  </a:moveTo>
                  <a:lnTo>
                    <a:pt x="304800" y="457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912609" y="3590861"/>
            <a:ext cx="1758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1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456426" y="3024251"/>
            <a:ext cx="501650" cy="882650"/>
            <a:chOff x="6456426" y="3024251"/>
            <a:chExt cx="501650" cy="882650"/>
          </a:xfrm>
        </p:grpSpPr>
        <p:sp>
          <p:nvSpPr>
            <p:cNvPr id="78" name="object 78"/>
            <p:cNvSpPr/>
            <p:nvPr/>
          </p:nvSpPr>
          <p:spPr>
            <a:xfrm>
              <a:off x="6881749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462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304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04800" y="4572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462776" y="3443287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457200"/>
                  </a:moveTo>
                  <a:lnTo>
                    <a:pt x="304800" y="4572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6525641" y="3590861"/>
            <a:ext cx="1765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662673" y="3024251"/>
            <a:ext cx="1330960" cy="873125"/>
            <a:chOff x="6662673" y="3024251"/>
            <a:chExt cx="1330960" cy="873125"/>
          </a:xfrm>
        </p:grpSpPr>
        <p:sp>
          <p:nvSpPr>
            <p:cNvPr id="83" name="object 83"/>
            <p:cNvSpPr/>
            <p:nvPr/>
          </p:nvSpPr>
          <p:spPr>
            <a:xfrm>
              <a:off x="6662673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681975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681975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7751191" y="3587496"/>
            <a:ext cx="176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2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7285101" y="3024251"/>
            <a:ext cx="511175" cy="873125"/>
            <a:chOff x="7285101" y="3024251"/>
            <a:chExt cx="511175" cy="873125"/>
          </a:xfrm>
        </p:grpSpPr>
        <p:sp>
          <p:nvSpPr>
            <p:cNvPr id="88" name="object 88"/>
            <p:cNvSpPr/>
            <p:nvPr/>
          </p:nvSpPr>
          <p:spPr>
            <a:xfrm>
              <a:off x="7719949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29145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3143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14325" y="4476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291451" y="3443287"/>
              <a:ext cx="314325" cy="447675"/>
            </a:xfrm>
            <a:custGeom>
              <a:avLst/>
              <a:gdLst/>
              <a:ahLst/>
              <a:cxnLst/>
              <a:rect l="l" t="t" r="r" b="b"/>
              <a:pathLst>
                <a:path w="314325" h="447675">
                  <a:moveTo>
                    <a:pt x="0" y="447675"/>
                  </a:moveTo>
                  <a:lnTo>
                    <a:pt x="314325" y="447675"/>
                  </a:lnTo>
                  <a:lnTo>
                    <a:pt x="3143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7364476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7500873" y="3024251"/>
            <a:ext cx="1359535" cy="873125"/>
            <a:chOff x="7500873" y="3024251"/>
            <a:chExt cx="1359535" cy="873125"/>
          </a:xfrm>
        </p:grpSpPr>
        <p:sp>
          <p:nvSpPr>
            <p:cNvPr id="93" name="object 93"/>
            <p:cNvSpPr/>
            <p:nvPr/>
          </p:nvSpPr>
          <p:spPr>
            <a:xfrm>
              <a:off x="7500873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926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926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926" y="63500"/>
                  </a:lnTo>
                  <a:lnTo>
                    <a:pt x="5092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548750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E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548750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95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8615933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y</a:t>
            </a:r>
            <a:r>
              <a:rPr sz="900" spc="-37" baseline="-13888" dirty="0">
                <a:latin typeface="Arial"/>
                <a:cs typeface="Arial"/>
              </a:rPr>
              <a:t>3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151876" y="3024251"/>
            <a:ext cx="511175" cy="873125"/>
            <a:chOff x="8151876" y="3024251"/>
            <a:chExt cx="511175" cy="873125"/>
          </a:xfrm>
        </p:grpSpPr>
        <p:sp>
          <p:nvSpPr>
            <p:cNvPr id="98" name="object 98"/>
            <p:cNvSpPr/>
            <p:nvPr/>
          </p:nvSpPr>
          <p:spPr>
            <a:xfrm>
              <a:off x="8586724" y="3024251"/>
              <a:ext cx="76200" cy="418465"/>
            </a:xfrm>
            <a:custGeom>
              <a:avLst/>
              <a:gdLst/>
              <a:ahLst/>
              <a:cxnLst/>
              <a:rect l="l" t="t" r="r" b="b"/>
              <a:pathLst>
                <a:path w="76200" h="418464">
                  <a:moveTo>
                    <a:pt x="50800" y="63500"/>
                  </a:moveTo>
                  <a:lnTo>
                    <a:pt x="25400" y="63500"/>
                  </a:lnTo>
                  <a:lnTo>
                    <a:pt x="25400" y="418338"/>
                  </a:lnTo>
                  <a:lnTo>
                    <a:pt x="50800" y="418338"/>
                  </a:lnTo>
                  <a:lnTo>
                    <a:pt x="50800" y="63500"/>
                  </a:lnTo>
                  <a:close/>
                </a:path>
                <a:path w="76200" h="41846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18464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15822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3048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04800" y="44767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158226" y="3443287"/>
              <a:ext cx="304800" cy="447675"/>
            </a:xfrm>
            <a:custGeom>
              <a:avLst/>
              <a:gdLst/>
              <a:ahLst/>
              <a:cxnLst/>
              <a:rect l="l" t="t" r="r" b="b"/>
              <a:pathLst>
                <a:path w="304800" h="447675">
                  <a:moveTo>
                    <a:pt x="0" y="447675"/>
                  </a:moveTo>
                  <a:lnTo>
                    <a:pt x="304800" y="447675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8229345" y="3587496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37" baseline="-13888" dirty="0">
                <a:latin typeface="Arial"/>
                <a:cs typeface="Arial"/>
              </a:rPr>
              <a:t>4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633412" y="2147951"/>
            <a:ext cx="7810500" cy="1936750"/>
            <a:chOff x="633412" y="2147951"/>
            <a:chExt cx="7810500" cy="1936750"/>
          </a:xfrm>
        </p:grpSpPr>
        <p:sp>
          <p:nvSpPr>
            <p:cNvPr id="103" name="object 103"/>
            <p:cNvSpPr/>
            <p:nvPr/>
          </p:nvSpPr>
          <p:spPr>
            <a:xfrm>
              <a:off x="6135751" y="2897123"/>
              <a:ext cx="2308225" cy="545465"/>
            </a:xfrm>
            <a:custGeom>
              <a:avLst/>
              <a:gdLst/>
              <a:ahLst/>
              <a:cxnLst/>
              <a:rect l="l" t="t" r="r" b="b"/>
              <a:pathLst>
                <a:path w="2308225" h="545464">
                  <a:moveTo>
                    <a:pt x="464439" y="463042"/>
                  </a:moveTo>
                  <a:lnTo>
                    <a:pt x="439039" y="463042"/>
                  </a:lnTo>
                  <a:lnTo>
                    <a:pt x="439039" y="25400"/>
                  </a:lnTo>
                  <a:lnTo>
                    <a:pt x="439039" y="5715"/>
                  </a:lnTo>
                  <a:lnTo>
                    <a:pt x="433324" y="0"/>
                  </a:lnTo>
                  <a:lnTo>
                    <a:pt x="5588" y="0"/>
                  </a:lnTo>
                  <a:lnTo>
                    <a:pt x="0" y="5715"/>
                  </a:lnTo>
                  <a:lnTo>
                    <a:pt x="0" y="12827"/>
                  </a:lnTo>
                  <a:lnTo>
                    <a:pt x="25400" y="12827"/>
                  </a:lnTo>
                  <a:lnTo>
                    <a:pt x="12700" y="25400"/>
                  </a:lnTo>
                  <a:lnTo>
                    <a:pt x="413639" y="25400"/>
                  </a:lnTo>
                  <a:lnTo>
                    <a:pt x="413639" y="12827"/>
                  </a:lnTo>
                  <a:lnTo>
                    <a:pt x="413766" y="12827"/>
                  </a:lnTo>
                  <a:lnTo>
                    <a:pt x="413639" y="463042"/>
                  </a:lnTo>
                  <a:lnTo>
                    <a:pt x="388239" y="463042"/>
                  </a:lnTo>
                  <a:lnTo>
                    <a:pt x="426339" y="539242"/>
                  </a:lnTo>
                  <a:lnTo>
                    <a:pt x="458089" y="475742"/>
                  </a:lnTo>
                  <a:lnTo>
                    <a:pt x="464439" y="463042"/>
                  </a:lnTo>
                  <a:close/>
                </a:path>
                <a:path w="2308225" h="545464">
                  <a:moveTo>
                    <a:pt x="1311021" y="467233"/>
                  </a:moveTo>
                  <a:lnTo>
                    <a:pt x="1285621" y="467233"/>
                  </a:lnTo>
                  <a:lnTo>
                    <a:pt x="1285621" y="33655"/>
                  </a:lnTo>
                  <a:lnTo>
                    <a:pt x="1285621" y="13970"/>
                  </a:lnTo>
                  <a:lnTo>
                    <a:pt x="1284478" y="12827"/>
                  </a:lnTo>
                  <a:lnTo>
                    <a:pt x="1279906" y="8255"/>
                  </a:lnTo>
                  <a:lnTo>
                    <a:pt x="860298" y="8255"/>
                  </a:lnTo>
                  <a:lnTo>
                    <a:pt x="864870" y="12827"/>
                  </a:lnTo>
                  <a:lnTo>
                    <a:pt x="847598" y="12827"/>
                  </a:lnTo>
                  <a:lnTo>
                    <a:pt x="847598" y="27940"/>
                  </a:lnTo>
                  <a:lnTo>
                    <a:pt x="853313" y="33655"/>
                  </a:lnTo>
                  <a:lnTo>
                    <a:pt x="1260221" y="33655"/>
                  </a:lnTo>
                  <a:lnTo>
                    <a:pt x="1260221" y="467233"/>
                  </a:lnTo>
                  <a:lnTo>
                    <a:pt x="1234821" y="467233"/>
                  </a:lnTo>
                  <a:lnTo>
                    <a:pt x="1272921" y="543433"/>
                  </a:lnTo>
                  <a:lnTo>
                    <a:pt x="1304671" y="479933"/>
                  </a:lnTo>
                  <a:lnTo>
                    <a:pt x="1311021" y="467233"/>
                  </a:lnTo>
                  <a:close/>
                </a:path>
                <a:path w="2308225" h="545464">
                  <a:moveTo>
                    <a:pt x="2169668" y="461391"/>
                  </a:moveTo>
                  <a:lnTo>
                    <a:pt x="2144268" y="461391"/>
                  </a:lnTo>
                  <a:lnTo>
                    <a:pt x="2144268" y="25908"/>
                  </a:lnTo>
                  <a:lnTo>
                    <a:pt x="2144268" y="6223"/>
                  </a:lnTo>
                  <a:lnTo>
                    <a:pt x="2141347" y="3302"/>
                  </a:lnTo>
                  <a:lnTo>
                    <a:pt x="2138553" y="508"/>
                  </a:lnTo>
                  <a:lnTo>
                    <a:pt x="1688973" y="508"/>
                  </a:lnTo>
                  <a:lnTo>
                    <a:pt x="1691792" y="3302"/>
                  </a:lnTo>
                  <a:lnTo>
                    <a:pt x="1676400" y="3302"/>
                  </a:lnTo>
                  <a:lnTo>
                    <a:pt x="1676400" y="20193"/>
                  </a:lnTo>
                  <a:lnTo>
                    <a:pt x="1681988" y="25908"/>
                  </a:lnTo>
                  <a:lnTo>
                    <a:pt x="2118868" y="25908"/>
                  </a:lnTo>
                  <a:lnTo>
                    <a:pt x="2118868" y="461391"/>
                  </a:lnTo>
                  <a:lnTo>
                    <a:pt x="2093468" y="461391"/>
                  </a:lnTo>
                  <a:lnTo>
                    <a:pt x="2131568" y="537591"/>
                  </a:lnTo>
                  <a:lnTo>
                    <a:pt x="2163318" y="474091"/>
                  </a:lnTo>
                  <a:lnTo>
                    <a:pt x="2169668" y="461391"/>
                  </a:lnTo>
                  <a:close/>
                </a:path>
                <a:path w="2308225" h="545464">
                  <a:moveTo>
                    <a:pt x="2308098" y="203327"/>
                  </a:moveTo>
                  <a:lnTo>
                    <a:pt x="2301748" y="190627"/>
                  </a:lnTo>
                  <a:lnTo>
                    <a:pt x="2269998" y="127127"/>
                  </a:lnTo>
                  <a:lnTo>
                    <a:pt x="2231898" y="203327"/>
                  </a:lnTo>
                  <a:lnTo>
                    <a:pt x="2257298" y="203327"/>
                  </a:lnTo>
                  <a:lnTo>
                    <a:pt x="2257298" y="545465"/>
                  </a:lnTo>
                  <a:lnTo>
                    <a:pt x="2282698" y="545465"/>
                  </a:lnTo>
                  <a:lnTo>
                    <a:pt x="2282698" y="203327"/>
                  </a:lnTo>
                  <a:lnTo>
                    <a:pt x="2308098" y="203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548126" y="4071937"/>
              <a:ext cx="4765675" cy="0"/>
            </a:xfrm>
            <a:custGeom>
              <a:avLst/>
              <a:gdLst/>
              <a:ahLst/>
              <a:cxnLst/>
              <a:rect l="l" t="t" r="r" b="b"/>
              <a:pathLst>
                <a:path w="4765675">
                  <a:moveTo>
                    <a:pt x="0" y="0"/>
                  </a:moveTo>
                  <a:lnTo>
                    <a:pt x="4765421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9826" y="3900487"/>
              <a:ext cx="76200" cy="16889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7423" y="3900487"/>
              <a:ext cx="76200" cy="168897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5623" y="3900487"/>
              <a:ext cx="76200" cy="168897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1923" y="3900487"/>
              <a:ext cx="76200" cy="16889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3557523" y="2395601"/>
              <a:ext cx="635" cy="1672589"/>
            </a:xfrm>
            <a:custGeom>
              <a:avLst/>
              <a:gdLst/>
              <a:ahLst/>
              <a:cxnLst/>
              <a:rect l="l" t="t" r="r" b="b"/>
              <a:pathLst>
                <a:path w="635" h="1672589">
                  <a:moveTo>
                    <a:pt x="126" y="167258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33412" y="2147950"/>
              <a:ext cx="6229985" cy="687705"/>
            </a:xfrm>
            <a:custGeom>
              <a:avLst/>
              <a:gdLst/>
              <a:ahLst/>
              <a:cxnLst/>
              <a:rect l="l" t="t" r="r" b="b"/>
              <a:pathLst>
                <a:path w="6229984" h="687705">
                  <a:moveTo>
                    <a:pt x="2927413" y="247650"/>
                  </a:moveTo>
                  <a:lnTo>
                    <a:pt x="2902089" y="234950"/>
                  </a:lnTo>
                  <a:lnTo>
                    <a:pt x="2851213" y="209423"/>
                  </a:lnTo>
                  <a:lnTo>
                    <a:pt x="2851213" y="234950"/>
                  </a:lnTo>
                  <a:lnTo>
                    <a:pt x="0" y="234950"/>
                  </a:lnTo>
                  <a:lnTo>
                    <a:pt x="0" y="260350"/>
                  </a:lnTo>
                  <a:lnTo>
                    <a:pt x="2851213" y="260350"/>
                  </a:lnTo>
                  <a:lnTo>
                    <a:pt x="2851213" y="285623"/>
                  </a:lnTo>
                  <a:lnTo>
                    <a:pt x="2901924" y="260350"/>
                  </a:lnTo>
                  <a:lnTo>
                    <a:pt x="2927413" y="247650"/>
                  </a:lnTo>
                  <a:close/>
                </a:path>
                <a:path w="6229984" h="687705">
                  <a:moveTo>
                    <a:pt x="5182806" y="650240"/>
                  </a:moveTo>
                  <a:lnTo>
                    <a:pt x="5156784" y="636905"/>
                  </a:lnTo>
                  <a:lnTo>
                    <a:pt x="5106987" y="611378"/>
                  </a:lnTo>
                  <a:lnTo>
                    <a:pt x="5106721" y="636803"/>
                  </a:lnTo>
                  <a:lnTo>
                    <a:pt x="4905438" y="635000"/>
                  </a:lnTo>
                  <a:lnTo>
                    <a:pt x="4905311" y="660273"/>
                  </a:lnTo>
                  <a:lnTo>
                    <a:pt x="5106467" y="662190"/>
                  </a:lnTo>
                  <a:lnTo>
                    <a:pt x="5119167" y="662305"/>
                  </a:lnTo>
                  <a:lnTo>
                    <a:pt x="5106467" y="662305"/>
                  </a:lnTo>
                  <a:lnTo>
                    <a:pt x="5106225" y="687578"/>
                  </a:lnTo>
                  <a:lnTo>
                    <a:pt x="5158054" y="662305"/>
                  </a:lnTo>
                  <a:lnTo>
                    <a:pt x="5182806" y="650240"/>
                  </a:lnTo>
                  <a:close/>
                </a:path>
                <a:path w="6229984" h="687705">
                  <a:moveTo>
                    <a:pt x="5381752" y="76200"/>
                  </a:moveTo>
                  <a:lnTo>
                    <a:pt x="5375389" y="63500"/>
                  </a:lnTo>
                  <a:lnTo>
                    <a:pt x="5343588" y="0"/>
                  </a:lnTo>
                  <a:lnTo>
                    <a:pt x="5305488" y="76200"/>
                  </a:lnTo>
                  <a:lnTo>
                    <a:pt x="5330888" y="76200"/>
                  </a:lnTo>
                  <a:lnTo>
                    <a:pt x="5330888" y="421767"/>
                  </a:lnTo>
                  <a:lnTo>
                    <a:pt x="5356288" y="421767"/>
                  </a:lnTo>
                  <a:lnTo>
                    <a:pt x="5356288" y="76200"/>
                  </a:lnTo>
                  <a:lnTo>
                    <a:pt x="5381752" y="76200"/>
                  </a:lnTo>
                  <a:close/>
                </a:path>
                <a:path w="6229984" h="687705">
                  <a:moveTo>
                    <a:pt x="6229477" y="76200"/>
                  </a:moveTo>
                  <a:lnTo>
                    <a:pt x="6223114" y="63500"/>
                  </a:lnTo>
                  <a:lnTo>
                    <a:pt x="6191313" y="0"/>
                  </a:lnTo>
                  <a:lnTo>
                    <a:pt x="6153213" y="76200"/>
                  </a:lnTo>
                  <a:lnTo>
                    <a:pt x="6178613" y="76200"/>
                  </a:lnTo>
                  <a:lnTo>
                    <a:pt x="6178613" y="421767"/>
                  </a:lnTo>
                  <a:lnTo>
                    <a:pt x="6204013" y="421767"/>
                  </a:lnTo>
                  <a:lnTo>
                    <a:pt x="6204013" y="76200"/>
                  </a:lnTo>
                  <a:lnTo>
                    <a:pt x="6229477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542925" y="4027170"/>
            <a:ext cx="1949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we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2" name="object 1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23" name="object 1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24" name="object 1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12" name="object 112"/>
          <p:cNvSpPr txBox="1"/>
          <p:nvPr/>
        </p:nvSpPr>
        <p:spPr>
          <a:xfrm>
            <a:off x="1239837" y="4027170"/>
            <a:ext cx="2425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see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941576" y="4027170"/>
            <a:ext cx="21462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637154" y="4027170"/>
            <a:ext cx="2266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sky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8351519" y="4218622"/>
            <a:ext cx="2997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cielo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548501" y="4218622"/>
            <a:ext cx="5276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vediamo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625715" y="4218622"/>
            <a:ext cx="825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712840" y="604456"/>
            <a:ext cx="2588260" cy="9010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61645" marR="508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There’s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general </a:t>
            </a:r>
            <a:r>
              <a:rPr sz="1800" dirty="0">
                <a:latin typeface="Arial"/>
                <a:cs typeface="Arial"/>
              </a:rPr>
              <a:t>operator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hiding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here: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  <a:tabLst>
                <a:tab pos="1079500" algn="l"/>
                <a:tab pos="1804035" algn="l"/>
              </a:tabLst>
            </a:pPr>
            <a:r>
              <a:rPr sz="1050" spc="-10" dirty="0">
                <a:latin typeface="Arial"/>
                <a:cs typeface="Arial"/>
              </a:rPr>
              <a:t>vediamo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575" spc="-37" baseline="2645" dirty="0">
                <a:latin typeface="Arial"/>
                <a:cs typeface="Arial"/>
              </a:rPr>
              <a:t>il</a:t>
            </a:r>
            <a:r>
              <a:rPr sz="1575" baseline="2645" dirty="0">
                <a:latin typeface="Arial"/>
                <a:cs typeface="Arial"/>
              </a:rPr>
              <a:t>	</a:t>
            </a:r>
            <a:r>
              <a:rPr sz="1575" spc="-30" baseline="2645" dirty="0">
                <a:latin typeface="Arial"/>
                <a:cs typeface="Arial"/>
              </a:rPr>
              <a:t>cielo</a:t>
            </a:r>
            <a:endParaRPr sz="1575" baseline="2645">
              <a:latin typeface="Arial"/>
              <a:cs typeface="Arial"/>
            </a:endParaRPr>
          </a:p>
        </p:txBody>
      </p:sp>
      <p:sp>
        <p:nvSpPr>
          <p:cNvPr id="119" name="object 119" descr="$PPTXTitle"/>
          <p:cNvSpPr txBox="1">
            <a:spLocks noGrp="1"/>
          </p:cNvSpPr>
          <p:nvPr>
            <p:ph type="title"/>
          </p:nvPr>
        </p:nvSpPr>
        <p:spPr>
          <a:xfrm>
            <a:off x="217487" y="134874"/>
            <a:ext cx="771270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Sequence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RNNs</a:t>
            </a:r>
            <a:r>
              <a:rPr spc="135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spc="-10" dirty="0">
                <a:solidFill>
                  <a:srgbClr val="FF0000"/>
                </a:solidFill>
              </a:rPr>
              <a:t>Attention</a:t>
            </a:r>
          </a:p>
        </p:txBody>
      </p:sp>
      <p:sp>
        <p:nvSpPr>
          <p:cNvPr id="120" name="object 120"/>
          <p:cNvSpPr txBox="1"/>
          <p:nvPr/>
        </p:nvSpPr>
        <p:spPr>
          <a:xfrm>
            <a:off x="409575" y="626681"/>
            <a:ext cx="3919220" cy="1487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Query</a:t>
            </a:r>
            <a:r>
              <a:rPr sz="1550" b="1" spc="10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vectors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(decoder</a:t>
            </a:r>
            <a:r>
              <a:rPr sz="1550" b="1" spc="1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RNN</a:t>
            </a:r>
            <a:r>
              <a:rPr sz="1550" b="1" spc="1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states)</a:t>
            </a:r>
            <a:r>
              <a:rPr sz="1550" b="1" spc="17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and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data</a:t>
            </a:r>
            <a:r>
              <a:rPr sz="1550" b="1" spc="9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vectors</a:t>
            </a:r>
            <a:r>
              <a:rPr sz="1550" b="1" spc="10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(encoder</a:t>
            </a:r>
            <a:r>
              <a:rPr sz="1550" b="1" spc="14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RNN</a:t>
            </a:r>
            <a:r>
              <a:rPr sz="1550" b="1" spc="1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3981B9"/>
                </a:solidFill>
                <a:latin typeface="Arial"/>
                <a:cs typeface="Arial"/>
              </a:rPr>
              <a:t>states)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Arial"/>
                <a:cs typeface="Arial"/>
              </a:rPr>
              <a:t>get</a:t>
            </a:r>
            <a:r>
              <a:rPr sz="1550" spc="1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transformed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to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output</a:t>
            </a:r>
            <a:r>
              <a:rPr sz="1550" b="1" spc="13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vectors</a:t>
            </a:r>
            <a:r>
              <a:rPr sz="1550" b="1" spc="16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(Context</a:t>
            </a:r>
            <a:r>
              <a:rPr sz="1550" b="1" spc="13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D79F39"/>
                </a:solidFill>
                <a:latin typeface="Arial"/>
                <a:cs typeface="Arial"/>
              </a:rPr>
              <a:t>states).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latin typeface="Arial"/>
                <a:cs typeface="Arial"/>
              </a:rPr>
              <a:t>Each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query</a:t>
            </a:r>
            <a:r>
              <a:rPr sz="1550" b="1" spc="10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attends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all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data</a:t>
            </a:r>
            <a:r>
              <a:rPr sz="1550" b="1" spc="9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vectors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and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Arial"/>
                <a:cs typeface="Arial"/>
              </a:rPr>
              <a:t>gives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one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output</a:t>
            </a:r>
            <a:r>
              <a:rPr sz="1550" b="1" spc="9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vector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0" y="209601"/>
            <a:ext cx="4990465" cy="3028315"/>
            <a:chOff x="3810000" y="209601"/>
            <a:chExt cx="4990465" cy="3028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0" y="209601"/>
              <a:ext cx="4989908" cy="30282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00900" y="1714500"/>
              <a:ext cx="466725" cy="590550"/>
            </a:xfrm>
            <a:custGeom>
              <a:avLst/>
              <a:gdLst/>
              <a:ahLst/>
              <a:cxnLst/>
              <a:rect l="l" t="t" r="r" b="b"/>
              <a:pathLst>
                <a:path w="466725" h="590550">
                  <a:moveTo>
                    <a:pt x="0" y="590550"/>
                  </a:moveTo>
                  <a:lnTo>
                    <a:pt x="466725" y="590550"/>
                  </a:lnTo>
                  <a:lnTo>
                    <a:pt x="466725" y="0"/>
                  </a:lnTo>
                  <a:lnTo>
                    <a:pt x="0" y="0"/>
                  </a:lnTo>
                  <a:lnTo>
                    <a:pt x="0" y="59055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1760" y="674306"/>
            <a:ext cx="1966595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Q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381250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Q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0" y="209601"/>
            <a:ext cx="4990465" cy="3028315"/>
            <a:chOff x="3810000" y="209601"/>
            <a:chExt cx="4990465" cy="302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0" y="209601"/>
              <a:ext cx="4989908" cy="30282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14775" y="1733550"/>
              <a:ext cx="2333625" cy="581025"/>
            </a:xfrm>
            <a:custGeom>
              <a:avLst/>
              <a:gdLst/>
              <a:ahLst/>
              <a:cxnLst/>
              <a:rect l="l" t="t" r="r" b="b"/>
              <a:pathLst>
                <a:path w="2333625" h="581025">
                  <a:moveTo>
                    <a:pt x="0" y="581025"/>
                  </a:moveTo>
                  <a:lnTo>
                    <a:pt x="2333625" y="581025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58102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381250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Q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3116960"/>
            <a:ext cx="3046730" cy="504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9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</a:t>
            </a:r>
            <a:r>
              <a:rPr sz="1575" baseline="-15873" dirty="0">
                <a:latin typeface="Arial"/>
                <a:cs typeface="Arial"/>
              </a:rPr>
              <a:t>att</a:t>
            </a:r>
            <a:r>
              <a:rPr sz="1550" dirty="0">
                <a:latin typeface="Arial"/>
                <a:cs typeface="Arial"/>
              </a:rPr>
              <a:t>(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37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50" spc="-25" dirty="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0000" y="209601"/>
            <a:ext cx="4990465" cy="3028315"/>
            <a:chOff x="3810000" y="209601"/>
            <a:chExt cx="4990465" cy="3028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0" y="209601"/>
              <a:ext cx="4989908" cy="30282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933825" y="1209675"/>
              <a:ext cx="2324100" cy="447675"/>
            </a:xfrm>
            <a:custGeom>
              <a:avLst/>
              <a:gdLst/>
              <a:ahLst/>
              <a:cxnLst/>
              <a:rect l="l" t="t" r="r" b="b"/>
              <a:pathLst>
                <a:path w="2324100" h="447675">
                  <a:moveTo>
                    <a:pt x="0" y="447675"/>
                  </a:moveTo>
                  <a:lnTo>
                    <a:pt x="2324100" y="447675"/>
                  </a:lnTo>
                  <a:lnTo>
                    <a:pt x="2324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381250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Q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3116960"/>
            <a:ext cx="3672840" cy="7531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30480">
              <a:lnSpc>
                <a:spcPts val="1950"/>
              </a:lnSpc>
              <a:spcBef>
                <a:spcPts val="10"/>
              </a:spcBef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9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</a:t>
            </a:r>
            <a:r>
              <a:rPr sz="1575" baseline="-15873" dirty="0">
                <a:latin typeface="Arial"/>
                <a:cs typeface="Arial"/>
              </a:rPr>
              <a:t>att</a:t>
            </a:r>
            <a:r>
              <a:rPr sz="1550" dirty="0">
                <a:latin typeface="Arial"/>
                <a:cs typeface="Arial"/>
              </a:rPr>
              <a:t>(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37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50" spc="-25" dirty="0">
                <a:latin typeface="Arial"/>
                <a:cs typeface="Arial"/>
              </a:rPr>
              <a:t>) </a:t>
            </a: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3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softmax(e)</a:t>
            </a:r>
            <a:r>
              <a:rPr sz="1550" spc="110" dirty="0">
                <a:latin typeface="Arial"/>
                <a:cs typeface="Arial"/>
              </a:rPr>
              <a:t>  </a:t>
            </a:r>
            <a:r>
              <a:rPr sz="1550" spc="-20" dirty="0">
                <a:latin typeface="Arial"/>
                <a:cs typeface="Arial"/>
              </a:rPr>
              <a:t>[N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0000" y="209601"/>
            <a:ext cx="4990465" cy="3028315"/>
            <a:chOff x="3810000" y="209601"/>
            <a:chExt cx="4990465" cy="3028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0" y="209601"/>
              <a:ext cx="4989908" cy="30282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924300" y="447675"/>
              <a:ext cx="2324100" cy="781050"/>
            </a:xfrm>
            <a:custGeom>
              <a:avLst/>
              <a:gdLst/>
              <a:ahLst/>
              <a:cxnLst/>
              <a:rect l="l" t="t" r="r" b="b"/>
              <a:pathLst>
                <a:path w="2324100" h="781050">
                  <a:moveTo>
                    <a:pt x="0" y="781050"/>
                  </a:moveTo>
                  <a:lnTo>
                    <a:pt x="2324100" y="781050"/>
                  </a:lnTo>
                  <a:lnTo>
                    <a:pt x="2324100" y="0"/>
                  </a:lnTo>
                  <a:lnTo>
                    <a:pt x="0" y="0"/>
                  </a:lnTo>
                  <a:lnTo>
                    <a:pt x="0" y="78105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381250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Q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" y="3116960"/>
            <a:ext cx="3710940" cy="10013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63500" marR="43180">
              <a:lnSpc>
                <a:spcPts val="1950"/>
              </a:lnSpc>
              <a:spcBef>
                <a:spcPts val="10"/>
              </a:spcBef>
              <a:tabLst>
                <a:tab pos="255968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9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</a:t>
            </a:r>
            <a:r>
              <a:rPr sz="1575" baseline="-15873" dirty="0">
                <a:latin typeface="Arial"/>
                <a:cs typeface="Arial"/>
              </a:rPr>
              <a:t>att</a:t>
            </a:r>
            <a:r>
              <a:rPr sz="1550" dirty="0">
                <a:latin typeface="Arial"/>
                <a:cs typeface="Arial"/>
              </a:rPr>
              <a:t>(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37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50" spc="-25" dirty="0">
                <a:latin typeface="Arial"/>
                <a:cs typeface="Arial"/>
              </a:rPr>
              <a:t>) </a:t>
            </a: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3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softmax(e)</a:t>
            </a:r>
            <a:r>
              <a:rPr sz="1550" spc="110" dirty="0">
                <a:latin typeface="Arial"/>
                <a:cs typeface="Arial"/>
              </a:rPr>
              <a:t>  </a:t>
            </a:r>
            <a:r>
              <a:rPr sz="1550" spc="-20" dirty="0">
                <a:latin typeface="Arial"/>
                <a:cs typeface="Arial"/>
              </a:rPr>
              <a:t>[N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10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b="1" spc="-10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15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75" b="1" baseline="-15873" dirty="0">
                <a:solidFill>
                  <a:srgbClr val="3981B9"/>
                </a:solidFill>
                <a:latin typeface="Arial"/>
                <a:cs typeface="Arial"/>
              </a:rPr>
              <a:t>	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0000" y="209601"/>
            <a:ext cx="5114925" cy="3028315"/>
            <a:chOff x="3810000" y="209601"/>
            <a:chExt cx="5114925" cy="3028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0" y="209601"/>
              <a:ext cx="4989908" cy="30282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9625" y="2495549"/>
              <a:ext cx="476250" cy="590550"/>
            </a:xfrm>
            <a:custGeom>
              <a:avLst/>
              <a:gdLst/>
              <a:ahLst/>
              <a:cxnLst/>
              <a:rect l="l" t="t" r="r" b="b"/>
              <a:pathLst>
                <a:path w="476250" h="590550">
                  <a:moveTo>
                    <a:pt x="0" y="590550"/>
                  </a:moveTo>
                  <a:lnTo>
                    <a:pt x="476250" y="590550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59055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381250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Q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" y="3116960"/>
            <a:ext cx="3710940" cy="10013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63500" marR="43180">
              <a:lnSpc>
                <a:spcPts val="1950"/>
              </a:lnSpc>
              <a:spcBef>
                <a:spcPts val="10"/>
              </a:spcBef>
              <a:tabLst>
                <a:tab pos="255968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9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</a:t>
            </a:r>
            <a:r>
              <a:rPr sz="1575" baseline="-15873" dirty="0">
                <a:latin typeface="Arial"/>
                <a:cs typeface="Arial"/>
              </a:rPr>
              <a:t>att</a:t>
            </a:r>
            <a:r>
              <a:rPr sz="1550" dirty="0">
                <a:latin typeface="Arial"/>
                <a:cs typeface="Arial"/>
              </a:rPr>
              <a:t>(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37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50" spc="-25" dirty="0">
                <a:latin typeface="Arial"/>
                <a:cs typeface="Arial"/>
              </a:rPr>
              <a:t>) </a:t>
            </a: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3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softmax(e)</a:t>
            </a:r>
            <a:r>
              <a:rPr sz="1550" spc="110" dirty="0">
                <a:latin typeface="Arial"/>
                <a:cs typeface="Arial"/>
              </a:rPr>
              <a:t>  </a:t>
            </a:r>
            <a:r>
              <a:rPr sz="1550" spc="-20" dirty="0">
                <a:latin typeface="Arial"/>
                <a:cs typeface="Arial"/>
              </a:rPr>
              <a:t>[N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10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b="1" spc="-10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15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75" b="1" baseline="-15873" dirty="0">
                <a:solidFill>
                  <a:srgbClr val="3981B9"/>
                </a:solidFill>
                <a:latin typeface="Arial"/>
                <a:cs typeface="Arial"/>
              </a:rPr>
              <a:t>	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0000" y="209601"/>
            <a:ext cx="5114925" cy="3028315"/>
            <a:chOff x="3810000" y="209601"/>
            <a:chExt cx="5114925" cy="3028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0" y="209601"/>
              <a:ext cx="4989908" cy="30282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9625" y="2495549"/>
              <a:ext cx="476250" cy="590550"/>
            </a:xfrm>
            <a:custGeom>
              <a:avLst/>
              <a:gdLst/>
              <a:ahLst/>
              <a:cxnLst/>
              <a:rect l="l" t="t" r="r" b="b"/>
              <a:pathLst>
                <a:path w="476250" h="590550">
                  <a:moveTo>
                    <a:pt x="0" y="590550"/>
                  </a:moveTo>
                  <a:lnTo>
                    <a:pt x="476250" y="590550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59055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34759" y="3735070"/>
            <a:ext cx="18776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Let’s</a:t>
            </a:r>
            <a:r>
              <a:rPr sz="1550" spc="1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generalize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this!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381250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3116960"/>
            <a:ext cx="1799589" cy="504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8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[N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2625" y="3305175"/>
            <a:ext cx="1047750" cy="35242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525"/>
              </a:spcBef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</a:t>
            </a:r>
            <a:r>
              <a:rPr sz="1575" spc="24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b="1" spc="-3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52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3603942"/>
            <a:ext cx="36728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3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softmax(e)</a:t>
            </a:r>
            <a:r>
              <a:rPr sz="1550" spc="110" dirty="0">
                <a:latin typeface="Arial"/>
                <a:cs typeface="Arial"/>
              </a:rPr>
              <a:t>  </a:t>
            </a:r>
            <a:r>
              <a:rPr sz="1550" spc="-20" dirty="0">
                <a:latin typeface="Arial"/>
                <a:cs typeface="Arial"/>
              </a:rPr>
              <a:t>[N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360" y="3852227"/>
            <a:ext cx="29483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2546985" algn="l"/>
              </a:tabLst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10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b="1" spc="-10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15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75" b="1" baseline="-15873" dirty="0">
                <a:solidFill>
                  <a:srgbClr val="3981B9"/>
                </a:solidFill>
                <a:latin typeface="Arial"/>
                <a:cs typeface="Arial"/>
              </a:rPr>
              <a:t>	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209601"/>
            <a:ext cx="4989908" cy="30282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245100" y="3436937"/>
            <a:ext cx="288544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latin typeface="Arial"/>
                <a:cs typeface="Arial"/>
              </a:rPr>
              <a:t>Changes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298450" algn="l"/>
              </a:tabLst>
            </a:pPr>
            <a:r>
              <a:rPr sz="1550" spc="-50" dirty="0">
                <a:latin typeface="Arial"/>
                <a:cs typeface="Arial"/>
              </a:rPr>
              <a:t>-</a:t>
            </a:r>
            <a:r>
              <a:rPr sz="1550" dirty="0">
                <a:latin typeface="Arial"/>
                <a:cs typeface="Arial"/>
              </a:rPr>
              <a:t>	Use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dot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product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381250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460" y="3116960"/>
            <a:ext cx="13354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3365436"/>
            <a:ext cx="179958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8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[N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85007" y="3405759"/>
            <a:ext cx="343535" cy="224790"/>
          </a:xfrm>
          <a:custGeom>
            <a:avLst/>
            <a:gdLst/>
            <a:ahLst/>
            <a:cxnLst/>
            <a:rect l="l" t="t" r="r" b="b"/>
            <a:pathLst>
              <a:path w="343535" h="224789">
                <a:moveTo>
                  <a:pt x="138049" y="0"/>
                </a:moveTo>
                <a:lnTo>
                  <a:pt x="113284" y="0"/>
                </a:lnTo>
                <a:lnTo>
                  <a:pt x="59562" y="201041"/>
                </a:lnTo>
                <a:lnTo>
                  <a:pt x="29083" y="132715"/>
                </a:lnTo>
                <a:lnTo>
                  <a:pt x="0" y="146050"/>
                </a:lnTo>
                <a:lnTo>
                  <a:pt x="2793" y="152654"/>
                </a:lnTo>
                <a:lnTo>
                  <a:pt x="17780" y="146050"/>
                </a:lnTo>
                <a:lnTo>
                  <a:pt x="54356" y="224663"/>
                </a:lnTo>
                <a:lnTo>
                  <a:pt x="62865" y="224663"/>
                </a:lnTo>
                <a:lnTo>
                  <a:pt x="120268" y="11684"/>
                </a:lnTo>
                <a:lnTo>
                  <a:pt x="133477" y="11684"/>
                </a:lnTo>
                <a:lnTo>
                  <a:pt x="133477" y="13716"/>
                </a:lnTo>
                <a:lnTo>
                  <a:pt x="343027" y="13716"/>
                </a:lnTo>
                <a:lnTo>
                  <a:pt x="343027" y="4191"/>
                </a:lnTo>
                <a:lnTo>
                  <a:pt x="138049" y="4191"/>
                </a:lnTo>
                <a:lnTo>
                  <a:pt x="138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43100" y="3324225"/>
            <a:ext cx="1619250" cy="323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450"/>
              </a:spcBef>
              <a:tabLst>
                <a:tab pos="117348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</a:t>
            </a:r>
            <a:r>
              <a:rPr sz="1575" spc="24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75" b="1" spc="30" baseline="-15873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𝑋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60" y="3613150"/>
            <a:ext cx="367284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2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softmax(e)</a:t>
            </a:r>
            <a:r>
              <a:rPr sz="1550" spc="105" dirty="0">
                <a:latin typeface="Arial"/>
                <a:cs typeface="Arial"/>
              </a:rPr>
              <a:t>  </a:t>
            </a:r>
            <a:r>
              <a:rPr sz="1550" spc="-20" dirty="0">
                <a:latin typeface="Arial"/>
                <a:cs typeface="Arial"/>
              </a:rPr>
              <a:t>[N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360" y="3861752"/>
            <a:ext cx="29483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2546985" algn="l"/>
              </a:tabLst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10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b="1" spc="-10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15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75" b="1" baseline="-15873" dirty="0">
                <a:solidFill>
                  <a:srgbClr val="3981B9"/>
                </a:solidFill>
                <a:latin typeface="Arial"/>
                <a:cs typeface="Arial"/>
              </a:rPr>
              <a:t>	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209601"/>
            <a:ext cx="4989908" cy="302829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45100" y="3436937"/>
            <a:ext cx="3573779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latin typeface="Arial"/>
                <a:cs typeface="Arial"/>
              </a:rPr>
              <a:t>Changes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298450" algn="l"/>
              </a:tabLst>
            </a:pPr>
            <a:r>
              <a:rPr sz="1550" spc="-50" dirty="0">
                <a:latin typeface="Arial"/>
                <a:cs typeface="Arial"/>
              </a:rPr>
              <a:t>-</a:t>
            </a:r>
            <a:r>
              <a:rPr sz="1550" dirty="0">
                <a:latin typeface="Arial"/>
                <a:cs typeface="Arial"/>
              </a:rPr>
              <a:t>	Use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0000"/>
                </a:solidFill>
                <a:latin typeface="Arial"/>
                <a:cs typeface="Arial"/>
              </a:rPr>
              <a:t>scaled</a:t>
            </a:r>
            <a:r>
              <a:rPr sz="1550" b="1" spc="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dot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product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" y="3365436"/>
            <a:ext cx="179958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8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[N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5007" y="3405759"/>
            <a:ext cx="343535" cy="224790"/>
          </a:xfrm>
          <a:custGeom>
            <a:avLst/>
            <a:gdLst/>
            <a:ahLst/>
            <a:cxnLst/>
            <a:rect l="l" t="t" r="r" b="b"/>
            <a:pathLst>
              <a:path w="343535" h="224789">
                <a:moveTo>
                  <a:pt x="138049" y="0"/>
                </a:moveTo>
                <a:lnTo>
                  <a:pt x="113284" y="0"/>
                </a:lnTo>
                <a:lnTo>
                  <a:pt x="59562" y="201041"/>
                </a:lnTo>
                <a:lnTo>
                  <a:pt x="29083" y="132715"/>
                </a:lnTo>
                <a:lnTo>
                  <a:pt x="0" y="146050"/>
                </a:lnTo>
                <a:lnTo>
                  <a:pt x="2793" y="152654"/>
                </a:lnTo>
                <a:lnTo>
                  <a:pt x="17780" y="146050"/>
                </a:lnTo>
                <a:lnTo>
                  <a:pt x="54356" y="224663"/>
                </a:lnTo>
                <a:lnTo>
                  <a:pt x="62865" y="224663"/>
                </a:lnTo>
                <a:lnTo>
                  <a:pt x="120268" y="11684"/>
                </a:lnTo>
                <a:lnTo>
                  <a:pt x="133477" y="11684"/>
                </a:lnTo>
                <a:lnTo>
                  <a:pt x="133477" y="13716"/>
                </a:lnTo>
                <a:lnTo>
                  <a:pt x="343027" y="13716"/>
                </a:lnTo>
                <a:lnTo>
                  <a:pt x="343027" y="4191"/>
                </a:lnTo>
                <a:lnTo>
                  <a:pt x="138049" y="4191"/>
                </a:lnTo>
                <a:lnTo>
                  <a:pt x="138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43100" y="3324225"/>
            <a:ext cx="1619250" cy="323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450"/>
              </a:spcBef>
              <a:tabLst>
                <a:tab pos="117348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</a:t>
            </a:r>
            <a:r>
              <a:rPr sz="1575" spc="24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75" b="1" spc="30" baseline="-15873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𝑋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3613150"/>
            <a:ext cx="367284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2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softmax(e)</a:t>
            </a:r>
            <a:r>
              <a:rPr sz="1550" spc="105" dirty="0">
                <a:latin typeface="Arial"/>
                <a:cs typeface="Arial"/>
              </a:rPr>
              <a:t>  </a:t>
            </a:r>
            <a:r>
              <a:rPr sz="1550" spc="-20" dirty="0">
                <a:latin typeface="Arial"/>
                <a:cs typeface="Arial"/>
              </a:rPr>
              <a:t>[N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360" y="3861752"/>
            <a:ext cx="29483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2546985" algn="l"/>
              </a:tabLst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10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</a:t>
            </a:r>
            <a:r>
              <a:rPr sz="1550" b="1" spc="-10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15" baseline="-15873" dirty="0">
                <a:solidFill>
                  <a:srgbClr val="3981B9"/>
                </a:solidFill>
                <a:latin typeface="Arial"/>
                <a:cs typeface="Arial"/>
              </a:rPr>
              <a:t>i</a:t>
            </a:r>
            <a:r>
              <a:rPr sz="1575" b="1" baseline="-15873" dirty="0">
                <a:solidFill>
                  <a:srgbClr val="3981B9"/>
                </a:solidFill>
                <a:latin typeface="Arial"/>
                <a:cs typeface="Arial"/>
              </a:rPr>
              <a:t>	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209601"/>
            <a:ext cx="4989908" cy="30282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245100" y="3436937"/>
            <a:ext cx="3573779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latin typeface="Arial"/>
                <a:cs typeface="Arial"/>
              </a:rPr>
              <a:t>Changes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298450" algn="l"/>
              </a:tabLst>
            </a:pPr>
            <a:r>
              <a:rPr sz="1550" spc="-50" dirty="0">
                <a:latin typeface="Arial"/>
                <a:cs typeface="Arial"/>
              </a:rPr>
              <a:t>-</a:t>
            </a:r>
            <a:r>
              <a:rPr sz="1550" dirty="0">
                <a:latin typeface="Arial"/>
                <a:cs typeface="Arial"/>
              </a:rPr>
              <a:t>	Use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0000"/>
                </a:solidFill>
                <a:latin typeface="Arial"/>
                <a:cs typeface="Arial"/>
              </a:rPr>
              <a:t>scaled</a:t>
            </a:r>
            <a:r>
              <a:rPr sz="1550" b="1" spc="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dot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product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1314" y="2793873"/>
            <a:ext cx="244602" cy="17424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360" y="674306"/>
            <a:ext cx="3345179" cy="2708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[D</a:t>
            </a:r>
            <a:r>
              <a:rPr sz="1575" spc="-30" baseline="-15873" dirty="0">
                <a:latin typeface="Arial"/>
                <a:cs typeface="Arial"/>
              </a:rPr>
              <a:t>X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550">
              <a:latin typeface="Arial"/>
              <a:cs typeface="Arial"/>
            </a:endParaRPr>
          </a:p>
          <a:p>
            <a:pPr marL="260985" marR="55880">
              <a:lnSpc>
                <a:spcPct val="100600"/>
              </a:lnSpc>
            </a:pPr>
            <a:r>
              <a:rPr sz="1400" dirty="0">
                <a:latin typeface="Arial"/>
                <a:cs typeface="Arial"/>
              </a:rPr>
              <a:t>Large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similarities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will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cause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softmax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saturate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give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vanishing</a:t>
            </a:r>
            <a:r>
              <a:rPr sz="1400" spc="-10" dirty="0">
                <a:latin typeface="Arial"/>
                <a:cs typeface="Arial"/>
              </a:rPr>
              <a:t> gradients </a:t>
            </a:r>
            <a:r>
              <a:rPr sz="1400" dirty="0">
                <a:latin typeface="Arial"/>
                <a:cs typeface="Arial"/>
              </a:rPr>
              <a:t>Recall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·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|a||b|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cos(angle) </a:t>
            </a:r>
            <a:r>
              <a:rPr sz="1400" dirty="0">
                <a:latin typeface="Arial"/>
                <a:cs typeface="Arial"/>
              </a:rPr>
              <a:t>Suppose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constant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dimension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  <a:spcBef>
                <a:spcPts val="125"/>
              </a:spcBef>
              <a:tabLst>
                <a:tab pos="2160270" algn="l"/>
              </a:tabLst>
            </a:pPr>
            <a:r>
              <a:rPr sz="1400" dirty="0">
                <a:latin typeface="Arial"/>
                <a:cs typeface="Arial"/>
              </a:rPr>
              <a:t>Then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|a|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(∑</a:t>
            </a:r>
            <a:r>
              <a:rPr sz="1350" baseline="-18518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350" baseline="27777" dirty="0">
                <a:latin typeface="Arial"/>
                <a:cs typeface="Arial"/>
              </a:rPr>
              <a:t>2</a:t>
            </a:r>
            <a:r>
              <a:rPr sz="1400" dirty="0">
                <a:latin typeface="Arial"/>
                <a:cs typeface="Arial"/>
              </a:rPr>
              <a:t>)</a:t>
            </a:r>
            <a:r>
              <a:rPr sz="1350" baseline="27777" dirty="0">
                <a:latin typeface="Arial"/>
                <a:cs typeface="Arial"/>
              </a:rPr>
              <a:t>1/2</a:t>
            </a:r>
            <a:r>
              <a:rPr sz="1350" spc="52" baseline="27777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𝐷</a:t>
            </a:r>
            <a:endParaRPr sz="1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110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460" y="674306"/>
            <a:ext cx="6915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6850" y="857250"/>
            <a:ext cx="1143000" cy="35242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565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26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913066"/>
            <a:ext cx="2406650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60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vector</a:t>
            </a:r>
            <a:r>
              <a:rPr sz="1550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07514" y="3409950"/>
            <a:ext cx="434975" cy="516255"/>
          </a:xfrm>
          <a:custGeom>
            <a:avLst/>
            <a:gdLst/>
            <a:ahLst/>
            <a:cxnLst/>
            <a:rect l="l" t="t" r="r" b="b"/>
            <a:pathLst>
              <a:path w="434975" h="516254">
                <a:moveTo>
                  <a:pt x="387096" y="0"/>
                </a:moveTo>
                <a:lnTo>
                  <a:pt x="148971" y="0"/>
                </a:lnTo>
                <a:lnTo>
                  <a:pt x="148971" y="7239"/>
                </a:lnTo>
                <a:lnTo>
                  <a:pt x="125095" y="7239"/>
                </a:lnTo>
                <a:lnTo>
                  <a:pt x="65786" y="229489"/>
                </a:lnTo>
                <a:lnTo>
                  <a:pt x="32004" y="154051"/>
                </a:lnTo>
                <a:lnTo>
                  <a:pt x="0" y="168656"/>
                </a:lnTo>
                <a:lnTo>
                  <a:pt x="3048" y="176022"/>
                </a:lnTo>
                <a:lnTo>
                  <a:pt x="19558" y="168656"/>
                </a:lnTo>
                <a:lnTo>
                  <a:pt x="59944" y="255651"/>
                </a:lnTo>
                <a:lnTo>
                  <a:pt x="69469" y="255651"/>
                </a:lnTo>
                <a:lnTo>
                  <a:pt x="132969" y="20193"/>
                </a:lnTo>
                <a:lnTo>
                  <a:pt x="152400" y="20193"/>
                </a:lnTo>
                <a:lnTo>
                  <a:pt x="152400" y="9525"/>
                </a:lnTo>
                <a:lnTo>
                  <a:pt x="387096" y="9525"/>
                </a:lnTo>
                <a:lnTo>
                  <a:pt x="387096" y="0"/>
                </a:lnTo>
                <a:close/>
              </a:path>
              <a:path w="434975" h="516254">
                <a:moveTo>
                  <a:pt x="434721" y="295275"/>
                </a:moveTo>
                <a:lnTo>
                  <a:pt x="232791" y="295275"/>
                </a:lnTo>
                <a:lnTo>
                  <a:pt x="232791" y="291084"/>
                </a:lnTo>
                <a:lnTo>
                  <a:pt x="208153" y="291084"/>
                </a:lnTo>
                <a:lnTo>
                  <a:pt x="154432" y="492074"/>
                </a:lnTo>
                <a:lnTo>
                  <a:pt x="123952" y="423799"/>
                </a:lnTo>
                <a:lnTo>
                  <a:pt x="94869" y="437134"/>
                </a:lnTo>
                <a:lnTo>
                  <a:pt x="97663" y="443738"/>
                </a:lnTo>
                <a:lnTo>
                  <a:pt x="112649" y="437134"/>
                </a:lnTo>
                <a:lnTo>
                  <a:pt x="149225" y="515759"/>
                </a:lnTo>
                <a:lnTo>
                  <a:pt x="157734" y="515759"/>
                </a:lnTo>
                <a:lnTo>
                  <a:pt x="215138" y="302768"/>
                </a:lnTo>
                <a:lnTo>
                  <a:pt x="225171" y="302768"/>
                </a:lnTo>
                <a:lnTo>
                  <a:pt x="225171" y="304800"/>
                </a:lnTo>
                <a:lnTo>
                  <a:pt x="434721" y="304800"/>
                </a:lnTo>
                <a:lnTo>
                  <a:pt x="434721" y="295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116960"/>
            <a:ext cx="4858385" cy="1554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  <a:tabLst>
                <a:tab pos="225806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aseline="23809" dirty="0">
                <a:latin typeface="Arial"/>
                <a:cs typeface="Arial"/>
              </a:rPr>
              <a:t>T</a:t>
            </a:r>
            <a:r>
              <a:rPr sz="1575" spc="375" baseline="23809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𝑋</a:t>
            </a:r>
            <a:r>
              <a:rPr sz="1800" spc="359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23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239520">
              <a:lnSpc>
                <a:spcPct val="100000"/>
              </a:lnSpc>
              <a:spcBef>
                <a:spcPts val="195"/>
              </a:spcBef>
              <a:tabLst>
                <a:tab pos="233426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baseline="-15873" dirty="0">
                <a:solidFill>
                  <a:srgbClr val="3981B9"/>
                </a:solidFill>
                <a:latin typeface="Arial"/>
                <a:cs typeface="Arial"/>
              </a:rPr>
              <a:t>j</a:t>
            </a:r>
            <a:r>
              <a:rPr sz="1575" b="1" spc="52" baseline="-15873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𝑋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10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7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6812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75" b="1" spc="-15" baseline="-15873" dirty="0">
                <a:solidFill>
                  <a:srgbClr val="3981B9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209601"/>
            <a:ext cx="4989908" cy="30282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245100" y="3436937"/>
            <a:ext cx="8813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latin typeface="Arial"/>
                <a:cs typeface="Arial"/>
              </a:rPr>
              <a:t>Changes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245100" y="3675062"/>
            <a:ext cx="3522979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"/>
              </a:spcBef>
              <a:buChar char="-"/>
              <a:tabLst>
                <a:tab pos="298450" algn="l"/>
              </a:tabLst>
            </a:pPr>
            <a:r>
              <a:rPr sz="1550" dirty="0">
                <a:latin typeface="Arial"/>
                <a:cs typeface="Arial"/>
              </a:rPr>
              <a:t>Use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scaled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dot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product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Char char="-"/>
              <a:tabLst>
                <a:tab pos="298450" algn="l"/>
              </a:tabLst>
            </a:pPr>
            <a:r>
              <a:rPr sz="1550" dirty="0">
                <a:latin typeface="Arial"/>
                <a:cs typeface="Arial"/>
              </a:rPr>
              <a:t>Multiple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query</a:t>
            </a:r>
            <a:r>
              <a:rPr sz="1550" b="1" spc="1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vectors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499995" cy="1239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 marR="49530">
              <a:lnSpc>
                <a:spcPts val="1950"/>
              </a:lnSpc>
              <a:spcBef>
                <a:spcPts val="1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1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15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89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" y="2630741"/>
            <a:ext cx="2647950" cy="752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8337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270" baseline="-15873" dirty="0">
                <a:solidFill>
                  <a:srgbClr val="FF9200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7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latin typeface="Arial"/>
                <a:cs typeface="Arial"/>
              </a:rPr>
              <a:t>Values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9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9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18563" y="3409950"/>
            <a:ext cx="443230" cy="518159"/>
          </a:xfrm>
          <a:custGeom>
            <a:avLst/>
            <a:gdLst/>
            <a:ahLst/>
            <a:cxnLst/>
            <a:rect l="l" t="t" r="r" b="b"/>
            <a:pathLst>
              <a:path w="443230" h="518160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3" y="223647"/>
                </a:lnTo>
                <a:lnTo>
                  <a:pt x="32131" y="148336"/>
                </a:lnTo>
                <a:lnTo>
                  <a:pt x="0" y="162941"/>
                </a:lnTo>
                <a:lnTo>
                  <a:pt x="3048" y="170307"/>
                </a:lnTo>
                <a:lnTo>
                  <a:pt x="19558" y="162941"/>
                </a:lnTo>
                <a:lnTo>
                  <a:pt x="60071" y="249809"/>
                </a:lnTo>
                <a:lnTo>
                  <a:pt x="69469" y="249809"/>
                </a:lnTo>
                <a:lnTo>
                  <a:pt x="132969" y="14478"/>
                </a:lnTo>
                <a:lnTo>
                  <a:pt x="152527" y="14478"/>
                </a:lnTo>
                <a:lnTo>
                  <a:pt x="152527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  <a:path w="443230" h="518160">
                <a:moveTo>
                  <a:pt x="442722" y="295275"/>
                </a:moveTo>
                <a:lnTo>
                  <a:pt x="232918" y="295275"/>
                </a:lnTo>
                <a:lnTo>
                  <a:pt x="232918" y="293116"/>
                </a:lnTo>
                <a:lnTo>
                  <a:pt x="208153" y="293116"/>
                </a:lnTo>
                <a:lnTo>
                  <a:pt x="154559" y="494169"/>
                </a:lnTo>
                <a:lnTo>
                  <a:pt x="123952" y="425958"/>
                </a:lnTo>
                <a:lnTo>
                  <a:pt x="94996" y="439166"/>
                </a:lnTo>
                <a:lnTo>
                  <a:pt x="97663" y="445897"/>
                </a:lnTo>
                <a:lnTo>
                  <a:pt x="112649" y="439166"/>
                </a:lnTo>
                <a:lnTo>
                  <a:pt x="149225" y="517855"/>
                </a:lnTo>
                <a:lnTo>
                  <a:pt x="157861" y="517855"/>
                </a:lnTo>
                <a:lnTo>
                  <a:pt x="215265" y="304927"/>
                </a:lnTo>
                <a:lnTo>
                  <a:pt x="442722" y="304800"/>
                </a:lnTo>
                <a:lnTo>
                  <a:pt x="442722" y="295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060" y="3311123"/>
            <a:ext cx="4858385" cy="11125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23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239520">
              <a:lnSpc>
                <a:spcPct val="100000"/>
              </a:lnSpc>
              <a:spcBef>
                <a:spcPts val="270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10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7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209601"/>
            <a:ext cx="4989908" cy="30282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245100" y="3436937"/>
            <a:ext cx="8813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latin typeface="Arial"/>
                <a:cs typeface="Arial"/>
              </a:rPr>
              <a:t>Changes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129" y="4424607"/>
            <a:ext cx="3202940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0">
              <a:lnSpc>
                <a:spcPts val="1839"/>
              </a:lnSpc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40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45100" y="3675062"/>
            <a:ext cx="3522979" cy="762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"/>
              </a:spcBef>
              <a:buChar char="-"/>
              <a:tabLst>
                <a:tab pos="298450" algn="l"/>
              </a:tabLst>
            </a:pPr>
            <a:r>
              <a:rPr sz="1550" dirty="0">
                <a:latin typeface="Arial"/>
                <a:cs typeface="Arial"/>
              </a:rPr>
              <a:t>Use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scaled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dot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product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Char char="-"/>
              <a:tabLst>
                <a:tab pos="298450" algn="l"/>
              </a:tabLst>
            </a:pPr>
            <a:r>
              <a:rPr sz="1550" dirty="0">
                <a:latin typeface="Arial"/>
                <a:cs typeface="Arial"/>
              </a:rPr>
              <a:t>Multiple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query</a:t>
            </a:r>
            <a:r>
              <a:rPr sz="1550" b="1" spc="1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vectors</a:t>
            </a:r>
            <a:endParaRPr sz="155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Char char="-"/>
              <a:tabLst>
                <a:tab pos="298450" algn="l"/>
              </a:tabLst>
            </a:pPr>
            <a:r>
              <a:rPr sz="1550" dirty="0">
                <a:latin typeface="Arial"/>
                <a:cs typeface="Arial"/>
              </a:rPr>
              <a:t>Separate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key</a:t>
            </a:r>
            <a:r>
              <a:rPr sz="1550" b="1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8A81D2"/>
                </a:solidFill>
                <a:latin typeface="Arial"/>
                <a:cs typeface="Arial"/>
              </a:rPr>
              <a:t>value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660" y="674306"/>
            <a:ext cx="2563495" cy="1239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63500" marR="74930">
              <a:lnSpc>
                <a:spcPts val="1950"/>
              </a:lnSpc>
              <a:spcBef>
                <a:spcPts val="1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1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15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635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89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60" y="2630741"/>
            <a:ext cx="262255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latin typeface="Arial"/>
                <a:cs typeface="Arial"/>
              </a:rPr>
              <a:t>Computation</a:t>
            </a:r>
            <a:r>
              <a:rPr sz="1550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0"/>
              </a:spcBef>
              <a:tabLst>
                <a:tab pos="821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270" baseline="-15873" dirty="0">
                <a:solidFill>
                  <a:srgbClr val="FF9200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7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3116960"/>
            <a:ext cx="25495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Values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9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9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3311123"/>
            <a:ext cx="3427095" cy="6070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23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239520">
              <a:lnSpc>
                <a:spcPct val="100000"/>
              </a:lnSpc>
              <a:spcBef>
                <a:spcPts val="270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13601" y="4246562"/>
            <a:ext cx="460375" cy="431800"/>
            <a:chOff x="6713601" y="4246562"/>
            <a:chExt cx="460375" cy="431800"/>
          </a:xfrm>
        </p:grpSpPr>
        <p:sp>
          <p:nvSpPr>
            <p:cNvPr id="8" name="object 8"/>
            <p:cNvSpPr/>
            <p:nvPr/>
          </p:nvSpPr>
          <p:spPr>
            <a:xfrm>
              <a:off x="6719951" y="4252912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19951" y="4252912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86451" y="2843276"/>
            <a:ext cx="419100" cy="276225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50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6451" y="3252851"/>
            <a:ext cx="419100" cy="276225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6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86451" y="3662362"/>
            <a:ext cx="419100" cy="285750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323201" y="4246562"/>
            <a:ext cx="450850" cy="431800"/>
            <a:chOff x="7323201" y="4246562"/>
            <a:chExt cx="450850" cy="431800"/>
          </a:xfrm>
        </p:grpSpPr>
        <p:sp>
          <p:nvSpPr>
            <p:cNvPr id="14" name="object 14"/>
            <p:cNvSpPr/>
            <p:nvPr/>
          </p:nvSpPr>
          <p:spPr>
            <a:xfrm>
              <a:off x="73295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43815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38150" y="4191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295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0" y="419100"/>
                  </a:moveTo>
                  <a:lnTo>
                    <a:pt x="438150" y="4191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894701" y="4246562"/>
            <a:ext cx="450850" cy="431800"/>
            <a:chOff x="7894701" y="4246562"/>
            <a:chExt cx="450850" cy="431800"/>
          </a:xfrm>
        </p:grpSpPr>
        <p:sp>
          <p:nvSpPr>
            <p:cNvPr id="17" name="object 17"/>
            <p:cNvSpPr/>
            <p:nvPr/>
          </p:nvSpPr>
          <p:spPr>
            <a:xfrm>
              <a:off x="79010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43815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38150" y="4191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010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0" y="419100"/>
                  </a:moveTo>
                  <a:lnTo>
                    <a:pt x="438150" y="4191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456676" y="4237037"/>
            <a:ext cx="460375" cy="431800"/>
            <a:chOff x="8456676" y="4237037"/>
            <a:chExt cx="460375" cy="431800"/>
          </a:xfrm>
        </p:grpSpPr>
        <p:sp>
          <p:nvSpPr>
            <p:cNvPr id="20" name="object 20"/>
            <p:cNvSpPr/>
            <p:nvPr/>
          </p:nvSpPr>
          <p:spPr>
            <a:xfrm>
              <a:off x="8463026" y="4243387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63026" y="4243387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47625" y="1447800"/>
            <a:ext cx="2571750" cy="523875"/>
          </a:xfrm>
          <a:custGeom>
            <a:avLst/>
            <a:gdLst/>
            <a:ahLst/>
            <a:cxnLst/>
            <a:rect l="l" t="t" r="r" b="b"/>
            <a:pathLst>
              <a:path w="2571750" h="523875">
                <a:moveTo>
                  <a:pt x="2571750" y="0"/>
                </a:moveTo>
                <a:lnTo>
                  <a:pt x="0" y="0"/>
                </a:lnTo>
                <a:lnTo>
                  <a:pt x="0" y="523875"/>
                </a:lnTo>
                <a:lnTo>
                  <a:pt x="2571750" y="523875"/>
                </a:lnTo>
                <a:lnTo>
                  <a:pt x="2571750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625" y="2571750"/>
            <a:ext cx="4924425" cy="2133600"/>
          </a:xfrm>
          <a:custGeom>
            <a:avLst/>
            <a:gdLst/>
            <a:ahLst/>
            <a:cxnLst/>
            <a:rect l="l" t="t" r="r" b="b"/>
            <a:pathLst>
              <a:path w="4924425" h="2133600">
                <a:moveTo>
                  <a:pt x="4924425" y="0"/>
                </a:moveTo>
                <a:lnTo>
                  <a:pt x="0" y="0"/>
                </a:lnTo>
                <a:lnTo>
                  <a:pt x="0" y="2133600"/>
                </a:lnTo>
                <a:lnTo>
                  <a:pt x="4924425" y="2133600"/>
                </a:lnTo>
                <a:lnTo>
                  <a:pt x="492442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24460" y="3928355"/>
            <a:ext cx="3874770" cy="1195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dim=1)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R="38735" algn="ctr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87409" y="3928355"/>
            <a:ext cx="8445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284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19975" y="4347137"/>
            <a:ext cx="1816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1705" y="4340787"/>
            <a:ext cx="1816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15201" y="4349995"/>
            <a:ext cx="1816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94650" y="4349995"/>
            <a:ext cx="1816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74205" y="4448454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78725" y="4445596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3654" y="4448454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20455" y="4439246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41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499995" cy="1239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 marR="49530">
              <a:lnSpc>
                <a:spcPts val="1950"/>
              </a:lnSpc>
              <a:spcBef>
                <a:spcPts val="1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1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15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89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60" y="2630741"/>
            <a:ext cx="168910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55880">
              <a:lnSpc>
                <a:spcPct val="101000"/>
              </a:lnSpc>
              <a:spcBef>
                <a:spcPts val="105"/>
              </a:spcBef>
              <a:tabLst>
                <a:tab pos="821055" algn="l"/>
              </a:tabLst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spc="-10" dirty="0">
                <a:latin typeface="Arial"/>
                <a:cs typeface="Arial"/>
              </a:rPr>
              <a:t>Keys</a:t>
            </a:r>
            <a:r>
              <a:rPr sz="1550" u="none" spc="-10" dirty="0">
                <a:latin typeface="Arial"/>
                <a:cs typeface="Arial"/>
              </a:rPr>
              <a:t>:</a:t>
            </a:r>
            <a:r>
              <a:rPr sz="1550" u="none" dirty="0">
                <a:latin typeface="Arial"/>
                <a:cs typeface="Arial"/>
              </a:rPr>
              <a:t>	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u="none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50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0064" y="2869247"/>
            <a:ext cx="89344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70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60" y="3116960"/>
            <a:ext cx="3465195" cy="8013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3500">
              <a:lnSpc>
                <a:spcPts val="182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Values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9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9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63500">
              <a:lnSpc>
                <a:spcPts val="2120"/>
              </a:lnSpc>
              <a:tabLst>
                <a:tab pos="22942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23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264920">
              <a:lnSpc>
                <a:spcPct val="100000"/>
              </a:lnSpc>
              <a:spcBef>
                <a:spcPts val="270"/>
              </a:spcBef>
              <a:tabLst>
                <a:tab pos="23710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13601" y="4246562"/>
            <a:ext cx="460375" cy="431800"/>
            <a:chOff x="6713601" y="4246562"/>
            <a:chExt cx="460375" cy="431800"/>
          </a:xfrm>
        </p:grpSpPr>
        <p:sp>
          <p:nvSpPr>
            <p:cNvPr id="8" name="object 8"/>
            <p:cNvSpPr/>
            <p:nvPr/>
          </p:nvSpPr>
          <p:spPr>
            <a:xfrm>
              <a:off x="6719951" y="4252912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19951" y="4252912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380101" y="2836926"/>
            <a:ext cx="431800" cy="288925"/>
            <a:chOff x="5380101" y="2836926"/>
            <a:chExt cx="431800" cy="288925"/>
          </a:xfrm>
        </p:grpSpPr>
        <p:sp>
          <p:nvSpPr>
            <p:cNvPr id="11" name="object 11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456554" y="2846641"/>
            <a:ext cx="2857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80101" y="3246501"/>
            <a:ext cx="431800" cy="288925"/>
            <a:chOff x="5380101" y="3246501"/>
            <a:chExt cx="431800" cy="288925"/>
          </a:xfrm>
        </p:grpSpPr>
        <p:sp>
          <p:nvSpPr>
            <p:cNvPr id="15" name="object 15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81954" y="3257867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X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17209" y="3362642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80101" y="3656012"/>
            <a:ext cx="431800" cy="298450"/>
            <a:chOff x="5380101" y="3656012"/>
            <a:chExt cx="431800" cy="298450"/>
          </a:xfrm>
        </p:grpSpPr>
        <p:sp>
          <p:nvSpPr>
            <p:cNvPr id="20" name="object 20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4191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19100" y="2857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285750"/>
                  </a:moveTo>
                  <a:lnTo>
                    <a:pt x="419100" y="2857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56554" y="3673475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24626" y="2843276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5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24626" y="3252851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6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24626" y="3662362"/>
            <a:ext cx="419100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05423" y="2938526"/>
            <a:ext cx="220979" cy="904875"/>
            <a:chOff x="5805423" y="2938526"/>
            <a:chExt cx="220979" cy="90487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2938526"/>
              <a:ext cx="220725" cy="76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5423" y="3357499"/>
              <a:ext cx="220725" cy="76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3767201"/>
              <a:ext cx="220725" cy="762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024626" y="1252600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24626" y="16621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6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24626" y="20812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87620" y="1357375"/>
            <a:ext cx="937260" cy="2458720"/>
          </a:xfrm>
          <a:custGeom>
            <a:avLst/>
            <a:gdLst/>
            <a:ahLst/>
            <a:cxnLst/>
            <a:rect l="l" t="t" r="r" b="b"/>
            <a:pathLst>
              <a:path w="937260" h="2458720">
                <a:moveTo>
                  <a:pt x="936752" y="38100"/>
                </a:moveTo>
                <a:lnTo>
                  <a:pt x="911352" y="25400"/>
                </a:lnTo>
                <a:lnTo>
                  <a:pt x="860552" y="0"/>
                </a:lnTo>
                <a:lnTo>
                  <a:pt x="860552" y="25400"/>
                </a:lnTo>
                <a:lnTo>
                  <a:pt x="209296" y="25400"/>
                </a:lnTo>
                <a:lnTo>
                  <a:pt x="203581" y="30988"/>
                </a:lnTo>
                <a:lnTo>
                  <a:pt x="203581" y="434848"/>
                </a:lnTo>
                <a:lnTo>
                  <a:pt x="203581" y="460375"/>
                </a:lnTo>
                <a:lnTo>
                  <a:pt x="203581" y="844550"/>
                </a:lnTo>
                <a:lnTo>
                  <a:pt x="122428" y="844550"/>
                </a:lnTo>
                <a:lnTo>
                  <a:pt x="122428" y="460375"/>
                </a:lnTo>
                <a:lnTo>
                  <a:pt x="203581" y="460375"/>
                </a:lnTo>
                <a:lnTo>
                  <a:pt x="203581" y="434848"/>
                </a:lnTo>
                <a:lnTo>
                  <a:pt x="102616" y="434848"/>
                </a:lnTo>
                <a:lnTo>
                  <a:pt x="97028" y="440563"/>
                </a:lnTo>
                <a:lnTo>
                  <a:pt x="97028" y="844550"/>
                </a:lnTo>
                <a:lnTo>
                  <a:pt x="5715" y="844550"/>
                </a:lnTo>
                <a:lnTo>
                  <a:pt x="0" y="850138"/>
                </a:lnTo>
                <a:lnTo>
                  <a:pt x="0" y="2453005"/>
                </a:lnTo>
                <a:lnTo>
                  <a:pt x="5715" y="2458593"/>
                </a:lnTo>
                <a:lnTo>
                  <a:pt x="298704" y="2458593"/>
                </a:lnTo>
                <a:lnTo>
                  <a:pt x="298704" y="2445893"/>
                </a:lnTo>
                <a:lnTo>
                  <a:pt x="298704" y="2433193"/>
                </a:lnTo>
                <a:lnTo>
                  <a:pt x="25400" y="2433193"/>
                </a:lnTo>
                <a:lnTo>
                  <a:pt x="25400" y="869950"/>
                </a:lnTo>
                <a:lnTo>
                  <a:pt x="97028" y="869950"/>
                </a:lnTo>
                <a:lnTo>
                  <a:pt x="97028" y="2043430"/>
                </a:lnTo>
                <a:lnTo>
                  <a:pt x="102616" y="2049018"/>
                </a:lnTo>
                <a:lnTo>
                  <a:pt x="298704" y="2049018"/>
                </a:lnTo>
                <a:lnTo>
                  <a:pt x="298704" y="2036318"/>
                </a:lnTo>
                <a:lnTo>
                  <a:pt x="298704" y="2023618"/>
                </a:lnTo>
                <a:lnTo>
                  <a:pt x="122428" y="2023618"/>
                </a:lnTo>
                <a:lnTo>
                  <a:pt x="122428" y="869950"/>
                </a:lnTo>
                <a:lnTo>
                  <a:pt x="203581" y="869950"/>
                </a:lnTo>
                <a:lnTo>
                  <a:pt x="203581" y="1633855"/>
                </a:lnTo>
                <a:lnTo>
                  <a:pt x="209296" y="1639443"/>
                </a:lnTo>
                <a:lnTo>
                  <a:pt x="298704" y="1639443"/>
                </a:lnTo>
                <a:lnTo>
                  <a:pt x="298704" y="1626743"/>
                </a:lnTo>
                <a:lnTo>
                  <a:pt x="298704" y="1614043"/>
                </a:lnTo>
                <a:lnTo>
                  <a:pt x="228981" y="1614043"/>
                </a:lnTo>
                <a:lnTo>
                  <a:pt x="228981" y="869950"/>
                </a:lnTo>
                <a:lnTo>
                  <a:pt x="860552" y="869950"/>
                </a:lnTo>
                <a:lnTo>
                  <a:pt x="860552" y="895350"/>
                </a:lnTo>
                <a:lnTo>
                  <a:pt x="911352" y="869950"/>
                </a:lnTo>
                <a:lnTo>
                  <a:pt x="936752" y="857250"/>
                </a:lnTo>
                <a:lnTo>
                  <a:pt x="911352" y="844550"/>
                </a:lnTo>
                <a:lnTo>
                  <a:pt x="860552" y="819150"/>
                </a:lnTo>
                <a:lnTo>
                  <a:pt x="860552" y="844550"/>
                </a:lnTo>
                <a:lnTo>
                  <a:pt x="228981" y="844550"/>
                </a:lnTo>
                <a:lnTo>
                  <a:pt x="228981" y="460375"/>
                </a:lnTo>
                <a:lnTo>
                  <a:pt x="860552" y="460375"/>
                </a:lnTo>
                <a:lnTo>
                  <a:pt x="860552" y="485648"/>
                </a:lnTo>
                <a:lnTo>
                  <a:pt x="911098" y="460375"/>
                </a:lnTo>
                <a:lnTo>
                  <a:pt x="936752" y="447548"/>
                </a:lnTo>
                <a:lnTo>
                  <a:pt x="911352" y="434848"/>
                </a:lnTo>
                <a:lnTo>
                  <a:pt x="860552" y="409448"/>
                </a:lnTo>
                <a:lnTo>
                  <a:pt x="860552" y="434848"/>
                </a:lnTo>
                <a:lnTo>
                  <a:pt x="228981" y="434848"/>
                </a:lnTo>
                <a:lnTo>
                  <a:pt x="228981" y="50800"/>
                </a:lnTo>
                <a:lnTo>
                  <a:pt x="860552" y="50800"/>
                </a:lnTo>
                <a:lnTo>
                  <a:pt x="860552" y="76200"/>
                </a:lnTo>
                <a:lnTo>
                  <a:pt x="911352" y="50800"/>
                </a:lnTo>
                <a:lnTo>
                  <a:pt x="93675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7323201" y="4246562"/>
            <a:ext cx="450850" cy="431800"/>
            <a:chOff x="7323201" y="4246562"/>
            <a:chExt cx="450850" cy="431800"/>
          </a:xfrm>
        </p:grpSpPr>
        <p:sp>
          <p:nvSpPr>
            <p:cNvPr id="35" name="object 35"/>
            <p:cNvSpPr/>
            <p:nvPr/>
          </p:nvSpPr>
          <p:spPr>
            <a:xfrm>
              <a:off x="73295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43815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38150" y="4191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3295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0" y="419100"/>
                  </a:moveTo>
                  <a:lnTo>
                    <a:pt x="438150" y="4191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7894701" y="4246562"/>
            <a:ext cx="450850" cy="431800"/>
            <a:chOff x="7894701" y="4246562"/>
            <a:chExt cx="450850" cy="431800"/>
          </a:xfrm>
        </p:grpSpPr>
        <p:sp>
          <p:nvSpPr>
            <p:cNvPr id="38" name="object 38"/>
            <p:cNvSpPr/>
            <p:nvPr/>
          </p:nvSpPr>
          <p:spPr>
            <a:xfrm>
              <a:off x="79010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43815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38150" y="4191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9010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0" y="419100"/>
                  </a:moveTo>
                  <a:lnTo>
                    <a:pt x="438150" y="4191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8456676" y="4237037"/>
            <a:ext cx="460375" cy="431800"/>
            <a:chOff x="8456676" y="4237037"/>
            <a:chExt cx="460375" cy="431800"/>
          </a:xfrm>
        </p:grpSpPr>
        <p:sp>
          <p:nvSpPr>
            <p:cNvPr id="41" name="object 41"/>
            <p:cNvSpPr/>
            <p:nvPr/>
          </p:nvSpPr>
          <p:spPr>
            <a:xfrm>
              <a:off x="8463026" y="4243387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63026" y="4243387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47625" y="3390900"/>
            <a:ext cx="4924425" cy="1343025"/>
          </a:xfrm>
          <a:custGeom>
            <a:avLst/>
            <a:gdLst/>
            <a:ahLst/>
            <a:cxnLst/>
            <a:rect l="l" t="t" r="r" b="b"/>
            <a:pathLst>
              <a:path w="4924425" h="1343025">
                <a:moveTo>
                  <a:pt x="4924425" y="0"/>
                </a:moveTo>
                <a:lnTo>
                  <a:pt x="0" y="0"/>
                </a:lnTo>
                <a:lnTo>
                  <a:pt x="0" y="1343025"/>
                </a:lnTo>
                <a:lnTo>
                  <a:pt x="4924425" y="1343025"/>
                </a:lnTo>
                <a:lnTo>
                  <a:pt x="492442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24460" y="3928355"/>
            <a:ext cx="3874770" cy="1195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dim=1)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R="38735" algn="ctr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87409" y="3928355"/>
            <a:ext cx="8445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284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19975" y="4347137"/>
            <a:ext cx="1816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61705" y="4340787"/>
            <a:ext cx="1816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15201" y="4349995"/>
            <a:ext cx="1816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994650" y="4349995"/>
            <a:ext cx="1816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974205" y="4448454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578725" y="4445596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53654" y="4448454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720455" y="4439246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42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499995" cy="1239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 marR="49530">
              <a:lnSpc>
                <a:spcPts val="1950"/>
              </a:lnSpc>
              <a:spcBef>
                <a:spcPts val="1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1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15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89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60" y="2630741"/>
            <a:ext cx="168910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55880">
              <a:lnSpc>
                <a:spcPct val="101000"/>
              </a:lnSpc>
              <a:spcBef>
                <a:spcPts val="105"/>
              </a:spcBef>
              <a:tabLst>
                <a:tab pos="821055" algn="l"/>
              </a:tabLst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spc="-10" dirty="0">
                <a:latin typeface="Arial"/>
                <a:cs typeface="Arial"/>
              </a:rPr>
              <a:t>Keys</a:t>
            </a:r>
            <a:r>
              <a:rPr sz="1550" u="none" spc="-10" dirty="0">
                <a:latin typeface="Arial"/>
                <a:cs typeface="Arial"/>
              </a:rPr>
              <a:t>:</a:t>
            </a:r>
            <a:r>
              <a:rPr sz="1550" u="none" dirty="0">
                <a:latin typeface="Arial"/>
                <a:cs typeface="Arial"/>
              </a:rPr>
              <a:t>	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u="none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50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0064" y="2869247"/>
            <a:ext cx="89344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70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360" y="3116960"/>
            <a:ext cx="25749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Values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9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9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85389" y="3464242"/>
            <a:ext cx="5060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8620" algn="l"/>
              </a:tabLst>
            </a:pPr>
            <a:r>
              <a:rPr sz="1200" spc="-50" dirty="0">
                <a:latin typeface="Cambria Math"/>
                <a:cs typeface="Cambria Math"/>
              </a:rPr>
              <a:t>𝑄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575" spc="-75" baseline="2645" dirty="0">
                <a:latin typeface="Arial"/>
                <a:cs typeface="Arial"/>
              </a:rPr>
              <a:t>Q</a:t>
            </a:r>
            <a:endParaRPr sz="1575" baseline="264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9051" y="3479736"/>
            <a:ext cx="11493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60" y="3346386"/>
            <a:ext cx="3439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281555" algn="l"/>
                <a:tab pos="2584450" algn="l"/>
                <a:tab pos="294957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spc="-25" dirty="0">
                <a:latin typeface="Arial"/>
                <a:cs typeface="Arial"/>
              </a:rPr>
              <a:t>[N</a:t>
            </a:r>
            <a:r>
              <a:rPr sz="1550" dirty="0">
                <a:latin typeface="Arial"/>
                <a:cs typeface="Arial"/>
              </a:rPr>
              <a:t>	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75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00480" y="3651948"/>
            <a:ext cx="13893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14427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200" y="2741612"/>
            <a:ext cx="8926830" cy="1992630"/>
            <a:chOff x="76200" y="2741612"/>
            <a:chExt cx="8926830" cy="1992630"/>
          </a:xfrm>
        </p:grpSpPr>
        <p:sp>
          <p:nvSpPr>
            <p:cNvPr id="14" name="object 14"/>
            <p:cNvSpPr/>
            <p:nvPr/>
          </p:nvSpPr>
          <p:spPr>
            <a:xfrm>
              <a:off x="76200" y="3943350"/>
              <a:ext cx="4924425" cy="790575"/>
            </a:xfrm>
            <a:custGeom>
              <a:avLst/>
              <a:gdLst/>
              <a:ahLst/>
              <a:cxnLst/>
              <a:rect l="l" t="t" r="r" b="b"/>
              <a:pathLst>
                <a:path w="4924425" h="790575">
                  <a:moveTo>
                    <a:pt x="4924425" y="0"/>
                  </a:moveTo>
                  <a:lnTo>
                    <a:pt x="0" y="0"/>
                  </a:lnTo>
                  <a:lnTo>
                    <a:pt x="0" y="790575"/>
                  </a:lnTo>
                  <a:lnTo>
                    <a:pt x="4924425" y="790575"/>
                  </a:lnTo>
                  <a:lnTo>
                    <a:pt x="492442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62801" y="2747962"/>
              <a:ext cx="2333625" cy="1285875"/>
            </a:xfrm>
            <a:custGeom>
              <a:avLst/>
              <a:gdLst/>
              <a:ahLst/>
              <a:cxnLst/>
              <a:rect l="l" t="t" r="r" b="b"/>
              <a:pathLst>
                <a:path w="2333625" h="1285875">
                  <a:moveTo>
                    <a:pt x="2333625" y="0"/>
                  </a:moveTo>
                  <a:lnTo>
                    <a:pt x="0" y="0"/>
                  </a:lnTo>
                  <a:lnTo>
                    <a:pt x="0" y="1285875"/>
                  </a:lnTo>
                  <a:lnTo>
                    <a:pt x="2333625" y="1285875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62801" y="2747962"/>
              <a:ext cx="2333625" cy="1285875"/>
            </a:xfrm>
            <a:custGeom>
              <a:avLst/>
              <a:gdLst/>
              <a:ahLst/>
              <a:cxnLst/>
              <a:rect l="l" t="t" r="r" b="b"/>
              <a:pathLst>
                <a:path w="2333625" h="1285875">
                  <a:moveTo>
                    <a:pt x="0" y="1285875"/>
                  </a:moveTo>
                  <a:lnTo>
                    <a:pt x="2333625" y="1285875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128587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19951" y="4252912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19951" y="4252912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56554" y="2846641"/>
            <a:ext cx="2857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80101" y="3246501"/>
            <a:ext cx="431800" cy="288925"/>
            <a:chOff x="5380101" y="3246501"/>
            <a:chExt cx="431800" cy="288925"/>
          </a:xfrm>
        </p:grpSpPr>
        <p:sp>
          <p:nvSpPr>
            <p:cNvPr id="23" name="object 23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456554" y="32578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380101" y="3656012"/>
            <a:ext cx="431800" cy="298450"/>
            <a:chOff x="5380101" y="3656012"/>
            <a:chExt cx="431800" cy="298450"/>
          </a:xfrm>
        </p:grpSpPr>
        <p:sp>
          <p:nvSpPr>
            <p:cNvPr id="27" name="object 27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4191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19100" y="2857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285750"/>
                  </a:moveTo>
                  <a:lnTo>
                    <a:pt x="419100" y="2857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456554" y="3673475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24626" y="2843276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5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24626" y="3252851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6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24626" y="3662362"/>
            <a:ext cx="419100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48526" y="28337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3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29551" y="2824226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39001" y="3243326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L="107314">
              <a:lnSpc>
                <a:spcPct val="100000"/>
              </a:lnSpc>
              <a:spcBef>
                <a:spcPts val="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39001" y="3662362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29551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29551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10576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10576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10576" y="2833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710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482076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491601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91601" y="2833751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10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805423" y="2938526"/>
            <a:ext cx="2924175" cy="1317625"/>
            <a:chOff x="5805423" y="2938526"/>
            <a:chExt cx="2924175" cy="1317625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2938526"/>
              <a:ext cx="220725" cy="762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5423" y="3357499"/>
              <a:ext cx="220725" cy="762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3767201"/>
              <a:ext cx="220725" cy="762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3767201"/>
              <a:ext cx="220725" cy="76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598" y="3357626"/>
              <a:ext cx="220725" cy="76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2938526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0798" y="4024312"/>
              <a:ext cx="76200" cy="22734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1348" y="4052887"/>
              <a:ext cx="76200" cy="20311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2373" y="4062412"/>
              <a:ext cx="76200" cy="19340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53398" y="4052887"/>
              <a:ext cx="76200" cy="193408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6024626" y="1252600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024626" y="16621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6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024626" y="20812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087620" y="1357375"/>
            <a:ext cx="3829685" cy="3321050"/>
            <a:chOff x="5087620" y="1357375"/>
            <a:chExt cx="3829685" cy="3321050"/>
          </a:xfrm>
        </p:grpSpPr>
        <p:sp>
          <p:nvSpPr>
            <p:cNvPr id="60" name="object 60"/>
            <p:cNvSpPr/>
            <p:nvPr/>
          </p:nvSpPr>
          <p:spPr>
            <a:xfrm>
              <a:off x="5087620" y="1357375"/>
              <a:ext cx="937260" cy="2458720"/>
            </a:xfrm>
            <a:custGeom>
              <a:avLst/>
              <a:gdLst/>
              <a:ahLst/>
              <a:cxnLst/>
              <a:rect l="l" t="t" r="r" b="b"/>
              <a:pathLst>
                <a:path w="937260" h="2458720">
                  <a:moveTo>
                    <a:pt x="936752" y="38100"/>
                  </a:moveTo>
                  <a:lnTo>
                    <a:pt x="911352" y="25400"/>
                  </a:lnTo>
                  <a:lnTo>
                    <a:pt x="860552" y="0"/>
                  </a:lnTo>
                  <a:lnTo>
                    <a:pt x="860552" y="25400"/>
                  </a:lnTo>
                  <a:lnTo>
                    <a:pt x="209296" y="25400"/>
                  </a:lnTo>
                  <a:lnTo>
                    <a:pt x="203581" y="30988"/>
                  </a:lnTo>
                  <a:lnTo>
                    <a:pt x="203581" y="434848"/>
                  </a:lnTo>
                  <a:lnTo>
                    <a:pt x="203581" y="460375"/>
                  </a:lnTo>
                  <a:lnTo>
                    <a:pt x="203581" y="844550"/>
                  </a:lnTo>
                  <a:lnTo>
                    <a:pt x="122428" y="844550"/>
                  </a:lnTo>
                  <a:lnTo>
                    <a:pt x="122428" y="460375"/>
                  </a:lnTo>
                  <a:lnTo>
                    <a:pt x="203581" y="460375"/>
                  </a:lnTo>
                  <a:lnTo>
                    <a:pt x="203581" y="434848"/>
                  </a:lnTo>
                  <a:lnTo>
                    <a:pt x="102616" y="434848"/>
                  </a:lnTo>
                  <a:lnTo>
                    <a:pt x="97028" y="440563"/>
                  </a:lnTo>
                  <a:lnTo>
                    <a:pt x="97028" y="844550"/>
                  </a:lnTo>
                  <a:lnTo>
                    <a:pt x="5715" y="844550"/>
                  </a:lnTo>
                  <a:lnTo>
                    <a:pt x="0" y="850138"/>
                  </a:lnTo>
                  <a:lnTo>
                    <a:pt x="0" y="2453005"/>
                  </a:lnTo>
                  <a:lnTo>
                    <a:pt x="5715" y="2458593"/>
                  </a:lnTo>
                  <a:lnTo>
                    <a:pt x="298704" y="2458593"/>
                  </a:lnTo>
                  <a:lnTo>
                    <a:pt x="298704" y="2445893"/>
                  </a:lnTo>
                  <a:lnTo>
                    <a:pt x="298704" y="2433193"/>
                  </a:lnTo>
                  <a:lnTo>
                    <a:pt x="25400" y="2433193"/>
                  </a:lnTo>
                  <a:lnTo>
                    <a:pt x="25400" y="869950"/>
                  </a:lnTo>
                  <a:lnTo>
                    <a:pt x="97028" y="869950"/>
                  </a:lnTo>
                  <a:lnTo>
                    <a:pt x="97028" y="2043430"/>
                  </a:lnTo>
                  <a:lnTo>
                    <a:pt x="102616" y="2049018"/>
                  </a:lnTo>
                  <a:lnTo>
                    <a:pt x="298704" y="2049018"/>
                  </a:lnTo>
                  <a:lnTo>
                    <a:pt x="298704" y="2036318"/>
                  </a:lnTo>
                  <a:lnTo>
                    <a:pt x="298704" y="2023618"/>
                  </a:lnTo>
                  <a:lnTo>
                    <a:pt x="122428" y="2023618"/>
                  </a:lnTo>
                  <a:lnTo>
                    <a:pt x="122428" y="869950"/>
                  </a:lnTo>
                  <a:lnTo>
                    <a:pt x="203581" y="869950"/>
                  </a:lnTo>
                  <a:lnTo>
                    <a:pt x="203581" y="1633855"/>
                  </a:lnTo>
                  <a:lnTo>
                    <a:pt x="209296" y="1639443"/>
                  </a:lnTo>
                  <a:lnTo>
                    <a:pt x="298704" y="1639443"/>
                  </a:lnTo>
                  <a:lnTo>
                    <a:pt x="298704" y="1626743"/>
                  </a:lnTo>
                  <a:lnTo>
                    <a:pt x="298704" y="1614043"/>
                  </a:lnTo>
                  <a:lnTo>
                    <a:pt x="228981" y="1614043"/>
                  </a:lnTo>
                  <a:lnTo>
                    <a:pt x="228981" y="869950"/>
                  </a:lnTo>
                  <a:lnTo>
                    <a:pt x="860552" y="869950"/>
                  </a:lnTo>
                  <a:lnTo>
                    <a:pt x="860552" y="895350"/>
                  </a:lnTo>
                  <a:lnTo>
                    <a:pt x="911352" y="869950"/>
                  </a:lnTo>
                  <a:lnTo>
                    <a:pt x="936752" y="857250"/>
                  </a:lnTo>
                  <a:lnTo>
                    <a:pt x="911352" y="844550"/>
                  </a:lnTo>
                  <a:lnTo>
                    <a:pt x="860552" y="819150"/>
                  </a:lnTo>
                  <a:lnTo>
                    <a:pt x="860552" y="844550"/>
                  </a:lnTo>
                  <a:lnTo>
                    <a:pt x="228981" y="844550"/>
                  </a:lnTo>
                  <a:lnTo>
                    <a:pt x="228981" y="460375"/>
                  </a:lnTo>
                  <a:lnTo>
                    <a:pt x="860552" y="460375"/>
                  </a:lnTo>
                  <a:lnTo>
                    <a:pt x="860552" y="485648"/>
                  </a:lnTo>
                  <a:lnTo>
                    <a:pt x="911098" y="460375"/>
                  </a:lnTo>
                  <a:lnTo>
                    <a:pt x="936752" y="447548"/>
                  </a:lnTo>
                  <a:lnTo>
                    <a:pt x="911352" y="434848"/>
                  </a:lnTo>
                  <a:lnTo>
                    <a:pt x="860552" y="409448"/>
                  </a:lnTo>
                  <a:lnTo>
                    <a:pt x="860552" y="434848"/>
                  </a:lnTo>
                  <a:lnTo>
                    <a:pt x="228981" y="434848"/>
                  </a:lnTo>
                  <a:lnTo>
                    <a:pt x="228981" y="50800"/>
                  </a:lnTo>
                  <a:lnTo>
                    <a:pt x="860552" y="50800"/>
                  </a:lnTo>
                  <a:lnTo>
                    <a:pt x="860552" y="76200"/>
                  </a:lnTo>
                  <a:lnTo>
                    <a:pt x="911352" y="50800"/>
                  </a:lnTo>
                  <a:lnTo>
                    <a:pt x="93675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295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43815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38150" y="4191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3295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0" y="419100"/>
                  </a:moveTo>
                  <a:lnTo>
                    <a:pt x="438150" y="4191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9010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43815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38150" y="4191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01051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0" y="419100"/>
                  </a:moveTo>
                  <a:lnTo>
                    <a:pt x="438150" y="4191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463026" y="4243387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463026" y="4243387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137160" y="3941055"/>
            <a:ext cx="4782185" cy="744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10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7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300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419975" y="4347137"/>
            <a:ext cx="259079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561705" y="4340787"/>
            <a:ext cx="259079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4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15201" y="4349995"/>
            <a:ext cx="259079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994650" y="4349995"/>
            <a:ext cx="259079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43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468245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1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2311" y="1514475"/>
            <a:ext cx="9417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75" algn="l"/>
                <a:tab pos="824230" algn="l"/>
              </a:tabLst>
            </a:pPr>
            <a:r>
              <a:rPr sz="1050" b="1" spc="-50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050" b="1" dirty="0">
                <a:solidFill>
                  <a:srgbClr val="FF9200"/>
                </a:solidFill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Q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460" y="1408811"/>
            <a:ext cx="23463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515745" algn="l"/>
                <a:tab pos="1866900" algn="l"/>
              </a:tabLst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13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[D</a:t>
            </a:r>
            <a:r>
              <a:rPr sz="1550" dirty="0">
                <a:latin typeface="Arial"/>
                <a:cs typeface="Arial"/>
              </a:rPr>
              <a:t>	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385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1647761"/>
            <a:ext cx="25253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89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360" y="2630741"/>
            <a:ext cx="168910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55880">
              <a:lnSpc>
                <a:spcPct val="101000"/>
              </a:lnSpc>
              <a:spcBef>
                <a:spcPts val="105"/>
              </a:spcBef>
              <a:tabLst>
                <a:tab pos="821055" algn="l"/>
              </a:tabLst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spc="-10" dirty="0">
                <a:latin typeface="Arial"/>
                <a:cs typeface="Arial"/>
              </a:rPr>
              <a:t>Keys</a:t>
            </a:r>
            <a:r>
              <a:rPr sz="1550" u="none" spc="-10" dirty="0">
                <a:latin typeface="Arial"/>
                <a:cs typeface="Arial"/>
              </a:rPr>
              <a:t>:</a:t>
            </a:r>
            <a:r>
              <a:rPr sz="1550" u="none" dirty="0">
                <a:latin typeface="Arial"/>
                <a:cs typeface="Arial"/>
              </a:rPr>
              <a:t>	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u="none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50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0064" y="2869247"/>
            <a:ext cx="89344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70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360" y="3116960"/>
            <a:ext cx="25749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Values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9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9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85389" y="3464242"/>
            <a:ext cx="5060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8620" algn="l"/>
              </a:tabLst>
            </a:pPr>
            <a:r>
              <a:rPr sz="1200" spc="-50" dirty="0">
                <a:latin typeface="Cambria Math"/>
                <a:cs typeface="Cambria Math"/>
              </a:rPr>
              <a:t>𝑄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575" spc="-75" baseline="2645" dirty="0">
                <a:latin typeface="Arial"/>
                <a:cs typeface="Arial"/>
              </a:rPr>
              <a:t>Q</a:t>
            </a:r>
            <a:endParaRPr sz="1575" baseline="264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29051" y="3479736"/>
            <a:ext cx="11493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360" y="3346386"/>
            <a:ext cx="3439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281555" algn="l"/>
                <a:tab pos="2584450" algn="l"/>
                <a:tab pos="294957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spc="-25" dirty="0">
                <a:latin typeface="Arial"/>
                <a:cs typeface="Arial"/>
              </a:rPr>
              <a:t>[N</a:t>
            </a:r>
            <a:r>
              <a:rPr sz="1550" dirty="0">
                <a:latin typeface="Arial"/>
                <a:cs typeface="Arial"/>
              </a:rPr>
              <a:t>	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75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9060" y="3634930"/>
            <a:ext cx="4858385" cy="54038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39520">
              <a:lnSpc>
                <a:spcPct val="100000"/>
              </a:lnSpc>
              <a:spcBef>
                <a:spcPts val="260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10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7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2875" y="4152900"/>
            <a:ext cx="4924425" cy="561975"/>
          </a:xfrm>
          <a:custGeom>
            <a:avLst/>
            <a:gdLst/>
            <a:ahLst/>
            <a:cxnLst/>
            <a:rect l="l" t="t" r="r" b="b"/>
            <a:pathLst>
              <a:path w="4924425" h="561975">
                <a:moveTo>
                  <a:pt x="4924425" y="0"/>
                </a:moveTo>
                <a:lnTo>
                  <a:pt x="0" y="0"/>
                </a:lnTo>
                <a:lnTo>
                  <a:pt x="0" y="561975"/>
                </a:lnTo>
                <a:lnTo>
                  <a:pt x="4924425" y="561975"/>
                </a:lnTo>
                <a:lnTo>
                  <a:pt x="492442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47026" y="2485453"/>
            <a:ext cx="9944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20750" algn="l"/>
              </a:tabLst>
            </a:pPr>
            <a:r>
              <a:rPr sz="1400" spc="-10" dirty="0">
                <a:latin typeface="Arial"/>
                <a:cs typeface="Arial"/>
              </a:rPr>
              <a:t>Softmax(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0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56451" y="2741612"/>
            <a:ext cx="2346325" cy="1936750"/>
            <a:chOff x="6656451" y="2741612"/>
            <a:chExt cx="2346325" cy="1936750"/>
          </a:xfrm>
        </p:grpSpPr>
        <p:sp>
          <p:nvSpPr>
            <p:cNvPr id="19" name="object 19"/>
            <p:cNvSpPr/>
            <p:nvPr/>
          </p:nvSpPr>
          <p:spPr>
            <a:xfrm>
              <a:off x="6662801" y="2747962"/>
              <a:ext cx="2333625" cy="1285875"/>
            </a:xfrm>
            <a:custGeom>
              <a:avLst/>
              <a:gdLst/>
              <a:ahLst/>
              <a:cxnLst/>
              <a:rect l="l" t="t" r="r" b="b"/>
              <a:pathLst>
                <a:path w="2333625" h="1285875">
                  <a:moveTo>
                    <a:pt x="2333625" y="0"/>
                  </a:moveTo>
                  <a:lnTo>
                    <a:pt x="0" y="0"/>
                  </a:lnTo>
                  <a:lnTo>
                    <a:pt x="0" y="1285875"/>
                  </a:lnTo>
                  <a:lnTo>
                    <a:pt x="2333625" y="1285875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62801" y="2747962"/>
              <a:ext cx="2333625" cy="1285875"/>
            </a:xfrm>
            <a:custGeom>
              <a:avLst/>
              <a:gdLst/>
              <a:ahLst/>
              <a:cxnLst/>
              <a:rect l="l" t="t" r="r" b="b"/>
              <a:pathLst>
                <a:path w="2333625" h="1285875">
                  <a:moveTo>
                    <a:pt x="0" y="1285875"/>
                  </a:moveTo>
                  <a:lnTo>
                    <a:pt x="2333625" y="1285875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128587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19951" y="4252912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19951" y="4252912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380101" y="2836926"/>
            <a:ext cx="431800" cy="288925"/>
            <a:chOff x="5380101" y="2836926"/>
            <a:chExt cx="431800" cy="288925"/>
          </a:xfrm>
        </p:grpSpPr>
        <p:sp>
          <p:nvSpPr>
            <p:cNvPr id="24" name="object 24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56554" y="2846641"/>
            <a:ext cx="2857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380101" y="3246501"/>
            <a:ext cx="431800" cy="288925"/>
            <a:chOff x="5380101" y="3246501"/>
            <a:chExt cx="431800" cy="288925"/>
          </a:xfrm>
        </p:grpSpPr>
        <p:sp>
          <p:nvSpPr>
            <p:cNvPr id="28" name="object 28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56554" y="32578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80101" y="3656012"/>
            <a:ext cx="431800" cy="298450"/>
            <a:chOff x="5380101" y="3656012"/>
            <a:chExt cx="431800" cy="298450"/>
          </a:xfrm>
        </p:grpSpPr>
        <p:sp>
          <p:nvSpPr>
            <p:cNvPr id="32" name="object 32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4191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19100" y="2857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285750"/>
                  </a:moveTo>
                  <a:lnTo>
                    <a:pt x="419100" y="2857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456554" y="3673475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24626" y="2843276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5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24626" y="3252851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6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24626" y="3662362"/>
            <a:ext cx="419100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48526" y="28337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3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29551" y="2824226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39001" y="3243326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L="107314">
              <a:lnSpc>
                <a:spcPct val="100000"/>
              </a:lnSpc>
              <a:spcBef>
                <a:spcPts val="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39001" y="3662362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29551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29551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910576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910576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910576" y="2833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710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82076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91601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491601" y="2833751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10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805423" y="2938526"/>
            <a:ext cx="220979" cy="904875"/>
            <a:chOff x="5805423" y="2938526"/>
            <a:chExt cx="220979" cy="904875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2938526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5423" y="3357499"/>
              <a:ext cx="220725" cy="76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3767201"/>
              <a:ext cx="220725" cy="76200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6443598" y="2509901"/>
            <a:ext cx="2473960" cy="2168525"/>
            <a:chOff x="6443598" y="2509901"/>
            <a:chExt cx="2473960" cy="2168525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3767201"/>
              <a:ext cx="220725" cy="762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598" y="3357626"/>
              <a:ext cx="220725" cy="762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2938526"/>
              <a:ext cx="220725" cy="76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0798" y="4024312"/>
              <a:ext cx="76200" cy="22734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1348" y="4052887"/>
              <a:ext cx="76200" cy="20311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2373" y="4062412"/>
              <a:ext cx="76200" cy="19340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53398" y="4052887"/>
              <a:ext cx="76200" cy="19340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4773" y="2509901"/>
              <a:ext cx="76200" cy="203073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329550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43815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38150" y="4191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329550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0" y="419100"/>
                  </a:moveTo>
                  <a:lnTo>
                    <a:pt x="438150" y="4191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901050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43815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38150" y="4191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901050" y="4252912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0" y="419100"/>
                  </a:moveTo>
                  <a:lnTo>
                    <a:pt x="438150" y="4191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463025" y="4243387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463025" y="4243387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6656451" y="1151000"/>
            <a:ext cx="2346325" cy="1308100"/>
            <a:chOff x="6656451" y="1151000"/>
            <a:chExt cx="2346325" cy="1308100"/>
          </a:xfrm>
        </p:grpSpPr>
        <p:sp>
          <p:nvSpPr>
            <p:cNvPr id="70" name="object 70"/>
            <p:cNvSpPr/>
            <p:nvPr/>
          </p:nvSpPr>
          <p:spPr>
            <a:xfrm>
              <a:off x="6662801" y="1157350"/>
              <a:ext cx="2333625" cy="1295400"/>
            </a:xfrm>
            <a:custGeom>
              <a:avLst/>
              <a:gdLst/>
              <a:ahLst/>
              <a:cxnLst/>
              <a:rect l="l" t="t" r="r" b="b"/>
              <a:pathLst>
                <a:path w="2333625" h="1295400">
                  <a:moveTo>
                    <a:pt x="2333625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2333625" y="12954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662801" y="1157350"/>
              <a:ext cx="2333625" cy="1295400"/>
            </a:xfrm>
            <a:custGeom>
              <a:avLst/>
              <a:gdLst/>
              <a:ahLst/>
              <a:cxnLst/>
              <a:rect l="l" t="t" r="r" b="b"/>
              <a:pathLst>
                <a:path w="2333625" h="1295400">
                  <a:moveTo>
                    <a:pt x="0" y="1295400"/>
                  </a:moveTo>
                  <a:lnTo>
                    <a:pt x="2333625" y="1295400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6748526" y="1243075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329551" y="1233550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39001" y="16526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39001" y="20717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329551" y="1662176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329551" y="2071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7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910576" y="2071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67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910576" y="1662176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910576" y="1243075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482076" y="2071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67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4,3</a:t>
            </a:r>
            <a:endParaRPr sz="6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491601" y="1662176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4,2</a:t>
            </a:r>
            <a:endParaRPr sz="6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491601" y="1243075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4,1</a:t>
            </a:r>
            <a:endParaRPr sz="6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024626" y="1252600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024626" y="16621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6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024626" y="20812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5087620" y="1357375"/>
            <a:ext cx="937260" cy="2458720"/>
          </a:xfrm>
          <a:custGeom>
            <a:avLst/>
            <a:gdLst/>
            <a:ahLst/>
            <a:cxnLst/>
            <a:rect l="l" t="t" r="r" b="b"/>
            <a:pathLst>
              <a:path w="937260" h="2458720">
                <a:moveTo>
                  <a:pt x="936752" y="38100"/>
                </a:moveTo>
                <a:lnTo>
                  <a:pt x="911352" y="25400"/>
                </a:lnTo>
                <a:lnTo>
                  <a:pt x="860552" y="0"/>
                </a:lnTo>
                <a:lnTo>
                  <a:pt x="860552" y="25400"/>
                </a:lnTo>
                <a:lnTo>
                  <a:pt x="209296" y="25400"/>
                </a:lnTo>
                <a:lnTo>
                  <a:pt x="203581" y="30988"/>
                </a:lnTo>
                <a:lnTo>
                  <a:pt x="203581" y="434848"/>
                </a:lnTo>
                <a:lnTo>
                  <a:pt x="203581" y="460375"/>
                </a:lnTo>
                <a:lnTo>
                  <a:pt x="203581" y="844550"/>
                </a:lnTo>
                <a:lnTo>
                  <a:pt x="122428" y="844550"/>
                </a:lnTo>
                <a:lnTo>
                  <a:pt x="122428" y="460375"/>
                </a:lnTo>
                <a:lnTo>
                  <a:pt x="203581" y="460375"/>
                </a:lnTo>
                <a:lnTo>
                  <a:pt x="203581" y="434848"/>
                </a:lnTo>
                <a:lnTo>
                  <a:pt x="102616" y="434848"/>
                </a:lnTo>
                <a:lnTo>
                  <a:pt x="97028" y="440563"/>
                </a:lnTo>
                <a:lnTo>
                  <a:pt x="97028" y="844550"/>
                </a:lnTo>
                <a:lnTo>
                  <a:pt x="5715" y="844550"/>
                </a:lnTo>
                <a:lnTo>
                  <a:pt x="0" y="850138"/>
                </a:lnTo>
                <a:lnTo>
                  <a:pt x="0" y="2453005"/>
                </a:lnTo>
                <a:lnTo>
                  <a:pt x="5715" y="2458593"/>
                </a:lnTo>
                <a:lnTo>
                  <a:pt x="298704" y="2458593"/>
                </a:lnTo>
                <a:lnTo>
                  <a:pt x="298704" y="2445893"/>
                </a:lnTo>
                <a:lnTo>
                  <a:pt x="298704" y="2433193"/>
                </a:lnTo>
                <a:lnTo>
                  <a:pt x="25400" y="2433193"/>
                </a:lnTo>
                <a:lnTo>
                  <a:pt x="25400" y="869950"/>
                </a:lnTo>
                <a:lnTo>
                  <a:pt x="97028" y="869950"/>
                </a:lnTo>
                <a:lnTo>
                  <a:pt x="97028" y="2043430"/>
                </a:lnTo>
                <a:lnTo>
                  <a:pt x="102616" y="2049018"/>
                </a:lnTo>
                <a:lnTo>
                  <a:pt x="298704" y="2049018"/>
                </a:lnTo>
                <a:lnTo>
                  <a:pt x="298704" y="2036318"/>
                </a:lnTo>
                <a:lnTo>
                  <a:pt x="298704" y="2023618"/>
                </a:lnTo>
                <a:lnTo>
                  <a:pt x="122428" y="2023618"/>
                </a:lnTo>
                <a:lnTo>
                  <a:pt x="122428" y="869950"/>
                </a:lnTo>
                <a:lnTo>
                  <a:pt x="203581" y="869950"/>
                </a:lnTo>
                <a:lnTo>
                  <a:pt x="203581" y="1633855"/>
                </a:lnTo>
                <a:lnTo>
                  <a:pt x="209296" y="1639443"/>
                </a:lnTo>
                <a:lnTo>
                  <a:pt x="298704" y="1639443"/>
                </a:lnTo>
                <a:lnTo>
                  <a:pt x="298704" y="1626743"/>
                </a:lnTo>
                <a:lnTo>
                  <a:pt x="298704" y="1614043"/>
                </a:lnTo>
                <a:lnTo>
                  <a:pt x="228981" y="1614043"/>
                </a:lnTo>
                <a:lnTo>
                  <a:pt x="228981" y="869950"/>
                </a:lnTo>
                <a:lnTo>
                  <a:pt x="860552" y="869950"/>
                </a:lnTo>
                <a:lnTo>
                  <a:pt x="860552" y="895350"/>
                </a:lnTo>
                <a:lnTo>
                  <a:pt x="911352" y="869950"/>
                </a:lnTo>
                <a:lnTo>
                  <a:pt x="936752" y="857250"/>
                </a:lnTo>
                <a:lnTo>
                  <a:pt x="911352" y="844550"/>
                </a:lnTo>
                <a:lnTo>
                  <a:pt x="860552" y="819150"/>
                </a:lnTo>
                <a:lnTo>
                  <a:pt x="860552" y="844550"/>
                </a:lnTo>
                <a:lnTo>
                  <a:pt x="228981" y="844550"/>
                </a:lnTo>
                <a:lnTo>
                  <a:pt x="228981" y="460375"/>
                </a:lnTo>
                <a:lnTo>
                  <a:pt x="860552" y="460375"/>
                </a:lnTo>
                <a:lnTo>
                  <a:pt x="860552" y="485648"/>
                </a:lnTo>
                <a:lnTo>
                  <a:pt x="911098" y="460375"/>
                </a:lnTo>
                <a:lnTo>
                  <a:pt x="936752" y="447548"/>
                </a:lnTo>
                <a:lnTo>
                  <a:pt x="911352" y="434848"/>
                </a:lnTo>
                <a:lnTo>
                  <a:pt x="860552" y="409448"/>
                </a:lnTo>
                <a:lnTo>
                  <a:pt x="860552" y="434848"/>
                </a:lnTo>
                <a:lnTo>
                  <a:pt x="228981" y="434848"/>
                </a:lnTo>
                <a:lnTo>
                  <a:pt x="228981" y="50800"/>
                </a:lnTo>
                <a:lnTo>
                  <a:pt x="860552" y="50800"/>
                </a:lnTo>
                <a:lnTo>
                  <a:pt x="860552" y="76200"/>
                </a:lnTo>
                <a:lnTo>
                  <a:pt x="911352" y="50800"/>
                </a:lnTo>
                <a:lnTo>
                  <a:pt x="93675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6662801" y="254952"/>
            <a:ext cx="2286000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Softmax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normalizes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each </a:t>
            </a:r>
            <a:r>
              <a:rPr sz="1400" dirty="0">
                <a:latin typeface="Arial"/>
                <a:cs typeface="Arial"/>
              </a:rPr>
              <a:t>column: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query</a:t>
            </a:r>
            <a:r>
              <a:rPr sz="1400" b="1" spc="-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predicts </a:t>
            </a:r>
            <a:r>
              <a:rPr sz="1400" dirty="0">
                <a:latin typeface="Arial"/>
                <a:cs typeface="Arial"/>
              </a:rPr>
              <a:t>a distribution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over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9200"/>
                </a:solidFill>
                <a:latin typeface="Arial"/>
                <a:cs typeface="Arial"/>
              </a:rPr>
              <a:t>keys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37160" y="4189340"/>
            <a:ext cx="2962910" cy="495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300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419975" y="4347137"/>
            <a:ext cx="259079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561705" y="4340787"/>
            <a:ext cx="259079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4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815201" y="4349995"/>
            <a:ext cx="259079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994650" y="4349995"/>
            <a:ext cx="259079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96" name="object 96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44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7" name="object 9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24187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Attention</a:t>
            </a:r>
            <a:r>
              <a:rPr spc="160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60" y="674306"/>
            <a:ext cx="2468245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1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2311" y="1514475"/>
            <a:ext cx="9417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75" algn="l"/>
                <a:tab pos="824230" algn="l"/>
              </a:tabLst>
            </a:pPr>
            <a:r>
              <a:rPr sz="1050" b="1" spc="-50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050" b="1" dirty="0">
                <a:solidFill>
                  <a:srgbClr val="FF9200"/>
                </a:solidFill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Q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460" y="1408811"/>
            <a:ext cx="23463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515745" algn="l"/>
                <a:tab pos="1866900" algn="l"/>
              </a:tabLst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13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[D</a:t>
            </a:r>
            <a:r>
              <a:rPr sz="1550" dirty="0">
                <a:latin typeface="Arial"/>
                <a:cs typeface="Arial"/>
              </a:rPr>
              <a:t>	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385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1647761"/>
            <a:ext cx="25253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89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360" y="2630741"/>
            <a:ext cx="168910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55880">
              <a:lnSpc>
                <a:spcPct val="101000"/>
              </a:lnSpc>
              <a:spcBef>
                <a:spcPts val="105"/>
              </a:spcBef>
              <a:tabLst>
                <a:tab pos="821055" algn="l"/>
              </a:tabLst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spc="-10" dirty="0">
                <a:latin typeface="Arial"/>
                <a:cs typeface="Arial"/>
              </a:rPr>
              <a:t>Keys</a:t>
            </a:r>
            <a:r>
              <a:rPr sz="1550" u="none" spc="-10" dirty="0">
                <a:latin typeface="Arial"/>
                <a:cs typeface="Arial"/>
              </a:rPr>
              <a:t>:</a:t>
            </a:r>
            <a:r>
              <a:rPr sz="1550" u="none" dirty="0">
                <a:latin typeface="Arial"/>
                <a:cs typeface="Arial"/>
              </a:rPr>
              <a:t>	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u="none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50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0064" y="2869247"/>
            <a:ext cx="89344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70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360" y="3116960"/>
            <a:ext cx="25749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Values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9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9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85389" y="3464242"/>
            <a:ext cx="5060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8620" algn="l"/>
              </a:tabLst>
            </a:pPr>
            <a:r>
              <a:rPr sz="1200" spc="-50" dirty="0">
                <a:latin typeface="Cambria Math"/>
                <a:cs typeface="Cambria Math"/>
              </a:rPr>
              <a:t>𝑄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575" spc="-75" baseline="2645" dirty="0">
                <a:latin typeface="Arial"/>
                <a:cs typeface="Arial"/>
              </a:rPr>
              <a:t>Q</a:t>
            </a:r>
            <a:endParaRPr sz="1575" baseline="264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29051" y="3479736"/>
            <a:ext cx="11493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360" y="3346386"/>
            <a:ext cx="3439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281555" algn="l"/>
                <a:tab pos="2584450" algn="l"/>
                <a:tab pos="294957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spc="-25" dirty="0">
                <a:latin typeface="Arial"/>
                <a:cs typeface="Arial"/>
              </a:rPr>
              <a:t>[N</a:t>
            </a:r>
            <a:r>
              <a:rPr sz="1550" dirty="0">
                <a:latin typeface="Arial"/>
                <a:cs typeface="Arial"/>
              </a:rPr>
              <a:t>	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75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9060" y="3634930"/>
            <a:ext cx="4858385" cy="7886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39520">
              <a:lnSpc>
                <a:spcPct val="100000"/>
              </a:lnSpc>
              <a:spcBef>
                <a:spcPts val="260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10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7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47026" y="2485453"/>
            <a:ext cx="9944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20750" algn="l"/>
              </a:tabLst>
            </a:pPr>
            <a:r>
              <a:rPr sz="1400" spc="-10" dirty="0">
                <a:latin typeface="Arial"/>
                <a:cs typeface="Arial"/>
              </a:rPr>
              <a:t>Softmax(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0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56451" y="2741612"/>
            <a:ext cx="2346325" cy="1298575"/>
            <a:chOff x="6656451" y="2741612"/>
            <a:chExt cx="2346325" cy="1298575"/>
          </a:xfrm>
        </p:grpSpPr>
        <p:sp>
          <p:nvSpPr>
            <p:cNvPr id="18" name="object 18"/>
            <p:cNvSpPr/>
            <p:nvPr/>
          </p:nvSpPr>
          <p:spPr>
            <a:xfrm>
              <a:off x="6662801" y="2747962"/>
              <a:ext cx="2333625" cy="1285875"/>
            </a:xfrm>
            <a:custGeom>
              <a:avLst/>
              <a:gdLst/>
              <a:ahLst/>
              <a:cxnLst/>
              <a:rect l="l" t="t" r="r" b="b"/>
              <a:pathLst>
                <a:path w="2333625" h="1285875">
                  <a:moveTo>
                    <a:pt x="2333625" y="0"/>
                  </a:moveTo>
                  <a:lnTo>
                    <a:pt x="0" y="0"/>
                  </a:lnTo>
                  <a:lnTo>
                    <a:pt x="0" y="1285875"/>
                  </a:lnTo>
                  <a:lnTo>
                    <a:pt x="2333625" y="1285875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62801" y="2747962"/>
              <a:ext cx="2333625" cy="1285875"/>
            </a:xfrm>
            <a:custGeom>
              <a:avLst/>
              <a:gdLst/>
              <a:ahLst/>
              <a:cxnLst/>
              <a:rect l="l" t="t" r="r" b="b"/>
              <a:pathLst>
                <a:path w="2333625" h="1285875">
                  <a:moveTo>
                    <a:pt x="0" y="1285875"/>
                  </a:moveTo>
                  <a:lnTo>
                    <a:pt x="2333625" y="1285875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128587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19951" y="4252912"/>
            <a:ext cx="447675" cy="4191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4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80101" y="2836926"/>
            <a:ext cx="431800" cy="288925"/>
            <a:chOff x="5380101" y="2836926"/>
            <a:chExt cx="431800" cy="288925"/>
          </a:xfrm>
        </p:grpSpPr>
        <p:sp>
          <p:nvSpPr>
            <p:cNvPr id="22" name="object 22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56554" y="2846641"/>
            <a:ext cx="2857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80101" y="3246501"/>
            <a:ext cx="431800" cy="288925"/>
            <a:chOff x="5380101" y="3246501"/>
            <a:chExt cx="431800" cy="288925"/>
          </a:xfrm>
        </p:grpSpPr>
        <p:sp>
          <p:nvSpPr>
            <p:cNvPr id="26" name="object 26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56554" y="32578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80101" y="3656012"/>
            <a:ext cx="431800" cy="298450"/>
            <a:chOff x="5380101" y="3656012"/>
            <a:chExt cx="431800" cy="298450"/>
          </a:xfrm>
        </p:grpSpPr>
        <p:sp>
          <p:nvSpPr>
            <p:cNvPr id="30" name="object 30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4191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19100" y="2857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285750"/>
                  </a:moveTo>
                  <a:lnTo>
                    <a:pt x="419100" y="2857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456554" y="3673475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24626" y="2843276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5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24626" y="3252851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6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24626" y="3662362"/>
            <a:ext cx="419100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48526" y="28337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3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29551" y="2824226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39001" y="3243326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L="107314">
              <a:lnSpc>
                <a:spcPct val="100000"/>
              </a:lnSpc>
              <a:spcBef>
                <a:spcPts val="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39001" y="3662362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29551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29551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10576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10576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910576" y="2833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710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482076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491601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91601" y="2833751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10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805423" y="2938526"/>
            <a:ext cx="220979" cy="904875"/>
            <a:chOff x="5805423" y="2938526"/>
            <a:chExt cx="220979" cy="904875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2938526"/>
              <a:ext cx="220725" cy="76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5423" y="3357499"/>
              <a:ext cx="220725" cy="76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3767201"/>
              <a:ext cx="220725" cy="76200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6656451" y="1151000"/>
            <a:ext cx="2346325" cy="1308100"/>
            <a:chOff x="6656451" y="1151000"/>
            <a:chExt cx="2346325" cy="1308100"/>
          </a:xfrm>
        </p:grpSpPr>
        <p:sp>
          <p:nvSpPr>
            <p:cNvPr id="53" name="object 53"/>
            <p:cNvSpPr/>
            <p:nvPr/>
          </p:nvSpPr>
          <p:spPr>
            <a:xfrm>
              <a:off x="6662801" y="1157350"/>
              <a:ext cx="2333625" cy="1295400"/>
            </a:xfrm>
            <a:custGeom>
              <a:avLst/>
              <a:gdLst/>
              <a:ahLst/>
              <a:cxnLst/>
              <a:rect l="l" t="t" r="r" b="b"/>
              <a:pathLst>
                <a:path w="2333625" h="1295400">
                  <a:moveTo>
                    <a:pt x="2333625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2333625" y="12954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662801" y="1157350"/>
              <a:ext cx="2333625" cy="1295400"/>
            </a:xfrm>
            <a:custGeom>
              <a:avLst/>
              <a:gdLst/>
              <a:ahLst/>
              <a:cxnLst/>
              <a:rect l="l" t="t" r="r" b="b"/>
              <a:pathLst>
                <a:path w="2333625" h="1295400">
                  <a:moveTo>
                    <a:pt x="0" y="1295400"/>
                  </a:moveTo>
                  <a:lnTo>
                    <a:pt x="2333625" y="1295400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6443598" y="2509901"/>
            <a:ext cx="2286000" cy="1746250"/>
            <a:chOff x="6443598" y="2509901"/>
            <a:chExt cx="2286000" cy="1746250"/>
          </a:xfrm>
        </p:grpSpPr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3767201"/>
              <a:ext cx="220725" cy="762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598" y="3357626"/>
              <a:ext cx="220725" cy="76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2938526"/>
              <a:ext cx="220725" cy="76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0798" y="4024312"/>
              <a:ext cx="76200" cy="22734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1348" y="4052887"/>
              <a:ext cx="76200" cy="20311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2373" y="4062412"/>
              <a:ext cx="76200" cy="19340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53398" y="4052887"/>
              <a:ext cx="76200" cy="19340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4773" y="2509901"/>
              <a:ext cx="76200" cy="203073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6748526" y="1243075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329551" y="1233550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739001" y="16526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39001" y="20717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329551" y="1662176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329551" y="2071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7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10576" y="2071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67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910576" y="1662176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910576" y="1243075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482076" y="2071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67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4,3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491601" y="1662176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4,2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491601" y="1243075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4,1</a:t>
            </a:r>
            <a:endParaRPr sz="6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024626" y="1252600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024626" y="16621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6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024626" y="20812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087620" y="1357375"/>
            <a:ext cx="937260" cy="2458720"/>
          </a:xfrm>
          <a:custGeom>
            <a:avLst/>
            <a:gdLst/>
            <a:ahLst/>
            <a:cxnLst/>
            <a:rect l="l" t="t" r="r" b="b"/>
            <a:pathLst>
              <a:path w="937260" h="2458720">
                <a:moveTo>
                  <a:pt x="936752" y="38100"/>
                </a:moveTo>
                <a:lnTo>
                  <a:pt x="911352" y="25400"/>
                </a:lnTo>
                <a:lnTo>
                  <a:pt x="860552" y="0"/>
                </a:lnTo>
                <a:lnTo>
                  <a:pt x="860552" y="25400"/>
                </a:lnTo>
                <a:lnTo>
                  <a:pt x="209296" y="25400"/>
                </a:lnTo>
                <a:lnTo>
                  <a:pt x="203581" y="30988"/>
                </a:lnTo>
                <a:lnTo>
                  <a:pt x="203581" y="434848"/>
                </a:lnTo>
                <a:lnTo>
                  <a:pt x="203581" y="460375"/>
                </a:lnTo>
                <a:lnTo>
                  <a:pt x="203581" y="844550"/>
                </a:lnTo>
                <a:lnTo>
                  <a:pt x="122428" y="844550"/>
                </a:lnTo>
                <a:lnTo>
                  <a:pt x="122428" y="460375"/>
                </a:lnTo>
                <a:lnTo>
                  <a:pt x="203581" y="460375"/>
                </a:lnTo>
                <a:lnTo>
                  <a:pt x="203581" y="434848"/>
                </a:lnTo>
                <a:lnTo>
                  <a:pt x="102616" y="434848"/>
                </a:lnTo>
                <a:lnTo>
                  <a:pt x="97028" y="440563"/>
                </a:lnTo>
                <a:lnTo>
                  <a:pt x="97028" y="844550"/>
                </a:lnTo>
                <a:lnTo>
                  <a:pt x="5715" y="844550"/>
                </a:lnTo>
                <a:lnTo>
                  <a:pt x="0" y="850138"/>
                </a:lnTo>
                <a:lnTo>
                  <a:pt x="0" y="2453005"/>
                </a:lnTo>
                <a:lnTo>
                  <a:pt x="5715" y="2458593"/>
                </a:lnTo>
                <a:lnTo>
                  <a:pt x="298704" y="2458593"/>
                </a:lnTo>
                <a:lnTo>
                  <a:pt x="298704" y="2445893"/>
                </a:lnTo>
                <a:lnTo>
                  <a:pt x="298704" y="2433193"/>
                </a:lnTo>
                <a:lnTo>
                  <a:pt x="25400" y="2433193"/>
                </a:lnTo>
                <a:lnTo>
                  <a:pt x="25400" y="869950"/>
                </a:lnTo>
                <a:lnTo>
                  <a:pt x="97028" y="869950"/>
                </a:lnTo>
                <a:lnTo>
                  <a:pt x="97028" y="2043430"/>
                </a:lnTo>
                <a:lnTo>
                  <a:pt x="102616" y="2049018"/>
                </a:lnTo>
                <a:lnTo>
                  <a:pt x="298704" y="2049018"/>
                </a:lnTo>
                <a:lnTo>
                  <a:pt x="298704" y="2036318"/>
                </a:lnTo>
                <a:lnTo>
                  <a:pt x="298704" y="2023618"/>
                </a:lnTo>
                <a:lnTo>
                  <a:pt x="122428" y="2023618"/>
                </a:lnTo>
                <a:lnTo>
                  <a:pt x="122428" y="869950"/>
                </a:lnTo>
                <a:lnTo>
                  <a:pt x="203581" y="869950"/>
                </a:lnTo>
                <a:lnTo>
                  <a:pt x="203581" y="1633855"/>
                </a:lnTo>
                <a:lnTo>
                  <a:pt x="209296" y="1639443"/>
                </a:lnTo>
                <a:lnTo>
                  <a:pt x="298704" y="1639443"/>
                </a:lnTo>
                <a:lnTo>
                  <a:pt x="298704" y="1626743"/>
                </a:lnTo>
                <a:lnTo>
                  <a:pt x="298704" y="1614043"/>
                </a:lnTo>
                <a:lnTo>
                  <a:pt x="228981" y="1614043"/>
                </a:lnTo>
                <a:lnTo>
                  <a:pt x="228981" y="869950"/>
                </a:lnTo>
                <a:lnTo>
                  <a:pt x="860552" y="869950"/>
                </a:lnTo>
                <a:lnTo>
                  <a:pt x="860552" y="895350"/>
                </a:lnTo>
                <a:lnTo>
                  <a:pt x="911352" y="869950"/>
                </a:lnTo>
                <a:lnTo>
                  <a:pt x="936752" y="857250"/>
                </a:lnTo>
                <a:lnTo>
                  <a:pt x="911352" y="844550"/>
                </a:lnTo>
                <a:lnTo>
                  <a:pt x="860552" y="819150"/>
                </a:lnTo>
                <a:lnTo>
                  <a:pt x="860552" y="844550"/>
                </a:lnTo>
                <a:lnTo>
                  <a:pt x="228981" y="844550"/>
                </a:lnTo>
                <a:lnTo>
                  <a:pt x="228981" y="460375"/>
                </a:lnTo>
                <a:lnTo>
                  <a:pt x="860552" y="460375"/>
                </a:lnTo>
                <a:lnTo>
                  <a:pt x="860552" y="485648"/>
                </a:lnTo>
                <a:lnTo>
                  <a:pt x="911098" y="460375"/>
                </a:lnTo>
                <a:lnTo>
                  <a:pt x="936752" y="447548"/>
                </a:lnTo>
                <a:lnTo>
                  <a:pt x="911352" y="434848"/>
                </a:lnTo>
                <a:lnTo>
                  <a:pt x="860552" y="409448"/>
                </a:lnTo>
                <a:lnTo>
                  <a:pt x="860552" y="434848"/>
                </a:lnTo>
                <a:lnTo>
                  <a:pt x="228981" y="434848"/>
                </a:lnTo>
                <a:lnTo>
                  <a:pt x="228981" y="50800"/>
                </a:lnTo>
                <a:lnTo>
                  <a:pt x="860552" y="50800"/>
                </a:lnTo>
                <a:lnTo>
                  <a:pt x="860552" y="76200"/>
                </a:lnTo>
                <a:lnTo>
                  <a:pt x="911352" y="50800"/>
                </a:lnTo>
                <a:lnTo>
                  <a:pt x="93675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0" name="object 80"/>
          <p:cNvGrpSpPr/>
          <p:nvPr/>
        </p:nvGrpSpPr>
        <p:grpSpPr>
          <a:xfrm>
            <a:off x="6443598" y="995425"/>
            <a:ext cx="1420495" cy="1257300"/>
            <a:chOff x="6443598" y="995425"/>
            <a:chExt cx="1420495" cy="1257300"/>
          </a:xfrm>
        </p:grpSpPr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2176525"/>
              <a:ext cx="220725" cy="762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598" y="1766950"/>
              <a:ext cx="220725" cy="762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1357375"/>
              <a:ext cx="220725" cy="762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87639" y="995425"/>
              <a:ext cx="76200" cy="134747"/>
            </a:xfrm>
            <a:prstGeom prst="rect">
              <a:avLst/>
            </a:prstGeom>
          </p:spPr>
        </p:pic>
      </p:grpSp>
      <p:pic>
        <p:nvPicPr>
          <p:cNvPr id="85" name="object 8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00798" y="500126"/>
            <a:ext cx="76200" cy="203073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91348" y="500126"/>
            <a:ext cx="76200" cy="193294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72373" y="500126"/>
            <a:ext cx="76200" cy="193294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53398" y="509651"/>
            <a:ext cx="76200" cy="193294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6662801" y="709676"/>
            <a:ext cx="23336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254"/>
              </a:spcBef>
              <a:tabLst>
                <a:tab pos="1158240" algn="l"/>
                <a:tab pos="1414780" algn="l"/>
                <a:tab pos="2033905" algn="l"/>
              </a:tabLst>
            </a:pPr>
            <a:r>
              <a:rPr sz="1400" spc="-10" dirty="0">
                <a:latin typeface="Arial"/>
                <a:cs typeface="Arial"/>
              </a:rPr>
              <a:t>Product(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),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20" dirty="0">
                <a:latin typeface="Arial"/>
                <a:cs typeface="Arial"/>
              </a:rPr>
              <a:t>Sum(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0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90" name="object 9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96123" y="824230"/>
            <a:ext cx="169799" cy="76200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559165" y="785876"/>
            <a:ext cx="76200" cy="134747"/>
          </a:xfrm>
          <a:prstGeom prst="rect">
            <a:avLst/>
          </a:prstGeom>
        </p:spPr>
      </p:pic>
      <p:sp>
        <p:nvSpPr>
          <p:cNvPr id="92" name="object 92"/>
          <p:cNvSpPr txBox="1"/>
          <p:nvPr/>
        </p:nvSpPr>
        <p:spPr>
          <a:xfrm>
            <a:off x="7329551" y="4252912"/>
            <a:ext cx="438150" cy="4191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2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901051" y="4252912"/>
            <a:ext cx="438150" cy="4191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74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463026" y="4243387"/>
            <a:ext cx="447675" cy="4191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74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6713601" y="84201"/>
            <a:ext cx="460375" cy="431800"/>
            <a:chOff x="6713601" y="84201"/>
            <a:chExt cx="460375" cy="431800"/>
          </a:xfrm>
        </p:grpSpPr>
        <p:sp>
          <p:nvSpPr>
            <p:cNvPr id="96" name="object 96"/>
            <p:cNvSpPr/>
            <p:nvPr/>
          </p:nvSpPr>
          <p:spPr>
            <a:xfrm>
              <a:off x="671995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71995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7304151" y="84201"/>
            <a:ext cx="460375" cy="431800"/>
            <a:chOff x="7304151" y="84201"/>
            <a:chExt cx="460375" cy="431800"/>
          </a:xfrm>
        </p:grpSpPr>
        <p:sp>
          <p:nvSpPr>
            <p:cNvPr id="99" name="object 99"/>
            <p:cNvSpPr/>
            <p:nvPr/>
          </p:nvSpPr>
          <p:spPr>
            <a:xfrm>
              <a:off x="731050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31050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7885176" y="84201"/>
            <a:ext cx="460375" cy="431800"/>
            <a:chOff x="7885176" y="84201"/>
            <a:chExt cx="460375" cy="431800"/>
          </a:xfrm>
        </p:grpSpPr>
        <p:sp>
          <p:nvSpPr>
            <p:cNvPr id="102" name="object 102"/>
            <p:cNvSpPr/>
            <p:nvPr/>
          </p:nvSpPr>
          <p:spPr>
            <a:xfrm>
              <a:off x="7891526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891526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8466201" y="84201"/>
            <a:ext cx="460375" cy="431800"/>
            <a:chOff x="8466201" y="84201"/>
            <a:chExt cx="460375" cy="431800"/>
          </a:xfrm>
        </p:grpSpPr>
        <p:sp>
          <p:nvSpPr>
            <p:cNvPr id="105" name="object 105"/>
            <p:cNvSpPr/>
            <p:nvPr/>
          </p:nvSpPr>
          <p:spPr>
            <a:xfrm>
              <a:off x="847255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47255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6763766" y="159067"/>
            <a:ext cx="20929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669925" algn="l"/>
                <a:tab pos="1249680" algn="l"/>
                <a:tab pos="1831975" algn="l"/>
              </a:tabLst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4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51129" y="4424607"/>
            <a:ext cx="3202940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0">
              <a:lnSpc>
                <a:spcPts val="1839"/>
              </a:lnSpc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974205" y="4448454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578725" y="4445596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153654" y="4448454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720455" y="4439246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4" name="object 1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15" name="object 115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45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6" name="object 1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08" name="object 108"/>
          <p:cNvSpPr txBox="1"/>
          <p:nvPr/>
        </p:nvSpPr>
        <p:spPr>
          <a:xfrm>
            <a:off x="3940175" y="221932"/>
            <a:ext cx="2361565" cy="673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D79F39"/>
                </a:solidFill>
                <a:latin typeface="Arial"/>
                <a:cs typeface="Arial"/>
              </a:rPr>
              <a:t>output</a:t>
            </a:r>
            <a:r>
              <a:rPr sz="1400" b="1" spc="-4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 </a:t>
            </a:r>
            <a:r>
              <a:rPr sz="1400" dirty="0">
                <a:latin typeface="Arial"/>
                <a:cs typeface="Arial"/>
              </a:rPr>
              <a:t>combination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8A81D2"/>
                </a:solidFill>
                <a:latin typeface="Arial"/>
                <a:cs typeface="Arial"/>
              </a:rPr>
              <a:t>values</a:t>
            </a:r>
            <a:r>
              <a:rPr sz="1400" spc="-10" dirty="0">
                <a:latin typeface="Arial"/>
                <a:cs typeface="Arial"/>
              </a:rPr>
              <a:t>, </a:t>
            </a:r>
            <a:r>
              <a:rPr sz="1400" dirty="0">
                <a:latin typeface="Arial"/>
                <a:cs typeface="Arial"/>
              </a:rPr>
              <a:t>weighted by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attention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Cross-Attention</a:t>
            </a:r>
            <a:r>
              <a:rPr spc="315" dirty="0"/>
              <a:t> </a:t>
            </a:r>
            <a:r>
              <a:rPr spc="-2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460" y="674306"/>
            <a:ext cx="6915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913066"/>
            <a:ext cx="249364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0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1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Data</a:t>
            </a:r>
            <a:r>
              <a:rPr sz="1550" b="1" spc="9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2311" y="1514475"/>
            <a:ext cx="9417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75" algn="l"/>
                <a:tab pos="824230" algn="l"/>
              </a:tabLst>
            </a:pPr>
            <a:r>
              <a:rPr sz="1050" b="1" spc="-50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050" b="1" dirty="0">
                <a:solidFill>
                  <a:srgbClr val="FF9200"/>
                </a:solidFill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Q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460" y="1408811"/>
            <a:ext cx="23463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515745" algn="l"/>
                <a:tab pos="1866900" algn="l"/>
              </a:tabLst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13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[D</a:t>
            </a:r>
            <a:r>
              <a:rPr sz="1550" dirty="0">
                <a:latin typeface="Arial"/>
                <a:cs typeface="Arial"/>
              </a:rPr>
              <a:t>	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385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" y="1647761"/>
            <a:ext cx="25253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89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630741"/>
            <a:ext cx="168910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55880">
              <a:lnSpc>
                <a:spcPct val="101000"/>
              </a:lnSpc>
              <a:spcBef>
                <a:spcPts val="105"/>
              </a:spcBef>
              <a:tabLst>
                <a:tab pos="821055" algn="l"/>
              </a:tabLst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spc="-10" dirty="0">
                <a:latin typeface="Arial"/>
                <a:cs typeface="Arial"/>
              </a:rPr>
              <a:t>Keys</a:t>
            </a:r>
            <a:r>
              <a:rPr sz="1550" u="none" spc="-10" dirty="0">
                <a:latin typeface="Arial"/>
                <a:cs typeface="Arial"/>
              </a:rPr>
              <a:t>:</a:t>
            </a:r>
            <a:r>
              <a:rPr sz="1550" u="none" dirty="0">
                <a:latin typeface="Arial"/>
                <a:cs typeface="Arial"/>
              </a:rPr>
              <a:t>	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u="none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50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0064" y="2869247"/>
            <a:ext cx="89344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70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Q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060" y="3116960"/>
            <a:ext cx="16306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Values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8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9491" y="3116960"/>
            <a:ext cx="87884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X</a:t>
            </a:r>
            <a:r>
              <a:rPr sz="1575" spc="270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29051" y="3479736"/>
            <a:ext cx="11493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360" y="3346386"/>
            <a:ext cx="3439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281555" algn="l"/>
                <a:tab pos="2584450" algn="l"/>
                <a:tab pos="294957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spc="-25" dirty="0">
                <a:latin typeface="Arial"/>
                <a:cs typeface="Arial"/>
              </a:rPr>
              <a:t>[N</a:t>
            </a:r>
            <a:r>
              <a:rPr sz="1550" dirty="0">
                <a:latin typeface="Arial"/>
                <a:cs typeface="Arial"/>
              </a:rPr>
              <a:t>	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75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87780" y="3464242"/>
            <a:ext cx="1729105" cy="45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  <a:tabLst>
                <a:tab pos="375920" algn="l"/>
              </a:tabLst>
            </a:pPr>
            <a:r>
              <a:rPr sz="1200" spc="-50" dirty="0">
                <a:latin typeface="Cambria Math"/>
                <a:cs typeface="Cambria Math"/>
              </a:rPr>
              <a:t>𝑄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575" spc="-75" baseline="2645" dirty="0">
                <a:latin typeface="Arial"/>
                <a:cs typeface="Arial"/>
              </a:rPr>
              <a:t>Q</a:t>
            </a:r>
            <a:endParaRPr sz="1575" baseline="2645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65"/>
              </a:spcBef>
              <a:tabLst>
                <a:tab pos="115697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060" y="3909377"/>
            <a:ext cx="4858385" cy="7626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100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7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</a:t>
            </a:r>
            <a:r>
              <a:rPr sz="1575" spc="-37" baseline="-15873" dirty="0">
                <a:latin typeface="Arial"/>
                <a:cs typeface="Arial"/>
              </a:rPr>
              <a:t>X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75" baseline="-15873" dirty="0">
                <a:latin typeface="Arial"/>
                <a:cs typeface="Arial"/>
              </a:rPr>
              <a:t>Q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V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6812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47026" y="2485453"/>
            <a:ext cx="9944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20750" algn="l"/>
              </a:tabLst>
            </a:pPr>
            <a:r>
              <a:rPr sz="1400" spc="-10" dirty="0">
                <a:latin typeface="Arial"/>
                <a:cs typeface="Arial"/>
              </a:rPr>
              <a:t>Softmax(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0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56451" y="2741612"/>
            <a:ext cx="2346325" cy="1298575"/>
            <a:chOff x="6656451" y="2741612"/>
            <a:chExt cx="2346325" cy="1298575"/>
          </a:xfrm>
        </p:grpSpPr>
        <p:sp>
          <p:nvSpPr>
            <p:cNvPr id="20" name="object 20"/>
            <p:cNvSpPr/>
            <p:nvPr/>
          </p:nvSpPr>
          <p:spPr>
            <a:xfrm>
              <a:off x="6662801" y="2747962"/>
              <a:ext cx="2333625" cy="1285875"/>
            </a:xfrm>
            <a:custGeom>
              <a:avLst/>
              <a:gdLst/>
              <a:ahLst/>
              <a:cxnLst/>
              <a:rect l="l" t="t" r="r" b="b"/>
              <a:pathLst>
                <a:path w="2333625" h="1285875">
                  <a:moveTo>
                    <a:pt x="2333625" y="0"/>
                  </a:moveTo>
                  <a:lnTo>
                    <a:pt x="0" y="0"/>
                  </a:lnTo>
                  <a:lnTo>
                    <a:pt x="0" y="1285875"/>
                  </a:lnTo>
                  <a:lnTo>
                    <a:pt x="2333625" y="1285875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62801" y="2747962"/>
              <a:ext cx="2333625" cy="1285875"/>
            </a:xfrm>
            <a:custGeom>
              <a:avLst/>
              <a:gdLst/>
              <a:ahLst/>
              <a:cxnLst/>
              <a:rect l="l" t="t" r="r" b="b"/>
              <a:pathLst>
                <a:path w="2333625" h="1285875">
                  <a:moveTo>
                    <a:pt x="0" y="1285875"/>
                  </a:moveTo>
                  <a:lnTo>
                    <a:pt x="2333625" y="1285875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128587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19951" y="4252912"/>
            <a:ext cx="447675" cy="4191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40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380101" y="2836926"/>
            <a:ext cx="431800" cy="288925"/>
            <a:chOff x="5380101" y="2836926"/>
            <a:chExt cx="431800" cy="288925"/>
          </a:xfrm>
        </p:grpSpPr>
        <p:sp>
          <p:nvSpPr>
            <p:cNvPr id="24" name="object 24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86451" y="2843276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56554" y="2846641"/>
            <a:ext cx="2857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380101" y="3246501"/>
            <a:ext cx="431800" cy="288925"/>
            <a:chOff x="5380101" y="3246501"/>
            <a:chExt cx="431800" cy="288925"/>
          </a:xfrm>
        </p:grpSpPr>
        <p:sp>
          <p:nvSpPr>
            <p:cNvPr id="28" name="object 28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4191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9100" y="27622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86451" y="3252851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419100" y="27622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56554" y="32578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80101" y="3656012"/>
            <a:ext cx="431800" cy="298450"/>
            <a:chOff x="5380101" y="3656012"/>
            <a:chExt cx="431800" cy="298450"/>
          </a:xfrm>
        </p:grpSpPr>
        <p:sp>
          <p:nvSpPr>
            <p:cNvPr id="32" name="object 32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4191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19100" y="2857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86451" y="3662362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285750"/>
                  </a:moveTo>
                  <a:lnTo>
                    <a:pt x="419100" y="2857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456554" y="3673475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24626" y="2843276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5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24626" y="3252851"/>
            <a:ext cx="419100" cy="27622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6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24626" y="3662362"/>
            <a:ext cx="419100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48526" y="28337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3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29551" y="2824226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39001" y="3243326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L="107314">
              <a:lnSpc>
                <a:spcPct val="100000"/>
              </a:lnSpc>
              <a:spcBef>
                <a:spcPts val="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39001" y="3662362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29551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29551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910576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910576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910576" y="2833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710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82076" y="3652837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91601" y="32528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491601" y="2833751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10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4,1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805423" y="2938526"/>
            <a:ext cx="220979" cy="904875"/>
            <a:chOff x="5805423" y="2938526"/>
            <a:chExt cx="220979" cy="904875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2938526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5423" y="3357499"/>
              <a:ext cx="220725" cy="76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5423" y="3767201"/>
              <a:ext cx="220725" cy="76200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6656451" y="1151000"/>
            <a:ext cx="2346325" cy="1308100"/>
            <a:chOff x="6656451" y="1151000"/>
            <a:chExt cx="2346325" cy="1308100"/>
          </a:xfrm>
        </p:grpSpPr>
        <p:sp>
          <p:nvSpPr>
            <p:cNvPr id="55" name="object 55"/>
            <p:cNvSpPr/>
            <p:nvPr/>
          </p:nvSpPr>
          <p:spPr>
            <a:xfrm>
              <a:off x="6662801" y="1157350"/>
              <a:ext cx="2333625" cy="1295400"/>
            </a:xfrm>
            <a:custGeom>
              <a:avLst/>
              <a:gdLst/>
              <a:ahLst/>
              <a:cxnLst/>
              <a:rect l="l" t="t" r="r" b="b"/>
              <a:pathLst>
                <a:path w="2333625" h="1295400">
                  <a:moveTo>
                    <a:pt x="2333625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2333625" y="12954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662801" y="1157350"/>
              <a:ext cx="2333625" cy="1295400"/>
            </a:xfrm>
            <a:custGeom>
              <a:avLst/>
              <a:gdLst/>
              <a:ahLst/>
              <a:cxnLst/>
              <a:rect l="l" t="t" r="r" b="b"/>
              <a:pathLst>
                <a:path w="2333625" h="1295400">
                  <a:moveTo>
                    <a:pt x="0" y="1295400"/>
                  </a:moveTo>
                  <a:lnTo>
                    <a:pt x="2333625" y="1295400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6443598" y="2509901"/>
            <a:ext cx="2286000" cy="1746250"/>
            <a:chOff x="6443598" y="2509901"/>
            <a:chExt cx="2286000" cy="1746250"/>
          </a:xfrm>
        </p:grpSpPr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3767201"/>
              <a:ext cx="220725" cy="76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598" y="3357626"/>
              <a:ext cx="220725" cy="762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0798" y="4024312"/>
              <a:ext cx="76200" cy="22734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2938526"/>
              <a:ext cx="220725" cy="76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1348" y="4052887"/>
              <a:ext cx="76200" cy="20311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2373" y="4062412"/>
              <a:ext cx="76200" cy="19340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53398" y="4052887"/>
              <a:ext cx="76200" cy="19340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4773" y="2509901"/>
              <a:ext cx="76200" cy="203073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6748526" y="1243075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329551" y="1233550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739001" y="16526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739001" y="20717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1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329551" y="1662176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329551" y="2071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7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910576" y="2071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67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910576" y="1662176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910576" y="1243075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482076" y="207175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67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4,3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491601" y="1662176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4,2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491601" y="1243075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4,1</a:t>
            </a:r>
            <a:endParaRPr sz="6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024626" y="1252600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024626" y="16621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6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024626" y="2081276"/>
            <a:ext cx="419100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087620" y="1357375"/>
            <a:ext cx="937260" cy="2458720"/>
          </a:xfrm>
          <a:custGeom>
            <a:avLst/>
            <a:gdLst/>
            <a:ahLst/>
            <a:cxnLst/>
            <a:rect l="l" t="t" r="r" b="b"/>
            <a:pathLst>
              <a:path w="937260" h="2458720">
                <a:moveTo>
                  <a:pt x="936752" y="38100"/>
                </a:moveTo>
                <a:lnTo>
                  <a:pt x="911352" y="25400"/>
                </a:lnTo>
                <a:lnTo>
                  <a:pt x="860552" y="0"/>
                </a:lnTo>
                <a:lnTo>
                  <a:pt x="860552" y="25400"/>
                </a:lnTo>
                <a:lnTo>
                  <a:pt x="209296" y="25400"/>
                </a:lnTo>
                <a:lnTo>
                  <a:pt x="203581" y="30988"/>
                </a:lnTo>
                <a:lnTo>
                  <a:pt x="203581" y="434848"/>
                </a:lnTo>
                <a:lnTo>
                  <a:pt x="203581" y="460375"/>
                </a:lnTo>
                <a:lnTo>
                  <a:pt x="203581" y="844550"/>
                </a:lnTo>
                <a:lnTo>
                  <a:pt x="122428" y="844550"/>
                </a:lnTo>
                <a:lnTo>
                  <a:pt x="122428" y="460375"/>
                </a:lnTo>
                <a:lnTo>
                  <a:pt x="203581" y="460375"/>
                </a:lnTo>
                <a:lnTo>
                  <a:pt x="203581" y="434848"/>
                </a:lnTo>
                <a:lnTo>
                  <a:pt x="102616" y="434848"/>
                </a:lnTo>
                <a:lnTo>
                  <a:pt x="97028" y="440563"/>
                </a:lnTo>
                <a:lnTo>
                  <a:pt x="97028" y="844550"/>
                </a:lnTo>
                <a:lnTo>
                  <a:pt x="5715" y="844550"/>
                </a:lnTo>
                <a:lnTo>
                  <a:pt x="0" y="850138"/>
                </a:lnTo>
                <a:lnTo>
                  <a:pt x="0" y="2453005"/>
                </a:lnTo>
                <a:lnTo>
                  <a:pt x="5715" y="2458593"/>
                </a:lnTo>
                <a:lnTo>
                  <a:pt x="298704" y="2458593"/>
                </a:lnTo>
                <a:lnTo>
                  <a:pt x="298704" y="2445893"/>
                </a:lnTo>
                <a:lnTo>
                  <a:pt x="298704" y="2433193"/>
                </a:lnTo>
                <a:lnTo>
                  <a:pt x="25400" y="2433193"/>
                </a:lnTo>
                <a:lnTo>
                  <a:pt x="25400" y="869950"/>
                </a:lnTo>
                <a:lnTo>
                  <a:pt x="97028" y="869950"/>
                </a:lnTo>
                <a:lnTo>
                  <a:pt x="97028" y="2043430"/>
                </a:lnTo>
                <a:lnTo>
                  <a:pt x="102616" y="2049018"/>
                </a:lnTo>
                <a:lnTo>
                  <a:pt x="298704" y="2049018"/>
                </a:lnTo>
                <a:lnTo>
                  <a:pt x="298704" y="2036318"/>
                </a:lnTo>
                <a:lnTo>
                  <a:pt x="298704" y="2023618"/>
                </a:lnTo>
                <a:lnTo>
                  <a:pt x="122428" y="2023618"/>
                </a:lnTo>
                <a:lnTo>
                  <a:pt x="122428" y="869950"/>
                </a:lnTo>
                <a:lnTo>
                  <a:pt x="203581" y="869950"/>
                </a:lnTo>
                <a:lnTo>
                  <a:pt x="203581" y="1633855"/>
                </a:lnTo>
                <a:lnTo>
                  <a:pt x="209296" y="1639443"/>
                </a:lnTo>
                <a:lnTo>
                  <a:pt x="298704" y="1639443"/>
                </a:lnTo>
                <a:lnTo>
                  <a:pt x="298704" y="1626743"/>
                </a:lnTo>
                <a:lnTo>
                  <a:pt x="298704" y="1614043"/>
                </a:lnTo>
                <a:lnTo>
                  <a:pt x="228981" y="1614043"/>
                </a:lnTo>
                <a:lnTo>
                  <a:pt x="228981" y="869950"/>
                </a:lnTo>
                <a:lnTo>
                  <a:pt x="860552" y="869950"/>
                </a:lnTo>
                <a:lnTo>
                  <a:pt x="860552" y="895350"/>
                </a:lnTo>
                <a:lnTo>
                  <a:pt x="911352" y="869950"/>
                </a:lnTo>
                <a:lnTo>
                  <a:pt x="936752" y="857250"/>
                </a:lnTo>
                <a:lnTo>
                  <a:pt x="911352" y="844550"/>
                </a:lnTo>
                <a:lnTo>
                  <a:pt x="860552" y="819150"/>
                </a:lnTo>
                <a:lnTo>
                  <a:pt x="860552" y="844550"/>
                </a:lnTo>
                <a:lnTo>
                  <a:pt x="228981" y="844550"/>
                </a:lnTo>
                <a:lnTo>
                  <a:pt x="228981" y="460375"/>
                </a:lnTo>
                <a:lnTo>
                  <a:pt x="860552" y="460375"/>
                </a:lnTo>
                <a:lnTo>
                  <a:pt x="860552" y="485648"/>
                </a:lnTo>
                <a:lnTo>
                  <a:pt x="911098" y="460375"/>
                </a:lnTo>
                <a:lnTo>
                  <a:pt x="936752" y="447548"/>
                </a:lnTo>
                <a:lnTo>
                  <a:pt x="911352" y="434848"/>
                </a:lnTo>
                <a:lnTo>
                  <a:pt x="860552" y="409448"/>
                </a:lnTo>
                <a:lnTo>
                  <a:pt x="860552" y="434848"/>
                </a:lnTo>
                <a:lnTo>
                  <a:pt x="228981" y="434848"/>
                </a:lnTo>
                <a:lnTo>
                  <a:pt x="228981" y="50800"/>
                </a:lnTo>
                <a:lnTo>
                  <a:pt x="860552" y="50800"/>
                </a:lnTo>
                <a:lnTo>
                  <a:pt x="860552" y="76200"/>
                </a:lnTo>
                <a:lnTo>
                  <a:pt x="911352" y="50800"/>
                </a:lnTo>
                <a:lnTo>
                  <a:pt x="93675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6443598" y="995425"/>
            <a:ext cx="1420495" cy="1257300"/>
            <a:chOff x="6443598" y="995425"/>
            <a:chExt cx="1420495" cy="1257300"/>
          </a:xfrm>
        </p:grpSpPr>
        <p:pic>
          <p:nvPicPr>
            <p:cNvPr id="83" name="object 8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2176525"/>
              <a:ext cx="220725" cy="762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598" y="1357375"/>
              <a:ext cx="220725" cy="762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598" y="1766950"/>
              <a:ext cx="220725" cy="762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87639" y="995425"/>
              <a:ext cx="76200" cy="134747"/>
            </a:xfrm>
            <a:prstGeom prst="rect">
              <a:avLst/>
            </a:prstGeom>
          </p:spPr>
        </p:pic>
      </p:grpSp>
      <p:pic>
        <p:nvPicPr>
          <p:cNvPr id="87" name="object 8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00798" y="500126"/>
            <a:ext cx="76200" cy="203073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91348" y="500126"/>
            <a:ext cx="76200" cy="193294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72373" y="500126"/>
            <a:ext cx="76200" cy="193294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53398" y="509651"/>
            <a:ext cx="76200" cy="193294"/>
          </a:xfrm>
          <a:prstGeom prst="rect">
            <a:avLst/>
          </a:prstGeom>
        </p:spPr>
      </p:pic>
      <p:sp>
        <p:nvSpPr>
          <p:cNvPr id="91" name="object 91"/>
          <p:cNvSpPr txBox="1"/>
          <p:nvPr/>
        </p:nvSpPr>
        <p:spPr>
          <a:xfrm>
            <a:off x="6662801" y="709676"/>
            <a:ext cx="2333625" cy="266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254"/>
              </a:spcBef>
              <a:tabLst>
                <a:tab pos="1158240" algn="l"/>
                <a:tab pos="1414780" algn="l"/>
                <a:tab pos="2033905" algn="l"/>
              </a:tabLst>
            </a:pPr>
            <a:r>
              <a:rPr sz="1400" spc="-10" dirty="0">
                <a:latin typeface="Arial"/>
                <a:cs typeface="Arial"/>
              </a:rPr>
              <a:t>Product(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25" dirty="0">
                <a:latin typeface="Arial"/>
                <a:cs typeface="Arial"/>
              </a:rPr>
              <a:t>),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20" dirty="0">
                <a:latin typeface="Arial"/>
                <a:cs typeface="Arial"/>
              </a:rPr>
              <a:t>Sum(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0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92" name="object 9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559165" y="785876"/>
            <a:ext cx="76200" cy="134747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96123" y="824230"/>
            <a:ext cx="169799" cy="76200"/>
          </a:xfrm>
          <a:prstGeom prst="rect">
            <a:avLst/>
          </a:prstGeom>
        </p:spPr>
      </p:pic>
      <p:sp>
        <p:nvSpPr>
          <p:cNvPr id="94" name="object 94"/>
          <p:cNvSpPr txBox="1"/>
          <p:nvPr/>
        </p:nvSpPr>
        <p:spPr>
          <a:xfrm>
            <a:off x="7329551" y="4252912"/>
            <a:ext cx="438150" cy="4191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20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901051" y="4252912"/>
            <a:ext cx="438150" cy="4191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740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463026" y="4243387"/>
            <a:ext cx="447675" cy="4191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745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4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6713601" y="84201"/>
            <a:ext cx="460375" cy="431800"/>
            <a:chOff x="6713601" y="84201"/>
            <a:chExt cx="460375" cy="431800"/>
          </a:xfrm>
        </p:grpSpPr>
        <p:sp>
          <p:nvSpPr>
            <p:cNvPr id="98" name="object 98"/>
            <p:cNvSpPr/>
            <p:nvPr/>
          </p:nvSpPr>
          <p:spPr>
            <a:xfrm>
              <a:off x="671995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71995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7304151" y="84201"/>
            <a:ext cx="460375" cy="431800"/>
            <a:chOff x="7304151" y="84201"/>
            <a:chExt cx="460375" cy="431800"/>
          </a:xfrm>
        </p:grpSpPr>
        <p:sp>
          <p:nvSpPr>
            <p:cNvPr id="101" name="object 101"/>
            <p:cNvSpPr/>
            <p:nvPr/>
          </p:nvSpPr>
          <p:spPr>
            <a:xfrm>
              <a:off x="731050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31050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" name="object 103"/>
          <p:cNvGrpSpPr/>
          <p:nvPr/>
        </p:nvGrpSpPr>
        <p:grpSpPr>
          <a:xfrm>
            <a:off x="7885176" y="84201"/>
            <a:ext cx="460375" cy="431800"/>
            <a:chOff x="7885176" y="84201"/>
            <a:chExt cx="460375" cy="431800"/>
          </a:xfrm>
        </p:grpSpPr>
        <p:sp>
          <p:nvSpPr>
            <p:cNvPr id="104" name="object 104"/>
            <p:cNvSpPr/>
            <p:nvPr/>
          </p:nvSpPr>
          <p:spPr>
            <a:xfrm>
              <a:off x="7891526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891526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8466201" y="84201"/>
            <a:ext cx="460375" cy="431800"/>
            <a:chOff x="8466201" y="84201"/>
            <a:chExt cx="460375" cy="431800"/>
          </a:xfrm>
        </p:grpSpPr>
        <p:sp>
          <p:nvSpPr>
            <p:cNvPr id="107" name="object 107"/>
            <p:cNvSpPr/>
            <p:nvPr/>
          </p:nvSpPr>
          <p:spPr>
            <a:xfrm>
              <a:off x="847255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4476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47675" y="4191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472551" y="90551"/>
              <a:ext cx="447675" cy="419100"/>
            </a:xfrm>
            <a:custGeom>
              <a:avLst/>
              <a:gdLst/>
              <a:ahLst/>
              <a:cxnLst/>
              <a:rect l="l" t="t" r="r" b="b"/>
              <a:pathLst>
                <a:path w="447675" h="419100">
                  <a:moveTo>
                    <a:pt x="0" y="419100"/>
                  </a:moveTo>
                  <a:lnTo>
                    <a:pt x="447675" y="4191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6763766" y="159067"/>
            <a:ext cx="20929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669925" algn="l"/>
                <a:tab pos="1249680" algn="l"/>
                <a:tab pos="1831975" algn="l"/>
              </a:tabLst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4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13" name="object 1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114" name="object 1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10" name="object 110"/>
          <p:cNvSpPr txBox="1"/>
          <p:nvPr/>
        </p:nvSpPr>
        <p:spPr>
          <a:xfrm>
            <a:off x="2919095" y="943673"/>
            <a:ext cx="1801495" cy="882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30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query</a:t>
            </a:r>
            <a:r>
              <a:rPr sz="1400" b="1" spc="-2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produces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D79F39"/>
                </a:solidFill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which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a </a:t>
            </a:r>
            <a:r>
              <a:rPr sz="1400" dirty="0">
                <a:latin typeface="Arial"/>
                <a:cs typeface="Arial"/>
              </a:rPr>
              <a:t>mix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information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981B9"/>
                </a:solidFill>
                <a:latin typeface="Arial"/>
                <a:cs typeface="Arial"/>
              </a:rPr>
              <a:t>data</a:t>
            </a:r>
            <a:r>
              <a:rPr sz="140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913066"/>
            <a:ext cx="6915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060" y="3464242"/>
            <a:ext cx="4665345" cy="120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6812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7487" y="193674"/>
            <a:ext cx="31527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latin typeface="Arial"/>
                <a:cs typeface="Arial"/>
              </a:rPr>
              <a:t>Self-Attention</a:t>
            </a:r>
            <a:r>
              <a:rPr sz="2750" spc="25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Layer</a:t>
            </a:r>
            <a:endParaRPr sz="2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34664" y="1201102"/>
            <a:ext cx="1689735" cy="882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30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981B9"/>
                </a:solidFill>
                <a:latin typeface="Arial"/>
                <a:cs typeface="Arial"/>
              </a:rPr>
              <a:t>input</a:t>
            </a:r>
            <a:r>
              <a:rPr sz="1400" b="1" spc="-2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produces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D79F39"/>
                </a:solidFill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is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mix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information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08801" y="2474976"/>
            <a:ext cx="2441575" cy="1165225"/>
            <a:chOff x="6408801" y="2474976"/>
            <a:chExt cx="2441575" cy="1165225"/>
          </a:xfrm>
        </p:grpSpPr>
        <p:sp>
          <p:nvSpPr>
            <p:cNvPr id="18" name="object 18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78270" y="25847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24" name="object 24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78270" y="2930842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28" name="object 28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78270" y="3280410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129526" y="2567051"/>
            <a:ext cx="409575" cy="304800"/>
          </a:xfrm>
          <a:custGeom>
            <a:avLst/>
            <a:gdLst/>
            <a:ahLst/>
            <a:cxnLst/>
            <a:rect l="l" t="t" r="r" b="b"/>
            <a:pathLst>
              <a:path w="409575" h="304800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98106" y="264953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710551" y="2567051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779766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129526" y="2919476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193280" y="2995929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129526" y="3271901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193280" y="3345497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779766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77976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36142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366125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301101" y="256705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363839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24598" y="950975"/>
            <a:ext cx="2026285" cy="2900680"/>
            <a:chOff x="6824598" y="950975"/>
            <a:chExt cx="2026285" cy="2900680"/>
          </a:xfrm>
        </p:grpSpPr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0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0"/>
              <a:ext cx="220725" cy="76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5"/>
              <a:ext cx="76200" cy="22733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3" y="3643375"/>
              <a:ext cx="76200" cy="20307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8" y="3652900"/>
              <a:ext cx="76200" cy="19329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  <a:path w="1800225" h="1181100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198106" y="1123378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129526" y="1414525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193280" y="1490916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129526" y="178600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193280" y="1863153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710551" y="1424050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779766" y="149574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710551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77976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291576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836142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408801" y="1046225"/>
            <a:ext cx="422275" cy="298450"/>
            <a:chOff x="6408801" y="1046225"/>
            <a:chExt cx="422275" cy="298450"/>
          </a:xfrm>
        </p:grpSpPr>
        <p:sp>
          <p:nvSpPr>
            <p:cNvPr id="73" name="object 73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6480175" y="1058481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77" name="object 77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81" name="object 81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6480175" y="1798256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824598" y="804926"/>
            <a:ext cx="1144270" cy="3254375"/>
            <a:chOff x="6824598" y="804926"/>
            <a:chExt cx="1144270" cy="3254375"/>
          </a:xfrm>
        </p:grpSpPr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1" name="object 9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1260" y="366775"/>
            <a:ext cx="76263" cy="137160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1873" y="366775"/>
            <a:ext cx="76200" cy="137160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62898" y="366775"/>
            <a:ext cx="76200" cy="137160"/>
          </a:xfrm>
          <a:prstGeom prst="rect">
            <a:avLst/>
          </a:prstGeom>
        </p:spPr>
      </p:pic>
      <p:sp>
        <p:nvSpPr>
          <p:cNvPr id="94" name="object 94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5" name="object 9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97" name="object 97"/>
          <p:cNvSpPr txBox="1"/>
          <p:nvPr/>
        </p:nvSpPr>
        <p:spPr>
          <a:xfrm>
            <a:off x="711047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70102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8282051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200265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359015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7704201" y="3770312"/>
            <a:ext cx="450850" cy="288925"/>
            <a:chOff x="7704201" y="3770312"/>
            <a:chExt cx="450850" cy="288925"/>
          </a:xfrm>
        </p:grpSpPr>
        <p:sp>
          <p:nvSpPr>
            <p:cNvPr id="103" name="object 103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7804784" y="3784600"/>
            <a:ext cx="181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963916" y="3889375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8275701" y="3779837"/>
            <a:ext cx="460375" cy="279400"/>
            <a:chOff x="8275701" y="3779837"/>
            <a:chExt cx="460375" cy="279400"/>
          </a:xfrm>
        </p:grpSpPr>
        <p:sp>
          <p:nvSpPr>
            <p:cNvPr id="108" name="object 108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8379841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8538591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7104126" y="2243201"/>
            <a:ext cx="1631950" cy="2225675"/>
            <a:chOff x="7104126" y="2243201"/>
            <a:chExt cx="1631950" cy="2225675"/>
          </a:xfrm>
        </p:grpSpPr>
        <p:pic>
          <p:nvPicPr>
            <p:cNvPr id="113" name="object 1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8640" y="2243201"/>
              <a:ext cx="76200" cy="134747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7174483" y="4198620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655320" algn="l"/>
                <a:tab pos="1229995" algn="l"/>
              </a:tabLst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006846" y="1157224"/>
            <a:ext cx="2515235" cy="3556000"/>
            <a:chOff x="6006846" y="1157224"/>
            <a:chExt cx="2515235" cy="3556000"/>
          </a:xfrm>
        </p:grpSpPr>
        <p:pic>
          <p:nvPicPr>
            <p:cNvPr id="122" name="object 1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3048635" y="2265997"/>
            <a:ext cx="21082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Shapes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get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little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simpler: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30" name="object 1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31" name="object 1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132" name="object 1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27" name="object 127"/>
          <p:cNvSpPr txBox="1"/>
          <p:nvPr/>
        </p:nvSpPr>
        <p:spPr>
          <a:xfrm>
            <a:off x="3010535" y="2485453"/>
            <a:ext cx="2508885" cy="452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550" indent="-285750">
              <a:lnSpc>
                <a:spcPts val="1664"/>
              </a:lnSpc>
              <a:spcBef>
                <a:spcPts val="125"/>
              </a:spcBef>
              <a:buChar char="-"/>
              <a:tabLst>
                <a:tab pos="336550" algn="l"/>
              </a:tabLst>
            </a:pPr>
            <a:r>
              <a:rPr sz="1400" dirty="0">
                <a:latin typeface="Arial"/>
                <a:cs typeface="Arial"/>
              </a:rPr>
              <a:t>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input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vectors,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</a:t>
            </a:r>
            <a:r>
              <a:rPr sz="1350" spc="-37" baseline="-18518" dirty="0">
                <a:latin typeface="Arial"/>
                <a:cs typeface="Arial"/>
              </a:rPr>
              <a:t>in</a:t>
            </a:r>
            <a:endParaRPr sz="1350" baseline="-18518">
              <a:latin typeface="Arial"/>
              <a:cs typeface="Arial"/>
            </a:endParaRPr>
          </a:p>
          <a:p>
            <a:pPr marL="336550" indent="-285750">
              <a:lnSpc>
                <a:spcPts val="1664"/>
              </a:lnSpc>
              <a:buChar char="-"/>
              <a:tabLst>
                <a:tab pos="336550" algn="l"/>
                <a:tab pos="1791970" algn="l"/>
              </a:tabLst>
            </a:pPr>
            <a:r>
              <a:rPr sz="1400" dirty="0">
                <a:latin typeface="Arial"/>
                <a:cs typeface="Arial"/>
              </a:rPr>
              <a:t>Almost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always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r>
              <a:rPr sz="1400" dirty="0">
                <a:latin typeface="Arial"/>
                <a:cs typeface="Arial"/>
              </a:rPr>
              <a:t>	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55" dirty="0">
                <a:latin typeface="Arial"/>
                <a:cs typeface="Arial"/>
              </a:rPr>
              <a:t> 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649089" y="2800032"/>
            <a:ext cx="101091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975" algn="l"/>
                <a:tab pos="829310" algn="l"/>
              </a:tabLst>
            </a:pPr>
            <a:r>
              <a:rPr sz="900" spc="-50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50" dirty="0">
                <a:latin typeface="Arial"/>
                <a:cs typeface="Arial"/>
              </a:rPr>
              <a:t>V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out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913066"/>
            <a:ext cx="2697480" cy="1249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30480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in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2869247"/>
            <a:ext cx="270827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70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3311123"/>
            <a:ext cx="4665345" cy="13608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75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 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1239520">
              <a:lnSpc>
                <a:spcPct val="100000"/>
              </a:lnSpc>
              <a:spcBef>
                <a:spcPts val="270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6812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250" dirty="0"/>
              <a:t> </a:t>
            </a:r>
            <a:r>
              <a:rPr spc="-20" dirty="0"/>
              <a:t>Layer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34664" y="1201102"/>
            <a:ext cx="1689735" cy="882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30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981B9"/>
                </a:solidFill>
                <a:latin typeface="Arial"/>
                <a:cs typeface="Arial"/>
              </a:rPr>
              <a:t>input</a:t>
            </a:r>
            <a:r>
              <a:rPr sz="1400" b="1" spc="-2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produces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D79F39"/>
                </a:solidFill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is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mix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information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08801" y="2570226"/>
            <a:ext cx="422275" cy="298450"/>
            <a:chOff x="6408801" y="2570226"/>
            <a:chExt cx="422275" cy="298450"/>
          </a:xfrm>
        </p:grpSpPr>
        <p:sp>
          <p:nvSpPr>
            <p:cNvPr id="10" name="object 10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89751" y="2584767"/>
            <a:ext cx="4603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14" name="object 14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389751" y="2930842"/>
            <a:ext cx="4603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18" name="object 18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389751" y="3280410"/>
            <a:ext cx="46037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08801" y="1046225"/>
            <a:ext cx="422275" cy="298450"/>
            <a:chOff x="6408801" y="1046225"/>
            <a:chExt cx="422275" cy="298450"/>
          </a:xfrm>
        </p:grpSpPr>
        <p:sp>
          <p:nvSpPr>
            <p:cNvPr id="22" name="object 22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05575" y="1058481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V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40830" y="1163256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27" name="object 27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31" name="object 31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480175" y="1798256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04126" y="3779837"/>
            <a:ext cx="450850" cy="279400"/>
            <a:chOff x="7104126" y="3779837"/>
            <a:chExt cx="450850" cy="279400"/>
          </a:xfrm>
        </p:grpSpPr>
        <p:sp>
          <p:nvSpPr>
            <p:cNvPr id="35" name="object 35"/>
            <p:cNvSpPr/>
            <p:nvPr/>
          </p:nvSpPr>
          <p:spPr>
            <a:xfrm>
              <a:off x="7110476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10476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200265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59015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704201" y="3770312"/>
            <a:ext cx="450850" cy="288925"/>
            <a:chOff x="7704201" y="3770312"/>
            <a:chExt cx="450850" cy="288925"/>
          </a:xfrm>
        </p:grpSpPr>
        <p:sp>
          <p:nvSpPr>
            <p:cNvPr id="40" name="object 40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804784" y="3784600"/>
            <a:ext cx="181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63916" y="3889375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275701" y="3779837"/>
            <a:ext cx="460375" cy="279400"/>
            <a:chOff x="8275701" y="3779837"/>
            <a:chExt cx="460375" cy="279400"/>
          </a:xfrm>
        </p:grpSpPr>
        <p:sp>
          <p:nvSpPr>
            <p:cNvPr id="45" name="object 45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379841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38591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104126" y="4179887"/>
            <a:ext cx="1631950" cy="288925"/>
            <a:chOff x="7104126" y="4179887"/>
            <a:chExt cx="1631950" cy="288925"/>
          </a:xfrm>
        </p:grpSpPr>
        <p:sp>
          <p:nvSpPr>
            <p:cNvPr id="50" name="object 50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174483" y="4198620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655320" algn="l"/>
                <a:tab pos="1229995" algn="l"/>
              </a:tabLst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006846" y="1157224"/>
            <a:ext cx="2515235" cy="3556000"/>
            <a:chOff x="6006846" y="1157224"/>
            <a:chExt cx="2515235" cy="3556000"/>
          </a:xfrm>
        </p:grpSpPr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051040" y="1117028"/>
            <a:ext cx="1755775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From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</a:t>
            </a:r>
            <a:r>
              <a:rPr sz="1400" spc="-10" dirty="0">
                <a:latin typeface="Arial"/>
                <a:cs typeface="Arial"/>
              </a:rPr>
              <a:t>: </a:t>
            </a:r>
            <a:r>
              <a:rPr sz="1400" dirty="0">
                <a:latin typeface="Arial"/>
                <a:cs typeface="Arial"/>
              </a:rPr>
              <a:t>compute a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8AAB42"/>
                </a:solidFill>
                <a:latin typeface="Arial"/>
                <a:cs typeface="Arial"/>
              </a:rPr>
              <a:t>query</a:t>
            </a:r>
            <a:r>
              <a:rPr sz="1400" spc="-10" dirty="0">
                <a:latin typeface="Arial"/>
                <a:cs typeface="Arial"/>
              </a:rPr>
              <a:t>, </a:t>
            </a: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key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8A81D2"/>
                </a:solidFill>
                <a:latin typeface="Arial"/>
                <a:cs typeface="Arial"/>
              </a:rPr>
              <a:t>value</a:t>
            </a:r>
            <a:r>
              <a:rPr sz="1400" b="1" spc="-1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89495" y="2275141"/>
            <a:ext cx="21659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Often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fused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matmul: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889495" y="2704528"/>
            <a:ext cx="18910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275715" algn="l"/>
                <a:tab pos="1579245" algn="l"/>
              </a:tabLst>
            </a:pPr>
            <a:r>
              <a:rPr sz="1400" dirty="0">
                <a:latin typeface="Arial"/>
                <a:cs typeface="Arial"/>
              </a:rPr>
              <a:t>[</a:t>
            </a: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400" b="1" spc="-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400" b="1" spc="-1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400" dirty="0">
                <a:latin typeface="Arial"/>
                <a:cs typeface="Arial"/>
              </a:rPr>
              <a:t>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400" spc="-25" dirty="0">
                <a:latin typeface="Arial"/>
                <a:cs typeface="Arial"/>
              </a:rPr>
              <a:t>[</a:t>
            </a:r>
            <a:r>
              <a:rPr sz="140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	</a:t>
            </a:r>
            <a:r>
              <a:rPr sz="1400" b="1" spc="-50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	</a:t>
            </a:r>
            <a:r>
              <a:rPr sz="140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400" b="1" spc="22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]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889495" y="2796344"/>
            <a:ext cx="2046605" cy="351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134110">
              <a:lnSpc>
                <a:spcPct val="100000"/>
              </a:lnSpc>
              <a:spcBef>
                <a:spcPts val="204"/>
              </a:spcBef>
              <a:tabLst>
                <a:tab pos="1443990" algn="l"/>
                <a:tab pos="1747520" algn="l"/>
              </a:tabLst>
            </a:pPr>
            <a:r>
              <a:rPr sz="900" b="1" spc="-50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900" b="1" dirty="0">
                <a:solidFill>
                  <a:srgbClr val="8AAB42"/>
                </a:solidFill>
                <a:latin typeface="Arial"/>
                <a:cs typeface="Arial"/>
              </a:rPr>
              <a:t>	</a:t>
            </a:r>
            <a:r>
              <a:rPr sz="900" b="1" spc="-50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900" b="1" dirty="0">
                <a:solidFill>
                  <a:srgbClr val="FF9200"/>
                </a:solidFill>
                <a:latin typeface="Arial"/>
                <a:cs typeface="Arial"/>
              </a:rPr>
              <a:t>	</a:t>
            </a:r>
            <a:r>
              <a:rPr sz="900" b="1" spc="-5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"/>
                <a:cs typeface="Arial"/>
              </a:rPr>
              <a:t>[N</a:t>
            </a:r>
            <a:r>
              <a:rPr sz="1050" spc="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3Dout]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=</a:t>
            </a:r>
            <a:r>
              <a:rPr sz="105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Din]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[Din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3Dout]</a:t>
            </a:r>
            <a:endParaRPr sz="9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7625" y="3352800"/>
            <a:ext cx="4924425" cy="1381125"/>
          </a:xfrm>
          <a:custGeom>
            <a:avLst/>
            <a:gdLst/>
            <a:ahLst/>
            <a:cxnLst/>
            <a:rect l="l" t="t" r="r" b="b"/>
            <a:pathLst>
              <a:path w="4924425" h="1381125">
                <a:moveTo>
                  <a:pt x="4924425" y="0"/>
                </a:moveTo>
                <a:lnTo>
                  <a:pt x="0" y="0"/>
                </a:lnTo>
                <a:lnTo>
                  <a:pt x="0" y="1381125"/>
                </a:lnTo>
                <a:lnTo>
                  <a:pt x="4924425" y="1381125"/>
                </a:lnTo>
                <a:lnTo>
                  <a:pt x="492442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70" name="object 7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913066"/>
            <a:ext cx="2697480" cy="1249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30480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in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00480" y="3464242"/>
            <a:ext cx="1389380" cy="45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7470" algn="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65"/>
              </a:spcBef>
              <a:tabLst>
                <a:tab pos="114427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160" y="3941055"/>
            <a:ext cx="4589145" cy="744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300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250" dirty="0"/>
              <a:t> </a:t>
            </a:r>
            <a:r>
              <a:rPr spc="-20" dirty="0"/>
              <a:t>Layer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34664" y="1201102"/>
            <a:ext cx="1689735" cy="882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30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981B9"/>
                </a:solidFill>
                <a:latin typeface="Arial"/>
                <a:cs typeface="Arial"/>
              </a:rPr>
              <a:t>input</a:t>
            </a:r>
            <a:r>
              <a:rPr sz="1400" b="1" spc="-2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produces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D79F39"/>
                </a:solidFill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is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mix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information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625" y="2474976"/>
            <a:ext cx="8803005" cy="2259330"/>
            <a:chOff x="47625" y="2474976"/>
            <a:chExt cx="8803005" cy="2259330"/>
          </a:xfrm>
        </p:grpSpPr>
        <p:sp>
          <p:nvSpPr>
            <p:cNvPr id="15" name="object 15"/>
            <p:cNvSpPr/>
            <p:nvPr/>
          </p:nvSpPr>
          <p:spPr>
            <a:xfrm>
              <a:off x="47625" y="3971925"/>
              <a:ext cx="4924425" cy="762000"/>
            </a:xfrm>
            <a:custGeom>
              <a:avLst/>
              <a:gdLst/>
              <a:ahLst/>
              <a:cxnLst/>
              <a:rect l="l" t="t" r="r" b="b"/>
              <a:pathLst>
                <a:path w="4924425" h="762000">
                  <a:moveTo>
                    <a:pt x="492442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4924425" y="762000"/>
                  </a:lnTo>
                  <a:lnTo>
                    <a:pt x="492442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78270" y="25847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22" name="object 22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78270" y="2930842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26" name="object 26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478270" y="3280410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29526" y="2567051"/>
            <a:ext cx="409575" cy="304800"/>
          </a:xfrm>
          <a:custGeom>
            <a:avLst/>
            <a:gdLst/>
            <a:ahLst/>
            <a:cxnLst/>
            <a:rect l="l" t="t" r="r" b="b"/>
            <a:pathLst>
              <a:path w="409575" h="304800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198106" y="264953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710551" y="2567051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779766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129526" y="2919476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193280" y="2995929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129526" y="3271901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193280" y="3345497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779766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77976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36142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366125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301101" y="256705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363839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408801" y="1046225"/>
            <a:ext cx="2130425" cy="2805430"/>
            <a:chOff x="6408801" y="1046225"/>
            <a:chExt cx="2130425" cy="2805430"/>
          </a:xfrm>
        </p:grpSpPr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9" y="3376549"/>
              <a:ext cx="220725" cy="762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3024250"/>
              <a:ext cx="220725" cy="76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4" y="3624325"/>
              <a:ext cx="76200" cy="22733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2681350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4" y="3643375"/>
              <a:ext cx="76200" cy="20307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9" y="3652900"/>
              <a:ext cx="76200" cy="19329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505575" y="1058481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V</a:t>
            </a:r>
            <a:endParaRPr sz="15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40830" y="1163256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59" name="object 59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63" name="object 63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6505575" y="1798256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V</a:t>
            </a:r>
            <a:endParaRPr sz="15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640830" y="1903031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104126" y="3770312"/>
            <a:ext cx="1631950" cy="288925"/>
            <a:chOff x="7104126" y="3770312"/>
            <a:chExt cx="1631950" cy="288925"/>
          </a:xfrm>
        </p:grpSpPr>
        <p:sp>
          <p:nvSpPr>
            <p:cNvPr id="68" name="object 68"/>
            <p:cNvSpPr/>
            <p:nvPr/>
          </p:nvSpPr>
          <p:spPr>
            <a:xfrm>
              <a:off x="7110476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110476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162165" y="3787140"/>
            <a:ext cx="152717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654685" algn="l"/>
                <a:tab pos="1229995" algn="l"/>
              </a:tabLst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7104126" y="4179887"/>
            <a:ext cx="1631950" cy="288925"/>
            <a:chOff x="7104126" y="4179887"/>
            <a:chExt cx="1631950" cy="288925"/>
          </a:xfrm>
        </p:grpSpPr>
        <p:sp>
          <p:nvSpPr>
            <p:cNvPr id="76" name="object 76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7174483" y="4198620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655320" algn="l"/>
                <a:tab pos="1229995" algn="l"/>
              </a:tabLst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006846" y="1157224"/>
            <a:ext cx="2515235" cy="3556000"/>
            <a:chOff x="6006846" y="1157224"/>
            <a:chExt cx="2515235" cy="3556000"/>
          </a:xfrm>
        </p:grpSpPr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7071994" y="1219898"/>
            <a:ext cx="1661160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Compute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similarity </a:t>
            </a:r>
            <a:r>
              <a:rPr sz="1400" dirty="0">
                <a:latin typeface="Arial"/>
                <a:cs typeface="Arial"/>
              </a:rPr>
              <a:t>between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8AAB42"/>
                </a:solidFill>
                <a:latin typeface="Arial"/>
                <a:cs typeface="Arial"/>
              </a:rPr>
              <a:t>query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9200"/>
                </a:solidFill>
                <a:latin typeface="Arial"/>
                <a:cs typeface="Arial"/>
              </a:rPr>
              <a:t>key</a:t>
            </a:r>
            <a:endParaRPr sz="14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92" name="object 9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913066"/>
            <a:ext cx="6915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060" y="3464242"/>
            <a:ext cx="46653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160" y="4189340"/>
            <a:ext cx="2954655" cy="495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9"/>
              </a:lnSpc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300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250" dirty="0"/>
              <a:t> </a:t>
            </a:r>
            <a:r>
              <a:rPr spc="-20" dirty="0"/>
              <a:t>Layer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034664" y="1201102"/>
            <a:ext cx="1689735" cy="882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30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981B9"/>
                </a:solidFill>
                <a:latin typeface="Arial"/>
                <a:cs typeface="Arial"/>
              </a:rPr>
              <a:t>input</a:t>
            </a:r>
            <a:r>
              <a:rPr sz="1400" b="1" spc="-2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produces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D79F39"/>
                </a:solidFill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is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mix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information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775" y="4171950"/>
            <a:ext cx="4924425" cy="552450"/>
          </a:xfrm>
          <a:custGeom>
            <a:avLst/>
            <a:gdLst/>
            <a:ahLst/>
            <a:cxnLst/>
            <a:rect l="l" t="t" r="r" b="b"/>
            <a:pathLst>
              <a:path w="4924425" h="552450">
                <a:moveTo>
                  <a:pt x="4924425" y="0"/>
                </a:moveTo>
                <a:lnTo>
                  <a:pt x="0" y="0"/>
                </a:lnTo>
                <a:lnTo>
                  <a:pt x="0" y="552450"/>
                </a:lnTo>
                <a:lnTo>
                  <a:pt x="4924425" y="552450"/>
                </a:lnTo>
                <a:lnTo>
                  <a:pt x="492442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08801" y="2474976"/>
            <a:ext cx="2441575" cy="1165225"/>
            <a:chOff x="6408801" y="2474976"/>
            <a:chExt cx="2441575" cy="1165225"/>
          </a:xfrm>
        </p:grpSpPr>
        <p:sp>
          <p:nvSpPr>
            <p:cNvPr id="20" name="object 20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78270" y="25847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26" name="object 26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478270" y="2930842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30" name="object 30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78270" y="3280410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129526" y="2567051"/>
            <a:ext cx="409575" cy="304800"/>
          </a:xfrm>
          <a:custGeom>
            <a:avLst/>
            <a:gdLst/>
            <a:ahLst/>
            <a:cxnLst/>
            <a:rect l="l" t="t" r="r" b="b"/>
            <a:pathLst>
              <a:path w="409575" h="304800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198106" y="264953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710551" y="2567051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779766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129526" y="2919476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193280" y="2995929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129526" y="3271901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193280" y="3345497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779766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777976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36142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366125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301101" y="256705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363839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824598" y="950975"/>
            <a:ext cx="2026285" cy="2900680"/>
            <a:chOff x="6824598" y="950975"/>
            <a:chExt cx="2026285" cy="2900680"/>
          </a:xfrm>
        </p:grpSpPr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0"/>
              <a:ext cx="220725" cy="76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0"/>
              <a:ext cx="220725" cy="76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5"/>
              <a:ext cx="76200" cy="22733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2898" y="3652900"/>
              <a:ext cx="76200" cy="19329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81873" y="3643375"/>
              <a:ext cx="76200" cy="203073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  <a:path w="1800225" h="1181100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198106" y="1123378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129526" y="1414525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193280" y="1490916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129526" y="178600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193280" y="1863153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710551" y="1424050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779766" y="149574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710551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777976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291576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836142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408801" y="1046225"/>
            <a:ext cx="422275" cy="298450"/>
            <a:chOff x="6408801" y="1046225"/>
            <a:chExt cx="422275" cy="298450"/>
          </a:xfrm>
        </p:grpSpPr>
        <p:sp>
          <p:nvSpPr>
            <p:cNvPr id="75" name="object 75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6480175" y="1058481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79" name="object 79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83" name="object 83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6480175" y="1798256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7104126" y="3779837"/>
            <a:ext cx="450850" cy="279400"/>
            <a:chOff x="7104126" y="3779837"/>
            <a:chExt cx="450850" cy="279400"/>
          </a:xfrm>
        </p:grpSpPr>
        <p:sp>
          <p:nvSpPr>
            <p:cNvPr id="87" name="object 87"/>
            <p:cNvSpPr/>
            <p:nvPr/>
          </p:nvSpPr>
          <p:spPr>
            <a:xfrm>
              <a:off x="7110476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110476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7200265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359015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7704201" y="3770312"/>
            <a:ext cx="450850" cy="288925"/>
            <a:chOff x="7704201" y="3770312"/>
            <a:chExt cx="450850" cy="288925"/>
          </a:xfrm>
        </p:grpSpPr>
        <p:sp>
          <p:nvSpPr>
            <p:cNvPr id="92" name="object 92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7804784" y="3784600"/>
            <a:ext cx="181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963916" y="3889375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8275701" y="3779837"/>
            <a:ext cx="460375" cy="279400"/>
            <a:chOff x="8275701" y="3779837"/>
            <a:chExt cx="460375" cy="279400"/>
          </a:xfrm>
        </p:grpSpPr>
        <p:sp>
          <p:nvSpPr>
            <p:cNvPr id="97" name="object 97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8379841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538591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104126" y="2243201"/>
            <a:ext cx="1631950" cy="2225675"/>
            <a:chOff x="7104126" y="2243201"/>
            <a:chExt cx="1631950" cy="2225675"/>
          </a:xfrm>
        </p:grpSpPr>
        <p:pic>
          <p:nvPicPr>
            <p:cNvPr id="102" name="object 10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68640" y="2243201"/>
              <a:ext cx="76200" cy="13474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7174483" y="4198620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655320" algn="l"/>
                <a:tab pos="1229995" algn="l"/>
              </a:tabLst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6006846" y="1157224"/>
            <a:ext cx="2515235" cy="3556000"/>
            <a:chOff x="6006846" y="1157224"/>
            <a:chExt cx="2515235" cy="3556000"/>
          </a:xfrm>
        </p:grpSpPr>
        <p:pic>
          <p:nvPicPr>
            <p:cNvPr id="111" name="object 1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6376670" y="144780"/>
            <a:ext cx="2321560" cy="673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Normalize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over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column: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query</a:t>
            </a:r>
            <a:r>
              <a:rPr sz="1400" b="1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a </a:t>
            </a:r>
            <a:r>
              <a:rPr sz="1400" dirty="0">
                <a:latin typeface="Arial"/>
                <a:cs typeface="Arial"/>
              </a:rPr>
              <a:t>distribution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over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9200"/>
                </a:solidFill>
                <a:latin typeface="Arial"/>
                <a:cs typeface="Arial"/>
              </a:rPr>
              <a:t>keys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7" name="object 1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18" name="object 1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119" name="object 1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460" y="193674"/>
            <a:ext cx="3246120" cy="9855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latin typeface="Arial"/>
                <a:cs typeface="Arial"/>
              </a:rPr>
              <a:t>Self-Attention</a:t>
            </a:r>
            <a:r>
              <a:rPr sz="2750" spc="25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Layer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6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060" y="3464242"/>
            <a:ext cx="4665345" cy="120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6812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4664" y="1201102"/>
            <a:ext cx="1689735" cy="882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30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981B9"/>
                </a:solidFill>
                <a:latin typeface="Arial"/>
                <a:cs typeface="Arial"/>
              </a:rPr>
              <a:t>input</a:t>
            </a:r>
            <a:r>
              <a:rPr sz="1400" b="1" spc="-2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produces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D79F39"/>
                </a:solidFill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is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mix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information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08801" y="2474976"/>
            <a:ext cx="2441575" cy="1165225"/>
            <a:chOff x="6408801" y="2474976"/>
            <a:chExt cx="2441575" cy="1165225"/>
          </a:xfrm>
        </p:grpSpPr>
        <p:sp>
          <p:nvSpPr>
            <p:cNvPr id="17" name="object 17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78270" y="25847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23" name="object 23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78270" y="2930842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27" name="object 27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78270" y="3280410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29526" y="2567051"/>
            <a:ext cx="409575" cy="304800"/>
          </a:xfrm>
          <a:custGeom>
            <a:avLst/>
            <a:gdLst/>
            <a:ahLst/>
            <a:cxnLst/>
            <a:rect l="l" t="t" r="r" b="b"/>
            <a:pathLst>
              <a:path w="409575" h="304800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198106" y="264953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10551" y="2567051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779766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29526" y="2919476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193280" y="2995929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129526" y="3271901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193280" y="3345497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779766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77976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36142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366125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301101" y="256705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363839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824598" y="950975"/>
            <a:ext cx="2026285" cy="2900680"/>
            <a:chOff x="6824598" y="950975"/>
            <a:chExt cx="2026285" cy="2900680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0"/>
              <a:ext cx="220725" cy="76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0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5"/>
              <a:ext cx="76200" cy="22733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3" y="3643375"/>
              <a:ext cx="76200" cy="20307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8" y="3652900"/>
              <a:ext cx="76200" cy="19329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  <a:path w="1800225" h="1181100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198106" y="1123378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129526" y="1414525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193280" y="1490916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129526" y="178600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7193280" y="1863153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710551" y="1424050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7779766" y="149574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710551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77976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291576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836142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408801" y="1046225"/>
            <a:ext cx="422275" cy="298450"/>
            <a:chOff x="6408801" y="1046225"/>
            <a:chExt cx="422275" cy="298450"/>
          </a:xfrm>
        </p:grpSpPr>
        <p:sp>
          <p:nvSpPr>
            <p:cNvPr id="72" name="object 72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480175" y="1058481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76" name="object 76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80" name="object 80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6480175" y="1798256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824598" y="804926"/>
            <a:ext cx="1144270" cy="3254375"/>
            <a:chOff x="6824598" y="804926"/>
            <a:chExt cx="1144270" cy="3254375"/>
          </a:xfrm>
        </p:grpSpPr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0" name="object 9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1260" y="366775"/>
            <a:ext cx="76263" cy="137160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1873" y="366775"/>
            <a:ext cx="76200" cy="137160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62898" y="366775"/>
            <a:ext cx="76200" cy="137160"/>
          </a:xfrm>
          <a:prstGeom prst="rect">
            <a:avLst/>
          </a:prstGeom>
        </p:spPr>
      </p:pic>
      <p:sp>
        <p:nvSpPr>
          <p:cNvPr id="93" name="object 93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4" name="object 9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96" name="object 96"/>
          <p:cNvSpPr txBox="1"/>
          <p:nvPr/>
        </p:nvSpPr>
        <p:spPr>
          <a:xfrm>
            <a:off x="711047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70102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282051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200265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359015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704201" y="3770312"/>
            <a:ext cx="450850" cy="288925"/>
            <a:chOff x="7704201" y="3770312"/>
            <a:chExt cx="450850" cy="288925"/>
          </a:xfrm>
        </p:grpSpPr>
        <p:sp>
          <p:nvSpPr>
            <p:cNvPr id="102" name="object 102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7804784" y="3784600"/>
            <a:ext cx="181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963916" y="3889375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8275701" y="3779837"/>
            <a:ext cx="460375" cy="279400"/>
            <a:chOff x="8275701" y="3779837"/>
            <a:chExt cx="460375" cy="279400"/>
          </a:xfrm>
        </p:grpSpPr>
        <p:sp>
          <p:nvSpPr>
            <p:cNvPr id="107" name="object 107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8379841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538591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7104126" y="2243201"/>
            <a:ext cx="1631950" cy="2225675"/>
            <a:chOff x="7104126" y="2243201"/>
            <a:chExt cx="1631950" cy="2225675"/>
          </a:xfrm>
        </p:grpSpPr>
        <p:pic>
          <p:nvPicPr>
            <p:cNvPr id="112" name="object 1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8640" y="2243201"/>
              <a:ext cx="76200" cy="13474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7174483" y="4198620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655320" algn="l"/>
                <a:tab pos="1229995" algn="l"/>
              </a:tabLst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r>
              <a:rPr sz="1575" baseline="-15873" dirty="0">
                <a:latin typeface="Arial"/>
                <a:cs typeface="Arial"/>
              </a:rPr>
              <a:t>	</a:t>
            </a: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6006846" y="1157224"/>
            <a:ext cx="2515235" cy="3556000"/>
            <a:chOff x="6006846" y="1157224"/>
            <a:chExt cx="2515235" cy="3556000"/>
          </a:xfrm>
        </p:grpSpPr>
        <p:pic>
          <p:nvPicPr>
            <p:cNvPr id="121" name="object 1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5557265" y="75247"/>
            <a:ext cx="1350010" cy="882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30"/>
              </a:spcBef>
            </a:pPr>
            <a:r>
              <a:rPr sz="1400" dirty="0">
                <a:latin typeface="Arial"/>
                <a:cs typeface="Arial"/>
              </a:rPr>
              <a:t>Compute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D79F39"/>
                </a:solidFill>
                <a:latin typeface="Arial"/>
                <a:cs typeface="Arial"/>
              </a:rPr>
              <a:t>output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 </a:t>
            </a:r>
            <a:r>
              <a:rPr sz="1400" dirty="0">
                <a:latin typeface="Arial"/>
                <a:cs typeface="Arial"/>
              </a:rPr>
              <a:t>combinations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</a:t>
            </a:r>
            <a:r>
              <a:rPr sz="1400" b="1" dirty="0">
                <a:solidFill>
                  <a:srgbClr val="8A81D2"/>
                </a:solidFill>
                <a:latin typeface="Arial"/>
                <a:cs typeface="Arial"/>
              </a:rPr>
              <a:t>value</a:t>
            </a:r>
            <a:r>
              <a:rPr sz="1400" b="1" spc="-3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7" name="object 1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28" name="object 1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129" name="object 1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735266"/>
            <a:ext cx="5568315" cy="142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64229">
              <a:lnSpc>
                <a:spcPts val="154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Consider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permuting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720"/>
              </a:lnSpc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290131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in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2869247"/>
            <a:ext cx="270827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70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8563" y="3409950"/>
            <a:ext cx="443230" cy="518159"/>
          </a:xfrm>
          <a:custGeom>
            <a:avLst/>
            <a:gdLst/>
            <a:ahLst/>
            <a:cxnLst/>
            <a:rect l="l" t="t" r="r" b="b"/>
            <a:pathLst>
              <a:path w="443230" h="518160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3" y="223647"/>
                </a:lnTo>
                <a:lnTo>
                  <a:pt x="32131" y="148336"/>
                </a:lnTo>
                <a:lnTo>
                  <a:pt x="0" y="162941"/>
                </a:lnTo>
                <a:lnTo>
                  <a:pt x="3048" y="170307"/>
                </a:lnTo>
                <a:lnTo>
                  <a:pt x="19558" y="162941"/>
                </a:lnTo>
                <a:lnTo>
                  <a:pt x="60071" y="249809"/>
                </a:lnTo>
                <a:lnTo>
                  <a:pt x="69469" y="249809"/>
                </a:lnTo>
                <a:lnTo>
                  <a:pt x="132969" y="14478"/>
                </a:lnTo>
                <a:lnTo>
                  <a:pt x="152527" y="14478"/>
                </a:lnTo>
                <a:lnTo>
                  <a:pt x="152527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  <a:path w="443230" h="518160">
                <a:moveTo>
                  <a:pt x="442722" y="295275"/>
                </a:moveTo>
                <a:lnTo>
                  <a:pt x="232918" y="295275"/>
                </a:lnTo>
                <a:lnTo>
                  <a:pt x="232918" y="293116"/>
                </a:lnTo>
                <a:lnTo>
                  <a:pt x="208153" y="293116"/>
                </a:lnTo>
                <a:lnTo>
                  <a:pt x="154559" y="494169"/>
                </a:lnTo>
                <a:lnTo>
                  <a:pt x="123952" y="425958"/>
                </a:lnTo>
                <a:lnTo>
                  <a:pt x="94996" y="439166"/>
                </a:lnTo>
                <a:lnTo>
                  <a:pt x="97663" y="445897"/>
                </a:lnTo>
                <a:lnTo>
                  <a:pt x="112649" y="439166"/>
                </a:lnTo>
                <a:lnTo>
                  <a:pt x="149225" y="517855"/>
                </a:lnTo>
                <a:lnTo>
                  <a:pt x="157861" y="517855"/>
                </a:lnTo>
                <a:lnTo>
                  <a:pt x="215265" y="304927"/>
                </a:lnTo>
                <a:lnTo>
                  <a:pt x="442722" y="304800"/>
                </a:lnTo>
                <a:lnTo>
                  <a:pt x="442722" y="295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311123"/>
            <a:ext cx="3227070" cy="6070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75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 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1239520">
              <a:lnSpc>
                <a:spcPct val="100000"/>
              </a:lnSpc>
              <a:spcBef>
                <a:spcPts val="270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250" dirty="0"/>
              <a:t> </a:t>
            </a:r>
            <a:r>
              <a:rPr spc="-20" dirty="0"/>
              <a:t>Layer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06846" y="804926"/>
            <a:ext cx="2843530" cy="3907790"/>
            <a:chOff x="6006846" y="804926"/>
            <a:chExt cx="2843530" cy="3907790"/>
          </a:xfrm>
        </p:grpSpPr>
        <p:sp>
          <p:nvSpPr>
            <p:cNvPr id="11" name="object 11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29526" y="2567051"/>
              <a:ext cx="1571625" cy="990600"/>
            </a:xfrm>
            <a:custGeom>
              <a:avLst/>
              <a:gdLst/>
              <a:ahLst/>
              <a:cxnLst/>
              <a:rect l="l" t="t" r="r" b="b"/>
              <a:pathLst>
                <a:path w="1571625" h="990600">
                  <a:moveTo>
                    <a:pt x="0" y="304800"/>
                  </a:moveTo>
                  <a:lnTo>
                    <a:pt x="409575" y="30480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1571625" h="990600">
                  <a:moveTo>
                    <a:pt x="581025" y="295275"/>
                  </a:moveTo>
                  <a:lnTo>
                    <a:pt x="990600" y="295275"/>
                  </a:lnTo>
                  <a:lnTo>
                    <a:pt x="990600" y="0"/>
                  </a:lnTo>
                  <a:lnTo>
                    <a:pt x="581025" y="0"/>
                  </a:lnTo>
                  <a:lnTo>
                    <a:pt x="581025" y="295275"/>
                  </a:lnTo>
                  <a:close/>
                </a:path>
                <a:path w="1571625" h="990600">
                  <a:moveTo>
                    <a:pt x="0" y="638175"/>
                  </a:moveTo>
                  <a:lnTo>
                    <a:pt x="400050" y="638175"/>
                  </a:lnTo>
                  <a:lnTo>
                    <a:pt x="400050" y="352425"/>
                  </a:lnTo>
                  <a:lnTo>
                    <a:pt x="0" y="352425"/>
                  </a:lnTo>
                  <a:lnTo>
                    <a:pt x="0" y="638175"/>
                  </a:lnTo>
                  <a:close/>
                </a:path>
                <a:path w="1571625" h="990600">
                  <a:moveTo>
                    <a:pt x="0" y="990600"/>
                  </a:moveTo>
                  <a:lnTo>
                    <a:pt x="400050" y="990600"/>
                  </a:lnTo>
                  <a:lnTo>
                    <a:pt x="400050" y="704850"/>
                  </a:lnTo>
                  <a:lnTo>
                    <a:pt x="0" y="704850"/>
                  </a:lnTo>
                  <a:lnTo>
                    <a:pt x="0" y="990600"/>
                  </a:lnTo>
                  <a:close/>
                </a:path>
                <a:path w="1571625" h="990600">
                  <a:moveTo>
                    <a:pt x="581025" y="647700"/>
                  </a:moveTo>
                  <a:lnTo>
                    <a:pt x="990600" y="647700"/>
                  </a:lnTo>
                  <a:lnTo>
                    <a:pt x="990600" y="352425"/>
                  </a:lnTo>
                  <a:lnTo>
                    <a:pt x="581025" y="352425"/>
                  </a:lnTo>
                  <a:lnTo>
                    <a:pt x="581025" y="647700"/>
                  </a:lnTo>
                  <a:close/>
                </a:path>
                <a:path w="1571625" h="990600">
                  <a:moveTo>
                    <a:pt x="581025" y="990600"/>
                  </a:moveTo>
                  <a:lnTo>
                    <a:pt x="990600" y="990600"/>
                  </a:lnTo>
                  <a:lnTo>
                    <a:pt x="990600" y="695325"/>
                  </a:lnTo>
                  <a:lnTo>
                    <a:pt x="581025" y="695325"/>
                  </a:lnTo>
                  <a:lnTo>
                    <a:pt x="581025" y="990600"/>
                  </a:lnTo>
                  <a:close/>
                </a:path>
                <a:path w="1571625" h="990600">
                  <a:moveTo>
                    <a:pt x="1162050" y="990600"/>
                  </a:moveTo>
                  <a:lnTo>
                    <a:pt x="1571625" y="990600"/>
                  </a:lnTo>
                  <a:lnTo>
                    <a:pt x="1571625" y="695325"/>
                  </a:lnTo>
                  <a:lnTo>
                    <a:pt x="1162050" y="695325"/>
                  </a:lnTo>
                  <a:lnTo>
                    <a:pt x="1162050" y="990600"/>
                  </a:lnTo>
                  <a:close/>
                </a:path>
                <a:path w="1571625" h="990600">
                  <a:moveTo>
                    <a:pt x="1171575" y="647700"/>
                  </a:moveTo>
                  <a:lnTo>
                    <a:pt x="1571625" y="647700"/>
                  </a:lnTo>
                  <a:lnTo>
                    <a:pt x="1571625" y="352425"/>
                  </a:lnTo>
                  <a:lnTo>
                    <a:pt x="1171575" y="352425"/>
                  </a:lnTo>
                  <a:lnTo>
                    <a:pt x="1171575" y="647700"/>
                  </a:lnTo>
                  <a:close/>
                </a:path>
                <a:path w="1571625" h="990600">
                  <a:moveTo>
                    <a:pt x="1171575" y="295275"/>
                  </a:moveTo>
                  <a:lnTo>
                    <a:pt x="1571625" y="295275"/>
                  </a:lnTo>
                  <a:lnTo>
                    <a:pt x="1571625" y="0"/>
                  </a:lnTo>
                  <a:lnTo>
                    <a:pt x="1171575" y="0"/>
                  </a:lnTo>
                  <a:lnTo>
                    <a:pt x="1171575" y="29527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9" y="3376549"/>
              <a:ext cx="220725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3024251"/>
              <a:ext cx="220725" cy="76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2681351"/>
              <a:ext cx="220725" cy="76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4" y="3624326"/>
              <a:ext cx="76200" cy="22733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4" y="3643376"/>
              <a:ext cx="76200" cy="20307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9" y="3652901"/>
              <a:ext cx="76200" cy="19329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043801" y="957326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43801" y="957326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  <a:path w="1800225" h="1181100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  <a:path w="1800225" h="1181100">
                  <a:moveTo>
                    <a:pt x="666750" y="381000"/>
                  </a:moveTo>
                  <a:lnTo>
                    <a:pt x="1076325" y="381000"/>
                  </a:lnTo>
                  <a:lnTo>
                    <a:pt x="1076325" y="85725"/>
                  </a:lnTo>
                  <a:lnTo>
                    <a:pt x="666750" y="85725"/>
                  </a:lnTo>
                  <a:lnTo>
                    <a:pt x="666750" y="381000"/>
                  </a:lnTo>
                  <a:close/>
                </a:path>
                <a:path w="1800225" h="1181100">
                  <a:moveTo>
                    <a:pt x="85725" y="752475"/>
                  </a:moveTo>
                  <a:lnTo>
                    <a:pt x="485775" y="752475"/>
                  </a:lnTo>
                  <a:lnTo>
                    <a:pt x="485775" y="457200"/>
                  </a:lnTo>
                  <a:lnTo>
                    <a:pt x="85725" y="457200"/>
                  </a:lnTo>
                  <a:lnTo>
                    <a:pt x="85725" y="752475"/>
                  </a:lnTo>
                  <a:close/>
                </a:path>
                <a:path w="1800225" h="1181100">
                  <a:moveTo>
                    <a:pt x="85725" y="1123950"/>
                  </a:moveTo>
                  <a:lnTo>
                    <a:pt x="485775" y="1123950"/>
                  </a:lnTo>
                  <a:lnTo>
                    <a:pt x="485775" y="828675"/>
                  </a:lnTo>
                  <a:lnTo>
                    <a:pt x="85725" y="828675"/>
                  </a:lnTo>
                  <a:lnTo>
                    <a:pt x="85725" y="1123950"/>
                  </a:lnTo>
                  <a:close/>
                </a:path>
                <a:path w="1800225" h="1181100">
                  <a:moveTo>
                    <a:pt x="666750" y="752475"/>
                  </a:moveTo>
                  <a:lnTo>
                    <a:pt x="1076325" y="752475"/>
                  </a:lnTo>
                  <a:lnTo>
                    <a:pt x="1076325" y="466725"/>
                  </a:lnTo>
                  <a:lnTo>
                    <a:pt x="666750" y="466725"/>
                  </a:lnTo>
                  <a:lnTo>
                    <a:pt x="666750" y="752475"/>
                  </a:lnTo>
                  <a:close/>
                </a:path>
                <a:path w="1800225" h="1181100">
                  <a:moveTo>
                    <a:pt x="666750" y="1114425"/>
                  </a:moveTo>
                  <a:lnTo>
                    <a:pt x="1076325" y="1114425"/>
                  </a:lnTo>
                  <a:lnTo>
                    <a:pt x="1076325" y="828675"/>
                  </a:lnTo>
                  <a:lnTo>
                    <a:pt x="666750" y="828675"/>
                  </a:lnTo>
                  <a:lnTo>
                    <a:pt x="666750" y="1114425"/>
                  </a:lnTo>
                  <a:close/>
                </a:path>
                <a:path w="1800225" h="1181100">
                  <a:moveTo>
                    <a:pt x="1247775" y="1114425"/>
                  </a:moveTo>
                  <a:lnTo>
                    <a:pt x="1657350" y="1114425"/>
                  </a:lnTo>
                  <a:lnTo>
                    <a:pt x="1657350" y="828675"/>
                  </a:lnTo>
                  <a:lnTo>
                    <a:pt x="1247775" y="828675"/>
                  </a:lnTo>
                  <a:lnTo>
                    <a:pt x="1247775" y="1114425"/>
                  </a:lnTo>
                  <a:close/>
                </a:path>
                <a:path w="1800225" h="1181100">
                  <a:moveTo>
                    <a:pt x="1257300" y="752475"/>
                  </a:moveTo>
                  <a:lnTo>
                    <a:pt x="1657350" y="752475"/>
                  </a:lnTo>
                  <a:lnTo>
                    <a:pt x="1657350" y="466725"/>
                  </a:lnTo>
                  <a:lnTo>
                    <a:pt x="1257300" y="466725"/>
                  </a:lnTo>
                  <a:lnTo>
                    <a:pt x="1257300" y="752475"/>
                  </a:lnTo>
                  <a:close/>
                </a:path>
                <a:path w="1800225" h="1181100">
                  <a:moveTo>
                    <a:pt x="1257300" y="381000"/>
                  </a:moveTo>
                  <a:lnTo>
                    <a:pt x="1657350" y="381000"/>
                  </a:lnTo>
                  <a:lnTo>
                    <a:pt x="1657350" y="85725"/>
                  </a:lnTo>
                  <a:lnTo>
                    <a:pt x="1257300" y="85725"/>
                  </a:lnTo>
                  <a:lnTo>
                    <a:pt x="1257300" y="3810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15151" y="1052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15151" y="1052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15151" y="1424051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15151" y="1424051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1900301"/>
              <a:ext cx="220725" cy="76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1528826"/>
              <a:ext cx="220725" cy="76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1157351"/>
              <a:ext cx="220725" cy="76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5" y="804926"/>
              <a:ext cx="76200" cy="13474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110476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10476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8640" y="2243201"/>
              <a:ext cx="76200" cy="13474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7104126" y="84201"/>
            <a:ext cx="450850" cy="419734"/>
            <a:chOff x="7104126" y="84201"/>
            <a:chExt cx="450850" cy="419734"/>
          </a:xfrm>
        </p:grpSpPr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1260" y="366776"/>
              <a:ext cx="76263" cy="13716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11047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11047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7694676" y="84201"/>
            <a:ext cx="450850" cy="419734"/>
            <a:chOff x="7694676" y="84201"/>
            <a:chExt cx="450850" cy="419734"/>
          </a:xfrm>
        </p:grpSpPr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81874" y="366776"/>
              <a:ext cx="76200" cy="13716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70102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70102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8275701" y="84201"/>
            <a:ext cx="450850" cy="419734"/>
            <a:chOff x="8275701" y="84201"/>
            <a:chExt cx="450850" cy="419734"/>
          </a:xfrm>
        </p:grpSpPr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62899" y="366776"/>
              <a:ext cx="76200" cy="13716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8282051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282051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8" name="object 6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124460" y="3928355"/>
            <a:ext cx="3874770" cy="1195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dim=1)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087409" y="3928355"/>
            <a:ext cx="6515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212583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817231" y="4214422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392159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77" name="object 7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60" y="913066"/>
            <a:ext cx="2672080" cy="1249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 marR="17780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in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2869247"/>
            <a:ext cx="270827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70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8563" y="3409950"/>
            <a:ext cx="443230" cy="518159"/>
          </a:xfrm>
          <a:custGeom>
            <a:avLst/>
            <a:gdLst/>
            <a:ahLst/>
            <a:cxnLst/>
            <a:rect l="l" t="t" r="r" b="b"/>
            <a:pathLst>
              <a:path w="443230" h="518160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3" y="223647"/>
                </a:lnTo>
                <a:lnTo>
                  <a:pt x="32131" y="148336"/>
                </a:lnTo>
                <a:lnTo>
                  <a:pt x="0" y="162941"/>
                </a:lnTo>
                <a:lnTo>
                  <a:pt x="3048" y="170307"/>
                </a:lnTo>
                <a:lnTo>
                  <a:pt x="19558" y="162941"/>
                </a:lnTo>
                <a:lnTo>
                  <a:pt x="60071" y="249809"/>
                </a:lnTo>
                <a:lnTo>
                  <a:pt x="69469" y="249809"/>
                </a:lnTo>
                <a:lnTo>
                  <a:pt x="132969" y="14478"/>
                </a:lnTo>
                <a:lnTo>
                  <a:pt x="152527" y="14478"/>
                </a:lnTo>
                <a:lnTo>
                  <a:pt x="152527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  <a:path w="443230" h="518160">
                <a:moveTo>
                  <a:pt x="442722" y="295275"/>
                </a:moveTo>
                <a:lnTo>
                  <a:pt x="232918" y="295275"/>
                </a:lnTo>
                <a:lnTo>
                  <a:pt x="232918" y="293116"/>
                </a:lnTo>
                <a:lnTo>
                  <a:pt x="208153" y="293116"/>
                </a:lnTo>
                <a:lnTo>
                  <a:pt x="154559" y="494169"/>
                </a:lnTo>
                <a:lnTo>
                  <a:pt x="123952" y="425958"/>
                </a:lnTo>
                <a:lnTo>
                  <a:pt x="94996" y="439166"/>
                </a:lnTo>
                <a:lnTo>
                  <a:pt x="97663" y="445897"/>
                </a:lnTo>
                <a:lnTo>
                  <a:pt x="112649" y="439166"/>
                </a:lnTo>
                <a:lnTo>
                  <a:pt x="149225" y="517855"/>
                </a:lnTo>
                <a:lnTo>
                  <a:pt x="157861" y="517855"/>
                </a:lnTo>
                <a:lnTo>
                  <a:pt x="215265" y="304927"/>
                </a:lnTo>
                <a:lnTo>
                  <a:pt x="442722" y="304800"/>
                </a:lnTo>
                <a:lnTo>
                  <a:pt x="442722" y="295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311123"/>
            <a:ext cx="3227070" cy="6070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75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 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1239520">
              <a:lnSpc>
                <a:spcPct val="100000"/>
              </a:lnSpc>
              <a:spcBef>
                <a:spcPts val="270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250" dirty="0"/>
              <a:t> </a:t>
            </a:r>
            <a:r>
              <a:rPr spc="-20" dirty="0"/>
              <a:t>Layer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08801" y="2474976"/>
            <a:ext cx="2441575" cy="1165225"/>
            <a:chOff x="6408801" y="2474976"/>
            <a:chExt cx="2441575" cy="1165225"/>
          </a:xfrm>
        </p:grpSpPr>
        <p:sp>
          <p:nvSpPr>
            <p:cNvPr id="11" name="object 11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78270" y="25847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17" name="object 17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78270" y="2930842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21" name="object 21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03669" y="3280410"/>
            <a:ext cx="15938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K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38925" y="3386201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08801" y="950975"/>
            <a:ext cx="2441575" cy="2900680"/>
            <a:chOff x="6408801" y="950975"/>
            <a:chExt cx="2441575" cy="2900680"/>
          </a:xfrm>
        </p:grpSpPr>
        <p:sp>
          <p:nvSpPr>
            <p:cNvPr id="26" name="object 26"/>
            <p:cNvSpPr/>
            <p:nvPr/>
          </p:nvSpPr>
          <p:spPr>
            <a:xfrm>
              <a:off x="7129526" y="2567050"/>
              <a:ext cx="1571625" cy="990600"/>
            </a:xfrm>
            <a:custGeom>
              <a:avLst/>
              <a:gdLst/>
              <a:ahLst/>
              <a:cxnLst/>
              <a:rect l="l" t="t" r="r" b="b"/>
              <a:pathLst>
                <a:path w="1571625" h="990600">
                  <a:moveTo>
                    <a:pt x="0" y="304800"/>
                  </a:moveTo>
                  <a:lnTo>
                    <a:pt x="409575" y="30480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1571625" h="990600">
                  <a:moveTo>
                    <a:pt x="581025" y="295275"/>
                  </a:moveTo>
                  <a:lnTo>
                    <a:pt x="990600" y="295275"/>
                  </a:lnTo>
                  <a:lnTo>
                    <a:pt x="990600" y="0"/>
                  </a:lnTo>
                  <a:lnTo>
                    <a:pt x="581025" y="0"/>
                  </a:lnTo>
                  <a:lnTo>
                    <a:pt x="581025" y="295275"/>
                  </a:lnTo>
                  <a:close/>
                </a:path>
                <a:path w="1571625" h="990600">
                  <a:moveTo>
                    <a:pt x="0" y="638175"/>
                  </a:moveTo>
                  <a:lnTo>
                    <a:pt x="400050" y="638175"/>
                  </a:lnTo>
                  <a:lnTo>
                    <a:pt x="400050" y="352425"/>
                  </a:lnTo>
                  <a:lnTo>
                    <a:pt x="0" y="352425"/>
                  </a:lnTo>
                  <a:lnTo>
                    <a:pt x="0" y="638175"/>
                  </a:lnTo>
                  <a:close/>
                </a:path>
                <a:path w="1571625" h="990600">
                  <a:moveTo>
                    <a:pt x="0" y="990600"/>
                  </a:moveTo>
                  <a:lnTo>
                    <a:pt x="400050" y="990600"/>
                  </a:lnTo>
                  <a:lnTo>
                    <a:pt x="400050" y="704850"/>
                  </a:lnTo>
                  <a:lnTo>
                    <a:pt x="0" y="704850"/>
                  </a:lnTo>
                  <a:lnTo>
                    <a:pt x="0" y="990600"/>
                  </a:lnTo>
                  <a:close/>
                </a:path>
                <a:path w="1571625" h="990600">
                  <a:moveTo>
                    <a:pt x="581025" y="647700"/>
                  </a:moveTo>
                  <a:lnTo>
                    <a:pt x="990600" y="647700"/>
                  </a:lnTo>
                  <a:lnTo>
                    <a:pt x="990600" y="352425"/>
                  </a:lnTo>
                  <a:lnTo>
                    <a:pt x="581025" y="352425"/>
                  </a:lnTo>
                  <a:lnTo>
                    <a:pt x="581025" y="647700"/>
                  </a:lnTo>
                  <a:close/>
                </a:path>
                <a:path w="1571625" h="990600">
                  <a:moveTo>
                    <a:pt x="581025" y="990600"/>
                  </a:moveTo>
                  <a:lnTo>
                    <a:pt x="990600" y="990600"/>
                  </a:lnTo>
                  <a:lnTo>
                    <a:pt x="990600" y="695325"/>
                  </a:lnTo>
                  <a:lnTo>
                    <a:pt x="581025" y="695325"/>
                  </a:lnTo>
                  <a:lnTo>
                    <a:pt x="581025" y="990600"/>
                  </a:lnTo>
                  <a:close/>
                </a:path>
                <a:path w="1571625" h="990600">
                  <a:moveTo>
                    <a:pt x="1162050" y="990600"/>
                  </a:moveTo>
                  <a:lnTo>
                    <a:pt x="1571625" y="990600"/>
                  </a:lnTo>
                  <a:lnTo>
                    <a:pt x="1571625" y="695325"/>
                  </a:lnTo>
                  <a:lnTo>
                    <a:pt x="1162050" y="695325"/>
                  </a:lnTo>
                  <a:lnTo>
                    <a:pt x="1162050" y="990600"/>
                  </a:lnTo>
                  <a:close/>
                </a:path>
                <a:path w="1571625" h="990600">
                  <a:moveTo>
                    <a:pt x="1171575" y="647700"/>
                  </a:moveTo>
                  <a:lnTo>
                    <a:pt x="1571625" y="647700"/>
                  </a:lnTo>
                  <a:lnTo>
                    <a:pt x="1571625" y="352425"/>
                  </a:lnTo>
                  <a:lnTo>
                    <a:pt x="1171575" y="352425"/>
                  </a:lnTo>
                  <a:lnTo>
                    <a:pt x="1171575" y="647700"/>
                  </a:lnTo>
                  <a:close/>
                </a:path>
                <a:path w="1571625" h="990600">
                  <a:moveTo>
                    <a:pt x="1171575" y="295275"/>
                  </a:moveTo>
                  <a:lnTo>
                    <a:pt x="1571625" y="295275"/>
                  </a:lnTo>
                  <a:lnTo>
                    <a:pt x="1571625" y="0"/>
                  </a:lnTo>
                  <a:lnTo>
                    <a:pt x="1171575" y="0"/>
                  </a:lnTo>
                  <a:lnTo>
                    <a:pt x="1171575" y="29527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9" y="3376549"/>
              <a:ext cx="220725" cy="76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3024250"/>
              <a:ext cx="220725" cy="76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4" y="3624325"/>
              <a:ext cx="76200" cy="22733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2681350"/>
              <a:ext cx="220725" cy="762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4" y="3643375"/>
              <a:ext cx="76200" cy="20307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9" y="3652900"/>
              <a:ext cx="76200" cy="19329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  <a:path w="1800225" h="1181100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  <a:path w="1800225" h="1181100">
                  <a:moveTo>
                    <a:pt x="666750" y="381000"/>
                  </a:moveTo>
                  <a:lnTo>
                    <a:pt x="1076325" y="381000"/>
                  </a:lnTo>
                  <a:lnTo>
                    <a:pt x="1076325" y="85725"/>
                  </a:lnTo>
                  <a:lnTo>
                    <a:pt x="666750" y="85725"/>
                  </a:lnTo>
                  <a:lnTo>
                    <a:pt x="666750" y="381000"/>
                  </a:lnTo>
                  <a:close/>
                </a:path>
                <a:path w="1800225" h="1181100">
                  <a:moveTo>
                    <a:pt x="85725" y="752475"/>
                  </a:moveTo>
                  <a:lnTo>
                    <a:pt x="485775" y="752475"/>
                  </a:lnTo>
                  <a:lnTo>
                    <a:pt x="485775" y="457200"/>
                  </a:lnTo>
                  <a:lnTo>
                    <a:pt x="85725" y="457200"/>
                  </a:lnTo>
                  <a:lnTo>
                    <a:pt x="85725" y="752475"/>
                  </a:lnTo>
                  <a:close/>
                </a:path>
                <a:path w="1800225" h="1181100">
                  <a:moveTo>
                    <a:pt x="85725" y="1123950"/>
                  </a:moveTo>
                  <a:lnTo>
                    <a:pt x="485775" y="1123950"/>
                  </a:lnTo>
                  <a:lnTo>
                    <a:pt x="485775" y="828675"/>
                  </a:lnTo>
                  <a:lnTo>
                    <a:pt x="85725" y="828675"/>
                  </a:lnTo>
                  <a:lnTo>
                    <a:pt x="85725" y="1123950"/>
                  </a:lnTo>
                  <a:close/>
                </a:path>
                <a:path w="1800225" h="1181100">
                  <a:moveTo>
                    <a:pt x="666750" y="752475"/>
                  </a:moveTo>
                  <a:lnTo>
                    <a:pt x="1076325" y="752475"/>
                  </a:lnTo>
                  <a:lnTo>
                    <a:pt x="1076325" y="466725"/>
                  </a:lnTo>
                  <a:lnTo>
                    <a:pt x="666750" y="466725"/>
                  </a:lnTo>
                  <a:lnTo>
                    <a:pt x="666750" y="752475"/>
                  </a:lnTo>
                  <a:close/>
                </a:path>
                <a:path w="1800225" h="1181100">
                  <a:moveTo>
                    <a:pt x="666750" y="1114425"/>
                  </a:moveTo>
                  <a:lnTo>
                    <a:pt x="1076325" y="1114425"/>
                  </a:lnTo>
                  <a:lnTo>
                    <a:pt x="1076325" y="828675"/>
                  </a:lnTo>
                  <a:lnTo>
                    <a:pt x="666750" y="828675"/>
                  </a:lnTo>
                  <a:lnTo>
                    <a:pt x="666750" y="1114425"/>
                  </a:lnTo>
                  <a:close/>
                </a:path>
                <a:path w="1800225" h="1181100">
                  <a:moveTo>
                    <a:pt x="1247775" y="1114425"/>
                  </a:moveTo>
                  <a:lnTo>
                    <a:pt x="1657350" y="1114425"/>
                  </a:lnTo>
                  <a:lnTo>
                    <a:pt x="1657350" y="828675"/>
                  </a:lnTo>
                  <a:lnTo>
                    <a:pt x="1247775" y="828675"/>
                  </a:lnTo>
                  <a:lnTo>
                    <a:pt x="1247775" y="1114425"/>
                  </a:lnTo>
                  <a:close/>
                </a:path>
                <a:path w="1800225" h="1181100">
                  <a:moveTo>
                    <a:pt x="1257300" y="752475"/>
                  </a:moveTo>
                  <a:lnTo>
                    <a:pt x="1657350" y="752475"/>
                  </a:lnTo>
                  <a:lnTo>
                    <a:pt x="1657350" y="466725"/>
                  </a:lnTo>
                  <a:lnTo>
                    <a:pt x="1257300" y="466725"/>
                  </a:lnTo>
                  <a:lnTo>
                    <a:pt x="1257300" y="752475"/>
                  </a:lnTo>
                  <a:close/>
                </a:path>
                <a:path w="1800225" h="1181100">
                  <a:moveTo>
                    <a:pt x="1257300" y="381000"/>
                  </a:moveTo>
                  <a:lnTo>
                    <a:pt x="1657350" y="381000"/>
                  </a:lnTo>
                  <a:lnTo>
                    <a:pt x="1657350" y="85725"/>
                  </a:lnTo>
                  <a:lnTo>
                    <a:pt x="1257300" y="85725"/>
                  </a:lnTo>
                  <a:lnTo>
                    <a:pt x="1257300" y="3810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505575" y="1058481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V</a:t>
            </a:r>
            <a:endParaRPr sz="15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40830" y="1163256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40" name="object 40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44" name="object 44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505575" y="1798256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V</a:t>
            </a:r>
            <a:endParaRPr sz="15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40830" y="1903031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824598" y="804926"/>
            <a:ext cx="1144270" cy="3254375"/>
            <a:chOff x="6824598" y="804926"/>
            <a:chExt cx="1144270" cy="3254375"/>
          </a:xfrm>
        </p:grpSpPr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7104126" y="84201"/>
            <a:ext cx="450850" cy="419734"/>
            <a:chOff x="7104126" y="84201"/>
            <a:chExt cx="450850" cy="419734"/>
          </a:xfrm>
        </p:grpSpPr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91260" y="366776"/>
              <a:ext cx="76263" cy="13716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11047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11047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7694676" y="84201"/>
            <a:ext cx="450850" cy="419734"/>
            <a:chOff x="7694676" y="84201"/>
            <a:chExt cx="450850" cy="419734"/>
          </a:xfrm>
        </p:grpSpPr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81874" y="366776"/>
              <a:ext cx="76200" cy="13716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70102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70102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8275701" y="84201"/>
            <a:ext cx="450850" cy="419734"/>
            <a:chOff x="8275701" y="84201"/>
            <a:chExt cx="450850" cy="419734"/>
          </a:xfrm>
        </p:grpSpPr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62899" y="366776"/>
              <a:ext cx="76200" cy="13716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8282051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282051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8" name="object 6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7200265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704201" y="3770312"/>
            <a:ext cx="450850" cy="288925"/>
            <a:chOff x="7704201" y="3770312"/>
            <a:chExt cx="450850" cy="288925"/>
          </a:xfrm>
        </p:grpSpPr>
        <p:sp>
          <p:nvSpPr>
            <p:cNvPr id="72" name="object 72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804784" y="3784600"/>
            <a:ext cx="181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8275701" y="3779837"/>
            <a:ext cx="460375" cy="279400"/>
            <a:chOff x="8275701" y="3779837"/>
            <a:chExt cx="460375" cy="279400"/>
          </a:xfrm>
        </p:grpSpPr>
        <p:sp>
          <p:nvSpPr>
            <p:cNvPr id="76" name="object 76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8379841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006846" y="1157224"/>
            <a:ext cx="2729230" cy="3556000"/>
            <a:chOff x="6006846" y="1157224"/>
            <a:chExt cx="2729230" cy="3556000"/>
          </a:xfrm>
        </p:grpSpPr>
        <p:pic>
          <p:nvPicPr>
            <p:cNvPr id="80" name="object 8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8640" y="2243201"/>
              <a:ext cx="76200" cy="13474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3450590" y="735266"/>
            <a:ext cx="22040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Consider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permuting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963916" y="3902037"/>
            <a:ext cx="1003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359015" y="3905499"/>
            <a:ext cx="99695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538591" y="3905499"/>
            <a:ext cx="99695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24460" y="3928355"/>
            <a:ext cx="3874770" cy="1195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dim=1)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087409" y="3928355"/>
            <a:ext cx="6515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212583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817231" y="4214422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392159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01" name="object 10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02" name="object 10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103" name="object 10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92" name="object 92"/>
          <p:cNvSpPr txBox="1"/>
          <p:nvPr/>
        </p:nvSpPr>
        <p:spPr>
          <a:xfrm>
            <a:off x="3450590" y="1164907"/>
            <a:ext cx="2392045" cy="452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Queries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keys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8A81D2"/>
                </a:solidFill>
                <a:latin typeface="Arial"/>
                <a:cs typeface="Arial"/>
              </a:rPr>
              <a:t>values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will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60" y="913066"/>
            <a:ext cx="2672080" cy="1249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 marR="17780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in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060" y="3464242"/>
            <a:ext cx="46653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250" dirty="0"/>
              <a:t> </a:t>
            </a:r>
            <a:r>
              <a:rPr spc="-20" dirty="0"/>
              <a:t>Layer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08801" y="2474976"/>
            <a:ext cx="2441575" cy="1165225"/>
            <a:chOff x="6408801" y="2474976"/>
            <a:chExt cx="2441575" cy="1165225"/>
          </a:xfrm>
        </p:grpSpPr>
        <p:sp>
          <p:nvSpPr>
            <p:cNvPr id="14" name="object 14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78270" y="25847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20" name="object 20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78270" y="2930842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24" name="object 24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78270" y="3280410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29526" y="2567051"/>
            <a:ext cx="409575" cy="304800"/>
          </a:xfrm>
          <a:custGeom>
            <a:avLst/>
            <a:gdLst/>
            <a:ahLst/>
            <a:cxnLst/>
            <a:rect l="l" t="t" r="r" b="b"/>
            <a:pathLst>
              <a:path w="409575" h="304800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98106" y="264953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10551" y="2567051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779766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129526" y="2919476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93280" y="2995929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129526" y="3271901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193280" y="3345497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779766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77976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36142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366125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301101" y="256705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363839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408801" y="950975"/>
            <a:ext cx="2441575" cy="2900680"/>
            <a:chOff x="6408801" y="950975"/>
            <a:chExt cx="2441575" cy="2900680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9" y="3376549"/>
              <a:ext cx="220725" cy="762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3024250"/>
              <a:ext cx="220725" cy="762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9" y="2681350"/>
              <a:ext cx="220725" cy="762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4" y="3624325"/>
              <a:ext cx="76200" cy="22733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4" y="3643375"/>
              <a:ext cx="76200" cy="20307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9" y="3652900"/>
              <a:ext cx="76200" cy="19329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  <a:path w="1800225" h="1181100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  <a:path w="1800225" h="1181100">
                  <a:moveTo>
                    <a:pt x="666750" y="381000"/>
                  </a:moveTo>
                  <a:lnTo>
                    <a:pt x="1076325" y="381000"/>
                  </a:lnTo>
                  <a:lnTo>
                    <a:pt x="1076325" y="85725"/>
                  </a:lnTo>
                  <a:lnTo>
                    <a:pt x="666750" y="85725"/>
                  </a:lnTo>
                  <a:lnTo>
                    <a:pt x="666750" y="381000"/>
                  </a:lnTo>
                  <a:close/>
                </a:path>
                <a:path w="1800225" h="1181100">
                  <a:moveTo>
                    <a:pt x="85725" y="752475"/>
                  </a:moveTo>
                  <a:lnTo>
                    <a:pt x="485775" y="752475"/>
                  </a:lnTo>
                  <a:lnTo>
                    <a:pt x="485775" y="457200"/>
                  </a:lnTo>
                  <a:lnTo>
                    <a:pt x="85725" y="457200"/>
                  </a:lnTo>
                  <a:lnTo>
                    <a:pt x="85725" y="752475"/>
                  </a:lnTo>
                  <a:close/>
                </a:path>
                <a:path w="1800225" h="1181100">
                  <a:moveTo>
                    <a:pt x="85725" y="1123950"/>
                  </a:moveTo>
                  <a:lnTo>
                    <a:pt x="485775" y="1123950"/>
                  </a:lnTo>
                  <a:lnTo>
                    <a:pt x="485775" y="828675"/>
                  </a:lnTo>
                  <a:lnTo>
                    <a:pt x="85725" y="828675"/>
                  </a:lnTo>
                  <a:lnTo>
                    <a:pt x="85725" y="1123950"/>
                  </a:lnTo>
                  <a:close/>
                </a:path>
                <a:path w="1800225" h="1181100">
                  <a:moveTo>
                    <a:pt x="666750" y="752475"/>
                  </a:moveTo>
                  <a:lnTo>
                    <a:pt x="1076325" y="752475"/>
                  </a:lnTo>
                  <a:lnTo>
                    <a:pt x="1076325" y="466725"/>
                  </a:lnTo>
                  <a:lnTo>
                    <a:pt x="666750" y="466725"/>
                  </a:lnTo>
                  <a:lnTo>
                    <a:pt x="666750" y="752475"/>
                  </a:lnTo>
                  <a:close/>
                </a:path>
                <a:path w="1800225" h="1181100">
                  <a:moveTo>
                    <a:pt x="666750" y="1114425"/>
                  </a:moveTo>
                  <a:lnTo>
                    <a:pt x="1076325" y="1114425"/>
                  </a:lnTo>
                  <a:lnTo>
                    <a:pt x="1076325" y="828675"/>
                  </a:lnTo>
                  <a:lnTo>
                    <a:pt x="666750" y="828675"/>
                  </a:lnTo>
                  <a:lnTo>
                    <a:pt x="666750" y="1114425"/>
                  </a:lnTo>
                  <a:close/>
                </a:path>
                <a:path w="1800225" h="1181100">
                  <a:moveTo>
                    <a:pt x="1247775" y="1114425"/>
                  </a:moveTo>
                  <a:lnTo>
                    <a:pt x="1657350" y="1114425"/>
                  </a:lnTo>
                  <a:lnTo>
                    <a:pt x="1657350" y="828675"/>
                  </a:lnTo>
                  <a:lnTo>
                    <a:pt x="1247775" y="828675"/>
                  </a:lnTo>
                  <a:lnTo>
                    <a:pt x="1247775" y="1114425"/>
                  </a:lnTo>
                  <a:close/>
                </a:path>
                <a:path w="1800225" h="1181100">
                  <a:moveTo>
                    <a:pt x="1257300" y="752475"/>
                  </a:moveTo>
                  <a:lnTo>
                    <a:pt x="1657350" y="752475"/>
                  </a:lnTo>
                  <a:lnTo>
                    <a:pt x="1657350" y="466725"/>
                  </a:lnTo>
                  <a:lnTo>
                    <a:pt x="1257300" y="466725"/>
                  </a:lnTo>
                  <a:lnTo>
                    <a:pt x="1257300" y="752475"/>
                  </a:lnTo>
                  <a:close/>
                </a:path>
                <a:path w="1800225" h="1181100">
                  <a:moveTo>
                    <a:pt x="1257300" y="381000"/>
                  </a:moveTo>
                  <a:lnTo>
                    <a:pt x="1657350" y="381000"/>
                  </a:lnTo>
                  <a:lnTo>
                    <a:pt x="1657350" y="85725"/>
                  </a:lnTo>
                  <a:lnTo>
                    <a:pt x="1257300" y="85725"/>
                  </a:lnTo>
                  <a:lnTo>
                    <a:pt x="1257300" y="3810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505575" y="1058481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V</a:t>
            </a:r>
            <a:endParaRPr sz="15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40830" y="1163256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59" name="object 59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63" name="object 63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6505575" y="1798256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V</a:t>
            </a:r>
            <a:endParaRPr sz="15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640830" y="1903031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824598" y="804926"/>
            <a:ext cx="1144270" cy="3254375"/>
            <a:chOff x="6824598" y="804926"/>
            <a:chExt cx="1144270" cy="3254375"/>
          </a:xfrm>
        </p:grpSpPr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7104126" y="84201"/>
            <a:ext cx="450850" cy="419734"/>
            <a:chOff x="7104126" y="84201"/>
            <a:chExt cx="450850" cy="419734"/>
          </a:xfrm>
        </p:grpSpPr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91260" y="366776"/>
              <a:ext cx="76263" cy="13716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11047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11047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7694676" y="84201"/>
            <a:ext cx="450850" cy="419734"/>
            <a:chOff x="7694676" y="84201"/>
            <a:chExt cx="450850" cy="419734"/>
          </a:xfrm>
        </p:grpSpPr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81874" y="366776"/>
              <a:ext cx="76200" cy="13716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770102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70102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8275701" y="84201"/>
            <a:ext cx="450850" cy="419734"/>
            <a:chOff x="8275701" y="84201"/>
            <a:chExt cx="450850" cy="419734"/>
          </a:xfrm>
        </p:grpSpPr>
        <p:pic>
          <p:nvPicPr>
            <p:cNvPr id="83" name="object 8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62899" y="366776"/>
              <a:ext cx="76200" cy="13716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8282051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282051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7" name="object 8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7200265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359015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7704201" y="3770312"/>
            <a:ext cx="450850" cy="288925"/>
            <a:chOff x="7704201" y="3770312"/>
            <a:chExt cx="450850" cy="288925"/>
          </a:xfrm>
        </p:grpSpPr>
        <p:sp>
          <p:nvSpPr>
            <p:cNvPr id="92" name="object 92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7804784" y="3784600"/>
            <a:ext cx="181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963916" y="3889375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8275701" y="3779837"/>
            <a:ext cx="460375" cy="279400"/>
            <a:chOff x="8275701" y="3779837"/>
            <a:chExt cx="460375" cy="279400"/>
          </a:xfrm>
        </p:grpSpPr>
        <p:sp>
          <p:nvSpPr>
            <p:cNvPr id="97" name="object 97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8379841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538591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6006846" y="1157224"/>
            <a:ext cx="2729230" cy="3556000"/>
            <a:chOff x="6006846" y="1157224"/>
            <a:chExt cx="2729230" cy="3556000"/>
          </a:xfrm>
        </p:grpSpPr>
        <p:pic>
          <p:nvPicPr>
            <p:cNvPr id="102" name="object 10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8640" y="2243201"/>
              <a:ext cx="76200" cy="13474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3450590" y="735266"/>
            <a:ext cx="22040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Consider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permuting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24460" y="4176640"/>
            <a:ext cx="3229610" cy="946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212583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817231" y="4214422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8392159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20" name="object 1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21" name="object 1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122" name="object 1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14" name="object 114"/>
          <p:cNvSpPr txBox="1"/>
          <p:nvPr/>
        </p:nvSpPr>
        <p:spPr>
          <a:xfrm>
            <a:off x="3450590" y="1164907"/>
            <a:ext cx="2392045" cy="452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Queries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keys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8A81D2"/>
                </a:solidFill>
                <a:latin typeface="Arial"/>
                <a:cs typeface="Arial"/>
              </a:rPr>
              <a:t>values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will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450590" y="1804098"/>
            <a:ext cx="226504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Similarities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but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913066"/>
            <a:ext cx="6915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060" y="3464242"/>
            <a:ext cx="46653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250" dirty="0"/>
              <a:t> </a:t>
            </a:r>
            <a:r>
              <a:rPr spc="-20" dirty="0"/>
              <a:t>Layer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08801" y="2474976"/>
            <a:ext cx="2441575" cy="1165225"/>
            <a:chOff x="6408801" y="2474976"/>
            <a:chExt cx="2441575" cy="1165225"/>
          </a:xfrm>
        </p:grpSpPr>
        <p:sp>
          <p:nvSpPr>
            <p:cNvPr id="17" name="object 17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78270" y="25847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23" name="object 23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78270" y="2930842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27" name="object 27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78270" y="3280410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29526" y="2567051"/>
            <a:ext cx="409575" cy="304800"/>
          </a:xfrm>
          <a:custGeom>
            <a:avLst/>
            <a:gdLst/>
            <a:ahLst/>
            <a:cxnLst/>
            <a:rect l="l" t="t" r="r" b="b"/>
            <a:pathLst>
              <a:path w="409575" h="304800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198106" y="264953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10551" y="2567051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779766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29526" y="2919476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193280" y="2995929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129526" y="3271901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193280" y="3345497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779766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77976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36142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366125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301101" y="256705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363839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824598" y="950975"/>
            <a:ext cx="2026285" cy="2900680"/>
            <a:chOff x="6824598" y="950975"/>
            <a:chExt cx="2026285" cy="2900680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0"/>
              <a:ext cx="220725" cy="76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0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5"/>
              <a:ext cx="76200" cy="22733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3" y="3643375"/>
              <a:ext cx="76200" cy="20307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8" y="3652900"/>
              <a:ext cx="76200" cy="19329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  <a:path w="1800225" h="1181100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198106" y="1123378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129526" y="1414525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193280" y="1490916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129526" y="178600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7193280" y="1863153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710551" y="1424050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7779766" y="149574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710551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77976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291576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836142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408801" y="1046225"/>
            <a:ext cx="422275" cy="298450"/>
            <a:chOff x="6408801" y="1046225"/>
            <a:chExt cx="422275" cy="298450"/>
          </a:xfrm>
        </p:grpSpPr>
        <p:sp>
          <p:nvSpPr>
            <p:cNvPr id="72" name="object 72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480175" y="1058481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76" name="object 76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80" name="object 80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6480175" y="1798256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824598" y="804926"/>
            <a:ext cx="1144270" cy="3254375"/>
            <a:chOff x="6824598" y="804926"/>
            <a:chExt cx="1144270" cy="3254375"/>
          </a:xfrm>
        </p:grpSpPr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7104126" y="84201"/>
            <a:ext cx="450850" cy="419734"/>
            <a:chOff x="7104126" y="84201"/>
            <a:chExt cx="450850" cy="419734"/>
          </a:xfrm>
        </p:grpSpPr>
        <p:pic>
          <p:nvPicPr>
            <p:cNvPr id="91" name="object 9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91260" y="366776"/>
              <a:ext cx="76263" cy="137160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11047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11047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7694676" y="84201"/>
            <a:ext cx="450850" cy="419734"/>
            <a:chOff x="7694676" y="84201"/>
            <a:chExt cx="450850" cy="419734"/>
          </a:xfrm>
        </p:grpSpPr>
        <p:pic>
          <p:nvPicPr>
            <p:cNvPr id="95" name="object 9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81874" y="366776"/>
              <a:ext cx="76200" cy="13716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770102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701026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8275701" y="84201"/>
            <a:ext cx="450850" cy="419734"/>
            <a:chOff x="8275701" y="84201"/>
            <a:chExt cx="450850" cy="419734"/>
          </a:xfrm>
        </p:grpSpPr>
        <p:pic>
          <p:nvPicPr>
            <p:cNvPr id="99" name="object 9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62899" y="366776"/>
              <a:ext cx="76200" cy="137160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8282051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282051" y="90551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3" name="object 10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105" name="object 105"/>
          <p:cNvSpPr txBox="1"/>
          <p:nvPr/>
        </p:nvSpPr>
        <p:spPr>
          <a:xfrm>
            <a:off x="7200265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59015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7704201" y="3770312"/>
            <a:ext cx="450850" cy="288925"/>
            <a:chOff x="7704201" y="3770312"/>
            <a:chExt cx="450850" cy="288925"/>
          </a:xfrm>
        </p:grpSpPr>
        <p:sp>
          <p:nvSpPr>
            <p:cNvPr id="108" name="object 108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7804784" y="3784600"/>
            <a:ext cx="181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963916" y="3889375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8275701" y="3779837"/>
            <a:ext cx="460375" cy="279400"/>
            <a:chOff x="8275701" y="3779837"/>
            <a:chExt cx="460375" cy="279400"/>
          </a:xfrm>
        </p:grpSpPr>
        <p:sp>
          <p:nvSpPr>
            <p:cNvPr id="113" name="object 113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8379841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8538591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6006846" y="1157224"/>
            <a:ext cx="2729230" cy="3556000"/>
            <a:chOff x="6006846" y="1157224"/>
            <a:chExt cx="2729230" cy="3556000"/>
          </a:xfrm>
        </p:grpSpPr>
        <p:pic>
          <p:nvPicPr>
            <p:cNvPr id="118" name="object 1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8640" y="2243201"/>
              <a:ext cx="76200" cy="134747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1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3450590" y="735266"/>
            <a:ext cx="22040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Consider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permuting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24460" y="4176640"/>
            <a:ext cx="3229610" cy="946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7212583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7817231" y="4214422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8392159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37" name="object 1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38" name="object 1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139" name="object 1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30" name="object 130"/>
          <p:cNvSpPr txBox="1"/>
          <p:nvPr/>
        </p:nvSpPr>
        <p:spPr>
          <a:xfrm>
            <a:off x="3450590" y="1164907"/>
            <a:ext cx="2392045" cy="452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Queries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keys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8A81D2"/>
                </a:solidFill>
                <a:latin typeface="Arial"/>
                <a:cs typeface="Arial"/>
              </a:rPr>
              <a:t>values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will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450590" y="1804098"/>
            <a:ext cx="226504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Similarities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but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450590" y="2443416"/>
            <a:ext cx="198247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Attention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weights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460" y="193674"/>
            <a:ext cx="3246120" cy="9855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latin typeface="Arial"/>
                <a:cs typeface="Arial"/>
              </a:rPr>
              <a:t>Self-Attention</a:t>
            </a:r>
            <a:r>
              <a:rPr sz="2750" spc="25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Layer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6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00480" y="3464242"/>
            <a:ext cx="1389380" cy="45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7470" algn="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65"/>
              </a:spcBef>
              <a:tabLst>
                <a:tab pos="114427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460" y="3909377"/>
            <a:ext cx="46145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08801" y="2474976"/>
            <a:ext cx="2441575" cy="1165225"/>
            <a:chOff x="6408801" y="2474976"/>
            <a:chExt cx="2441575" cy="1165225"/>
          </a:xfrm>
        </p:grpSpPr>
        <p:sp>
          <p:nvSpPr>
            <p:cNvPr id="17" name="object 17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78270" y="25847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23" name="object 23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78270" y="2930842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27" name="object 27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78270" y="3280410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29526" y="2567051"/>
            <a:ext cx="409575" cy="304800"/>
          </a:xfrm>
          <a:custGeom>
            <a:avLst/>
            <a:gdLst/>
            <a:ahLst/>
            <a:cxnLst/>
            <a:rect l="l" t="t" r="r" b="b"/>
            <a:pathLst>
              <a:path w="409575" h="304800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198106" y="264953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10551" y="2567051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779766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29526" y="2919476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193280" y="2995929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129526" y="3271901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193280" y="3345497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779766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77976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36142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366125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301101" y="256705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363839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824598" y="950975"/>
            <a:ext cx="2026285" cy="2900680"/>
            <a:chOff x="6824598" y="950975"/>
            <a:chExt cx="2026285" cy="2900680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0"/>
              <a:ext cx="220725" cy="76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0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5"/>
              <a:ext cx="76200" cy="22733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3" y="3643375"/>
              <a:ext cx="76200" cy="20307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8" y="3652900"/>
              <a:ext cx="76200" cy="19329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  <a:path w="1800225" h="1181100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198106" y="1123378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129526" y="1414525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193280" y="1490916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129526" y="178600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7193280" y="1863153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710551" y="1424050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7779766" y="149574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710551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77976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291576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836142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408801" y="1046225"/>
            <a:ext cx="422275" cy="298450"/>
            <a:chOff x="6408801" y="1046225"/>
            <a:chExt cx="422275" cy="298450"/>
          </a:xfrm>
        </p:grpSpPr>
        <p:sp>
          <p:nvSpPr>
            <p:cNvPr id="72" name="object 72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480175" y="1058481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76" name="object 76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80" name="object 80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6480175" y="1798256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824598" y="804926"/>
            <a:ext cx="1144270" cy="3254375"/>
            <a:chOff x="6824598" y="804926"/>
            <a:chExt cx="1144270" cy="3254375"/>
          </a:xfrm>
        </p:grpSpPr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0" name="object 9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1260" y="366775"/>
            <a:ext cx="76263" cy="137160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1873" y="366775"/>
            <a:ext cx="76200" cy="137160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62898" y="366775"/>
            <a:ext cx="76200" cy="137160"/>
          </a:xfrm>
          <a:prstGeom prst="rect">
            <a:avLst/>
          </a:prstGeom>
        </p:spPr>
      </p:pic>
      <p:sp>
        <p:nvSpPr>
          <p:cNvPr id="93" name="object 93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4" name="object 9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96" name="object 96"/>
          <p:cNvSpPr txBox="1"/>
          <p:nvPr/>
        </p:nvSpPr>
        <p:spPr>
          <a:xfrm>
            <a:off x="711047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70102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282051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200265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359015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704201" y="3770312"/>
            <a:ext cx="450850" cy="288925"/>
            <a:chOff x="7704201" y="3770312"/>
            <a:chExt cx="450850" cy="288925"/>
          </a:xfrm>
        </p:grpSpPr>
        <p:sp>
          <p:nvSpPr>
            <p:cNvPr id="102" name="object 102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7804784" y="3784600"/>
            <a:ext cx="181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963916" y="3889375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8275701" y="3779837"/>
            <a:ext cx="460375" cy="279400"/>
            <a:chOff x="8275701" y="3779837"/>
            <a:chExt cx="460375" cy="279400"/>
          </a:xfrm>
        </p:grpSpPr>
        <p:sp>
          <p:nvSpPr>
            <p:cNvPr id="107" name="object 107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8379841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538591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6006846" y="1157224"/>
            <a:ext cx="2729230" cy="3556000"/>
            <a:chOff x="6006846" y="1157224"/>
            <a:chExt cx="2729230" cy="3556000"/>
          </a:xfrm>
        </p:grpSpPr>
        <p:pic>
          <p:nvPicPr>
            <p:cNvPr id="112" name="object 1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8640" y="2243201"/>
              <a:ext cx="76200" cy="13474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3450590" y="735266"/>
            <a:ext cx="22040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Consider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permuting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981B9"/>
                </a:solidFill>
                <a:latin typeface="Arial"/>
                <a:cs typeface="Arial"/>
              </a:rPr>
              <a:t>inputs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24460" y="4176640"/>
            <a:ext cx="3229610" cy="946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7212583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7817231" y="4214422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8392159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32" name="object 1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33" name="object 1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134" name="object 1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24" name="object 124"/>
          <p:cNvSpPr txBox="1"/>
          <p:nvPr/>
        </p:nvSpPr>
        <p:spPr>
          <a:xfrm>
            <a:off x="3450590" y="1164907"/>
            <a:ext cx="2392045" cy="452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Queries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keys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8A81D2"/>
                </a:solidFill>
                <a:latin typeface="Arial"/>
                <a:cs typeface="Arial"/>
              </a:rPr>
              <a:t>values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will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450590" y="1804098"/>
            <a:ext cx="226504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Similarities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but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450590" y="2443416"/>
            <a:ext cx="198247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Attention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weights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450590" y="3092386"/>
            <a:ext cx="2079625" cy="4533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b="1" dirty="0">
                <a:solidFill>
                  <a:srgbClr val="D79F39"/>
                </a:solidFill>
                <a:latin typeface="Arial"/>
                <a:cs typeface="Arial"/>
              </a:rPr>
              <a:t>Outputs</a:t>
            </a:r>
            <a:r>
              <a:rPr sz="140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but </a:t>
            </a:r>
            <a:r>
              <a:rPr sz="1400" spc="-10" dirty="0">
                <a:latin typeface="Arial"/>
                <a:cs typeface="Arial"/>
              </a:rPr>
              <a:t>permuted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913066"/>
            <a:ext cx="6915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060" y="3464242"/>
            <a:ext cx="46653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7487" y="193674"/>
            <a:ext cx="31527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latin typeface="Arial"/>
                <a:cs typeface="Arial"/>
              </a:rPr>
              <a:t>Self-Attention</a:t>
            </a:r>
            <a:r>
              <a:rPr sz="2750" spc="25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Layer</a:t>
            </a:r>
            <a:endParaRPr sz="2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08801" y="2474976"/>
            <a:ext cx="2441575" cy="1165225"/>
            <a:chOff x="6408801" y="2474976"/>
            <a:chExt cx="2441575" cy="1165225"/>
          </a:xfrm>
        </p:grpSpPr>
        <p:sp>
          <p:nvSpPr>
            <p:cNvPr id="17" name="object 17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15151" y="25765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78270" y="2584767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08801" y="2913126"/>
            <a:ext cx="422275" cy="298450"/>
            <a:chOff x="6408801" y="2913126"/>
            <a:chExt cx="422275" cy="298450"/>
          </a:xfrm>
        </p:grpSpPr>
        <p:sp>
          <p:nvSpPr>
            <p:cNvPr id="23" name="object 23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5151" y="2919476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78270" y="2930842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08801" y="3265551"/>
            <a:ext cx="422275" cy="298450"/>
            <a:chOff x="6408801" y="3265551"/>
            <a:chExt cx="422275" cy="298450"/>
          </a:xfrm>
        </p:grpSpPr>
        <p:sp>
          <p:nvSpPr>
            <p:cNvPr id="27" name="object 27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15151" y="3271901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78270" y="3280410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29526" y="2567051"/>
            <a:ext cx="409575" cy="304800"/>
          </a:xfrm>
          <a:custGeom>
            <a:avLst/>
            <a:gdLst/>
            <a:ahLst/>
            <a:cxnLst/>
            <a:rect l="l" t="t" r="r" b="b"/>
            <a:pathLst>
              <a:path w="409575" h="304800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198106" y="264953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10551" y="2567051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779766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29526" y="2919476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193280" y="2995929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129526" y="3271901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193280" y="3345497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779766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77976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361426" y="334105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366125" y="300005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301101" y="256705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363839" y="2645727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824598" y="950975"/>
            <a:ext cx="2026285" cy="2900680"/>
            <a:chOff x="6824598" y="950975"/>
            <a:chExt cx="2026285" cy="2900680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0"/>
              <a:ext cx="220725" cy="76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0"/>
              <a:ext cx="220725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5"/>
              <a:ext cx="76200" cy="22733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3" y="3643375"/>
              <a:ext cx="76200" cy="20307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8" y="3652900"/>
              <a:ext cx="76200" cy="19329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43800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  <a:path w="1800225" h="1181100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198106" y="1123378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129526" y="1414525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193280" y="1490916"/>
            <a:ext cx="2851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129526" y="1786001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7193280" y="1863153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710551" y="1424050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7779766" y="1495742"/>
            <a:ext cx="284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710551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77976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291576" y="1786001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50"/>
                </a:moveTo>
                <a:lnTo>
                  <a:pt x="409575" y="285750"/>
                </a:lnTo>
                <a:lnTo>
                  <a:pt x="4095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8361426" y="1858645"/>
            <a:ext cx="28448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408801" y="1046225"/>
            <a:ext cx="422275" cy="298450"/>
            <a:chOff x="6408801" y="1046225"/>
            <a:chExt cx="422275" cy="298450"/>
          </a:xfrm>
        </p:grpSpPr>
        <p:sp>
          <p:nvSpPr>
            <p:cNvPr id="72" name="object 72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40957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409575" y="2857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415151" y="1052575"/>
              <a:ext cx="409575" cy="285750"/>
            </a:xfrm>
            <a:custGeom>
              <a:avLst/>
              <a:gdLst/>
              <a:ahLst/>
              <a:cxnLst/>
              <a:rect l="l" t="t" r="r" b="b"/>
              <a:pathLst>
                <a:path w="409575" h="285750">
                  <a:moveTo>
                    <a:pt x="0" y="285750"/>
                  </a:moveTo>
                  <a:lnTo>
                    <a:pt x="409575" y="2857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480175" y="1058481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408801" y="1417700"/>
            <a:ext cx="422275" cy="288925"/>
            <a:chOff x="6408801" y="1417700"/>
            <a:chExt cx="422275" cy="288925"/>
          </a:xfrm>
        </p:grpSpPr>
        <p:sp>
          <p:nvSpPr>
            <p:cNvPr id="76" name="object 76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415151" y="1424050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480175" y="1425955"/>
            <a:ext cx="2857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408801" y="1789176"/>
            <a:ext cx="422275" cy="288925"/>
            <a:chOff x="6408801" y="1789176"/>
            <a:chExt cx="422275" cy="288925"/>
          </a:xfrm>
        </p:grpSpPr>
        <p:sp>
          <p:nvSpPr>
            <p:cNvPr id="80" name="object 80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40957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09575" y="27622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415151" y="1795526"/>
              <a:ext cx="409575" cy="276225"/>
            </a:xfrm>
            <a:custGeom>
              <a:avLst/>
              <a:gdLst/>
              <a:ahLst/>
              <a:cxnLst/>
              <a:rect l="l" t="t" r="r" b="b"/>
              <a:pathLst>
                <a:path w="409575" h="276225">
                  <a:moveTo>
                    <a:pt x="0" y="276225"/>
                  </a:moveTo>
                  <a:lnTo>
                    <a:pt x="409575" y="27622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6480175" y="1798256"/>
            <a:ext cx="286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824598" y="804926"/>
            <a:ext cx="1144270" cy="3254375"/>
            <a:chOff x="6824598" y="804926"/>
            <a:chExt cx="1144270" cy="3254375"/>
          </a:xfrm>
        </p:grpSpPr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110475" y="37861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0" name="object 9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1260" y="366775"/>
            <a:ext cx="76263" cy="137160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1873" y="366775"/>
            <a:ext cx="76200" cy="137160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62898" y="366775"/>
            <a:ext cx="76200" cy="137160"/>
          </a:xfrm>
          <a:prstGeom prst="rect">
            <a:avLst/>
          </a:prstGeom>
        </p:spPr>
      </p:pic>
      <p:sp>
        <p:nvSpPr>
          <p:cNvPr id="93" name="object 93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4" name="object 9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96" name="object 96"/>
          <p:cNvSpPr txBox="1"/>
          <p:nvPr/>
        </p:nvSpPr>
        <p:spPr>
          <a:xfrm>
            <a:off x="711047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70102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282051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200265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359015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704201" y="3770312"/>
            <a:ext cx="450850" cy="288925"/>
            <a:chOff x="7704201" y="3770312"/>
            <a:chExt cx="450850" cy="288925"/>
          </a:xfrm>
        </p:grpSpPr>
        <p:sp>
          <p:nvSpPr>
            <p:cNvPr id="102" name="object 102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710551" y="377666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7804784" y="3784600"/>
            <a:ext cx="181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963916" y="3889375"/>
            <a:ext cx="10033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8275701" y="3779837"/>
            <a:ext cx="460375" cy="279400"/>
            <a:chOff x="8275701" y="3779837"/>
            <a:chExt cx="460375" cy="279400"/>
          </a:xfrm>
        </p:grpSpPr>
        <p:sp>
          <p:nvSpPr>
            <p:cNvPr id="107" name="object 107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282051" y="37861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8379841" y="3787140"/>
            <a:ext cx="1816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latin typeface="Arial"/>
                <a:cs typeface="Arial"/>
              </a:rPr>
              <a:t>Q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538591" y="3892867"/>
            <a:ext cx="996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6006846" y="1157224"/>
            <a:ext cx="2729230" cy="3556000"/>
            <a:chOff x="6006846" y="1157224"/>
            <a:chExt cx="2729230" cy="3556000"/>
          </a:xfrm>
        </p:grpSpPr>
        <p:pic>
          <p:nvPicPr>
            <p:cNvPr id="112" name="object 1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8640" y="2243201"/>
              <a:ext cx="76200" cy="13474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6006846" y="1157223"/>
              <a:ext cx="2515235" cy="3556000"/>
            </a:xfrm>
            <a:custGeom>
              <a:avLst/>
              <a:gdLst/>
              <a:ahLst/>
              <a:cxnLst/>
              <a:rect l="l" t="t" r="r" b="b"/>
              <a:pathLst>
                <a:path w="2515234" h="3556000">
                  <a:moveTo>
                    <a:pt x="2514981" y="3310585"/>
                  </a:moveTo>
                  <a:lnTo>
                    <a:pt x="2489581" y="3310585"/>
                  </a:lnTo>
                  <a:lnTo>
                    <a:pt x="2489581" y="3314103"/>
                  </a:lnTo>
                  <a:lnTo>
                    <a:pt x="2487676" y="3314103"/>
                  </a:lnTo>
                  <a:lnTo>
                    <a:pt x="2487676" y="3526485"/>
                  </a:lnTo>
                  <a:lnTo>
                    <a:pt x="25400" y="3526485"/>
                  </a:lnTo>
                  <a:lnTo>
                    <a:pt x="25400" y="2270252"/>
                  </a:lnTo>
                  <a:lnTo>
                    <a:pt x="79883" y="2270252"/>
                  </a:lnTo>
                  <a:lnTo>
                    <a:pt x="79883" y="3445802"/>
                  </a:lnTo>
                  <a:lnTo>
                    <a:pt x="79883" y="3452037"/>
                  </a:lnTo>
                  <a:lnTo>
                    <a:pt x="85598" y="3457727"/>
                  </a:lnTo>
                  <a:lnTo>
                    <a:pt x="1933067" y="3457727"/>
                  </a:lnTo>
                  <a:lnTo>
                    <a:pt x="1938782" y="3452037"/>
                  </a:lnTo>
                  <a:lnTo>
                    <a:pt x="1938782" y="3447694"/>
                  </a:lnTo>
                  <a:lnTo>
                    <a:pt x="1940687" y="3445802"/>
                  </a:lnTo>
                  <a:lnTo>
                    <a:pt x="1940687" y="3438779"/>
                  </a:lnTo>
                  <a:lnTo>
                    <a:pt x="1940687" y="3426079"/>
                  </a:lnTo>
                  <a:lnTo>
                    <a:pt x="1940687" y="3304514"/>
                  </a:lnTo>
                  <a:lnTo>
                    <a:pt x="1915287" y="3304514"/>
                  </a:lnTo>
                  <a:lnTo>
                    <a:pt x="1915287" y="3310763"/>
                  </a:lnTo>
                  <a:lnTo>
                    <a:pt x="1913382" y="3310763"/>
                  </a:lnTo>
                  <a:lnTo>
                    <a:pt x="1913382" y="3426079"/>
                  </a:lnTo>
                  <a:lnTo>
                    <a:pt x="105283" y="3426079"/>
                  </a:lnTo>
                  <a:lnTo>
                    <a:pt x="105283" y="2270252"/>
                  </a:lnTo>
                  <a:lnTo>
                    <a:pt x="166878" y="2270252"/>
                  </a:lnTo>
                  <a:lnTo>
                    <a:pt x="166878" y="3363607"/>
                  </a:lnTo>
                  <a:lnTo>
                    <a:pt x="167005" y="3363734"/>
                  </a:lnTo>
                  <a:lnTo>
                    <a:pt x="167005" y="3364179"/>
                  </a:lnTo>
                  <a:lnTo>
                    <a:pt x="172593" y="3369868"/>
                  </a:lnTo>
                  <a:lnTo>
                    <a:pt x="1330960" y="3369868"/>
                  </a:lnTo>
                  <a:lnTo>
                    <a:pt x="1336675" y="3364179"/>
                  </a:lnTo>
                  <a:lnTo>
                    <a:pt x="1336675" y="3357168"/>
                  </a:lnTo>
                  <a:lnTo>
                    <a:pt x="1336675" y="3344468"/>
                  </a:lnTo>
                  <a:lnTo>
                    <a:pt x="1336675" y="3309988"/>
                  </a:lnTo>
                  <a:lnTo>
                    <a:pt x="1334643" y="3309988"/>
                  </a:lnTo>
                  <a:lnTo>
                    <a:pt x="1334643" y="3309429"/>
                  </a:lnTo>
                  <a:lnTo>
                    <a:pt x="1309243" y="3309429"/>
                  </a:lnTo>
                  <a:lnTo>
                    <a:pt x="1309243" y="3343897"/>
                  </a:lnTo>
                  <a:lnTo>
                    <a:pt x="192405" y="3343897"/>
                  </a:lnTo>
                  <a:lnTo>
                    <a:pt x="192405" y="2270252"/>
                  </a:lnTo>
                  <a:lnTo>
                    <a:pt x="331978" y="2270252"/>
                  </a:lnTo>
                  <a:lnTo>
                    <a:pt x="331978" y="2295652"/>
                  </a:lnTo>
                  <a:lnTo>
                    <a:pt x="382778" y="2270252"/>
                  </a:lnTo>
                  <a:lnTo>
                    <a:pt x="408178" y="2257552"/>
                  </a:lnTo>
                  <a:lnTo>
                    <a:pt x="382778" y="2244852"/>
                  </a:lnTo>
                  <a:lnTo>
                    <a:pt x="331978" y="2219452"/>
                  </a:lnTo>
                  <a:lnTo>
                    <a:pt x="331978" y="2244852"/>
                  </a:lnTo>
                  <a:lnTo>
                    <a:pt x="192405" y="2244852"/>
                  </a:lnTo>
                  <a:lnTo>
                    <a:pt x="192405" y="1917827"/>
                  </a:lnTo>
                  <a:lnTo>
                    <a:pt x="331978" y="1917827"/>
                  </a:lnTo>
                  <a:lnTo>
                    <a:pt x="331978" y="1943227"/>
                  </a:lnTo>
                  <a:lnTo>
                    <a:pt x="382778" y="1917827"/>
                  </a:lnTo>
                  <a:lnTo>
                    <a:pt x="408178" y="1905127"/>
                  </a:lnTo>
                  <a:lnTo>
                    <a:pt x="382778" y="1892427"/>
                  </a:lnTo>
                  <a:lnTo>
                    <a:pt x="331978" y="1867027"/>
                  </a:lnTo>
                  <a:lnTo>
                    <a:pt x="331978" y="1892427"/>
                  </a:lnTo>
                  <a:lnTo>
                    <a:pt x="192405" y="1892427"/>
                  </a:lnTo>
                  <a:lnTo>
                    <a:pt x="192405" y="1574800"/>
                  </a:lnTo>
                  <a:lnTo>
                    <a:pt x="331978" y="1574800"/>
                  </a:lnTo>
                  <a:lnTo>
                    <a:pt x="331978" y="1600200"/>
                  </a:lnTo>
                  <a:lnTo>
                    <a:pt x="382778" y="1574800"/>
                  </a:lnTo>
                  <a:lnTo>
                    <a:pt x="408178" y="1562100"/>
                  </a:lnTo>
                  <a:lnTo>
                    <a:pt x="382778" y="1549400"/>
                  </a:lnTo>
                  <a:lnTo>
                    <a:pt x="331978" y="1524000"/>
                  </a:lnTo>
                  <a:lnTo>
                    <a:pt x="331978" y="1549400"/>
                  </a:lnTo>
                  <a:lnTo>
                    <a:pt x="192278" y="1549400"/>
                  </a:lnTo>
                  <a:lnTo>
                    <a:pt x="192278" y="793877"/>
                  </a:lnTo>
                  <a:lnTo>
                    <a:pt x="331978" y="793877"/>
                  </a:lnTo>
                  <a:lnTo>
                    <a:pt x="331978" y="819150"/>
                  </a:lnTo>
                  <a:lnTo>
                    <a:pt x="382524" y="793877"/>
                  </a:lnTo>
                  <a:lnTo>
                    <a:pt x="408178" y="781050"/>
                  </a:lnTo>
                  <a:lnTo>
                    <a:pt x="382778" y="768350"/>
                  </a:lnTo>
                  <a:lnTo>
                    <a:pt x="331978" y="742950"/>
                  </a:lnTo>
                  <a:lnTo>
                    <a:pt x="331978" y="768350"/>
                  </a:lnTo>
                  <a:lnTo>
                    <a:pt x="192278" y="768350"/>
                  </a:lnTo>
                  <a:lnTo>
                    <a:pt x="192278" y="422402"/>
                  </a:lnTo>
                  <a:lnTo>
                    <a:pt x="331978" y="422402"/>
                  </a:lnTo>
                  <a:lnTo>
                    <a:pt x="331978" y="447675"/>
                  </a:lnTo>
                  <a:lnTo>
                    <a:pt x="382524" y="422402"/>
                  </a:lnTo>
                  <a:lnTo>
                    <a:pt x="408178" y="409575"/>
                  </a:lnTo>
                  <a:lnTo>
                    <a:pt x="382778" y="396875"/>
                  </a:lnTo>
                  <a:lnTo>
                    <a:pt x="331978" y="371475"/>
                  </a:lnTo>
                  <a:lnTo>
                    <a:pt x="331978" y="396875"/>
                  </a:lnTo>
                  <a:lnTo>
                    <a:pt x="192278" y="396875"/>
                  </a:lnTo>
                  <a:lnTo>
                    <a:pt x="192278" y="50800"/>
                  </a:lnTo>
                  <a:lnTo>
                    <a:pt x="331978" y="50800"/>
                  </a:lnTo>
                  <a:lnTo>
                    <a:pt x="331978" y="76200"/>
                  </a:lnTo>
                  <a:lnTo>
                    <a:pt x="382778" y="50800"/>
                  </a:lnTo>
                  <a:lnTo>
                    <a:pt x="408178" y="38100"/>
                  </a:lnTo>
                  <a:lnTo>
                    <a:pt x="382778" y="25400"/>
                  </a:lnTo>
                  <a:lnTo>
                    <a:pt x="331978" y="0"/>
                  </a:lnTo>
                  <a:lnTo>
                    <a:pt x="331978" y="25400"/>
                  </a:lnTo>
                  <a:lnTo>
                    <a:pt x="172593" y="25400"/>
                  </a:lnTo>
                  <a:lnTo>
                    <a:pt x="166878" y="31115"/>
                  </a:lnTo>
                  <a:lnTo>
                    <a:pt x="166878" y="2244852"/>
                  </a:lnTo>
                  <a:lnTo>
                    <a:pt x="105283" y="2244852"/>
                  </a:lnTo>
                  <a:lnTo>
                    <a:pt x="105283" y="1917827"/>
                  </a:lnTo>
                  <a:lnTo>
                    <a:pt x="166878" y="1917827"/>
                  </a:lnTo>
                  <a:lnTo>
                    <a:pt x="166878" y="1892427"/>
                  </a:lnTo>
                  <a:lnTo>
                    <a:pt x="105283" y="1892427"/>
                  </a:lnTo>
                  <a:lnTo>
                    <a:pt x="105283" y="793877"/>
                  </a:lnTo>
                  <a:lnTo>
                    <a:pt x="166878" y="793877"/>
                  </a:lnTo>
                  <a:lnTo>
                    <a:pt x="166878" y="768350"/>
                  </a:lnTo>
                  <a:lnTo>
                    <a:pt x="105283" y="768350"/>
                  </a:lnTo>
                  <a:lnTo>
                    <a:pt x="105283" y="422402"/>
                  </a:lnTo>
                  <a:lnTo>
                    <a:pt x="166878" y="422402"/>
                  </a:lnTo>
                  <a:lnTo>
                    <a:pt x="166878" y="396875"/>
                  </a:lnTo>
                  <a:lnTo>
                    <a:pt x="85598" y="396875"/>
                  </a:lnTo>
                  <a:lnTo>
                    <a:pt x="79883" y="402590"/>
                  </a:lnTo>
                  <a:lnTo>
                    <a:pt x="79883" y="768350"/>
                  </a:lnTo>
                  <a:lnTo>
                    <a:pt x="79883" y="793877"/>
                  </a:lnTo>
                  <a:lnTo>
                    <a:pt x="79883" y="1898015"/>
                  </a:lnTo>
                  <a:lnTo>
                    <a:pt x="79883" y="2244852"/>
                  </a:lnTo>
                  <a:lnTo>
                    <a:pt x="25400" y="2244852"/>
                  </a:lnTo>
                  <a:lnTo>
                    <a:pt x="25400" y="793877"/>
                  </a:lnTo>
                  <a:lnTo>
                    <a:pt x="79883" y="793877"/>
                  </a:lnTo>
                  <a:lnTo>
                    <a:pt x="79883" y="768350"/>
                  </a:lnTo>
                  <a:lnTo>
                    <a:pt x="5715" y="768350"/>
                  </a:lnTo>
                  <a:lnTo>
                    <a:pt x="0" y="774065"/>
                  </a:lnTo>
                  <a:lnTo>
                    <a:pt x="0" y="2250440"/>
                  </a:lnTo>
                  <a:lnTo>
                    <a:pt x="0" y="3546195"/>
                  </a:lnTo>
                  <a:lnTo>
                    <a:pt x="0" y="3549726"/>
                  </a:lnTo>
                  <a:lnTo>
                    <a:pt x="5715" y="3555403"/>
                  </a:lnTo>
                  <a:lnTo>
                    <a:pt x="2507361" y="3555403"/>
                  </a:lnTo>
                  <a:lnTo>
                    <a:pt x="2513076" y="3549726"/>
                  </a:lnTo>
                  <a:lnTo>
                    <a:pt x="2513076" y="3548100"/>
                  </a:lnTo>
                  <a:lnTo>
                    <a:pt x="2514981" y="3546195"/>
                  </a:lnTo>
                  <a:lnTo>
                    <a:pt x="2514981" y="3539185"/>
                  </a:lnTo>
                  <a:lnTo>
                    <a:pt x="2514981" y="3526485"/>
                  </a:lnTo>
                  <a:lnTo>
                    <a:pt x="2514981" y="331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3132201" y="1417891"/>
            <a:ext cx="2205990" cy="743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20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is </a:t>
            </a: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permutation</a:t>
            </a:r>
            <a:r>
              <a:rPr sz="1550" u="heavy" spc="2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equivariant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u="none" dirty="0">
                <a:latin typeface="Arial"/>
                <a:cs typeface="Arial"/>
              </a:rPr>
              <a:t>F(</a:t>
            </a:r>
            <a:r>
              <a:rPr sz="1550" u="none" dirty="0">
                <a:solidFill>
                  <a:srgbClr val="040C28"/>
                </a:solidFill>
                <a:latin typeface="Calibri"/>
                <a:cs typeface="Calibri"/>
              </a:rPr>
              <a:t>σ</a:t>
            </a:r>
            <a:r>
              <a:rPr sz="1550" u="none" dirty="0">
                <a:latin typeface="Arial"/>
                <a:cs typeface="Arial"/>
              </a:rPr>
              <a:t>(X))</a:t>
            </a:r>
            <a:r>
              <a:rPr sz="1550" u="none" spc="100" dirty="0"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0" dirty="0">
                <a:latin typeface="Arial"/>
                <a:cs typeface="Arial"/>
              </a:rPr>
              <a:t> </a:t>
            </a:r>
            <a:r>
              <a:rPr sz="1550" u="none" spc="-10" dirty="0">
                <a:solidFill>
                  <a:srgbClr val="040C28"/>
                </a:solidFill>
                <a:latin typeface="Calibri"/>
                <a:cs typeface="Calibri"/>
              </a:rPr>
              <a:t>σ(F(X))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24460" y="4176640"/>
            <a:ext cx="3229610" cy="946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12583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817231" y="4214422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392159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29" name="object 1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30" name="object 1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131" name="object 1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24" name="object 124"/>
          <p:cNvSpPr txBox="1"/>
          <p:nvPr/>
        </p:nvSpPr>
        <p:spPr>
          <a:xfrm>
            <a:off x="3132201" y="2381821"/>
            <a:ext cx="253746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solidFill>
                  <a:srgbClr val="040C28"/>
                </a:solidFill>
                <a:latin typeface="Calibri"/>
                <a:cs typeface="Calibri"/>
              </a:rPr>
              <a:t>This</a:t>
            </a:r>
            <a:r>
              <a:rPr sz="1550" spc="16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040C28"/>
                </a:solidFill>
                <a:latin typeface="Calibri"/>
                <a:cs typeface="Calibri"/>
              </a:rPr>
              <a:t>means</a:t>
            </a:r>
            <a:r>
              <a:rPr sz="1550" spc="8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040C28"/>
                </a:solidFill>
                <a:latin typeface="Calibri"/>
                <a:cs typeface="Calibri"/>
              </a:rPr>
              <a:t>that</a:t>
            </a:r>
            <a:r>
              <a:rPr sz="1550" spc="9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040C28"/>
                </a:solidFill>
                <a:latin typeface="Calibri"/>
                <a:cs typeface="Calibri"/>
              </a:rPr>
              <a:t>Self-</a:t>
            </a:r>
            <a:r>
              <a:rPr sz="1550" spc="-10" dirty="0">
                <a:solidFill>
                  <a:srgbClr val="040C28"/>
                </a:solidFill>
                <a:latin typeface="Calibri"/>
                <a:cs typeface="Calibri"/>
              </a:rPr>
              <a:t>Attention </a:t>
            </a:r>
            <a:r>
              <a:rPr sz="1550" dirty="0">
                <a:solidFill>
                  <a:srgbClr val="040C28"/>
                </a:solidFill>
                <a:latin typeface="Calibri"/>
                <a:cs typeface="Calibri"/>
              </a:rPr>
              <a:t>works</a:t>
            </a:r>
            <a:r>
              <a:rPr sz="1550" spc="6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040C28"/>
                </a:solidFill>
                <a:latin typeface="Calibri"/>
                <a:cs typeface="Calibri"/>
              </a:rPr>
              <a:t>on</a:t>
            </a:r>
            <a:r>
              <a:rPr sz="1550" spc="10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40C28"/>
                </a:solidFill>
                <a:latin typeface="Calibri"/>
                <a:cs typeface="Calibri"/>
              </a:rPr>
              <a:t>sets</a:t>
            </a:r>
            <a:r>
              <a:rPr sz="1550" b="1" spc="4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40C28"/>
                </a:solidFill>
                <a:latin typeface="Calibri"/>
                <a:cs typeface="Calibri"/>
              </a:rPr>
              <a:t>of</a:t>
            </a:r>
            <a:r>
              <a:rPr sz="1550" b="1" spc="10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40C28"/>
                </a:solidFill>
                <a:latin typeface="Calibri"/>
                <a:cs typeface="Calibri"/>
              </a:rPr>
              <a:t>vectors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460" y="193674"/>
            <a:ext cx="3246120" cy="9855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latin typeface="Arial"/>
                <a:cs typeface="Arial"/>
              </a:rPr>
              <a:t>Self-Attention</a:t>
            </a:r>
            <a:r>
              <a:rPr sz="2750" spc="25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Layer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6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060" y="3464242"/>
            <a:ext cx="46653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37451" y="2474976"/>
            <a:ext cx="1812925" cy="1165225"/>
            <a:chOff x="7037451" y="2474976"/>
            <a:chExt cx="1812925" cy="1165225"/>
          </a:xfrm>
        </p:grpSpPr>
        <p:sp>
          <p:nvSpPr>
            <p:cNvPr id="16" name="object 16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15151" y="2576576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5151" y="2919476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15151" y="3271901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9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29526" y="2567051"/>
            <a:ext cx="409575" cy="638175"/>
          </a:xfrm>
          <a:custGeom>
            <a:avLst/>
            <a:gdLst/>
            <a:ahLst/>
            <a:cxnLst/>
            <a:rect l="l" t="t" r="r" b="b"/>
            <a:pathLst>
              <a:path w="409575" h="638175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  <a:path w="409575" h="638175">
                <a:moveTo>
                  <a:pt x="0" y="638175"/>
                </a:moveTo>
                <a:lnTo>
                  <a:pt x="400050" y="638175"/>
                </a:lnTo>
                <a:lnTo>
                  <a:pt x="400050" y="352425"/>
                </a:lnTo>
                <a:lnTo>
                  <a:pt x="0" y="352425"/>
                </a:lnTo>
                <a:lnTo>
                  <a:pt x="0" y="6381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710551" y="25670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05980" y="2649537"/>
            <a:ext cx="276860" cy="520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6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29526" y="3271901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792466" y="3000057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792466" y="3341052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374126" y="3341052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378825" y="3000057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01101" y="2567051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24598" y="2681351"/>
            <a:ext cx="1714500" cy="1170305"/>
            <a:chOff x="6824598" y="2681351"/>
            <a:chExt cx="1714500" cy="117030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1"/>
              <a:ext cx="220725" cy="76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1"/>
              <a:ext cx="220725" cy="76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6"/>
              <a:ext cx="76200" cy="22733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3" y="3643376"/>
              <a:ext cx="76200" cy="20307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8" y="3652901"/>
              <a:ext cx="76200" cy="193294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7037451" y="950975"/>
            <a:ext cx="1812925" cy="1193800"/>
            <a:chOff x="7037451" y="950975"/>
            <a:chExt cx="1812925" cy="1193800"/>
          </a:xfrm>
        </p:grpSpPr>
        <p:sp>
          <p:nvSpPr>
            <p:cNvPr id="42" name="object 42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129526" y="1043050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29526" y="1414525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29526" y="1786001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73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10551" y="1424050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710551" y="178600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91576" y="178600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415151" y="1052575"/>
            <a:ext cx="40957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7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15151" y="1424050"/>
            <a:ext cx="409575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15151" y="1795526"/>
            <a:ext cx="409575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824598" y="804926"/>
            <a:ext cx="1144270" cy="1171575"/>
            <a:chOff x="6824598" y="804926"/>
            <a:chExt cx="1144270" cy="1171575"/>
          </a:xfrm>
        </p:grpSpPr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</p:grpSp>
      <p:pic>
        <p:nvPicPr>
          <p:cNvPr id="61" name="object 6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1260" y="366775"/>
            <a:ext cx="76263" cy="13716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1873" y="366775"/>
            <a:ext cx="76200" cy="13716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62898" y="366775"/>
            <a:ext cx="76200" cy="137160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5" name="object 6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711047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70102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282051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110476" y="3786187"/>
            <a:ext cx="438150" cy="2667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710551" y="3776662"/>
            <a:ext cx="438150" cy="276225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282051" y="3786187"/>
            <a:ext cx="447675" cy="2667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pic>
        <p:nvPicPr>
          <p:cNvPr id="73" name="object 7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68640" y="2243201"/>
            <a:ext cx="76200" cy="134747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7104126" y="4052887"/>
            <a:ext cx="450850" cy="415925"/>
            <a:chOff x="7104126" y="4052887"/>
            <a:chExt cx="450850" cy="415925"/>
          </a:xfrm>
        </p:grpSpPr>
        <p:sp>
          <p:nvSpPr>
            <p:cNvPr id="75" name="object 75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7704201" y="4052887"/>
            <a:ext cx="450850" cy="415925"/>
            <a:chOff x="7704201" y="4052887"/>
            <a:chExt cx="450850" cy="415925"/>
          </a:xfrm>
        </p:grpSpPr>
        <p:sp>
          <p:nvSpPr>
            <p:cNvPr id="79" name="object 79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8275701" y="4052887"/>
            <a:ext cx="460375" cy="415925"/>
            <a:chOff x="8275701" y="4052887"/>
            <a:chExt cx="460375" cy="415925"/>
          </a:xfrm>
        </p:grpSpPr>
        <p:sp>
          <p:nvSpPr>
            <p:cNvPr id="83" name="object 83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3293745" y="1136967"/>
            <a:ext cx="243078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0"/>
              </a:spcBef>
            </a:pPr>
            <a:r>
              <a:rPr sz="1550" b="1" dirty="0">
                <a:solidFill>
                  <a:srgbClr val="C00000"/>
                </a:solidFill>
                <a:latin typeface="Arial"/>
                <a:cs typeface="Arial"/>
              </a:rPr>
              <a:t>Problem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1550" spc="2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Self-</a:t>
            </a:r>
            <a:r>
              <a:rPr sz="1550" spc="-10" dirty="0">
                <a:solidFill>
                  <a:srgbClr val="C00000"/>
                </a:solidFill>
                <a:latin typeface="Arial"/>
                <a:cs typeface="Arial"/>
              </a:rPr>
              <a:t>Attention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does</a:t>
            </a:r>
            <a:r>
              <a:rPr sz="1550" spc="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550" spc="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know</a:t>
            </a:r>
            <a:r>
              <a:rPr sz="1550" spc="1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550" spc="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order</a:t>
            </a:r>
            <a:r>
              <a:rPr sz="1550" spc="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550" spc="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C00000"/>
                </a:solidFill>
                <a:latin typeface="Arial"/>
                <a:cs typeface="Arial"/>
              </a:rPr>
              <a:t>sequence</a:t>
            </a:r>
            <a:endParaRPr sz="15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24460" y="4176640"/>
            <a:ext cx="3229610" cy="946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212583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817231" y="4214422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392159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92" name="object 92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58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460" y="193674"/>
            <a:ext cx="3246120" cy="9855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latin typeface="Arial"/>
                <a:cs typeface="Arial"/>
              </a:rPr>
              <a:t>Self-Attention</a:t>
            </a:r>
            <a:r>
              <a:rPr sz="2750" spc="25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Layer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6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060" y="3464242"/>
            <a:ext cx="4665345" cy="959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3745" y="1136967"/>
            <a:ext cx="243078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0"/>
              </a:spcBef>
            </a:pPr>
            <a:r>
              <a:rPr sz="1550" b="1" dirty="0">
                <a:solidFill>
                  <a:srgbClr val="C00000"/>
                </a:solidFill>
                <a:latin typeface="Arial"/>
                <a:cs typeface="Arial"/>
              </a:rPr>
              <a:t>Problem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1550" spc="2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Self-</a:t>
            </a:r>
            <a:r>
              <a:rPr sz="1550" spc="-10" dirty="0">
                <a:solidFill>
                  <a:srgbClr val="C00000"/>
                </a:solidFill>
                <a:latin typeface="Arial"/>
                <a:cs typeface="Arial"/>
              </a:rPr>
              <a:t>Attention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does</a:t>
            </a:r>
            <a:r>
              <a:rPr sz="1550" spc="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550" spc="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know</a:t>
            </a:r>
            <a:r>
              <a:rPr sz="1550" spc="1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550" spc="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order</a:t>
            </a:r>
            <a:r>
              <a:rPr sz="1550" spc="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155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550" spc="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C00000"/>
                </a:solidFill>
                <a:latin typeface="Arial"/>
                <a:cs typeface="Arial"/>
              </a:rPr>
              <a:t>sequence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93745" y="2110041"/>
            <a:ext cx="2493645" cy="100139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55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Solution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:</a:t>
            </a:r>
            <a:r>
              <a:rPr sz="1550" spc="12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Add</a:t>
            </a:r>
            <a:r>
              <a:rPr sz="1550" spc="1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8AAB42"/>
                </a:solidFill>
                <a:latin typeface="Arial"/>
                <a:cs typeface="Arial"/>
              </a:rPr>
              <a:t>positional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encoding</a:t>
            </a:r>
            <a:r>
              <a:rPr sz="1550" spc="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to</a:t>
            </a:r>
            <a:r>
              <a:rPr sz="1550" spc="1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each</a:t>
            </a:r>
            <a:r>
              <a:rPr sz="1550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input;</a:t>
            </a:r>
            <a:r>
              <a:rPr sz="1550" spc="1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8AAB42"/>
                </a:solidFill>
                <a:latin typeface="Arial"/>
                <a:cs typeface="Arial"/>
              </a:rPr>
              <a:t>this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is</a:t>
            </a:r>
            <a:r>
              <a:rPr sz="1550" spc="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a</a:t>
            </a:r>
            <a:r>
              <a:rPr sz="1550" spc="8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vector</a:t>
            </a:r>
            <a:r>
              <a:rPr sz="1550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that</a:t>
            </a:r>
            <a:r>
              <a:rPr sz="1550" spc="6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is</a:t>
            </a:r>
            <a:r>
              <a:rPr sz="1550" spc="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a</a:t>
            </a:r>
            <a:r>
              <a:rPr sz="1550" spc="8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8AAB42"/>
                </a:solidFill>
                <a:latin typeface="Arial"/>
                <a:cs typeface="Arial"/>
              </a:rPr>
              <a:t>fixed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function</a:t>
            </a:r>
            <a:r>
              <a:rPr sz="1550" spc="8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550" spc="7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AAB42"/>
                </a:solidFill>
                <a:latin typeface="Arial"/>
                <a:cs typeface="Arial"/>
              </a:rPr>
              <a:t>the</a:t>
            </a:r>
            <a:r>
              <a:rPr sz="1550" spc="8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8AAB42"/>
                </a:solidFill>
                <a:latin typeface="Arial"/>
                <a:cs typeface="Arial"/>
              </a:rPr>
              <a:t>index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037451" y="2474976"/>
            <a:ext cx="1812925" cy="1165225"/>
            <a:chOff x="7037451" y="2474976"/>
            <a:chExt cx="1812925" cy="1165225"/>
          </a:xfrm>
        </p:grpSpPr>
        <p:sp>
          <p:nvSpPr>
            <p:cNvPr id="18" name="object 18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15151" y="2576576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15151" y="2919476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5151" y="3271901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9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129526" y="2567051"/>
            <a:ext cx="409575" cy="638175"/>
          </a:xfrm>
          <a:custGeom>
            <a:avLst/>
            <a:gdLst/>
            <a:ahLst/>
            <a:cxnLst/>
            <a:rect l="l" t="t" r="r" b="b"/>
            <a:pathLst>
              <a:path w="409575" h="638175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  <a:path w="409575" h="638175">
                <a:moveTo>
                  <a:pt x="0" y="638175"/>
                </a:moveTo>
                <a:lnTo>
                  <a:pt x="400050" y="638175"/>
                </a:lnTo>
                <a:lnTo>
                  <a:pt x="400050" y="352425"/>
                </a:lnTo>
                <a:lnTo>
                  <a:pt x="0" y="352425"/>
                </a:lnTo>
                <a:lnTo>
                  <a:pt x="0" y="6381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710551" y="25670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05980" y="2649537"/>
            <a:ext cx="276860" cy="520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6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29526" y="3271901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792466" y="3000057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792466" y="3341052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374126" y="3341052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378825" y="3000057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01101" y="2567051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824598" y="2681351"/>
            <a:ext cx="1714500" cy="1170305"/>
            <a:chOff x="6824598" y="2681351"/>
            <a:chExt cx="1714500" cy="1170305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1"/>
              <a:ext cx="220725" cy="76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1"/>
              <a:ext cx="220725" cy="76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6"/>
              <a:ext cx="76200" cy="22733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2898" y="3652901"/>
              <a:ext cx="76200" cy="19329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81873" y="3643376"/>
              <a:ext cx="76200" cy="203073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7037451" y="950975"/>
            <a:ext cx="1812925" cy="1193800"/>
            <a:chOff x="7037451" y="950975"/>
            <a:chExt cx="1812925" cy="1193800"/>
          </a:xfrm>
        </p:grpSpPr>
        <p:sp>
          <p:nvSpPr>
            <p:cNvPr id="44" name="object 44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129526" y="1043050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29526" y="1414525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1,2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29526" y="1786001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73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710551" y="1424050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10551" y="178600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291576" y="178600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15151" y="1052575"/>
            <a:ext cx="40957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7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415151" y="1424050"/>
            <a:ext cx="409575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415151" y="1795526"/>
            <a:ext cx="409575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824598" y="804926"/>
            <a:ext cx="1144270" cy="1171575"/>
            <a:chOff x="6824598" y="804926"/>
            <a:chExt cx="1144270" cy="1171575"/>
          </a:xfrm>
        </p:grpSpPr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1260" y="366775"/>
            <a:ext cx="76263" cy="13716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1873" y="366775"/>
            <a:ext cx="76200" cy="137160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62898" y="366775"/>
            <a:ext cx="76200" cy="137160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7" name="object 6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711047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70102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82051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10476" y="3786187"/>
            <a:ext cx="438150" cy="2667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10551" y="3776662"/>
            <a:ext cx="438150" cy="276225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282051" y="3786187"/>
            <a:ext cx="447675" cy="2667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pic>
        <p:nvPicPr>
          <p:cNvPr id="75" name="object 7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68640" y="2243201"/>
            <a:ext cx="76200" cy="134747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7110476" y="4195762"/>
            <a:ext cx="438150" cy="266700"/>
          </a:xfrm>
          <a:custGeom>
            <a:avLst/>
            <a:gdLst/>
            <a:ahLst/>
            <a:cxnLst/>
            <a:rect l="l" t="t" r="r" b="b"/>
            <a:pathLst>
              <a:path w="438150" h="266700">
                <a:moveTo>
                  <a:pt x="0" y="266700"/>
                </a:moveTo>
                <a:lnTo>
                  <a:pt x="438150" y="266700"/>
                </a:lnTo>
                <a:lnTo>
                  <a:pt x="438150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3981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7116826" y="4202112"/>
            <a:ext cx="425450" cy="254000"/>
          </a:xfrm>
          <a:prstGeom prst="rect">
            <a:avLst/>
          </a:prstGeom>
          <a:solidFill>
            <a:srgbClr val="D5E6F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710551" y="4186237"/>
            <a:ext cx="438150" cy="276225"/>
          </a:xfrm>
          <a:custGeom>
            <a:avLst/>
            <a:gdLst/>
            <a:ahLst/>
            <a:cxnLst/>
            <a:rect l="l" t="t" r="r" b="b"/>
            <a:pathLst>
              <a:path w="438150" h="276225">
                <a:moveTo>
                  <a:pt x="0" y="276225"/>
                </a:moveTo>
                <a:lnTo>
                  <a:pt x="438150" y="276225"/>
                </a:lnTo>
                <a:lnTo>
                  <a:pt x="438150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12700">
            <a:solidFill>
              <a:srgbClr val="3981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7716901" y="4192587"/>
            <a:ext cx="425450" cy="263525"/>
          </a:xfrm>
          <a:prstGeom prst="rect">
            <a:avLst/>
          </a:prstGeom>
          <a:solidFill>
            <a:srgbClr val="D5E6F1"/>
          </a:solidFill>
        </p:spPr>
        <p:txBody>
          <a:bodyPr vert="horz" wrap="square" lIns="0" tIns="1905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50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282051" y="4195762"/>
            <a:ext cx="447675" cy="266700"/>
          </a:xfrm>
          <a:custGeom>
            <a:avLst/>
            <a:gdLst/>
            <a:ahLst/>
            <a:cxnLst/>
            <a:rect l="l" t="t" r="r" b="b"/>
            <a:pathLst>
              <a:path w="447675" h="266700">
                <a:moveTo>
                  <a:pt x="0" y="266700"/>
                </a:moveTo>
                <a:lnTo>
                  <a:pt x="447675" y="266700"/>
                </a:lnTo>
                <a:lnTo>
                  <a:pt x="44767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ln w="12700">
            <a:solidFill>
              <a:srgbClr val="3981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8288401" y="4202112"/>
            <a:ext cx="434975" cy="254000"/>
          </a:xfrm>
          <a:prstGeom prst="rect">
            <a:avLst/>
          </a:prstGeom>
          <a:solidFill>
            <a:srgbClr val="D5E6F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0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7104126" y="4052887"/>
            <a:ext cx="1631950" cy="692150"/>
            <a:chOff x="7104126" y="4052887"/>
            <a:chExt cx="1631950" cy="692150"/>
          </a:xfrm>
        </p:grpSpPr>
        <p:pic>
          <p:nvPicPr>
            <p:cNvPr id="83" name="object 8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7110476" y="44719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110476" y="44719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710551" y="44719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710551" y="447198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282051" y="44719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282051" y="447198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51129" y="4424607"/>
            <a:ext cx="3202940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0">
              <a:lnSpc>
                <a:spcPts val="1839"/>
              </a:lnSpc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190740" y="4529734"/>
            <a:ext cx="2781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0" dirty="0">
                <a:latin typeface="Arial"/>
                <a:cs typeface="Arial"/>
              </a:rPr>
              <a:t>E(1)</a:t>
            </a:r>
            <a:endParaRPr sz="10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795259" y="4529734"/>
            <a:ext cx="278765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0" dirty="0">
                <a:latin typeface="Arial"/>
                <a:cs typeface="Arial"/>
              </a:rPr>
              <a:t>E(2)</a:t>
            </a:r>
            <a:endParaRPr sz="10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370316" y="4529734"/>
            <a:ext cx="27813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20" dirty="0">
                <a:latin typeface="Arial"/>
                <a:cs typeface="Arial"/>
              </a:rPr>
              <a:t>E(3)</a:t>
            </a:r>
            <a:endParaRPr sz="1050">
              <a:latin typeface="Arial"/>
              <a:cs typeface="Arial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97" name="object 97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59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460" y="193674"/>
            <a:ext cx="4591685" cy="9855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5410">
              <a:lnSpc>
                <a:spcPts val="3220"/>
              </a:lnSpc>
              <a:spcBef>
                <a:spcPts val="130"/>
              </a:spcBef>
            </a:pPr>
            <a:r>
              <a:rPr sz="2750" dirty="0">
                <a:solidFill>
                  <a:srgbClr val="FF0000"/>
                </a:solidFill>
                <a:latin typeface="Arial"/>
                <a:cs typeface="Arial"/>
              </a:rPr>
              <a:t>Masked</a:t>
            </a:r>
            <a:r>
              <a:rPr sz="2750" spc="2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Self-Attention</a:t>
            </a:r>
            <a:r>
              <a:rPr sz="2750" spc="19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Layer</a:t>
            </a:r>
            <a:endParaRPr sz="2750">
              <a:latin typeface="Arial"/>
              <a:cs typeface="Arial"/>
            </a:endParaRPr>
          </a:p>
          <a:p>
            <a:pPr marL="106680">
              <a:lnSpc>
                <a:spcPts val="1780"/>
              </a:lnSpc>
            </a:pPr>
            <a:r>
              <a:rPr sz="1550" dirty="0">
                <a:latin typeface="Arial"/>
                <a:cs typeface="Arial"/>
              </a:rPr>
              <a:t>Don’t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let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vectors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“look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ahead”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sequence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060" y="3464242"/>
            <a:ext cx="46653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4050" y="1294828"/>
            <a:ext cx="277114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0"/>
              </a:spcBef>
            </a:pPr>
            <a:r>
              <a:rPr sz="1550" dirty="0">
                <a:latin typeface="Arial"/>
                <a:cs typeface="Arial"/>
              </a:rPr>
              <a:t>Override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similarities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with</a:t>
            </a:r>
            <a:r>
              <a:rPr sz="1550" spc="20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-</a:t>
            </a:r>
            <a:r>
              <a:rPr sz="1550" spc="-20" dirty="0">
                <a:latin typeface="Arial"/>
                <a:cs typeface="Arial"/>
              </a:rPr>
              <a:t>inf; </a:t>
            </a:r>
            <a:r>
              <a:rPr sz="1550" dirty="0">
                <a:latin typeface="Arial"/>
                <a:cs typeface="Arial"/>
              </a:rPr>
              <a:t>this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controls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which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inputs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each </a:t>
            </a:r>
            <a:r>
              <a:rPr sz="1550" dirty="0">
                <a:latin typeface="Arial"/>
                <a:cs typeface="Arial"/>
              </a:rPr>
              <a:t>vector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is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allowed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look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at.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37451" y="2474976"/>
            <a:ext cx="1812925" cy="1165225"/>
            <a:chOff x="7037451" y="2474976"/>
            <a:chExt cx="1812925" cy="1165225"/>
          </a:xfrm>
        </p:grpSpPr>
        <p:sp>
          <p:nvSpPr>
            <p:cNvPr id="17" name="object 17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15151" y="2576576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15151" y="2919476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15151" y="3271901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9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29526" y="2567051"/>
            <a:ext cx="409575" cy="638175"/>
          </a:xfrm>
          <a:custGeom>
            <a:avLst/>
            <a:gdLst/>
            <a:ahLst/>
            <a:cxnLst/>
            <a:rect l="l" t="t" r="r" b="b"/>
            <a:pathLst>
              <a:path w="409575" h="638175">
                <a:moveTo>
                  <a:pt x="0" y="304800"/>
                </a:moveTo>
                <a:lnTo>
                  <a:pt x="409575" y="304800"/>
                </a:lnTo>
                <a:lnTo>
                  <a:pt x="4095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  <a:path w="409575" h="638175">
                <a:moveTo>
                  <a:pt x="0" y="638175"/>
                </a:moveTo>
                <a:lnTo>
                  <a:pt x="400050" y="638175"/>
                </a:lnTo>
                <a:lnTo>
                  <a:pt x="400050" y="352425"/>
                </a:lnTo>
                <a:lnTo>
                  <a:pt x="0" y="352425"/>
                </a:lnTo>
                <a:lnTo>
                  <a:pt x="0" y="6381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710551" y="25670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01154" y="2567536"/>
            <a:ext cx="281305" cy="6292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34925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6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15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550" spc="-50" dirty="0">
                <a:solidFill>
                  <a:srgbClr val="FF0000"/>
                </a:solidFill>
                <a:latin typeface="Arial"/>
                <a:cs typeface="Arial"/>
              </a:rPr>
              <a:t>∞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29526" y="3271901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95"/>
              </a:spcBef>
            </a:pPr>
            <a:r>
              <a:rPr sz="15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550" spc="-50" dirty="0">
                <a:solidFill>
                  <a:srgbClr val="FF0000"/>
                </a:solidFill>
                <a:latin typeface="Arial"/>
                <a:cs typeface="Arial"/>
              </a:rPr>
              <a:t>∞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792466" y="3000057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813040" y="3276282"/>
            <a:ext cx="22415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550" spc="-50" dirty="0">
                <a:solidFill>
                  <a:srgbClr val="FF0000"/>
                </a:solidFill>
                <a:latin typeface="Arial"/>
                <a:cs typeface="Arial"/>
              </a:rPr>
              <a:t>∞</a:t>
            </a:r>
            <a:endParaRPr sz="155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374126" y="3341052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378825" y="3000057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01101" y="2567051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24598" y="2681351"/>
            <a:ext cx="1714500" cy="1170305"/>
            <a:chOff x="6824598" y="2681351"/>
            <a:chExt cx="1714500" cy="117030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1"/>
              <a:ext cx="220725" cy="76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1"/>
              <a:ext cx="220725" cy="76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6"/>
              <a:ext cx="76200" cy="22733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3" y="3643376"/>
              <a:ext cx="76200" cy="20307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8" y="3652901"/>
              <a:ext cx="76200" cy="193294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7037451" y="950975"/>
            <a:ext cx="1812925" cy="1193800"/>
            <a:chOff x="7037451" y="950975"/>
            <a:chExt cx="1812925" cy="1193800"/>
          </a:xfrm>
        </p:grpSpPr>
        <p:sp>
          <p:nvSpPr>
            <p:cNvPr id="43" name="object 43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43801" y="957325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129526" y="1043050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29526" y="1414525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580"/>
              </a:spcBef>
            </a:pPr>
            <a:r>
              <a:rPr sz="950" b="1" spc="-5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29526" y="1786001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580"/>
              </a:spcBef>
            </a:pPr>
            <a:r>
              <a:rPr sz="950" b="1" spc="-5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710551" y="1424050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710551" y="178600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950" b="1" spc="-5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291576" y="178600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15151" y="1052575"/>
            <a:ext cx="40957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7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15151" y="1424050"/>
            <a:ext cx="409575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415151" y="1795526"/>
            <a:ext cx="409575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824598" y="804926"/>
            <a:ext cx="1144270" cy="1171575"/>
            <a:chOff x="6824598" y="804926"/>
            <a:chExt cx="1144270" cy="1171575"/>
          </a:xfrm>
        </p:grpSpPr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</p:grpSp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1260" y="366775"/>
            <a:ext cx="76263" cy="13716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1873" y="366775"/>
            <a:ext cx="76200" cy="13716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62898" y="366775"/>
            <a:ext cx="76200" cy="137160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6" name="object 6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7110476" y="3786187"/>
            <a:ext cx="438150" cy="2667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710551" y="3776662"/>
            <a:ext cx="438150" cy="276225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282051" y="3786187"/>
            <a:ext cx="447675" cy="2667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pic>
        <p:nvPicPr>
          <p:cNvPr id="71" name="object 7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68640" y="2243201"/>
            <a:ext cx="76200" cy="134747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7104126" y="4052887"/>
            <a:ext cx="450850" cy="415925"/>
            <a:chOff x="7104126" y="4052887"/>
            <a:chExt cx="450850" cy="415925"/>
          </a:xfrm>
        </p:grpSpPr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1799" y="4052887"/>
              <a:ext cx="76200" cy="13715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110476" y="4195762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7704201" y="4052887"/>
            <a:ext cx="450850" cy="415925"/>
            <a:chOff x="7704201" y="4052887"/>
            <a:chExt cx="450850" cy="415925"/>
          </a:xfrm>
        </p:grpSpPr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62824" y="4052887"/>
              <a:ext cx="76200" cy="13715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10551" y="4186237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8275701" y="4052887"/>
            <a:ext cx="460375" cy="415925"/>
            <a:chOff x="8275701" y="4052887"/>
            <a:chExt cx="460375" cy="415925"/>
          </a:xfrm>
        </p:grpSpPr>
        <p:pic>
          <p:nvPicPr>
            <p:cNvPr id="81" name="object 8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43849" y="4052887"/>
              <a:ext cx="76200" cy="13715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282051" y="4195762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711047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24460" y="4176640"/>
            <a:ext cx="3229610" cy="946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212583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817231" y="4214422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392159" y="421759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92" name="object 92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60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85" name="object 85"/>
          <p:cNvSpPr txBox="1"/>
          <p:nvPr/>
        </p:nvSpPr>
        <p:spPr>
          <a:xfrm>
            <a:off x="7701026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282051" y="90551"/>
            <a:ext cx="438150" cy="276225"/>
          </a:xfrm>
          <a:prstGeom prst="rect">
            <a:avLst/>
          </a:prstGeom>
          <a:solidFill>
            <a:srgbClr val="F7EBD6"/>
          </a:solidFill>
          <a:ln w="12700">
            <a:solidFill>
              <a:srgbClr val="D79F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latin typeface="Arial"/>
                <a:cs typeface="Arial"/>
              </a:rPr>
              <a:t>Y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" y="1161097"/>
            <a:ext cx="2336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70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49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1265872"/>
            <a:ext cx="263715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r">
              <a:lnSpc>
                <a:spcPts val="1205"/>
              </a:lnSpc>
              <a:spcBef>
                <a:spcPts val="100"/>
              </a:spcBef>
            </a:pPr>
            <a:r>
              <a:rPr sz="1050" spc="-25" dirty="0">
                <a:latin typeface="Arial"/>
                <a:cs typeface="Arial"/>
              </a:rPr>
              <a:t>in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805"/>
              </a:lnSpc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1895475"/>
            <a:ext cx="269748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 </a:t>
            </a:r>
            <a:r>
              <a:rPr sz="1550" b="1" u="none" dirty="0">
                <a:latin typeface="Arial"/>
                <a:cs typeface="Arial"/>
              </a:rPr>
              <a:t>Queries</a:t>
            </a:r>
            <a:r>
              <a:rPr sz="1550" u="none" dirty="0">
                <a:latin typeface="Arial"/>
                <a:cs typeface="Arial"/>
              </a:rPr>
              <a:t>:</a:t>
            </a:r>
            <a:r>
              <a:rPr sz="1550" u="none" spc="95" dirty="0"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u="none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u="none" dirty="0">
                <a:latin typeface="Arial"/>
                <a:cs typeface="Arial"/>
              </a:rPr>
              <a:t>=</a:t>
            </a:r>
            <a:r>
              <a:rPr sz="1550" u="none" spc="105" dirty="0"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u="none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u="none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360" y="2869247"/>
            <a:ext cx="180403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53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9340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3791" y="3116960"/>
            <a:ext cx="8858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18563" y="3409950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09"/>
                </a:lnTo>
                <a:lnTo>
                  <a:pt x="69468" y="249809"/>
                </a:lnTo>
                <a:lnTo>
                  <a:pt x="132969" y="14477"/>
                </a:lnTo>
                <a:lnTo>
                  <a:pt x="152526" y="14477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  <a:tab pos="257175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spc="-50" dirty="0">
                <a:latin typeface="Cambria Math"/>
                <a:cs typeface="Cambria Math"/>
              </a:rPr>
              <a:t>𝐷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13558" y="3703065"/>
            <a:ext cx="347980" cy="224790"/>
          </a:xfrm>
          <a:custGeom>
            <a:avLst/>
            <a:gdLst/>
            <a:ahLst/>
            <a:cxnLst/>
            <a:rect l="l" t="t" r="r" b="b"/>
            <a:pathLst>
              <a:path w="347980" h="224789">
                <a:moveTo>
                  <a:pt x="137922" y="0"/>
                </a:moveTo>
                <a:lnTo>
                  <a:pt x="113157" y="0"/>
                </a:lnTo>
                <a:lnTo>
                  <a:pt x="59563" y="201053"/>
                </a:lnTo>
                <a:lnTo>
                  <a:pt x="28956" y="132842"/>
                </a:lnTo>
                <a:lnTo>
                  <a:pt x="0" y="146050"/>
                </a:lnTo>
                <a:lnTo>
                  <a:pt x="2667" y="152781"/>
                </a:lnTo>
                <a:lnTo>
                  <a:pt x="17653" y="146050"/>
                </a:lnTo>
                <a:lnTo>
                  <a:pt x="54229" y="224739"/>
                </a:lnTo>
                <a:lnTo>
                  <a:pt x="62865" y="224739"/>
                </a:lnTo>
                <a:lnTo>
                  <a:pt x="120268" y="11811"/>
                </a:lnTo>
                <a:lnTo>
                  <a:pt x="347726" y="11684"/>
                </a:lnTo>
                <a:lnTo>
                  <a:pt x="347726" y="2159"/>
                </a:lnTo>
                <a:lnTo>
                  <a:pt x="137922" y="2159"/>
                </a:lnTo>
                <a:lnTo>
                  <a:pt x="137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9060" y="3464242"/>
            <a:ext cx="46653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𝑄</a:t>
            </a:r>
            <a:endParaRPr sz="1200">
              <a:latin typeface="Cambria Math"/>
              <a:cs typeface="Cambria Math"/>
            </a:endParaRPr>
          </a:p>
          <a:p>
            <a:pPr marL="1239520">
              <a:lnSpc>
                <a:spcPct val="100000"/>
              </a:lnSpc>
              <a:spcBef>
                <a:spcPts val="65"/>
              </a:spcBef>
              <a:tabLst>
                <a:tab pos="23456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44983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0000"/>
                </a:solidFill>
              </a:rPr>
              <a:t>Masked</a:t>
            </a:r>
            <a:r>
              <a:rPr spc="240" dirty="0">
                <a:solidFill>
                  <a:srgbClr val="FF0000"/>
                </a:solidFill>
              </a:rPr>
              <a:t> </a:t>
            </a:r>
            <a:r>
              <a:rPr dirty="0"/>
              <a:t>Self-Attention</a:t>
            </a:r>
            <a:r>
              <a:rPr spc="190" dirty="0"/>
              <a:t> </a:t>
            </a:r>
            <a:r>
              <a:rPr spc="-10" dirty="0"/>
              <a:t>Layer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4460" y="511619"/>
            <a:ext cx="4257040" cy="66738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760"/>
              </a:spcBef>
            </a:pPr>
            <a:r>
              <a:rPr sz="1550" dirty="0">
                <a:latin typeface="Arial"/>
                <a:cs typeface="Arial"/>
              </a:rPr>
              <a:t>Don’t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let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vectors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“look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ahead”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sequence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4050" y="1294828"/>
            <a:ext cx="277114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0"/>
              </a:spcBef>
            </a:pPr>
            <a:r>
              <a:rPr sz="1550" dirty="0">
                <a:latin typeface="Arial"/>
                <a:cs typeface="Arial"/>
              </a:rPr>
              <a:t>Override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similarities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with</a:t>
            </a:r>
            <a:r>
              <a:rPr sz="1550" spc="20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-</a:t>
            </a:r>
            <a:r>
              <a:rPr sz="1550" spc="-20" dirty="0">
                <a:latin typeface="Arial"/>
                <a:cs typeface="Arial"/>
              </a:rPr>
              <a:t>inf; </a:t>
            </a:r>
            <a:r>
              <a:rPr sz="1550" dirty="0">
                <a:latin typeface="Arial"/>
                <a:cs typeface="Arial"/>
              </a:rPr>
              <a:t>this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controls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which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inputs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each </a:t>
            </a:r>
            <a:r>
              <a:rPr sz="1550" dirty="0">
                <a:latin typeface="Arial"/>
                <a:cs typeface="Arial"/>
              </a:rPr>
              <a:t>vector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is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allowed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look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at.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94050" y="2267902"/>
            <a:ext cx="267589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latin typeface="Arial"/>
                <a:cs typeface="Arial"/>
              </a:rPr>
              <a:t>Used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language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modeling </a:t>
            </a:r>
            <a:r>
              <a:rPr sz="1550" dirty="0">
                <a:latin typeface="Arial"/>
                <a:cs typeface="Arial"/>
              </a:rPr>
              <a:t>where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you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want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predict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the </a:t>
            </a:r>
            <a:r>
              <a:rPr sz="1550" dirty="0">
                <a:latin typeface="Arial"/>
                <a:cs typeface="Arial"/>
              </a:rPr>
              <a:t>next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word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97826" y="2204148"/>
            <a:ext cx="8547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1200" spc="-10" dirty="0">
                <a:latin typeface="Arial"/>
                <a:cs typeface="Arial"/>
              </a:rPr>
              <a:t>Softmax(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15151" y="2576576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5151" y="2919476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21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15151" y="3271901"/>
            <a:ext cx="409575" cy="285750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95"/>
              </a:spcBef>
            </a:pPr>
            <a:r>
              <a:rPr sz="1550" spc="-25" dirty="0">
                <a:latin typeface="Arial"/>
                <a:cs typeface="Arial"/>
              </a:rPr>
              <a:t>K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24598" y="2681351"/>
            <a:ext cx="1714500" cy="1170305"/>
            <a:chOff x="6824598" y="2681351"/>
            <a:chExt cx="1714500" cy="117030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4598" y="3376549"/>
              <a:ext cx="220725" cy="76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3024251"/>
              <a:ext cx="220725" cy="76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2681351"/>
              <a:ext cx="220725" cy="76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1323" y="3624326"/>
              <a:ext cx="76200" cy="22733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1873" y="3643376"/>
              <a:ext cx="76200" cy="20307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2898" y="3652901"/>
              <a:ext cx="76200" cy="19329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415151" y="1052575"/>
            <a:ext cx="40957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70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15151" y="1424050"/>
            <a:ext cx="409575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15151" y="1795526"/>
            <a:ext cx="409575" cy="27622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45"/>
              </a:spcBef>
            </a:pPr>
            <a:r>
              <a:rPr sz="1550" spc="-25" dirty="0">
                <a:latin typeface="Arial"/>
                <a:cs typeface="Arial"/>
              </a:rPr>
              <a:t>V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824598" y="804926"/>
            <a:ext cx="2026285" cy="1339850"/>
            <a:chOff x="6824598" y="804926"/>
            <a:chExt cx="2026285" cy="133985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900301"/>
              <a:ext cx="220725" cy="76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528826"/>
              <a:ext cx="220725" cy="76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598" y="1157351"/>
              <a:ext cx="220725" cy="76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2414" y="804926"/>
              <a:ext cx="76200" cy="13474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043800" y="957326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180022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1800225" y="1181100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43800" y="957326"/>
              <a:ext cx="1800225" cy="1181100"/>
            </a:xfrm>
            <a:custGeom>
              <a:avLst/>
              <a:gdLst/>
              <a:ahLst/>
              <a:cxnLst/>
              <a:rect l="l" t="t" r="r" b="b"/>
              <a:pathLst>
                <a:path w="1800225" h="1181100">
                  <a:moveTo>
                    <a:pt x="0" y="1181100"/>
                  </a:moveTo>
                  <a:lnTo>
                    <a:pt x="1800225" y="1181100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1260" y="366775"/>
            <a:ext cx="76263" cy="13716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1873" y="366775"/>
            <a:ext cx="76200" cy="13716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62898" y="366775"/>
            <a:ext cx="76200" cy="13716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7053326" y="509651"/>
            <a:ext cx="1781175" cy="2762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335"/>
              </a:spcBef>
              <a:tabLst>
                <a:tab pos="947419" algn="l"/>
                <a:tab pos="1576070" algn="l"/>
              </a:tabLst>
            </a:pPr>
            <a:r>
              <a:rPr sz="1200" spc="-10" dirty="0">
                <a:latin typeface="Arial"/>
                <a:cs typeface="Arial"/>
              </a:rPr>
              <a:t>Product(</a:t>
            </a:r>
            <a:r>
              <a:rPr sz="1200" dirty="0">
                <a:latin typeface="Arial"/>
                <a:cs typeface="Arial"/>
              </a:rPr>
              <a:t>	),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Sum(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5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05673" y="624205"/>
            <a:ext cx="169799" cy="7620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065" y="576326"/>
            <a:ext cx="76200" cy="134747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7110476" y="3786187"/>
            <a:ext cx="438150" cy="2667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10551" y="3776662"/>
            <a:ext cx="438150" cy="276225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82051" y="3786187"/>
            <a:ext cx="447675" cy="266700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Q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68640" y="2243201"/>
            <a:ext cx="76200" cy="13474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81798" y="4052887"/>
            <a:ext cx="76200" cy="13715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62823" y="4052887"/>
            <a:ext cx="76200" cy="13715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43848" y="4052887"/>
            <a:ext cx="76200" cy="13715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7239634" y="86994"/>
            <a:ext cx="144335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97840" algn="l"/>
                <a:tab pos="1103630" algn="l"/>
              </a:tabLst>
            </a:pPr>
            <a:r>
              <a:rPr sz="1400" spc="-25" dirty="0">
                <a:latin typeface="Arial"/>
                <a:cs typeface="Arial"/>
              </a:rPr>
              <a:t>is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20" dirty="0">
                <a:latin typeface="Arial"/>
                <a:cs typeface="Arial"/>
              </a:rPr>
              <a:t>very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20" dirty="0">
                <a:latin typeface="Arial"/>
                <a:cs typeface="Arial"/>
              </a:rPr>
              <a:t>cool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29526" y="1043050"/>
            <a:ext cx="409575" cy="30480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10551" y="1043050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129526" y="1414525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580"/>
              </a:spcBef>
            </a:pPr>
            <a:r>
              <a:rPr sz="950" b="1" spc="-5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129526" y="1786001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580"/>
              </a:spcBef>
            </a:pPr>
            <a:r>
              <a:rPr sz="950" b="1" spc="-5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710551" y="1424050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710551" y="178600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950" b="1" spc="-5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291576" y="1786001"/>
            <a:ext cx="409575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95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301101" y="1424050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9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01101" y="1043050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25" spc="-30" baseline="8771" dirty="0">
                <a:latin typeface="Arial"/>
                <a:cs typeface="Arial"/>
              </a:rPr>
              <a:t>A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037451" y="2474976"/>
            <a:ext cx="1812925" cy="1165225"/>
            <a:chOff x="7037451" y="2474976"/>
            <a:chExt cx="1812925" cy="1165225"/>
          </a:xfrm>
        </p:grpSpPr>
        <p:sp>
          <p:nvSpPr>
            <p:cNvPr id="62" name="object 62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18002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1800225" y="115252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043801" y="248132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525"/>
                  </a:moveTo>
                  <a:lnTo>
                    <a:pt x="1800225" y="115252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525"/>
                  </a:lnTo>
                  <a:close/>
                </a:path>
                <a:path w="1800225" h="1152525">
                  <a:moveTo>
                    <a:pt x="85725" y="390525"/>
                  </a:moveTo>
                  <a:lnTo>
                    <a:pt x="495300" y="390525"/>
                  </a:lnTo>
                  <a:lnTo>
                    <a:pt x="495300" y="85725"/>
                  </a:lnTo>
                  <a:lnTo>
                    <a:pt x="85725" y="85725"/>
                  </a:lnTo>
                  <a:lnTo>
                    <a:pt x="85725" y="390525"/>
                  </a:lnTo>
                  <a:close/>
                </a:path>
              </a:pathLst>
            </a:custGeom>
            <a:ln w="127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710551" y="2567051"/>
            <a:ext cx="409575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2,1</a:t>
            </a:r>
            <a:endParaRPr sz="65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129526" y="2919476"/>
            <a:ext cx="400050" cy="285750"/>
          </a:xfrm>
          <a:custGeom>
            <a:avLst/>
            <a:gdLst/>
            <a:ahLst/>
            <a:cxnLst/>
            <a:rect l="l" t="t" r="r" b="b"/>
            <a:pathLst>
              <a:path w="400050" h="285750">
                <a:moveTo>
                  <a:pt x="0" y="285750"/>
                </a:moveTo>
                <a:lnTo>
                  <a:pt x="400050" y="285750"/>
                </a:lnTo>
                <a:lnTo>
                  <a:pt x="400050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201154" y="2567536"/>
            <a:ext cx="281305" cy="6292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34925">
              <a:lnSpc>
                <a:spcPct val="100000"/>
              </a:lnSpc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1,1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6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15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550" spc="-50" dirty="0">
                <a:solidFill>
                  <a:srgbClr val="FF0000"/>
                </a:solidFill>
                <a:latin typeface="Arial"/>
                <a:cs typeface="Arial"/>
              </a:rPr>
              <a:t>∞</a:t>
            </a:r>
            <a:endParaRPr sz="15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129526" y="3271901"/>
            <a:ext cx="400050" cy="285750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95"/>
              </a:spcBef>
            </a:pPr>
            <a:r>
              <a:rPr sz="15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550" spc="-50" dirty="0">
                <a:solidFill>
                  <a:srgbClr val="FF0000"/>
                </a:solidFill>
                <a:latin typeface="Arial"/>
                <a:cs typeface="Arial"/>
              </a:rPr>
              <a:t>∞</a:t>
            </a:r>
            <a:endParaRPr sz="155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710551" y="29194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7792466" y="3000057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2,2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710551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7813040" y="3276282"/>
            <a:ext cx="22415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550" spc="-50" dirty="0">
                <a:solidFill>
                  <a:srgbClr val="FF0000"/>
                </a:solidFill>
                <a:latin typeface="Arial"/>
                <a:cs typeface="Arial"/>
              </a:rPr>
              <a:t>∞</a:t>
            </a:r>
            <a:endParaRPr sz="155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291576" y="3262376"/>
            <a:ext cx="409575" cy="295275"/>
          </a:xfrm>
          <a:custGeom>
            <a:avLst/>
            <a:gdLst/>
            <a:ahLst/>
            <a:cxnLst/>
            <a:rect l="l" t="t" r="r" b="b"/>
            <a:pathLst>
              <a:path w="409575" h="295275">
                <a:moveTo>
                  <a:pt x="0" y="295275"/>
                </a:moveTo>
                <a:lnTo>
                  <a:pt x="409575" y="295275"/>
                </a:lnTo>
                <a:lnTo>
                  <a:pt x="409575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8374126" y="3341052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3,3</a:t>
            </a:r>
            <a:endParaRPr sz="65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301101" y="2919476"/>
            <a:ext cx="400050" cy="295275"/>
          </a:xfrm>
          <a:custGeom>
            <a:avLst/>
            <a:gdLst/>
            <a:ahLst/>
            <a:cxnLst/>
            <a:rect l="l" t="t" r="r" b="b"/>
            <a:pathLst>
              <a:path w="400050" h="295275">
                <a:moveTo>
                  <a:pt x="0" y="295275"/>
                </a:moveTo>
                <a:lnTo>
                  <a:pt x="400050" y="295275"/>
                </a:lnTo>
                <a:lnTo>
                  <a:pt x="400050" y="0"/>
                </a:lnTo>
                <a:lnTo>
                  <a:pt x="0" y="0"/>
                </a:lnTo>
                <a:lnTo>
                  <a:pt x="0" y="295275"/>
                </a:lnTo>
                <a:close/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8378825" y="3000057"/>
            <a:ext cx="271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3,2</a:t>
            </a:r>
            <a:endParaRPr sz="6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4460" y="4176640"/>
            <a:ext cx="3229610" cy="946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7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7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950709" y="4247225"/>
            <a:ext cx="727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latin typeface="Arial"/>
                <a:cs typeface="Arial"/>
              </a:rPr>
              <a:t>Attention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29550" y="4253575"/>
            <a:ext cx="15240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25" dirty="0">
                <a:latin typeface="Arial"/>
                <a:cs typeface="Arial"/>
              </a:rPr>
              <a:t>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300719" y="4253575"/>
            <a:ext cx="36385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20" dirty="0">
                <a:latin typeface="Arial"/>
                <a:cs typeface="Arial"/>
              </a:rPr>
              <a:t>very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61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8301101" y="2567051"/>
            <a:ext cx="400050" cy="295275"/>
          </a:xfrm>
          <a:prstGeom prst="rect">
            <a:avLst/>
          </a:prstGeom>
          <a:solidFill>
            <a:srgbClr val="DFDFDF"/>
          </a:solidFill>
          <a:ln w="12700">
            <a:solidFill>
              <a:srgbClr val="666666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45"/>
              </a:spcBef>
            </a:pPr>
            <a:r>
              <a:rPr sz="1425" spc="-30" baseline="8771" dirty="0">
                <a:latin typeface="Arial"/>
                <a:cs typeface="Arial"/>
              </a:rPr>
              <a:t>E</a:t>
            </a:r>
            <a:r>
              <a:rPr sz="650" spc="-20" dirty="0">
                <a:latin typeface="Arial"/>
                <a:cs typeface="Arial"/>
              </a:rPr>
              <a:t>3,1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spc="-10" dirty="0">
                <a:latin typeface="Arial"/>
                <a:cs typeface="Arial"/>
              </a:rPr>
              <a:t>Computation</a:t>
            </a:r>
            <a:r>
              <a:rPr sz="1550" spc="-10" dirty="0">
                <a:latin typeface="Arial"/>
                <a:cs typeface="Arial"/>
              </a:rPr>
              <a:t>: </a:t>
            </a: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" y="2869247"/>
            <a:ext cx="270827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70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75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 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51949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0000"/>
                </a:solidFill>
              </a:rPr>
              <a:t>Multiheaded</a:t>
            </a:r>
            <a:r>
              <a:rPr spc="295" dirty="0">
                <a:solidFill>
                  <a:srgbClr val="FF0000"/>
                </a:solidFill>
              </a:rPr>
              <a:t> </a:t>
            </a:r>
            <a:r>
              <a:rPr dirty="0"/>
              <a:t>Self-Attention</a:t>
            </a:r>
            <a:r>
              <a:rPr spc="235" dirty="0"/>
              <a:t> </a:t>
            </a:r>
            <a:r>
              <a:rPr spc="-10" dirty="0"/>
              <a:t>Layer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360" y="511619"/>
            <a:ext cx="3820160" cy="1650364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760"/>
              </a:spcBef>
            </a:pPr>
            <a:r>
              <a:rPr sz="1550" dirty="0">
                <a:latin typeface="Arial"/>
                <a:cs typeface="Arial"/>
              </a:rPr>
              <a:t>Run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copies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parallel</a:t>
            </a:r>
            <a:endParaRPr sz="15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665"/>
              </a:spcBef>
            </a:pPr>
            <a:r>
              <a:rPr sz="1550" b="1" spc="-10" dirty="0">
                <a:latin typeface="Arial"/>
                <a:cs typeface="Arial"/>
              </a:rPr>
              <a:t>Inputs</a:t>
            </a:r>
            <a:r>
              <a:rPr sz="1550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50800" marR="1140460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in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85001" y="4179887"/>
            <a:ext cx="450850" cy="279400"/>
            <a:chOff x="6485001" y="4179887"/>
            <a:chExt cx="450850" cy="279400"/>
          </a:xfrm>
        </p:grpSpPr>
        <p:sp>
          <p:nvSpPr>
            <p:cNvPr id="9" name="object 9"/>
            <p:cNvSpPr/>
            <p:nvPr/>
          </p:nvSpPr>
          <p:spPr>
            <a:xfrm>
              <a:off x="6491351" y="418623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91351" y="418623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085076" y="4170362"/>
            <a:ext cx="450850" cy="288925"/>
            <a:chOff x="7085076" y="4170362"/>
            <a:chExt cx="450850" cy="288925"/>
          </a:xfrm>
        </p:grpSpPr>
        <p:sp>
          <p:nvSpPr>
            <p:cNvPr id="12" name="object 12"/>
            <p:cNvSpPr/>
            <p:nvPr/>
          </p:nvSpPr>
          <p:spPr>
            <a:xfrm>
              <a:off x="7091426" y="417671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91426" y="417671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656576" y="4179887"/>
            <a:ext cx="460375" cy="279400"/>
            <a:chOff x="7656576" y="4179887"/>
            <a:chExt cx="460375" cy="279400"/>
          </a:xfrm>
        </p:grpSpPr>
        <p:sp>
          <p:nvSpPr>
            <p:cNvPr id="15" name="object 15"/>
            <p:cNvSpPr/>
            <p:nvPr/>
          </p:nvSpPr>
          <p:spPr>
            <a:xfrm>
              <a:off x="7662926" y="418623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62926" y="418623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47625" y="981074"/>
            <a:ext cx="5105400" cy="3752850"/>
          </a:xfrm>
          <a:custGeom>
            <a:avLst/>
            <a:gdLst/>
            <a:ahLst/>
            <a:cxnLst/>
            <a:rect l="l" t="t" r="r" b="b"/>
            <a:pathLst>
              <a:path w="5105400" h="3752850">
                <a:moveTo>
                  <a:pt x="5105400" y="2752725"/>
                </a:moveTo>
                <a:lnTo>
                  <a:pt x="3333750" y="2752725"/>
                </a:lnTo>
                <a:lnTo>
                  <a:pt x="3333750" y="0"/>
                </a:lnTo>
                <a:lnTo>
                  <a:pt x="0" y="0"/>
                </a:lnTo>
                <a:lnTo>
                  <a:pt x="0" y="3752850"/>
                </a:lnTo>
                <a:lnTo>
                  <a:pt x="3333750" y="3752850"/>
                </a:lnTo>
                <a:lnTo>
                  <a:pt x="3333750" y="3724275"/>
                </a:lnTo>
                <a:lnTo>
                  <a:pt x="5105400" y="3724275"/>
                </a:lnTo>
                <a:lnTo>
                  <a:pt x="5105400" y="2752725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25880" y="3670926"/>
            <a:ext cx="217804" cy="2736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325" spc="-37" baseline="10752" dirty="0">
                <a:latin typeface="Arial"/>
                <a:cs typeface="Arial"/>
              </a:rPr>
              <a:t>E</a:t>
            </a:r>
            <a:r>
              <a:rPr sz="1050" spc="-25" dirty="0">
                <a:latin typeface="Arial"/>
                <a:cs typeface="Arial"/>
              </a:rPr>
              <a:t>ij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8610" y="3670926"/>
            <a:ext cx="10858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  <a:tabLst>
                <a:tab pos="866140" algn="l"/>
              </a:tabLst>
            </a:pPr>
            <a:r>
              <a:rPr sz="1550" dirty="0">
                <a:latin typeface="Arial"/>
                <a:cs typeface="Arial"/>
              </a:rPr>
              <a:t>=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89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460" y="3928355"/>
            <a:ext cx="3874770" cy="1195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dim=1)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8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AX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87409" y="3928355"/>
            <a:ext cx="6515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92569" y="4206485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97343" y="420362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72018" y="4206485"/>
            <a:ext cx="23558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62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spc="-10" dirty="0">
                <a:latin typeface="Arial"/>
                <a:cs typeface="Arial"/>
              </a:rPr>
              <a:t>Computation</a:t>
            </a:r>
            <a:r>
              <a:rPr sz="1550" spc="-10" dirty="0">
                <a:latin typeface="Arial"/>
                <a:cs typeface="Arial"/>
              </a:rPr>
              <a:t>: </a:t>
            </a: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" y="2869247"/>
            <a:ext cx="270827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70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75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 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51949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0000"/>
                </a:solidFill>
              </a:rPr>
              <a:t>Multiheaded</a:t>
            </a:r>
            <a:r>
              <a:rPr spc="295" dirty="0">
                <a:solidFill>
                  <a:srgbClr val="FF0000"/>
                </a:solidFill>
              </a:rPr>
              <a:t> </a:t>
            </a:r>
            <a:r>
              <a:rPr dirty="0"/>
              <a:t>Self-Attention</a:t>
            </a:r>
            <a:r>
              <a:rPr spc="235" dirty="0"/>
              <a:t> </a:t>
            </a:r>
            <a:r>
              <a:rPr spc="-10" dirty="0"/>
              <a:t>Layer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360" y="511619"/>
            <a:ext cx="3820160" cy="1650364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760"/>
              </a:spcBef>
            </a:pPr>
            <a:r>
              <a:rPr sz="1550" dirty="0">
                <a:latin typeface="Arial"/>
                <a:cs typeface="Arial"/>
              </a:rPr>
              <a:t>Run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copies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parallel</a:t>
            </a:r>
            <a:endParaRPr sz="15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665"/>
              </a:spcBef>
            </a:pPr>
            <a:r>
              <a:rPr sz="1550" b="1" spc="-10" dirty="0">
                <a:latin typeface="Arial"/>
                <a:cs typeface="Arial"/>
              </a:rPr>
              <a:t>Inputs</a:t>
            </a:r>
            <a:r>
              <a:rPr sz="1550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50800" marR="1140460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in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85001" y="4179887"/>
            <a:ext cx="450850" cy="279400"/>
            <a:chOff x="6485001" y="4179887"/>
            <a:chExt cx="450850" cy="279400"/>
          </a:xfrm>
        </p:grpSpPr>
        <p:sp>
          <p:nvSpPr>
            <p:cNvPr id="9" name="object 9"/>
            <p:cNvSpPr/>
            <p:nvPr/>
          </p:nvSpPr>
          <p:spPr>
            <a:xfrm>
              <a:off x="6491351" y="418623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91351" y="418623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085076" y="4170362"/>
            <a:ext cx="450850" cy="288925"/>
            <a:chOff x="7085076" y="4170362"/>
            <a:chExt cx="450850" cy="288925"/>
          </a:xfrm>
        </p:grpSpPr>
        <p:sp>
          <p:nvSpPr>
            <p:cNvPr id="12" name="object 12"/>
            <p:cNvSpPr/>
            <p:nvPr/>
          </p:nvSpPr>
          <p:spPr>
            <a:xfrm>
              <a:off x="7091426" y="417671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91426" y="417671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656576" y="4179887"/>
            <a:ext cx="460375" cy="279400"/>
            <a:chOff x="7656576" y="4179887"/>
            <a:chExt cx="460375" cy="279400"/>
          </a:xfrm>
        </p:grpSpPr>
        <p:sp>
          <p:nvSpPr>
            <p:cNvPr id="15" name="object 15"/>
            <p:cNvSpPr/>
            <p:nvPr/>
          </p:nvSpPr>
          <p:spPr>
            <a:xfrm>
              <a:off x="7662926" y="418623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62926" y="418623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1700" y="2658474"/>
            <a:ext cx="790473" cy="127510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6575" y="2658474"/>
            <a:ext cx="780955" cy="127510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1450" y="2648949"/>
            <a:ext cx="780955" cy="127510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789045" y="2727642"/>
            <a:ext cx="2009139" cy="10007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55"/>
              </a:spcBef>
            </a:pPr>
            <a:r>
              <a:rPr sz="1550" dirty="0">
                <a:latin typeface="Arial"/>
                <a:cs typeface="Arial"/>
              </a:rPr>
              <a:t>H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independent </a:t>
            </a: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22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layers </a:t>
            </a:r>
            <a:r>
              <a:rPr sz="1550" dirty="0">
                <a:latin typeface="Arial"/>
                <a:cs typeface="Arial"/>
              </a:rPr>
              <a:t>(called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heads),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each </a:t>
            </a:r>
            <a:r>
              <a:rPr sz="1550" dirty="0">
                <a:latin typeface="Arial"/>
                <a:cs typeface="Arial"/>
              </a:rPr>
              <a:t>with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their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own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weights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625" y="981074"/>
            <a:ext cx="5105400" cy="3752850"/>
          </a:xfrm>
          <a:custGeom>
            <a:avLst/>
            <a:gdLst/>
            <a:ahLst/>
            <a:cxnLst/>
            <a:rect l="l" t="t" r="r" b="b"/>
            <a:pathLst>
              <a:path w="5105400" h="3752850">
                <a:moveTo>
                  <a:pt x="5105400" y="2752725"/>
                </a:moveTo>
                <a:lnTo>
                  <a:pt x="3333750" y="2752725"/>
                </a:lnTo>
                <a:lnTo>
                  <a:pt x="3333750" y="0"/>
                </a:lnTo>
                <a:lnTo>
                  <a:pt x="0" y="0"/>
                </a:lnTo>
                <a:lnTo>
                  <a:pt x="0" y="3752850"/>
                </a:lnTo>
                <a:lnTo>
                  <a:pt x="3333750" y="3752850"/>
                </a:lnTo>
                <a:lnTo>
                  <a:pt x="3333750" y="3724275"/>
                </a:lnTo>
                <a:lnTo>
                  <a:pt x="5105400" y="3724275"/>
                </a:lnTo>
                <a:lnTo>
                  <a:pt x="5105400" y="2752725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325880" y="3670926"/>
            <a:ext cx="217804" cy="2736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325" spc="-37" baseline="10752" dirty="0">
                <a:latin typeface="Arial"/>
                <a:cs typeface="Arial"/>
              </a:rPr>
              <a:t>E</a:t>
            </a:r>
            <a:r>
              <a:rPr sz="1050" spc="-25" dirty="0">
                <a:latin typeface="Arial"/>
                <a:cs typeface="Arial"/>
              </a:rPr>
              <a:t>ij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78610" y="3670926"/>
            <a:ext cx="10858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  <a:tabLst>
                <a:tab pos="866140" algn="l"/>
              </a:tabLst>
            </a:pPr>
            <a:r>
              <a:rPr sz="1550" dirty="0">
                <a:latin typeface="Arial"/>
                <a:cs typeface="Arial"/>
              </a:rPr>
              <a:t>=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89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460" y="3928355"/>
            <a:ext cx="3874770" cy="1195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4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dim=1)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8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AX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4272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87409" y="3928355"/>
            <a:ext cx="65151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92569" y="4206485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7343" y="420362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72018" y="4206485"/>
            <a:ext cx="23558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440551" y="4814104"/>
            <a:ext cx="2540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63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" y="4805679"/>
            <a:ext cx="325374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9758" y="4805679"/>
            <a:ext cx="13074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April</a:t>
            </a:r>
            <a:r>
              <a:rPr sz="1800" spc="-3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24, </a:t>
            </a: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2025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6794" y="4810125"/>
            <a:ext cx="13582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Lecture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8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r>
              <a:rPr sz="2700" spc="690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64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1161097"/>
            <a:ext cx="2697480" cy="10007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3699"/>
              </a:lnSpc>
              <a:spcBef>
                <a:spcPts val="5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in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spc="-10" dirty="0">
                <a:latin typeface="Arial"/>
                <a:cs typeface="Arial"/>
              </a:rPr>
              <a:t>Computation</a:t>
            </a:r>
            <a:r>
              <a:rPr sz="1550" spc="-10" dirty="0">
                <a:latin typeface="Arial"/>
                <a:cs typeface="Arial"/>
              </a:rPr>
              <a:t>: </a:t>
            </a: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60" y="2869247"/>
            <a:ext cx="270827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70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75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 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760" y="3634930"/>
            <a:ext cx="4639945" cy="54038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26820">
              <a:lnSpc>
                <a:spcPct val="100000"/>
              </a:lnSpc>
              <a:spcBef>
                <a:spcPts val="260"/>
              </a:spcBef>
              <a:tabLst>
                <a:tab pos="23329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060" y="4157662"/>
            <a:ext cx="303085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8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AX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6812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51949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0000"/>
                </a:solidFill>
              </a:rPr>
              <a:t>Multiheaded</a:t>
            </a:r>
            <a:r>
              <a:rPr spc="295" dirty="0">
                <a:solidFill>
                  <a:srgbClr val="FF0000"/>
                </a:solidFill>
              </a:rPr>
              <a:t> </a:t>
            </a:r>
            <a:r>
              <a:rPr dirty="0"/>
              <a:t>Self-Attention</a:t>
            </a:r>
            <a:r>
              <a:rPr spc="235" dirty="0"/>
              <a:t> </a:t>
            </a:r>
            <a:r>
              <a:rPr spc="-10" dirty="0"/>
              <a:t>Layer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4460" y="511619"/>
            <a:ext cx="3769360" cy="66738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760"/>
              </a:spcBef>
            </a:pPr>
            <a:r>
              <a:rPr sz="1550" dirty="0">
                <a:latin typeface="Arial"/>
                <a:cs typeface="Arial"/>
              </a:rPr>
              <a:t>Run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copies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parallel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50" b="1" spc="-10" dirty="0">
                <a:latin typeface="Arial"/>
                <a:cs typeface="Arial"/>
              </a:rPr>
              <a:t>Inputs</a:t>
            </a:r>
            <a:r>
              <a:rPr sz="1550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91351" y="4186237"/>
            <a:ext cx="438150" cy="266700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91426" y="4176712"/>
            <a:ext cx="438150" cy="276225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62926" y="4186237"/>
            <a:ext cx="447675" cy="266700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1700" y="2658474"/>
            <a:ext cx="790473" cy="127510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6575" y="2658474"/>
            <a:ext cx="780955" cy="127510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1450" y="2648949"/>
            <a:ext cx="780955" cy="1275104"/>
          </a:xfrm>
          <a:prstGeom prst="rect">
            <a:avLst/>
          </a:prstGeom>
        </p:spPr>
      </p:pic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275451" y="1760601"/>
          <a:ext cx="466725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161276" y="1760601"/>
          <a:ext cx="457200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8104251" y="1760601"/>
          <a:ext cx="457200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3789045" y="2727642"/>
            <a:ext cx="2009139" cy="10007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55"/>
              </a:spcBef>
            </a:pPr>
            <a:r>
              <a:rPr sz="1550" dirty="0">
                <a:latin typeface="Arial"/>
                <a:cs typeface="Arial"/>
              </a:rPr>
              <a:t>H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independent </a:t>
            </a: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22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layers </a:t>
            </a:r>
            <a:r>
              <a:rPr sz="1550" dirty="0">
                <a:latin typeface="Arial"/>
                <a:cs typeface="Arial"/>
              </a:rPr>
              <a:t>(called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heads),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each </a:t>
            </a:r>
            <a:r>
              <a:rPr sz="1550" dirty="0">
                <a:latin typeface="Arial"/>
                <a:cs typeface="Arial"/>
              </a:rPr>
              <a:t>with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their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own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weights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60165" y="1698053"/>
            <a:ext cx="186690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latin typeface="Arial"/>
                <a:cs typeface="Arial"/>
              </a:rPr>
              <a:t>Stack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up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H </a:t>
            </a:r>
            <a:r>
              <a:rPr sz="1550" dirty="0">
                <a:latin typeface="Arial"/>
                <a:cs typeface="Arial"/>
              </a:rPr>
              <a:t>independent</a:t>
            </a:r>
            <a:r>
              <a:rPr sz="1550" spc="16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outputs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input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X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7625" y="981074"/>
            <a:ext cx="5105400" cy="3752850"/>
          </a:xfrm>
          <a:custGeom>
            <a:avLst/>
            <a:gdLst/>
            <a:ahLst/>
            <a:cxnLst/>
            <a:rect l="l" t="t" r="r" b="b"/>
            <a:pathLst>
              <a:path w="5105400" h="3752850">
                <a:moveTo>
                  <a:pt x="5105400" y="2752725"/>
                </a:moveTo>
                <a:lnTo>
                  <a:pt x="3333750" y="2752725"/>
                </a:lnTo>
                <a:lnTo>
                  <a:pt x="3333750" y="0"/>
                </a:lnTo>
                <a:lnTo>
                  <a:pt x="0" y="0"/>
                </a:lnTo>
                <a:lnTo>
                  <a:pt x="0" y="3752850"/>
                </a:lnTo>
                <a:lnTo>
                  <a:pt x="3333750" y="3752850"/>
                </a:lnTo>
                <a:lnTo>
                  <a:pt x="3333750" y="3724275"/>
                </a:lnTo>
                <a:lnTo>
                  <a:pt x="5105400" y="3724275"/>
                </a:lnTo>
                <a:lnTo>
                  <a:pt x="5105400" y="2752725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913066"/>
            <a:ext cx="2697480" cy="1249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latin typeface="Arial"/>
                <a:cs typeface="Arial"/>
              </a:rPr>
              <a:t>Inputs</a:t>
            </a:r>
            <a:r>
              <a:rPr sz="1550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30480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in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8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3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75" baseline="-15873" dirty="0">
                <a:latin typeface="Arial"/>
                <a:cs typeface="Arial"/>
              </a:rPr>
              <a:t>in</a:t>
            </a:r>
            <a:r>
              <a:rPr sz="1575" spc="345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382456"/>
            <a:ext cx="1772920" cy="51435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 marR="30480">
              <a:lnSpc>
                <a:spcPct val="105100"/>
              </a:lnSpc>
              <a:spcBef>
                <a:spcPts val="30"/>
              </a:spcBef>
            </a:pPr>
            <a:r>
              <a:rPr sz="1550" b="1" spc="-10" dirty="0">
                <a:latin typeface="Arial"/>
                <a:cs typeface="Arial"/>
              </a:rPr>
              <a:t>Computation</a:t>
            </a:r>
            <a:r>
              <a:rPr sz="1550" spc="-10" dirty="0">
                <a:latin typeface="Arial"/>
                <a:cs typeface="Arial"/>
              </a:rPr>
              <a:t>: </a:t>
            </a: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630741"/>
            <a:ext cx="8921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6350">
              <a:lnSpc>
                <a:spcPct val="101000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</a:t>
            </a:r>
            <a:r>
              <a:rPr sz="1575" spc="-15" baseline="-15873" dirty="0">
                <a:latin typeface="Arial"/>
                <a:cs typeface="Arial"/>
              </a:rPr>
              <a:t>out</a:t>
            </a:r>
            <a:r>
              <a:rPr sz="1550" spc="-1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2869247"/>
            <a:ext cx="270827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70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3346386"/>
            <a:ext cx="3227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75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75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[N 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760" y="3634930"/>
            <a:ext cx="4639945" cy="54038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26820">
              <a:lnSpc>
                <a:spcPct val="100000"/>
              </a:lnSpc>
              <a:spcBef>
                <a:spcPts val="260"/>
              </a:spcBef>
              <a:tabLst>
                <a:tab pos="2332990" algn="l"/>
              </a:tabLst>
            </a:pPr>
            <a:r>
              <a:rPr sz="1550" dirty="0">
                <a:latin typeface="Arial"/>
                <a:cs typeface="Arial"/>
              </a:rPr>
              <a:t>E</a:t>
            </a:r>
            <a:r>
              <a:rPr sz="1575" baseline="-15873" dirty="0">
                <a:latin typeface="Arial"/>
                <a:cs typeface="Arial"/>
              </a:rPr>
              <a:t>ij</a:t>
            </a:r>
            <a:r>
              <a:rPr sz="1575" spc="30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i</a:t>
            </a:r>
            <a:r>
              <a:rPr sz="1550" dirty="0">
                <a:latin typeface="Arial"/>
                <a:cs typeface="Arial"/>
              </a:rPr>
              <a:t>·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j</a:t>
            </a:r>
            <a:r>
              <a:rPr sz="1575" b="1" spc="67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/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𝐷</a:t>
            </a:r>
            <a:r>
              <a:rPr sz="1575" spc="-37" baseline="-15873" dirty="0">
                <a:latin typeface="Cambria Math"/>
                <a:cs typeface="Cambria Math"/>
              </a:rPr>
              <a:t>𝑄</a:t>
            </a:r>
            <a:endParaRPr sz="1575" baseline="-15873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6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dim=1)</a:t>
            </a:r>
            <a:r>
              <a:rPr sz="1550" spc="9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1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60" y="4157662"/>
            <a:ext cx="303085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8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AX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</a:t>
            </a:r>
            <a:r>
              <a:rPr sz="1575" spc="-30" baseline="-15873" dirty="0">
                <a:latin typeface="Arial"/>
                <a:cs typeface="Arial"/>
              </a:rPr>
              <a:t>out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46812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75" baseline="-15873" dirty="0">
                <a:solidFill>
                  <a:srgbClr val="D79F39"/>
                </a:solidFill>
                <a:latin typeface="Arial"/>
                <a:cs typeface="Arial"/>
              </a:rPr>
              <a:t>i</a:t>
            </a:r>
            <a:r>
              <a:rPr sz="1575" spc="247" baseline="-15873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∑</a:t>
            </a:r>
            <a:r>
              <a:rPr sz="1575" spc="-15" baseline="-15873" dirty="0">
                <a:latin typeface="Arial"/>
                <a:cs typeface="Arial"/>
              </a:rPr>
              <a:t>j</a:t>
            </a:r>
            <a:r>
              <a:rPr sz="1550" spc="-10" dirty="0">
                <a:latin typeface="Arial"/>
                <a:cs typeface="Arial"/>
              </a:rPr>
              <a:t>A</a:t>
            </a:r>
            <a:r>
              <a:rPr sz="1575" spc="-15" baseline="-15873" dirty="0">
                <a:latin typeface="Arial"/>
                <a:cs typeface="Arial"/>
              </a:rPr>
              <a:t>ij</a:t>
            </a:r>
            <a:r>
              <a:rPr sz="1550" b="1" spc="-10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-15" baseline="-15873" dirty="0">
                <a:solidFill>
                  <a:srgbClr val="8A81D2"/>
                </a:solidFill>
                <a:latin typeface="Arial"/>
                <a:cs typeface="Arial"/>
              </a:rPr>
              <a:t>j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51949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0000"/>
                </a:solidFill>
              </a:rPr>
              <a:t>Multiheaded</a:t>
            </a:r>
            <a:r>
              <a:rPr spc="295" dirty="0">
                <a:solidFill>
                  <a:srgbClr val="FF0000"/>
                </a:solidFill>
              </a:rPr>
              <a:t> </a:t>
            </a:r>
            <a:r>
              <a:rPr dirty="0"/>
              <a:t>Self-Attention</a:t>
            </a:r>
            <a:r>
              <a:rPr spc="235" dirty="0"/>
              <a:t> </a:t>
            </a:r>
            <a:r>
              <a:rPr spc="-10" dirty="0"/>
              <a:t>Layer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8757" y="592137"/>
            <a:ext cx="36747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Run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copies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parallel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1351" y="4186237"/>
            <a:ext cx="438150" cy="266700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91426" y="4176712"/>
            <a:ext cx="438150" cy="276225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2926" y="4186237"/>
            <a:ext cx="447675" cy="266700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1700" y="2658474"/>
            <a:ext cx="790473" cy="12751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6575" y="2658474"/>
            <a:ext cx="780955" cy="127510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1450" y="2648949"/>
            <a:ext cx="780955" cy="1275104"/>
          </a:xfrm>
          <a:prstGeom prst="rect">
            <a:avLst/>
          </a:prstGeom>
        </p:spPr>
      </p:pic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275451" y="1760601"/>
          <a:ext cx="555625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7161276" y="1760601"/>
          <a:ext cx="546100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8104251" y="1760601"/>
          <a:ext cx="546100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281801" y="643001"/>
            <a:ext cx="466725" cy="628650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8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O</a:t>
            </a:r>
            <a:r>
              <a:rPr sz="1200" spc="-37" baseline="-17361" dirty="0">
                <a:latin typeface="Arial"/>
                <a:cs typeface="Arial"/>
              </a:rPr>
              <a:t>1</a:t>
            </a:r>
            <a:endParaRPr sz="1200" baseline="-17361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67626" y="643001"/>
            <a:ext cx="457200" cy="628650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800">
              <a:latin typeface="Times New Roman"/>
              <a:cs typeface="Times New Roman"/>
            </a:endParaRPr>
          </a:p>
          <a:p>
            <a:pPr marL="14478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O</a:t>
            </a:r>
            <a:r>
              <a:rPr sz="1200" spc="-37" baseline="-17361" dirty="0">
                <a:latin typeface="Arial"/>
                <a:cs typeface="Arial"/>
              </a:rPr>
              <a:t>2</a:t>
            </a:r>
            <a:endParaRPr sz="1200" baseline="-17361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10601" y="643001"/>
            <a:ext cx="457200" cy="628650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8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O</a:t>
            </a:r>
            <a:r>
              <a:rPr sz="1200" spc="-37" baseline="-17361" dirty="0">
                <a:latin typeface="Arial"/>
                <a:cs typeface="Arial"/>
              </a:rPr>
              <a:t>3</a:t>
            </a:r>
            <a:endParaRPr sz="1200" baseline="-17361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89045" y="2727642"/>
            <a:ext cx="2009139" cy="10007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55"/>
              </a:spcBef>
            </a:pPr>
            <a:r>
              <a:rPr sz="1550" dirty="0">
                <a:latin typeface="Arial"/>
                <a:cs typeface="Arial"/>
              </a:rPr>
              <a:t>H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independent </a:t>
            </a: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22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layers </a:t>
            </a:r>
            <a:r>
              <a:rPr sz="1550" dirty="0">
                <a:latin typeface="Arial"/>
                <a:cs typeface="Arial"/>
              </a:rPr>
              <a:t>(called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heads),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each </a:t>
            </a:r>
            <a:r>
              <a:rPr sz="1550" dirty="0">
                <a:latin typeface="Arial"/>
                <a:cs typeface="Arial"/>
              </a:rPr>
              <a:t>with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their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own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weights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60165" y="1698053"/>
            <a:ext cx="186690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latin typeface="Arial"/>
                <a:cs typeface="Arial"/>
              </a:rPr>
              <a:t>Stack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up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H </a:t>
            </a:r>
            <a:r>
              <a:rPr sz="1550" dirty="0">
                <a:latin typeface="Arial"/>
                <a:cs typeface="Arial"/>
              </a:rPr>
              <a:t>independent</a:t>
            </a:r>
            <a:r>
              <a:rPr sz="1550" spc="16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outputs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input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X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80205" y="896874"/>
            <a:ext cx="2119630" cy="5054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Output</a:t>
            </a:r>
            <a:r>
              <a:rPr sz="1550" spc="1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projection</a:t>
            </a:r>
            <a:r>
              <a:rPr sz="1550" spc="1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fuses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50" dirty="0">
                <a:latin typeface="Arial"/>
                <a:cs typeface="Arial"/>
              </a:rPr>
              <a:t>data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from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head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481698" y="1271524"/>
            <a:ext cx="76835" cy="499745"/>
          </a:xfrm>
          <a:custGeom>
            <a:avLst/>
            <a:gdLst/>
            <a:ahLst/>
            <a:cxnLst/>
            <a:rect l="l" t="t" r="r" b="b"/>
            <a:pathLst>
              <a:path w="76834" h="499744">
                <a:moveTo>
                  <a:pt x="44576" y="63500"/>
                </a:moveTo>
                <a:lnTo>
                  <a:pt x="31876" y="63500"/>
                </a:lnTo>
                <a:lnTo>
                  <a:pt x="31876" y="499617"/>
                </a:lnTo>
                <a:lnTo>
                  <a:pt x="44576" y="499617"/>
                </a:lnTo>
                <a:lnTo>
                  <a:pt x="44576" y="63500"/>
                </a:lnTo>
                <a:close/>
              </a:path>
              <a:path w="76834" h="499744">
                <a:moveTo>
                  <a:pt x="38100" y="0"/>
                </a:moveTo>
                <a:lnTo>
                  <a:pt x="0" y="76326"/>
                </a:lnTo>
                <a:lnTo>
                  <a:pt x="31876" y="76326"/>
                </a:lnTo>
                <a:lnTo>
                  <a:pt x="31876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834" h="499744">
                <a:moveTo>
                  <a:pt x="69850" y="63500"/>
                </a:moveTo>
                <a:lnTo>
                  <a:pt x="44576" y="63500"/>
                </a:lnTo>
                <a:lnTo>
                  <a:pt x="44576" y="76326"/>
                </a:lnTo>
                <a:lnTo>
                  <a:pt x="76263" y="76326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57998" y="1271650"/>
            <a:ext cx="76200" cy="499745"/>
          </a:xfrm>
          <a:custGeom>
            <a:avLst/>
            <a:gdLst/>
            <a:ahLst/>
            <a:cxnLst/>
            <a:rect l="l" t="t" r="r" b="b"/>
            <a:pathLst>
              <a:path w="76200" h="499744">
                <a:moveTo>
                  <a:pt x="44450" y="63500"/>
                </a:moveTo>
                <a:lnTo>
                  <a:pt x="31750" y="63500"/>
                </a:lnTo>
                <a:lnTo>
                  <a:pt x="31750" y="499490"/>
                </a:lnTo>
                <a:lnTo>
                  <a:pt x="44450" y="499490"/>
                </a:lnTo>
                <a:lnTo>
                  <a:pt x="44450" y="63500"/>
                </a:lnTo>
                <a:close/>
              </a:path>
              <a:path w="76200" h="49974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9974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300973" y="1271650"/>
            <a:ext cx="76200" cy="499745"/>
          </a:xfrm>
          <a:custGeom>
            <a:avLst/>
            <a:gdLst/>
            <a:ahLst/>
            <a:cxnLst/>
            <a:rect l="l" t="t" r="r" b="b"/>
            <a:pathLst>
              <a:path w="76200" h="499744">
                <a:moveTo>
                  <a:pt x="44450" y="63500"/>
                </a:moveTo>
                <a:lnTo>
                  <a:pt x="31750" y="63500"/>
                </a:lnTo>
                <a:lnTo>
                  <a:pt x="31750" y="499490"/>
                </a:lnTo>
                <a:lnTo>
                  <a:pt x="44450" y="499490"/>
                </a:lnTo>
                <a:lnTo>
                  <a:pt x="44450" y="63500"/>
                </a:lnTo>
                <a:close/>
              </a:path>
              <a:path w="76200" h="49974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9974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625" y="981074"/>
            <a:ext cx="5105400" cy="3752850"/>
          </a:xfrm>
          <a:custGeom>
            <a:avLst/>
            <a:gdLst/>
            <a:ahLst/>
            <a:cxnLst/>
            <a:rect l="l" t="t" r="r" b="b"/>
            <a:pathLst>
              <a:path w="5105400" h="3752850">
                <a:moveTo>
                  <a:pt x="5105400" y="2752725"/>
                </a:moveTo>
                <a:lnTo>
                  <a:pt x="3333750" y="2752725"/>
                </a:lnTo>
                <a:lnTo>
                  <a:pt x="3333750" y="0"/>
                </a:lnTo>
                <a:lnTo>
                  <a:pt x="0" y="0"/>
                </a:lnTo>
                <a:lnTo>
                  <a:pt x="0" y="3752850"/>
                </a:lnTo>
                <a:lnTo>
                  <a:pt x="3333750" y="3752850"/>
                </a:lnTo>
                <a:lnTo>
                  <a:pt x="3333750" y="3724275"/>
                </a:lnTo>
                <a:lnTo>
                  <a:pt x="5105400" y="3724275"/>
                </a:lnTo>
                <a:lnTo>
                  <a:pt x="5105400" y="2752725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1132522"/>
            <a:ext cx="2588895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 marR="30480">
              <a:lnSpc>
                <a:spcPct val="103000"/>
              </a:lnSpc>
              <a:spcBef>
                <a:spcPts val="70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8464" y="1971992"/>
            <a:ext cx="97726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6775" algn="l"/>
              </a:tabLst>
            </a:pPr>
            <a:r>
              <a:rPr sz="1050" b="1" spc="-50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050" b="1" dirty="0">
                <a:solidFill>
                  <a:srgbClr val="8AAB42"/>
                </a:solidFill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H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460" y="1867217"/>
            <a:ext cx="25990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718945" algn="l"/>
              </a:tabLst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60" dirty="0"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	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HD</a:t>
            </a:r>
            <a:r>
              <a:rPr sz="1550" spc="409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2105977"/>
            <a:ext cx="27279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060" y="3530431"/>
            <a:ext cx="5026660" cy="10934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51949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0000"/>
                </a:solidFill>
              </a:rPr>
              <a:t>Multiheaded</a:t>
            </a:r>
            <a:r>
              <a:rPr spc="295" dirty="0">
                <a:solidFill>
                  <a:srgbClr val="FF0000"/>
                </a:solidFill>
              </a:rPr>
              <a:t> </a:t>
            </a:r>
            <a:r>
              <a:rPr dirty="0"/>
              <a:t>Self-Attention</a:t>
            </a:r>
            <a:r>
              <a:rPr spc="235" dirty="0"/>
              <a:t> </a:t>
            </a:r>
            <a:r>
              <a:rPr spc="-10" dirty="0"/>
              <a:t>Layer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4460" y="540847"/>
            <a:ext cx="3769360" cy="6096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530"/>
              </a:spcBef>
            </a:pPr>
            <a:r>
              <a:rPr sz="1550" dirty="0">
                <a:latin typeface="Arial"/>
                <a:cs typeface="Arial"/>
              </a:rPr>
              <a:t>Run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copies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parallel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91351" y="4186237"/>
            <a:ext cx="438150" cy="266700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91426" y="4176712"/>
            <a:ext cx="438150" cy="276225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62926" y="4186237"/>
            <a:ext cx="447675" cy="266700"/>
          </a:xfrm>
          <a:prstGeom prst="rect">
            <a:avLst/>
          </a:prstGeom>
          <a:solidFill>
            <a:srgbClr val="D5E6F1"/>
          </a:solidFill>
          <a:ln w="12700">
            <a:solidFill>
              <a:srgbClr val="3981B9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35"/>
              </a:spcBef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1700" y="2658474"/>
            <a:ext cx="790473" cy="12751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6575" y="2658474"/>
            <a:ext cx="780955" cy="127510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1450" y="2648949"/>
            <a:ext cx="780955" cy="1275104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275451" y="1760601"/>
          <a:ext cx="466725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161276" y="1760601"/>
          <a:ext cx="457200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8104251" y="1760601"/>
          <a:ext cx="457200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6281801" y="643001"/>
            <a:ext cx="466725" cy="628650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8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O</a:t>
            </a:r>
            <a:r>
              <a:rPr sz="1200" spc="-37" baseline="-17361" dirty="0">
                <a:latin typeface="Arial"/>
                <a:cs typeface="Arial"/>
              </a:rPr>
              <a:t>1</a:t>
            </a:r>
            <a:endParaRPr sz="1200" baseline="-17361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67626" y="643001"/>
            <a:ext cx="457200" cy="628650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800">
              <a:latin typeface="Times New Roman"/>
              <a:cs typeface="Times New Roman"/>
            </a:endParaRPr>
          </a:p>
          <a:p>
            <a:pPr marL="14478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O</a:t>
            </a:r>
            <a:r>
              <a:rPr sz="1200" spc="-37" baseline="-17361" dirty="0">
                <a:latin typeface="Arial"/>
                <a:cs typeface="Arial"/>
              </a:rPr>
              <a:t>2</a:t>
            </a:r>
            <a:endParaRPr sz="1200" baseline="-17361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10601" y="643001"/>
            <a:ext cx="457200" cy="628650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8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O</a:t>
            </a:r>
            <a:r>
              <a:rPr sz="1200" spc="-37" baseline="-17361" dirty="0">
                <a:latin typeface="Arial"/>
                <a:cs typeface="Arial"/>
              </a:rPr>
              <a:t>3</a:t>
            </a:r>
            <a:endParaRPr sz="1200" baseline="-17361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481698" y="1271524"/>
            <a:ext cx="76835" cy="499745"/>
          </a:xfrm>
          <a:custGeom>
            <a:avLst/>
            <a:gdLst/>
            <a:ahLst/>
            <a:cxnLst/>
            <a:rect l="l" t="t" r="r" b="b"/>
            <a:pathLst>
              <a:path w="76834" h="499744">
                <a:moveTo>
                  <a:pt x="44576" y="63500"/>
                </a:moveTo>
                <a:lnTo>
                  <a:pt x="31876" y="63500"/>
                </a:lnTo>
                <a:lnTo>
                  <a:pt x="31876" y="499617"/>
                </a:lnTo>
                <a:lnTo>
                  <a:pt x="44576" y="499617"/>
                </a:lnTo>
                <a:lnTo>
                  <a:pt x="44576" y="63500"/>
                </a:lnTo>
                <a:close/>
              </a:path>
              <a:path w="76834" h="499744">
                <a:moveTo>
                  <a:pt x="38100" y="0"/>
                </a:moveTo>
                <a:lnTo>
                  <a:pt x="0" y="76326"/>
                </a:lnTo>
                <a:lnTo>
                  <a:pt x="31876" y="76326"/>
                </a:lnTo>
                <a:lnTo>
                  <a:pt x="31876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834" h="499744">
                <a:moveTo>
                  <a:pt x="69850" y="63500"/>
                </a:moveTo>
                <a:lnTo>
                  <a:pt x="44576" y="63500"/>
                </a:lnTo>
                <a:lnTo>
                  <a:pt x="44576" y="76326"/>
                </a:lnTo>
                <a:lnTo>
                  <a:pt x="76263" y="76326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57998" y="1271650"/>
            <a:ext cx="76200" cy="499745"/>
          </a:xfrm>
          <a:custGeom>
            <a:avLst/>
            <a:gdLst/>
            <a:ahLst/>
            <a:cxnLst/>
            <a:rect l="l" t="t" r="r" b="b"/>
            <a:pathLst>
              <a:path w="76200" h="499744">
                <a:moveTo>
                  <a:pt x="44450" y="63500"/>
                </a:moveTo>
                <a:lnTo>
                  <a:pt x="31750" y="63500"/>
                </a:lnTo>
                <a:lnTo>
                  <a:pt x="31750" y="499490"/>
                </a:lnTo>
                <a:lnTo>
                  <a:pt x="44450" y="499490"/>
                </a:lnTo>
                <a:lnTo>
                  <a:pt x="44450" y="63500"/>
                </a:lnTo>
                <a:close/>
              </a:path>
              <a:path w="76200" h="49974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9974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00973" y="1271650"/>
            <a:ext cx="76200" cy="499745"/>
          </a:xfrm>
          <a:custGeom>
            <a:avLst/>
            <a:gdLst/>
            <a:ahLst/>
            <a:cxnLst/>
            <a:rect l="l" t="t" r="r" b="b"/>
            <a:pathLst>
              <a:path w="76200" h="499744">
                <a:moveTo>
                  <a:pt x="44450" y="63500"/>
                </a:moveTo>
                <a:lnTo>
                  <a:pt x="31750" y="63500"/>
                </a:lnTo>
                <a:lnTo>
                  <a:pt x="31750" y="499490"/>
                </a:lnTo>
                <a:lnTo>
                  <a:pt x="44450" y="499490"/>
                </a:lnTo>
                <a:lnTo>
                  <a:pt x="44450" y="63500"/>
                </a:lnTo>
                <a:close/>
              </a:path>
              <a:path w="76200" h="49974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9974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354704" y="1099756"/>
            <a:ext cx="2153920" cy="7531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 marR="30480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latin typeface="Arial"/>
                <a:cs typeface="Arial"/>
              </a:rPr>
              <a:t>Each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parallel </a:t>
            </a:r>
            <a:r>
              <a:rPr sz="1550" dirty="0">
                <a:latin typeface="Arial"/>
                <a:cs typeface="Arial"/>
              </a:rPr>
              <a:t>layers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use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qkv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322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“head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dim”</a:t>
            </a:r>
            <a:endParaRPr sz="15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247515" y="2177986"/>
            <a:ext cx="12255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Arial"/>
                <a:cs typeface="Arial"/>
              </a:rPr>
              <a:t>H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80104" y="2073211"/>
            <a:ext cx="201548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35685" algn="l"/>
              </a:tabLst>
            </a:pPr>
            <a:r>
              <a:rPr sz="1550" dirty="0">
                <a:latin typeface="Arial"/>
                <a:cs typeface="Arial"/>
              </a:rPr>
              <a:t>Usually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D</a:t>
            </a:r>
            <a:r>
              <a:rPr sz="1550" dirty="0">
                <a:latin typeface="Arial"/>
                <a:cs typeface="Arial"/>
              </a:rPr>
              <a:t>	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/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H,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so</a:t>
            </a:r>
            <a:endParaRPr sz="15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80104" y="2321242"/>
            <a:ext cx="218186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105"/>
              </a:spcBef>
            </a:pPr>
            <a:r>
              <a:rPr sz="1550" dirty="0">
                <a:latin typeface="Arial"/>
                <a:cs typeface="Arial"/>
              </a:rPr>
              <a:t>inputs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outputs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have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same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dimension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1371028"/>
            <a:ext cx="258889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8464" y="1971992"/>
            <a:ext cx="97726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6775" algn="l"/>
              </a:tabLst>
            </a:pPr>
            <a:r>
              <a:rPr sz="1050" b="1" spc="-50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050" b="1" dirty="0">
                <a:solidFill>
                  <a:srgbClr val="8AAB42"/>
                </a:solidFill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H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460" y="1867217"/>
            <a:ext cx="25990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718945" algn="l"/>
              </a:tabLst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60" dirty="0"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	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HD</a:t>
            </a:r>
            <a:r>
              <a:rPr sz="1550" spc="409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2105977"/>
            <a:ext cx="27279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3791" y="2840672"/>
            <a:ext cx="118618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 marR="30480" indent="26670" algn="just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460" y="3088703"/>
            <a:ext cx="73660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 </a:t>
            </a: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2662" y="3088703"/>
            <a:ext cx="88201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1270">
              <a:lnSpc>
                <a:spcPct val="101000"/>
              </a:lnSpc>
              <a:spcBef>
                <a:spcPts val="105"/>
              </a:spcBef>
            </a:pP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51949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0000"/>
                </a:solidFill>
              </a:rPr>
              <a:t>Multiheaded</a:t>
            </a:r>
            <a:r>
              <a:rPr spc="295" dirty="0">
                <a:solidFill>
                  <a:srgbClr val="FF0000"/>
                </a:solidFill>
              </a:rPr>
              <a:t> </a:t>
            </a:r>
            <a:r>
              <a:rPr dirty="0"/>
              <a:t>Self-Attention</a:t>
            </a:r>
            <a:r>
              <a:rPr spc="235" dirty="0"/>
              <a:t> </a:t>
            </a:r>
            <a:r>
              <a:rPr spc="-10" dirty="0"/>
              <a:t>Layer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4460" y="540847"/>
            <a:ext cx="5104130" cy="10242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530"/>
              </a:spcBef>
            </a:pPr>
            <a:r>
              <a:rPr sz="1550" dirty="0">
                <a:latin typeface="Arial"/>
                <a:cs typeface="Arial"/>
              </a:rPr>
              <a:t>Run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copies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Self-Attention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parallel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ts val="1585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  <a:p>
            <a:pPr marL="3258185">
              <a:lnSpc>
                <a:spcPts val="1585"/>
              </a:lnSpc>
            </a:pPr>
            <a:r>
              <a:rPr sz="1550" dirty="0">
                <a:latin typeface="Arial"/>
                <a:cs typeface="Arial"/>
              </a:rPr>
              <a:t>In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practice,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compute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85001" y="4179887"/>
            <a:ext cx="450850" cy="279400"/>
            <a:chOff x="6485001" y="4179887"/>
            <a:chExt cx="450850" cy="279400"/>
          </a:xfrm>
        </p:grpSpPr>
        <p:sp>
          <p:nvSpPr>
            <p:cNvPr id="14" name="object 14"/>
            <p:cNvSpPr/>
            <p:nvPr/>
          </p:nvSpPr>
          <p:spPr>
            <a:xfrm>
              <a:off x="6491351" y="418623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38150" y="26670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91351" y="4186237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0" y="266700"/>
                  </a:moveTo>
                  <a:lnTo>
                    <a:pt x="438150" y="26670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085076" y="4170362"/>
            <a:ext cx="450850" cy="288925"/>
            <a:chOff x="7085076" y="4170362"/>
            <a:chExt cx="450850" cy="288925"/>
          </a:xfrm>
        </p:grpSpPr>
        <p:sp>
          <p:nvSpPr>
            <p:cNvPr id="17" name="object 17"/>
            <p:cNvSpPr/>
            <p:nvPr/>
          </p:nvSpPr>
          <p:spPr>
            <a:xfrm>
              <a:off x="7091426" y="417671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43815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38150" y="276225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91426" y="4176712"/>
              <a:ext cx="438150" cy="276225"/>
            </a:xfrm>
            <a:custGeom>
              <a:avLst/>
              <a:gdLst/>
              <a:ahLst/>
              <a:cxnLst/>
              <a:rect l="l" t="t" r="r" b="b"/>
              <a:pathLst>
                <a:path w="438150" h="276225">
                  <a:moveTo>
                    <a:pt x="0" y="276225"/>
                  </a:moveTo>
                  <a:lnTo>
                    <a:pt x="438150" y="276225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656576" y="4179887"/>
            <a:ext cx="460375" cy="279400"/>
            <a:chOff x="7656576" y="4179887"/>
            <a:chExt cx="460375" cy="279400"/>
          </a:xfrm>
        </p:grpSpPr>
        <p:sp>
          <p:nvSpPr>
            <p:cNvPr id="20" name="object 20"/>
            <p:cNvSpPr/>
            <p:nvPr/>
          </p:nvSpPr>
          <p:spPr>
            <a:xfrm>
              <a:off x="7662926" y="418623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4476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62926" y="4186237"/>
              <a:ext cx="447675" cy="266700"/>
            </a:xfrm>
            <a:custGeom>
              <a:avLst/>
              <a:gdLst/>
              <a:ahLst/>
              <a:cxnLst/>
              <a:rect l="l" t="t" r="r" b="b"/>
              <a:pathLst>
                <a:path w="447675" h="266700">
                  <a:moveTo>
                    <a:pt x="0" y="266700"/>
                  </a:moveTo>
                  <a:lnTo>
                    <a:pt x="447675" y="266700"/>
                  </a:lnTo>
                  <a:lnTo>
                    <a:pt x="447675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1700" y="2658474"/>
            <a:ext cx="790473" cy="127510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6575" y="2658474"/>
            <a:ext cx="780955" cy="127510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1450" y="2648949"/>
            <a:ext cx="780955" cy="1275104"/>
          </a:xfrm>
          <a:prstGeom prst="rect">
            <a:avLst/>
          </a:prstGeom>
        </p:spPr>
      </p:pic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275451" y="1760601"/>
          <a:ext cx="466725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5080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7161276" y="1760601"/>
          <a:ext cx="457200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2,3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8104251" y="1760601"/>
          <a:ext cx="457200" cy="62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25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" algn="ctr">
                        <a:lnSpc>
                          <a:spcPts val="1220"/>
                        </a:lnSpc>
                        <a:spcBef>
                          <a:spcPts val="330"/>
                        </a:spcBef>
                      </a:pPr>
                      <a:r>
                        <a:rPr sz="1800" spc="-30" baseline="9259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3,3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D79F39"/>
                      </a:solidFill>
                      <a:prstDash val="solid"/>
                    </a:lnL>
                    <a:lnR w="12700">
                      <a:solidFill>
                        <a:srgbClr val="D79F39"/>
                      </a:solidFill>
                      <a:prstDash val="solid"/>
                    </a:lnR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6281801" y="643001"/>
            <a:ext cx="466725" cy="628650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8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O</a:t>
            </a:r>
            <a:r>
              <a:rPr sz="1200" spc="-37" baseline="-17361" dirty="0">
                <a:latin typeface="Arial"/>
                <a:cs typeface="Arial"/>
              </a:rPr>
              <a:t>1</a:t>
            </a:r>
            <a:endParaRPr sz="1200" baseline="-17361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67626" y="643001"/>
            <a:ext cx="457200" cy="628650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800">
              <a:latin typeface="Times New Roman"/>
              <a:cs typeface="Times New Roman"/>
            </a:endParaRPr>
          </a:p>
          <a:p>
            <a:pPr marL="14478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O</a:t>
            </a:r>
            <a:r>
              <a:rPr sz="1200" spc="-37" baseline="-17361" dirty="0">
                <a:latin typeface="Arial"/>
                <a:cs typeface="Arial"/>
              </a:rPr>
              <a:t>2</a:t>
            </a:r>
            <a:endParaRPr sz="1200" baseline="-17361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10601" y="643001"/>
            <a:ext cx="457200" cy="628650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8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O</a:t>
            </a:r>
            <a:r>
              <a:rPr sz="1200" spc="-37" baseline="-17361" dirty="0">
                <a:latin typeface="Arial"/>
                <a:cs typeface="Arial"/>
              </a:rPr>
              <a:t>3</a:t>
            </a:r>
            <a:endParaRPr sz="1200" baseline="-17361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81698" y="1271524"/>
            <a:ext cx="76835" cy="499745"/>
          </a:xfrm>
          <a:custGeom>
            <a:avLst/>
            <a:gdLst/>
            <a:ahLst/>
            <a:cxnLst/>
            <a:rect l="l" t="t" r="r" b="b"/>
            <a:pathLst>
              <a:path w="76834" h="499744">
                <a:moveTo>
                  <a:pt x="44576" y="63500"/>
                </a:moveTo>
                <a:lnTo>
                  <a:pt x="31876" y="63500"/>
                </a:lnTo>
                <a:lnTo>
                  <a:pt x="31876" y="499617"/>
                </a:lnTo>
                <a:lnTo>
                  <a:pt x="44576" y="499617"/>
                </a:lnTo>
                <a:lnTo>
                  <a:pt x="44576" y="63500"/>
                </a:lnTo>
                <a:close/>
              </a:path>
              <a:path w="76834" h="499744">
                <a:moveTo>
                  <a:pt x="38100" y="0"/>
                </a:moveTo>
                <a:lnTo>
                  <a:pt x="0" y="76326"/>
                </a:lnTo>
                <a:lnTo>
                  <a:pt x="31876" y="76326"/>
                </a:lnTo>
                <a:lnTo>
                  <a:pt x="31876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834" h="499744">
                <a:moveTo>
                  <a:pt x="69850" y="63500"/>
                </a:moveTo>
                <a:lnTo>
                  <a:pt x="44576" y="63500"/>
                </a:lnTo>
                <a:lnTo>
                  <a:pt x="44576" y="76326"/>
                </a:lnTo>
                <a:lnTo>
                  <a:pt x="76263" y="76326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57998" y="1271650"/>
            <a:ext cx="76200" cy="499745"/>
          </a:xfrm>
          <a:custGeom>
            <a:avLst/>
            <a:gdLst/>
            <a:ahLst/>
            <a:cxnLst/>
            <a:rect l="l" t="t" r="r" b="b"/>
            <a:pathLst>
              <a:path w="76200" h="499744">
                <a:moveTo>
                  <a:pt x="44450" y="63500"/>
                </a:moveTo>
                <a:lnTo>
                  <a:pt x="31750" y="63500"/>
                </a:lnTo>
                <a:lnTo>
                  <a:pt x="31750" y="499490"/>
                </a:lnTo>
                <a:lnTo>
                  <a:pt x="44450" y="499490"/>
                </a:lnTo>
                <a:lnTo>
                  <a:pt x="44450" y="63500"/>
                </a:lnTo>
                <a:close/>
              </a:path>
              <a:path w="76200" h="49974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9974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300973" y="1271650"/>
            <a:ext cx="76200" cy="499745"/>
          </a:xfrm>
          <a:custGeom>
            <a:avLst/>
            <a:gdLst/>
            <a:ahLst/>
            <a:cxnLst/>
            <a:rect l="l" t="t" r="r" b="b"/>
            <a:pathLst>
              <a:path w="76200" h="499744">
                <a:moveTo>
                  <a:pt x="44450" y="63500"/>
                </a:moveTo>
                <a:lnTo>
                  <a:pt x="31750" y="63500"/>
                </a:lnTo>
                <a:lnTo>
                  <a:pt x="31750" y="499490"/>
                </a:lnTo>
                <a:lnTo>
                  <a:pt x="44450" y="499490"/>
                </a:lnTo>
                <a:lnTo>
                  <a:pt x="44450" y="63500"/>
                </a:lnTo>
                <a:close/>
              </a:path>
              <a:path w="76200" h="49974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9974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370326" y="1537906"/>
            <a:ext cx="1962785" cy="76263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30"/>
              </a:spcBef>
            </a:pPr>
            <a:r>
              <a:rPr sz="1550" dirty="0">
                <a:latin typeface="Arial"/>
                <a:cs typeface="Arial"/>
              </a:rPr>
              <a:t>all</a:t>
            </a:r>
            <a:r>
              <a:rPr sz="1550" spc="-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heads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parallel </a:t>
            </a:r>
            <a:r>
              <a:rPr sz="1550" dirty="0">
                <a:latin typeface="Arial"/>
                <a:cs typeface="Arial"/>
              </a:rPr>
              <a:t>using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batched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matrix </a:t>
            </a:r>
            <a:r>
              <a:rPr sz="1550" dirty="0">
                <a:latin typeface="Arial"/>
                <a:cs typeface="Arial"/>
              </a:rPr>
              <a:t>multiply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operations.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4460" y="3587239"/>
            <a:ext cx="4975860" cy="153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  <a:tabLst>
                <a:tab pos="22434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64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92569" y="4206485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1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97343" y="4203627"/>
            <a:ext cx="23495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2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72018" y="4206485"/>
            <a:ext cx="23558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spc="-25" dirty="0">
                <a:latin typeface="Arial"/>
                <a:cs typeface="Arial"/>
              </a:rPr>
              <a:t>X</a:t>
            </a:r>
            <a:r>
              <a:rPr sz="1575" spc="-37" baseline="-15873" dirty="0">
                <a:latin typeface="Arial"/>
                <a:cs typeface="Arial"/>
              </a:rPr>
              <a:t>3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370326" y="2520314"/>
            <a:ext cx="1821180" cy="5054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Arial"/>
                <a:cs typeface="Arial"/>
              </a:rPr>
              <a:t>Used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everywhere</a:t>
            </a:r>
            <a:r>
              <a:rPr sz="1550" spc="14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in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50" spc="-10" dirty="0">
                <a:latin typeface="Arial"/>
                <a:cs typeface="Arial"/>
              </a:rPr>
              <a:t>practice.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" y="4805679"/>
            <a:ext cx="325374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9758" y="4805679"/>
            <a:ext cx="13074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April</a:t>
            </a:r>
            <a:r>
              <a:rPr sz="1800" spc="-3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24, </a:t>
            </a: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2025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6794" y="4810125"/>
            <a:ext cx="13582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Lecture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8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r>
              <a:rPr sz="2700" spc="690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68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60" y="883919"/>
            <a:ext cx="27025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25400" marR="958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060" y="3530431"/>
            <a:ext cx="5037455" cy="10934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" y="4805679"/>
            <a:ext cx="325374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9758" y="4805679"/>
            <a:ext cx="13074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April</a:t>
            </a:r>
            <a:r>
              <a:rPr sz="1800" spc="-3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24, </a:t>
            </a: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2025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6794" y="4810125"/>
            <a:ext cx="13582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Lecture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8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r>
              <a:rPr sz="2700" spc="690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69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883919"/>
            <a:ext cx="27279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1085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460" y="2592069"/>
            <a:ext cx="13354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760" y="2840672"/>
            <a:ext cx="17602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760" y="3088703"/>
            <a:ext cx="175260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 marR="30480">
              <a:lnSpc>
                <a:spcPct val="101000"/>
              </a:lnSpc>
              <a:spcBef>
                <a:spcPts val="105"/>
              </a:spcBef>
              <a:tabLst>
                <a:tab pos="90868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spc="-4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1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1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22" baseline="-15873" dirty="0">
                <a:solidFill>
                  <a:srgbClr val="FF9200"/>
                </a:solidFill>
                <a:latin typeface="Arial"/>
                <a:cs typeface="Arial"/>
              </a:rPr>
              <a:t>K </a:t>
            </a: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96491" y="2840672"/>
            <a:ext cx="117348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5400" marR="30480" indent="26670" algn="just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060" y="3530431"/>
            <a:ext cx="5037455" cy="10934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695444" y="892111"/>
            <a:ext cx="4029075" cy="10007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81000" algn="l"/>
              </a:tabLst>
            </a:pPr>
            <a:r>
              <a:rPr sz="1550" spc="-25" dirty="0">
                <a:latin typeface="Arial"/>
                <a:cs typeface="Arial"/>
              </a:rPr>
              <a:t>1.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QKV</a:t>
            </a:r>
            <a:r>
              <a:rPr sz="15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sz="1550" b="1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sz="1550" b="1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3HD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0" marR="43180">
              <a:lnSpc>
                <a:spcPct val="104900"/>
              </a:lnSpc>
              <a:spcBef>
                <a:spcPts val="5"/>
              </a:spcBef>
            </a:pPr>
            <a:r>
              <a:rPr sz="1550" dirty="0">
                <a:latin typeface="Arial"/>
                <a:cs typeface="Arial"/>
              </a:rPr>
              <a:t>Split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reshape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get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shape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625" y="2819400"/>
            <a:ext cx="3086100" cy="781050"/>
          </a:xfrm>
          <a:custGeom>
            <a:avLst/>
            <a:gdLst/>
            <a:ahLst/>
            <a:cxnLst/>
            <a:rect l="l" t="t" r="r" b="b"/>
            <a:pathLst>
              <a:path w="3086100" h="781050">
                <a:moveTo>
                  <a:pt x="0" y="781050"/>
                </a:moveTo>
                <a:lnTo>
                  <a:pt x="3086100" y="781050"/>
                </a:lnTo>
                <a:lnTo>
                  <a:pt x="3086100" y="0"/>
                </a:lnTo>
                <a:lnTo>
                  <a:pt x="0" y="0"/>
                </a:lnTo>
                <a:lnTo>
                  <a:pt x="0" y="78105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" y="4805679"/>
            <a:ext cx="325374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9758" y="4805679"/>
            <a:ext cx="13074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April</a:t>
            </a:r>
            <a:r>
              <a:rPr sz="1800" spc="-3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24, </a:t>
            </a: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2025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6794" y="4810125"/>
            <a:ext cx="13582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Lecture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8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r>
              <a:rPr sz="2700" spc="690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70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" y="883919"/>
            <a:ext cx="27279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1085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460" y="3088703"/>
            <a:ext cx="73660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 </a:t>
            </a: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662" y="3088703"/>
            <a:ext cx="88201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indent="1270">
              <a:lnSpc>
                <a:spcPct val="101000"/>
              </a:lnSpc>
              <a:spcBef>
                <a:spcPts val="105"/>
              </a:spcBef>
            </a:pP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791" y="2840672"/>
            <a:ext cx="1186180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 marR="30480" indent="26670" algn="just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625" y="3533775"/>
            <a:ext cx="3714750" cy="37147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55"/>
              </a:spcBef>
              <a:tabLst>
                <a:tab pos="2320290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060" y="3871277"/>
            <a:ext cx="5037455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393700" algn="l"/>
              </a:tabLst>
            </a:pPr>
            <a:r>
              <a:rPr dirty="0"/>
              <a:t>QKV</a:t>
            </a:r>
            <a:r>
              <a:rPr spc="100" dirty="0"/>
              <a:t> </a:t>
            </a:r>
            <a:r>
              <a:rPr spc="-10" dirty="0"/>
              <a:t>Projection</a:t>
            </a:r>
          </a:p>
          <a:p>
            <a:pPr marL="393700">
              <a:lnSpc>
                <a:spcPct val="100000"/>
              </a:lnSpc>
              <a:spcBef>
                <a:spcPts val="20"/>
              </a:spcBef>
            </a:pPr>
            <a:r>
              <a:rPr b="1" u="none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b="1" u="none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b="1" u="none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b="1" u="none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u="none" dirty="0"/>
              <a:t>[D</a:t>
            </a:r>
            <a:r>
              <a:rPr u="none" spc="35" dirty="0"/>
              <a:t> </a:t>
            </a:r>
            <a:r>
              <a:rPr u="none" dirty="0"/>
              <a:t>x</a:t>
            </a:r>
            <a:r>
              <a:rPr u="none" spc="100" dirty="0"/>
              <a:t> </a:t>
            </a:r>
            <a:r>
              <a:rPr u="none" dirty="0"/>
              <a:t>3HD</a:t>
            </a:r>
            <a:r>
              <a:rPr sz="1575" u="none" baseline="-15873" dirty="0"/>
              <a:t>H</a:t>
            </a:r>
            <a:r>
              <a:rPr sz="1550" u="none" dirty="0"/>
              <a:t>]</a:t>
            </a:r>
            <a:r>
              <a:rPr sz="1550" u="none" spc="60" dirty="0"/>
              <a:t> </a:t>
            </a:r>
            <a:r>
              <a:rPr sz="1550" u="none" dirty="0"/>
              <a:t>=&gt;</a:t>
            </a:r>
            <a:r>
              <a:rPr sz="1550" u="none" spc="30" dirty="0"/>
              <a:t> </a:t>
            </a:r>
            <a:r>
              <a:rPr sz="1550" u="none" dirty="0"/>
              <a:t>[N</a:t>
            </a:r>
            <a:r>
              <a:rPr sz="1550" u="none" spc="35" dirty="0"/>
              <a:t> </a:t>
            </a:r>
            <a:r>
              <a:rPr sz="1550" u="none" dirty="0"/>
              <a:t>x</a:t>
            </a:r>
            <a:r>
              <a:rPr sz="1550" u="none" spc="105" dirty="0"/>
              <a:t> </a:t>
            </a:r>
            <a:r>
              <a:rPr sz="1550" u="none" spc="-20" dirty="0"/>
              <a:t>3HD</a:t>
            </a:r>
            <a:r>
              <a:rPr sz="1575" u="none" spc="-30" baseline="-15873" dirty="0"/>
              <a:t>H</a:t>
            </a:r>
            <a:r>
              <a:rPr sz="1550" u="none" spc="-20" dirty="0"/>
              <a:t>]</a:t>
            </a:r>
            <a:endParaRPr sz="1550">
              <a:latin typeface="Arial"/>
              <a:cs typeface="Arial"/>
            </a:endParaRPr>
          </a:p>
          <a:p>
            <a:pPr marL="393700" marR="133985">
              <a:lnSpc>
                <a:spcPct val="104900"/>
              </a:lnSpc>
              <a:spcBef>
                <a:spcPts val="5"/>
              </a:spcBef>
            </a:pPr>
            <a:r>
              <a:rPr u="none" dirty="0"/>
              <a:t>Split</a:t>
            </a:r>
            <a:r>
              <a:rPr u="none" spc="60" dirty="0"/>
              <a:t> </a:t>
            </a:r>
            <a:r>
              <a:rPr u="none" dirty="0"/>
              <a:t>and</a:t>
            </a:r>
            <a:r>
              <a:rPr u="none" spc="80" dirty="0"/>
              <a:t> </a:t>
            </a:r>
            <a:r>
              <a:rPr u="none" dirty="0"/>
              <a:t>reshape</a:t>
            </a:r>
            <a:r>
              <a:rPr u="none" spc="80" dirty="0"/>
              <a:t> </a:t>
            </a:r>
            <a:r>
              <a:rPr u="none" dirty="0"/>
              <a:t>to</a:t>
            </a:r>
            <a:r>
              <a:rPr u="none" spc="80" dirty="0"/>
              <a:t> </a:t>
            </a:r>
            <a:r>
              <a:rPr u="none" dirty="0"/>
              <a:t>get</a:t>
            </a:r>
            <a:r>
              <a:rPr u="none" spc="105" dirty="0"/>
              <a:t> </a:t>
            </a:r>
            <a:r>
              <a:rPr b="1" u="none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u="none" dirty="0"/>
              <a:t>,</a:t>
            </a:r>
            <a:r>
              <a:rPr u="none" spc="70" dirty="0"/>
              <a:t> </a:t>
            </a:r>
            <a:r>
              <a:rPr b="1" u="none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u="none" dirty="0"/>
              <a:t>,</a:t>
            </a:r>
            <a:r>
              <a:rPr u="none" spc="70" dirty="0"/>
              <a:t> </a:t>
            </a:r>
            <a:r>
              <a:rPr b="1" u="none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b="1" u="none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u="none" dirty="0"/>
              <a:t>each</a:t>
            </a:r>
            <a:r>
              <a:rPr u="none" spc="75" dirty="0"/>
              <a:t> </a:t>
            </a:r>
            <a:r>
              <a:rPr u="none" spc="-25" dirty="0"/>
              <a:t>of </a:t>
            </a:r>
            <a:r>
              <a:rPr u="none" dirty="0"/>
              <a:t>shape</a:t>
            </a:r>
            <a:r>
              <a:rPr u="none" spc="65" dirty="0"/>
              <a:t> </a:t>
            </a:r>
            <a:r>
              <a:rPr u="none" dirty="0"/>
              <a:t>[H</a:t>
            </a:r>
            <a:r>
              <a:rPr u="none" spc="25" dirty="0"/>
              <a:t> </a:t>
            </a:r>
            <a:r>
              <a:rPr u="none" dirty="0"/>
              <a:t>x</a:t>
            </a:r>
            <a:r>
              <a:rPr u="none" spc="80" dirty="0"/>
              <a:t> </a:t>
            </a:r>
            <a:r>
              <a:rPr u="none" dirty="0"/>
              <a:t>N</a:t>
            </a:r>
            <a:r>
              <a:rPr u="none" spc="30" dirty="0"/>
              <a:t> </a:t>
            </a:r>
            <a:r>
              <a:rPr u="none" dirty="0"/>
              <a:t>x</a:t>
            </a:r>
            <a:r>
              <a:rPr u="none" spc="80" dirty="0"/>
              <a:t> </a:t>
            </a:r>
            <a:r>
              <a:rPr u="none" spc="-25" dirty="0"/>
              <a:t>D</a:t>
            </a:r>
            <a:r>
              <a:rPr sz="1575" u="none" spc="-37" baseline="-15873" dirty="0"/>
              <a:t>H</a:t>
            </a:r>
            <a:r>
              <a:rPr sz="1550" u="none" spc="-25" dirty="0"/>
              <a:t>]</a:t>
            </a:r>
            <a:endParaRPr sz="1550">
              <a:latin typeface="Arial"/>
              <a:cs typeface="Arial"/>
            </a:endParaRPr>
          </a:p>
          <a:p>
            <a:pPr marL="393700" indent="-3429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393700" algn="l"/>
              </a:tabLst>
            </a:pPr>
            <a:r>
              <a:rPr dirty="0"/>
              <a:t>QK</a:t>
            </a:r>
            <a:r>
              <a:rPr spc="90" dirty="0"/>
              <a:t> </a:t>
            </a:r>
            <a:r>
              <a:rPr spc="-10" dirty="0"/>
              <a:t>Similarity</a:t>
            </a:r>
          </a:p>
          <a:p>
            <a:pPr marL="393700">
              <a:lnSpc>
                <a:spcPct val="100000"/>
              </a:lnSpc>
              <a:spcBef>
                <a:spcPts val="90"/>
              </a:spcBef>
            </a:pPr>
            <a:r>
              <a:rPr b="1" u="none" dirty="0">
                <a:solidFill>
                  <a:srgbClr val="8AAB42"/>
                </a:solidFill>
                <a:latin typeface="Arial"/>
                <a:cs typeface="Arial"/>
              </a:rPr>
              <a:t>[H</a:t>
            </a:r>
            <a:r>
              <a:rPr b="1" u="none" spc="9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b="1" u="none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r>
              <a:rPr b="1" u="none" spc="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b="1" u="none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8AAB42"/>
                </a:solidFill>
                <a:latin typeface="Arial"/>
                <a:cs typeface="Arial"/>
              </a:rPr>
              <a:t>D</a:t>
            </a:r>
            <a:r>
              <a:rPr sz="1575" b="1" u="none" baseline="-15873" dirty="0">
                <a:solidFill>
                  <a:srgbClr val="8AAB42"/>
                </a:solidFill>
                <a:latin typeface="Arial"/>
                <a:cs typeface="Arial"/>
              </a:rPr>
              <a:t>H</a:t>
            </a:r>
            <a:r>
              <a:rPr sz="1550" b="1" u="none" dirty="0">
                <a:solidFill>
                  <a:srgbClr val="8AAB42"/>
                </a:solidFill>
                <a:latin typeface="Arial"/>
                <a:cs typeface="Arial"/>
              </a:rPr>
              <a:t>]</a:t>
            </a:r>
            <a:r>
              <a:rPr sz="1550" b="1" u="none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[H</a:t>
            </a:r>
            <a:r>
              <a:rPr sz="1550" b="1" u="none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u="none" spc="-2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D</a:t>
            </a:r>
            <a:r>
              <a:rPr sz="1575" b="1" u="none" baseline="-15873" dirty="0">
                <a:solidFill>
                  <a:srgbClr val="FF9200"/>
                </a:solidFill>
                <a:latin typeface="Arial"/>
                <a:cs typeface="Arial"/>
              </a:rPr>
              <a:t>H</a:t>
            </a:r>
            <a:r>
              <a:rPr sz="1575" b="1" u="none" spc="44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u="none" spc="5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FF9200"/>
                </a:solidFill>
                <a:latin typeface="Arial"/>
                <a:cs typeface="Arial"/>
              </a:rPr>
              <a:t>N]</a:t>
            </a:r>
            <a:r>
              <a:rPr sz="1550" b="1" u="none" spc="6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u="none" dirty="0"/>
              <a:t>=&gt;</a:t>
            </a:r>
            <a:r>
              <a:rPr sz="1550" u="none" spc="15" dirty="0"/>
              <a:t> </a:t>
            </a:r>
            <a:r>
              <a:rPr sz="1550" b="1" u="none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u="none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u="none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u="none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u="none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u="none" spc="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u="none" spc="-25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883919"/>
            <a:ext cx="27279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1085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565525"/>
            <a:ext cx="3588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70044" y="892111"/>
            <a:ext cx="4178300" cy="22225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4064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QKV</a:t>
            </a:r>
            <a:r>
              <a:rPr sz="15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4064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sz="1550" b="1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sz="1550" b="1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3HD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06400" marR="166370">
              <a:lnSpc>
                <a:spcPct val="104900"/>
              </a:lnSpc>
              <a:spcBef>
                <a:spcPts val="5"/>
              </a:spcBef>
            </a:pPr>
            <a:r>
              <a:rPr sz="1550" dirty="0">
                <a:latin typeface="Arial"/>
                <a:cs typeface="Arial"/>
              </a:rPr>
              <a:t>Split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reshape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get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shape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06400" indent="-3429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4064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</a:t>
            </a:r>
            <a:r>
              <a:rPr sz="1550" u="heavy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40640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H</a:t>
            </a:r>
            <a:r>
              <a:rPr sz="1575" b="1" spc="44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N]</a:t>
            </a:r>
            <a:r>
              <a:rPr sz="1550" b="1" spc="6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406400" indent="-34290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4064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V-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Weighting</a:t>
            </a:r>
            <a:endParaRPr sz="1550">
              <a:latin typeface="Arial"/>
              <a:cs typeface="Arial"/>
            </a:endParaRPr>
          </a:p>
          <a:p>
            <a:pPr marL="4064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r>
              <a:rPr sz="1550" b="1" spc="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D</a:t>
            </a:r>
            <a:r>
              <a:rPr sz="1575" b="1" spc="-37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06400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latin typeface="Arial"/>
                <a:cs typeface="Arial"/>
              </a:rPr>
              <a:t>Reshape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spc="-30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625" y="4076700"/>
            <a:ext cx="4591050" cy="371475"/>
          </a:xfrm>
          <a:custGeom>
            <a:avLst/>
            <a:gdLst/>
            <a:ahLst/>
            <a:cxnLst/>
            <a:rect l="l" t="t" r="r" b="b"/>
            <a:pathLst>
              <a:path w="4591050" h="371475">
                <a:moveTo>
                  <a:pt x="0" y="371475"/>
                </a:moveTo>
                <a:lnTo>
                  <a:pt x="4591050" y="371475"/>
                </a:lnTo>
                <a:lnTo>
                  <a:pt x="459105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4460" y="3890255"/>
            <a:ext cx="4986655" cy="1233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64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883919"/>
            <a:ext cx="27279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1085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565525"/>
            <a:ext cx="3588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57344" y="892111"/>
            <a:ext cx="4203700" cy="2708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9100" indent="-34290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QKV</a:t>
            </a:r>
            <a:r>
              <a:rPr sz="15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sz="1550" b="1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sz="1550" b="1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3HD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 marR="179070">
              <a:lnSpc>
                <a:spcPct val="104900"/>
              </a:lnSpc>
              <a:spcBef>
                <a:spcPts val="5"/>
              </a:spcBef>
            </a:pPr>
            <a:r>
              <a:rPr sz="1550" dirty="0">
                <a:latin typeface="Arial"/>
                <a:cs typeface="Arial"/>
              </a:rPr>
              <a:t>Split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reshape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get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shape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</a:t>
            </a:r>
            <a:r>
              <a:rPr sz="1550" u="heavy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H</a:t>
            </a:r>
            <a:r>
              <a:rPr sz="1575" b="1" spc="44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N]</a:t>
            </a:r>
            <a:r>
              <a:rPr sz="1550" b="1" spc="6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V-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Weighting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r>
              <a:rPr sz="1550" b="1" spc="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D</a:t>
            </a:r>
            <a:r>
              <a:rPr sz="1575" b="1" spc="-37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latin typeface="Arial"/>
                <a:cs typeface="Arial"/>
              </a:rPr>
              <a:t>Reshape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spc="-30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20"/>
              </a:spcBef>
              <a:buAutoNum type="arabicPeriod" startAt="4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r>
              <a:rPr sz="1550" u="heavy" spc="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[HD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H</a:t>
            </a:r>
            <a:r>
              <a:rPr sz="1575" b="1" spc="300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x</a:t>
            </a:r>
            <a:r>
              <a:rPr sz="1550" b="1" spc="65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D]</a:t>
            </a:r>
            <a:r>
              <a:rPr sz="1550" b="1" spc="8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625" y="4324350"/>
            <a:ext cx="2571750" cy="371475"/>
          </a:xfrm>
          <a:custGeom>
            <a:avLst/>
            <a:gdLst/>
            <a:ahLst/>
            <a:cxnLst/>
            <a:rect l="l" t="t" r="r" b="b"/>
            <a:pathLst>
              <a:path w="2571750" h="371475">
                <a:moveTo>
                  <a:pt x="0" y="371475"/>
                </a:moveTo>
                <a:lnTo>
                  <a:pt x="2571750" y="371475"/>
                </a:lnTo>
                <a:lnTo>
                  <a:pt x="2571750" y="0"/>
                </a:lnTo>
                <a:lnTo>
                  <a:pt x="0" y="0"/>
                </a:lnTo>
                <a:lnTo>
                  <a:pt x="0" y="371475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4460" y="3890255"/>
            <a:ext cx="4986655" cy="1233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64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883919"/>
            <a:ext cx="27279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1085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565525"/>
            <a:ext cx="3588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60" y="3871277"/>
            <a:ext cx="5037455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57344" y="892111"/>
            <a:ext cx="4203700" cy="24612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9100" indent="-34290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QKV</a:t>
            </a:r>
            <a:r>
              <a:rPr sz="15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sz="1550" b="1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sz="1550" b="1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3HD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 marR="179070">
              <a:lnSpc>
                <a:spcPct val="104900"/>
              </a:lnSpc>
              <a:spcBef>
                <a:spcPts val="5"/>
              </a:spcBef>
            </a:pPr>
            <a:r>
              <a:rPr sz="1550" dirty="0">
                <a:latin typeface="Arial"/>
                <a:cs typeface="Arial"/>
              </a:rPr>
              <a:t>Split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reshape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get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shape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</a:t>
            </a:r>
            <a:r>
              <a:rPr sz="1550" u="heavy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H</a:t>
            </a:r>
            <a:r>
              <a:rPr sz="1575" b="1" spc="44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N]</a:t>
            </a:r>
            <a:r>
              <a:rPr sz="1550" b="1" spc="6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V-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Weighting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r>
              <a:rPr sz="1550" b="1" spc="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D</a:t>
            </a:r>
            <a:r>
              <a:rPr sz="1575" b="1" spc="-37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latin typeface="Arial"/>
                <a:cs typeface="Arial"/>
              </a:rPr>
              <a:t>Reshape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spc="-30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20"/>
              </a:spcBef>
              <a:buAutoNum type="arabicPeriod" startAt="4"/>
              <a:tabLst>
                <a:tab pos="419100" algn="l"/>
              </a:tabLst>
            </a:pPr>
            <a:r>
              <a:rPr sz="1550" dirty="0">
                <a:latin typeface="Arial"/>
                <a:cs typeface="Arial"/>
              </a:rPr>
              <a:t>Output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71617" y="3312921"/>
            <a:ext cx="1571625" cy="19050"/>
          </a:xfrm>
          <a:custGeom>
            <a:avLst/>
            <a:gdLst/>
            <a:ahLst/>
            <a:cxnLst/>
            <a:rect l="l" t="t" r="r" b="b"/>
            <a:pathLst>
              <a:path w="1571625" h="19050">
                <a:moveTo>
                  <a:pt x="1571625" y="0"/>
                </a:moveTo>
                <a:lnTo>
                  <a:pt x="0" y="0"/>
                </a:lnTo>
                <a:lnTo>
                  <a:pt x="0" y="19050"/>
                </a:lnTo>
                <a:lnTo>
                  <a:pt x="1571625" y="19050"/>
                </a:lnTo>
                <a:lnTo>
                  <a:pt x="1571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38725" y="3335083"/>
            <a:ext cx="29044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[HD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H</a:t>
            </a:r>
            <a:r>
              <a:rPr sz="1575" b="1" spc="300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x</a:t>
            </a:r>
            <a:r>
              <a:rPr sz="1550" b="1" spc="65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D]</a:t>
            </a:r>
            <a:r>
              <a:rPr sz="1550" b="1" spc="8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49719" y="4000969"/>
            <a:ext cx="676275" cy="9525"/>
          </a:xfrm>
          <a:custGeom>
            <a:avLst/>
            <a:gdLst/>
            <a:ahLst/>
            <a:cxnLst/>
            <a:rect l="l" t="t" r="r" b="b"/>
            <a:pathLst>
              <a:path w="676275" h="9525">
                <a:moveTo>
                  <a:pt x="676275" y="0"/>
                </a:moveTo>
                <a:lnTo>
                  <a:pt x="0" y="0"/>
                </a:lnTo>
                <a:lnTo>
                  <a:pt x="0" y="9524"/>
                </a:lnTo>
                <a:lnTo>
                  <a:pt x="676275" y="9524"/>
                </a:lnTo>
                <a:lnTo>
                  <a:pt x="6762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09259" y="3795395"/>
            <a:ext cx="29895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Q: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take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4460" y="4376982"/>
            <a:ext cx="3229610" cy="746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639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09259" y="4014787"/>
            <a:ext cx="30575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number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increases?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883919"/>
            <a:ext cx="27279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1085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565525"/>
            <a:ext cx="3588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60" y="3871277"/>
            <a:ext cx="5037455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95444" y="892111"/>
            <a:ext cx="4029075" cy="10007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81000" algn="l"/>
              </a:tabLst>
            </a:pPr>
            <a:r>
              <a:rPr sz="1550" spc="-25" dirty="0">
                <a:latin typeface="Arial"/>
                <a:cs typeface="Arial"/>
              </a:rPr>
              <a:t>1.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QKV</a:t>
            </a:r>
            <a:r>
              <a:rPr sz="15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sz="1550" b="1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sz="1550" b="1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3HD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0" marR="43180">
              <a:lnSpc>
                <a:spcPct val="104900"/>
              </a:lnSpc>
              <a:spcBef>
                <a:spcPts val="5"/>
              </a:spcBef>
            </a:pPr>
            <a:r>
              <a:rPr sz="1550" dirty="0">
                <a:latin typeface="Arial"/>
                <a:cs typeface="Arial"/>
              </a:rPr>
              <a:t>Split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reshape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get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shape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38675" y="1885950"/>
            <a:ext cx="4238625" cy="120967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7515" indent="-342900">
              <a:lnSpc>
                <a:spcPts val="1825"/>
              </a:lnSpc>
              <a:buAutoNum type="arabicPeriod" startAt="2"/>
              <a:tabLst>
                <a:tab pos="437515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</a:t>
            </a:r>
            <a:r>
              <a:rPr sz="1550" u="heavy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H</a:t>
            </a:r>
            <a:r>
              <a:rPr sz="1575" b="1" spc="44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N]</a:t>
            </a:r>
            <a:r>
              <a:rPr sz="1550" b="1" spc="6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437515" indent="-34290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437515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V-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Weighting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r>
              <a:rPr sz="1550" b="1" spc="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D</a:t>
            </a:r>
            <a:r>
              <a:rPr sz="1575" b="1" spc="-37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ts val="1820"/>
              </a:lnSpc>
              <a:spcBef>
                <a:spcPts val="90"/>
              </a:spcBef>
            </a:pPr>
            <a:r>
              <a:rPr sz="1550" dirty="0">
                <a:latin typeface="Arial"/>
                <a:cs typeface="Arial"/>
              </a:rPr>
              <a:t>Reshape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spc="-30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71617" y="3312921"/>
            <a:ext cx="1571625" cy="19050"/>
          </a:xfrm>
          <a:custGeom>
            <a:avLst/>
            <a:gdLst/>
            <a:ahLst/>
            <a:cxnLst/>
            <a:rect l="l" t="t" r="r" b="b"/>
            <a:pathLst>
              <a:path w="1571625" h="19050">
                <a:moveTo>
                  <a:pt x="1571625" y="0"/>
                </a:moveTo>
                <a:lnTo>
                  <a:pt x="0" y="0"/>
                </a:lnTo>
                <a:lnTo>
                  <a:pt x="0" y="19050"/>
                </a:lnTo>
                <a:lnTo>
                  <a:pt x="1571625" y="19050"/>
                </a:lnTo>
                <a:lnTo>
                  <a:pt x="1571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95444" y="3087052"/>
            <a:ext cx="326072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81000" algn="l"/>
              </a:tabLst>
            </a:pPr>
            <a:r>
              <a:rPr sz="1550" spc="-25" dirty="0">
                <a:latin typeface="Arial"/>
                <a:cs typeface="Arial"/>
              </a:rPr>
              <a:t>4.</a:t>
            </a:r>
            <a:r>
              <a:rPr sz="1550" dirty="0">
                <a:latin typeface="Arial"/>
                <a:cs typeface="Arial"/>
              </a:rPr>
              <a:t>	Output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[HD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H</a:t>
            </a:r>
            <a:r>
              <a:rPr sz="1575" b="1" spc="300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x</a:t>
            </a:r>
            <a:r>
              <a:rPr sz="1550" b="1" spc="65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D]</a:t>
            </a:r>
            <a:r>
              <a:rPr sz="1550" b="1" spc="8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49719" y="4000969"/>
            <a:ext cx="676275" cy="9525"/>
          </a:xfrm>
          <a:custGeom>
            <a:avLst/>
            <a:gdLst/>
            <a:ahLst/>
            <a:cxnLst/>
            <a:rect l="l" t="t" r="r" b="b"/>
            <a:pathLst>
              <a:path w="676275" h="9525">
                <a:moveTo>
                  <a:pt x="676275" y="0"/>
                </a:moveTo>
                <a:lnTo>
                  <a:pt x="0" y="0"/>
                </a:lnTo>
                <a:lnTo>
                  <a:pt x="0" y="9524"/>
                </a:lnTo>
                <a:lnTo>
                  <a:pt x="676275" y="9524"/>
                </a:lnTo>
                <a:lnTo>
                  <a:pt x="6762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09259" y="3795395"/>
            <a:ext cx="29895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Q: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take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460" y="4376982"/>
            <a:ext cx="3229610" cy="746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639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83859" y="4014787"/>
            <a:ext cx="3108325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number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increases?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O(N</a:t>
            </a:r>
            <a:r>
              <a:rPr sz="1350" spc="-15" baseline="27777" dirty="0">
                <a:latin typeface="Arial"/>
                <a:cs typeface="Arial"/>
              </a:rPr>
              <a:t>2</a:t>
            </a:r>
            <a:r>
              <a:rPr sz="1400" spc="-10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883919"/>
            <a:ext cx="27279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1085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565525"/>
            <a:ext cx="3588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60" y="3871277"/>
            <a:ext cx="5037455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57344" y="892111"/>
            <a:ext cx="4203700" cy="24612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9100" indent="-34290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QKV</a:t>
            </a:r>
            <a:r>
              <a:rPr sz="15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sz="1550" b="1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sz="1550" b="1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3HD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 marR="179070">
              <a:lnSpc>
                <a:spcPct val="104900"/>
              </a:lnSpc>
              <a:spcBef>
                <a:spcPts val="5"/>
              </a:spcBef>
            </a:pPr>
            <a:r>
              <a:rPr sz="1550" dirty="0">
                <a:latin typeface="Arial"/>
                <a:cs typeface="Arial"/>
              </a:rPr>
              <a:t>Split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reshape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get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shape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</a:t>
            </a:r>
            <a:r>
              <a:rPr sz="1550" u="heavy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H</a:t>
            </a:r>
            <a:r>
              <a:rPr sz="1575" b="1" spc="44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N]</a:t>
            </a:r>
            <a:r>
              <a:rPr sz="1550" b="1" spc="6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41910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V-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Weighting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r>
              <a:rPr sz="1550" b="1" spc="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D</a:t>
            </a:r>
            <a:r>
              <a:rPr sz="1575" b="1" spc="-37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latin typeface="Arial"/>
                <a:cs typeface="Arial"/>
              </a:rPr>
              <a:t>Reshape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spc="-30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20"/>
              </a:spcBef>
              <a:buAutoNum type="arabicPeriod" startAt="4"/>
              <a:tabLst>
                <a:tab pos="419100" algn="l"/>
              </a:tabLst>
            </a:pPr>
            <a:r>
              <a:rPr sz="1550" dirty="0">
                <a:latin typeface="Arial"/>
                <a:cs typeface="Arial"/>
              </a:rPr>
              <a:t>Output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71617" y="3312921"/>
            <a:ext cx="1571625" cy="19050"/>
          </a:xfrm>
          <a:custGeom>
            <a:avLst/>
            <a:gdLst/>
            <a:ahLst/>
            <a:cxnLst/>
            <a:rect l="l" t="t" r="r" b="b"/>
            <a:pathLst>
              <a:path w="1571625" h="19050">
                <a:moveTo>
                  <a:pt x="1571625" y="0"/>
                </a:moveTo>
                <a:lnTo>
                  <a:pt x="0" y="0"/>
                </a:lnTo>
                <a:lnTo>
                  <a:pt x="0" y="19050"/>
                </a:lnTo>
                <a:lnTo>
                  <a:pt x="1571625" y="19050"/>
                </a:lnTo>
                <a:lnTo>
                  <a:pt x="1571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38725" y="3335083"/>
            <a:ext cx="29044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[HD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H</a:t>
            </a:r>
            <a:r>
              <a:rPr sz="1575" b="1" spc="300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x</a:t>
            </a:r>
            <a:r>
              <a:rPr sz="1550" b="1" spc="65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D]</a:t>
            </a:r>
            <a:r>
              <a:rPr sz="1550" b="1" spc="8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49719" y="4000969"/>
            <a:ext cx="638175" cy="9525"/>
          </a:xfrm>
          <a:custGeom>
            <a:avLst/>
            <a:gdLst/>
            <a:ahLst/>
            <a:cxnLst/>
            <a:rect l="l" t="t" r="r" b="b"/>
            <a:pathLst>
              <a:path w="638175" h="9525">
                <a:moveTo>
                  <a:pt x="638175" y="0"/>
                </a:moveTo>
                <a:lnTo>
                  <a:pt x="0" y="0"/>
                </a:lnTo>
                <a:lnTo>
                  <a:pt x="0" y="9524"/>
                </a:lnTo>
                <a:lnTo>
                  <a:pt x="638175" y="9524"/>
                </a:lnTo>
                <a:lnTo>
                  <a:pt x="638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09259" y="3795395"/>
            <a:ext cx="29502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Q: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memory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take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4460" y="4376982"/>
            <a:ext cx="3229610" cy="746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639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09259" y="4014787"/>
            <a:ext cx="30575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number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increases?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883919"/>
            <a:ext cx="27279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1085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565525"/>
            <a:ext cx="3588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60" y="3871277"/>
            <a:ext cx="5037455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95444" y="892111"/>
            <a:ext cx="4029075" cy="10007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81000" algn="l"/>
              </a:tabLst>
            </a:pPr>
            <a:r>
              <a:rPr sz="1550" spc="-25" dirty="0">
                <a:latin typeface="Arial"/>
                <a:cs typeface="Arial"/>
              </a:rPr>
              <a:t>1.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QKV</a:t>
            </a:r>
            <a:r>
              <a:rPr sz="15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sz="1550" b="1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sz="1550" b="1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3HD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0" marR="43180">
              <a:lnSpc>
                <a:spcPct val="104900"/>
              </a:lnSpc>
              <a:spcBef>
                <a:spcPts val="5"/>
              </a:spcBef>
            </a:pPr>
            <a:r>
              <a:rPr sz="1550" dirty="0">
                <a:latin typeface="Arial"/>
                <a:cs typeface="Arial"/>
              </a:rPr>
              <a:t>Split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reshape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get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shape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38675" y="1885950"/>
            <a:ext cx="4238625" cy="120967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7515" indent="-342900">
              <a:lnSpc>
                <a:spcPts val="1825"/>
              </a:lnSpc>
              <a:buAutoNum type="arabicPeriod" startAt="2"/>
              <a:tabLst>
                <a:tab pos="437515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</a:t>
            </a:r>
            <a:r>
              <a:rPr sz="1550" u="heavy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H</a:t>
            </a:r>
            <a:r>
              <a:rPr sz="1575" b="1" spc="44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N]</a:t>
            </a:r>
            <a:r>
              <a:rPr sz="1550" b="1" spc="6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437515" indent="-34290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437515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V-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Weighting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r>
              <a:rPr sz="1550" b="1" spc="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D</a:t>
            </a:r>
            <a:r>
              <a:rPr sz="1575" b="1" spc="-37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ts val="1820"/>
              </a:lnSpc>
              <a:spcBef>
                <a:spcPts val="90"/>
              </a:spcBef>
            </a:pPr>
            <a:r>
              <a:rPr sz="1550" dirty="0">
                <a:latin typeface="Arial"/>
                <a:cs typeface="Arial"/>
              </a:rPr>
              <a:t>Reshape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spc="-30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71617" y="3312921"/>
            <a:ext cx="1571625" cy="19050"/>
          </a:xfrm>
          <a:custGeom>
            <a:avLst/>
            <a:gdLst/>
            <a:ahLst/>
            <a:cxnLst/>
            <a:rect l="l" t="t" r="r" b="b"/>
            <a:pathLst>
              <a:path w="1571625" h="19050">
                <a:moveTo>
                  <a:pt x="1571625" y="0"/>
                </a:moveTo>
                <a:lnTo>
                  <a:pt x="0" y="0"/>
                </a:lnTo>
                <a:lnTo>
                  <a:pt x="0" y="19050"/>
                </a:lnTo>
                <a:lnTo>
                  <a:pt x="1571625" y="19050"/>
                </a:lnTo>
                <a:lnTo>
                  <a:pt x="1571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95444" y="3087052"/>
            <a:ext cx="326072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81000" algn="l"/>
              </a:tabLst>
            </a:pPr>
            <a:r>
              <a:rPr sz="1550" spc="-25" dirty="0">
                <a:latin typeface="Arial"/>
                <a:cs typeface="Arial"/>
              </a:rPr>
              <a:t>4.</a:t>
            </a:r>
            <a:r>
              <a:rPr sz="1550" dirty="0">
                <a:latin typeface="Arial"/>
                <a:cs typeface="Arial"/>
              </a:rPr>
              <a:t>	Output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[HD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H</a:t>
            </a:r>
            <a:r>
              <a:rPr sz="1575" b="1" spc="300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x</a:t>
            </a:r>
            <a:r>
              <a:rPr sz="1550" b="1" spc="65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D]</a:t>
            </a:r>
            <a:r>
              <a:rPr sz="1550" b="1" spc="8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49719" y="4000969"/>
            <a:ext cx="638175" cy="9525"/>
          </a:xfrm>
          <a:custGeom>
            <a:avLst/>
            <a:gdLst/>
            <a:ahLst/>
            <a:cxnLst/>
            <a:rect l="l" t="t" r="r" b="b"/>
            <a:pathLst>
              <a:path w="638175" h="9525">
                <a:moveTo>
                  <a:pt x="638175" y="0"/>
                </a:moveTo>
                <a:lnTo>
                  <a:pt x="0" y="0"/>
                </a:lnTo>
                <a:lnTo>
                  <a:pt x="0" y="9524"/>
                </a:lnTo>
                <a:lnTo>
                  <a:pt x="638175" y="9524"/>
                </a:lnTo>
                <a:lnTo>
                  <a:pt x="638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09259" y="3795395"/>
            <a:ext cx="29502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Q: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memory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take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460" y="4376982"/>
            <a:ext cx="3229610" cy="746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639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83859" y="4014787"/>
            <a:ext cx="3108325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number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increases?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O(N</a:t>
            </a:r>
            <a:r>
              <a:rPr sz="1350" spc="-15" baseline="27777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883919"/>
            <a:ext cx="2727960" cy="1488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108585">
              <a:lnSpc>
                <a:spcPct val="103699"/>
              </a:lnSpc>
              <a:spcBef>
                <a:spcPts val="25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r>
              <a:rPr sz="1550" spc="5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Output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52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75" spc="127" baseline="-15873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" y="3565525"/>
            <a:ext cx="3588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60" y="3871277"/>
            <a:ext cx="5037455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20844" y="892111"/>
            <a:ext cx="17576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r>
              <a:rPr sz="1550" spc="-25" dirty="0">
                <a:latin typeface="Arial"/>
                <a:cs typeface="Arial"/>
              </a:rPr>
              <a:t>1.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QKV</a:t>
            </a:r>
            <a:r>
              <a:rPr sz="15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38725" y="1130299"/>
            <a:ext cx="3673475" cy="762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sz="1550" b="1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sz="1550" b="1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3HD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 marR="30480">
              <a:lnSpc>
                <a:spcPct val="104900"/>
              </a:lnSpc>
            </a:pPr>
            <a:r>
              <a:rPr sz="1550" dirty="0">
                <a:latin typeface="Arial"/>
                <a:cs typeface="Arial"/>
              </a:rPr>
              <a:t>Split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reshape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get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shape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38675" y="1885950"/>
            <a:ext cx="4238625" cy="120967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7515" indent="-342900">
              <a:lnSpc>
                <a:spcPts val="1825"/>
              </a:lnSpc>
              <a:buAutoNum type="arabicPeriod" startAt="2"/>
              <a:tabLst>
                <a:tab pos="437515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</a:t>
            </a:r>
            <a:r>
              <a:rPr sz="1550" u="heavy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H</a:t>
            </a:r>
            <a:r>
              <a:rPr sz="1575" b="1" spc="44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N]</a:t>
            </a:r>
            <a:r>
              <a:rPr sz="1550" b="1" spc="6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437515" indent="-34290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437515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V-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Weighting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r>
              <a:rPr sz="1550" b="1" spc="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D</a:t>
            </a:r>
            <a:r>
              <a:rPr sz="1575" b="1" spc="-37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ts val="1820"/>
              </a:lnSpc>
              <a:spcBef>
                <a:spcPts val="90"/>
              </a:spcBef>
            </a:pPr>
            <a:r>
              <a:rPr sz="1550" dirty="0">
                <a:latin typeface="Arial"/>
                <a:cs typeface="Arial"/>
              </a:rPr>
              <a:t>Reshape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spc="-30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71617" y="3312921"/>
            <a:ext cx="1571625" cy="19050"/>
          </a:xfrm>
          <a:custGeom>
            <a:avLst/>
            <a:gdLst/>
            <a:ahLst/>
            <a:cxnLst/>
            <a:rect l="l" t="t" r="r" b="b"/>
            <a:pathLst>
              <a:path w="1571625" h="19050">
                <a:moveTo>
                  <a:pt x="1571625" y="0"/>
                </a:moveTo>
                <a:lnTo>
                  <a:pt x="0" y="0"/>
                </a:lnTo>
                <a:lnTo>
                  <a:pt x="0" y="19050"/>
                </a:lnTo>
                <a:lnTo>
                  <a:pt x="1571625" y="19050"/>
                </a:lnTo>
                <a:lnTo>
                  <a:pt x="1571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695444" y="3087052"/>
            <a:ext cx="326072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81000" algn="l"/>
              </a:tabLst>
            </a:pPr>
            <a:r>
              <a:rPr sz="1550" spc="-25" dirty="0">
                <a:latin typeface="Arial"/>
                <a:cs typeface="Arial"/>
              </a:rPr>
              <a:t>4.</a:t>
            </a:r>
            <a:r>
              <a:rPr sz="1550" dirty="0">
                <a:latin typeface="Arial"/>
                <a:cs typeface="Arial"/>
              </a:rPr>
              <a:t>	Output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[HD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H</a:t>
            </a:r>
            <a:r>
              <a:rPr sz="1575" b="1" spc="300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x</a:t>
            </a:r>
            <a:r>
              <a:rPr sz="1550" b="1" spc="65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D]</a:t>
            </a:r>
            <a:r>
              <a:rPr sz="1550" b="1" spc="8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49719" y="4000969"/>
            <a:ext cx="638175" cy="9525"/>
          </a:xfrm>
          <a:custGeom>
            <a:avLst/>
            <a:gdLst/>
            <a:ahLst/>
            <a:cxnLst/>
            <a:rect l="l" t="t" r="r" b="b"/>
            <a:pathLst>
              <a:path w="638175" h="9525">
                <a:moveTo>
                  <a:pt x="638175" y="0"/>
                </a:moveTo>
                <a:lnTo>
                  <a:pt x="0" y="0"/>
                </a:lnTo>
                <a:lnTo>
                  <a:pt x="0" y="9524"/>
                </a:lnTo>
                <a:lnTo>
                  <a:pt x="638175" y="9524"/>
                </a:lnTo>
                <a:lnTo>
                  <a:pt x="638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09259" y="3795395"/>
            <a:ext cx="29502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Q: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memory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take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83859" y="4014787"/>
            <a:ext cx="3108325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number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increases?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O(N</a:t>
            </a:r>
            <a:r>
              <a:rPr sz="1350" spc="-15" baseline="27777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30365" y="143573"/>
            <a:ext cx="2138680" cy="882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N=100K,</a:t>
            </a:r>
            <a:r>
              <a:rPr sz="14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H=64</a:t>
            </a:r>
            <a:r>
              <a:rPr sz="1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then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98400"/>
              </a:lnSpc>
              <a:spcBef>
                <a:spcPts val="75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HxNxN</a:t>
            </a:r>
            <a:r>
              <a:rPr sz="14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attention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weights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take</a:t>
            </a:r>
            <a:r>
              <a:rPr sz="14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1.192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TB!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GPUs</a:t>
            </a: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don’t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much</a:t>
            </a:r>
            <a:r>
              <a:rPr sz="1400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memory…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" y="883919"/>
            <a:ext cx="2588895" cy="10013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 marR="30480">
              <a:lnSpc>
                <a:spcPct val="103000"/>
              </a:lnSpc>
              <a:spcBef>
                <a:spcPts val="40"/>
              </a:spcBef>
            </a:pPr>
            <a:r>
              <a:rPr sz="1550" b="1" dirty="0">
                <a:latin typeface="Arial"/>
                <a:cs typeface="Arial"/>
              </a:rPr>
              <a:t>Input</a:t>
            </a:r>
            <a:r>
              <a:rPr sz="1550" b="1" spc="7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vectors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8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 </a:t>
            </a:r>
            <a:r>
              <a:rPr sz="1550" b="1" dirty="0">
                <a:latin typeface="Arial"/>
                <a:cs typeface="Arial"/>
              </a:rPr>
              <a:t>Key</a:t>
            </a:r>
            <a:r>
              <a:rPr sz="1550" b="1" spc="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="1" spc="322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 </a:t>
            </a:r>
            <a:r>
              <a:rPr sz="1550" b="1" dirty="0">
                <a:latin typeface="Arial"/>
                <a:cs typeface="Arial"/>
              </a:rPr>
              <a:t>Value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97" baseline="-15873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" y="1867217"/>
            <a:ext cx="26498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Query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matrix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75" b="1" spc="89" baseline="-15873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2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" y="2592069"/>
            <a:ext cx="1772920" cy="5149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Computation</a:t>
            </a:r>
            <a:r>
              <a:rPr sz="1550" u="none" spc="-10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Queries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spc="1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AB42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endParaRPr sz="1575" baseline="-1587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4364" y="2840672"/>
            <a:ext cx="116522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 marR="30480" indent="635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60" y="3088703"/>
            <a:ext cx="2981960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948055" algn="l"/>
              </a:tabLst>
            </a:pPr>
            <a:r>
              <a:rPr sz="1550" b="1" spc="-10" dirty="0">
                <a:latin typeface="Arial"/>
                <a:cs typeface="Arial"/>
              </a:rPr>
              <a:t>Keys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b="1" spc="4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FF9200"/>
                </a:solidFill>
                <a:latin typeface="Arial"/>
                <a:cs typeface="Arial"/>
              </a:rPr>
              <a:t>W</a:t>
            </a:r>
            <a:r>
              <a:rPr sz="1575" b="1" spc="-37" baseline="-15873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endParaRPr sz="1575" baseline="-15873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0"/>
              </a:spcBef>
              <a:tabLst>
                <a:tab pos="946785" algn="l"/>
              </a:tabLst>
            </a:pPr>
            <a:r>
              <a:rPr sz="1550" b="1" spc="-10" dirty="0">
                <a:latin typeface="Arial"/>
                <a:cs typeface="Arial"/>
              </a:rPr>
              <a:t>Values</a:t>
            </a:r>
            <a:r>
              <a:rPr sz="1550" spc="-10" dirty="0">
                <a:latin typeface="Arial"/>
                <a:cs typeface="Arial"/>
              </a:rPr>
              <a:t>: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75" b="1" spc="262" baseline="-15873" dirty="0">
                <a:solidFill>
                  <a:srgbClr val="8A81D2"/>
                </a:solidFill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18563" y="3629025"/>
            <a:ext cx="395605" cy="250190"/>
          </a:xfrm>
          <a:custGeom>
            <a:avLst/>
            <a:gdLst/>
            <a:ahLst/>
            <a:cxnLst/>
            <a:rect l="l" t="t" r="r" b="b"/>
            <a:pathLst>
              <a:path w="395605" h="250189">
                <a:moveTo>
                  <a:pt x="395097" y="0"/>
                </a:moveTo>
                <a:lnTo>
                  <a:pt x="147447" y="0"/>
                </a:lnTo>
                <a:lnTo>
                  <a:pt x="147447" y="1524"/>
                </a:lnTo>
                <a:lnTo>
                  <a:pt x="125222" y="1524"/>
                </a:lnTo>
                <a:lnTo>
                  <a:pt x="65912" y="223647"/>
                </a:lnTo>
                <a:lnTo>
                  <a:pt x="32131" y="148336"/>
                </a:lnTo>
                <a:lnTo>
                  <a:pt x="0" y="162940"/>
                </a:lnTo>
                <a:lnTo>
                  <a:pt x="3048" y="170306"/>
                </a:lnTo>
                <a:lnTo>
                  <a:pt x="19557" y="162940"/>
                </a:lnTo>
                <a:lnTo>
                  <a:pt x="60070" y="249859"/>
                </a:lnTo>
                <a:lnTo>
                  <a:pt x="69468" y="249859"/>
                </a:lnTo>
                <a:lnTo>
                  <a:pt x="132969" y="14478"/>
                </a:lnTo>
                <a:lnTo>
                  <a:pt x="152526" y="14478"/>
                </a:lnTo>
                <a:lnTo>
                  <a:pt x="152526" y="9525"/>
                </a:lnTo>
                <a:lnTo>
                  <a:pt x="395097" y="9525"/>
                </a:lnTo>
                <a:lnTo>
                  <a:pt x="3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060" y="3565525"/>
            <a:ext cx="3588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68855" algn="l"/>
              </a:tabLst>
            </a:pPr>
            <a:r>
              <a:rPr sz="1550" b="1" dirty="0">
                <a:latin typeface="Arial"/>
                <a:cs typeface="Arial"/>
              </a:rPr>
              <a:t>Similarities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2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sz="1550" b="1" spc="1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3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75" baseline="23809" dirty="0">
                <a:solidFill>
                  <a:srgbClr val="FF9200"/>
                </a:solidFill>
                <a:latin typeface="Arial"/>
                <a:cs typeface="Arial"/>
              </a:rPr>
              <a:t>T</a:t>
            </a:r>
            <a:r>
              <a:rPr sz="1575" spc="367" baseline="23809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/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550" dirty="0">
                <a:latin typeface="Cambria Math"/>
                <a:cs typeface="Cambria Math"/>
              </a:rPr>
              <a:t>𝐷</a:t>
            </a:r>
            <a:r>
              <a:rPr sz="1800" baseline="-16203" dirty="0">
                <a:latin typeface="Cambria Math"/>
                <a:cs typeface="Cambria Math"/>
              </a:rPr>
              <a:t>𝑄</a:t>
            </a:r>
            <a:r>
              <a:rPr sz="1800" spc="382" baseline="-16203" dirty="0">
                <a:latin typeface="Cambria Math"/>
                <a:cs typeface="Cambria Math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60" y="3871277"/>
            <a:ext cx="5037455" cy="753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latin typeface="Arial"/>
                <a:cs typeface="Arial"/>
              </a:rPr>
              <a:t>Attention</a:t>
            </a:r>
            <a:r>
              <a:rPr sz="1550" b="1" spc="10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weights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spc="1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softmax(E,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dim=2)</a:t>
            </a:r>
            <a:r>
              <a:rPr sz="1550" spc="85" dirty="0">
                <a:latin typeface="Arial"/>
                <a:cs typeface="Arial"/>
              </a:rPr>
              <a:t> 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1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1550" b="1" dirty="0">
                <a:latin typeface="Arial"/>
                <a:cs typeface="Arial"/>
              </a:rPr>
              <a:t>Head</a:t>
            </a:r>
            <a:r>
              <a:rPr sz="1550" b="1" spc="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9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latin typeface="Arial"/>
                <a:cs typeface="Arial"/>
              </a:rPr>
              <a:t>Outputs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50" b="1" spc="9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Y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07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108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Self-Attention</a:t>
            </a:r>
            <a:r>
              <a:rPr spc="120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Four</a:t>
            </a:r>
            <a:r>
              <a:rPr spc="155" dirty="0"/>
              <a:t> </a:t>
            </a:r>
            <a:r>
              <a:rPr dirty="0"/>
              <a:t>Matrix</a:t>
            </a:r>
            <a:r>
              <a:rPr spc="145" dirty="0"/>
              <a:t> </a:t>
            </a:r>
            <a:r>
              <a:rPr spc="-10" dirty="0"/>
              <a:t>Multiplies!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20844" y="892111"/>
            <a:ext cx="17576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r>
              <a:rPr sz="1550" spc="-25" dirty="0">
                <a:latin typeface="Arial"/>
                <a:cs typeface="Arial"/>
              </a:rPr>
              <a:t>1.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QKV</a:t>
            </a:r>
            <a:r>
              <a:rPr sz="1550" u="heavy" spc="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8725" y="1130299"/>
            <a:ext cx="3673475" cy="762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[N</a:t>
            </a:r>
            <a:r>
              <a:rPr sz="1550" b="1" spc="114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x</a:t>
            </a:r>
            <a:r>
              <a:rPr sz="1550" b="1" spc="-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981B9"/>
                </a:solidFill>
                <a:latin typeface="Arial"/>
                <a:cs typeface="Arial"/>
              </a:rPr>
              <a:t>D]</a:t>
            </a:r>
            <a:r>
              <a:rPr sz="1550" b="1" spc="45" dirty="0">
                <a:solidFill>
                  <a:srgbClr val="3981B9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[D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3HD</a:t>
            </a:r>
            <a:r>
              <a:rPr sz="1575" baseline="-15873" dirty="0">
                <a:latin typeface="Arial"/>
                <a:cs typeface="Arial"/>
              </a:rPr>
              <a:t>H</a:t>
            </a:r>
            <a:r>
              <a:rPr sz="1550" dirty="0">
                <a:latin typeface="Arial"/>
                <a:cs typeface="Arial"/>
              </a:rPr>
              <a:t>]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3HD</a:t>
            </a:r>
            <a:r>
              <a:rPr sz="1575" spc="-30" baseline="-15873" dirty="0">
                <a:latin typeface="Arial"/>
                <a:cs typeface="Arial"/>
              </a:rPr>
              <a:t>H</a:t>
            </a:r>
            <a:r>
              <a:rPr sz="1550" spc="-20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38100" marR="30480">
              <a:lnSpc>
                <a:spcPct val="104900"/>
              </a:lnSpc>
            </a:pPr>
            <a:r>
              <a:rPr sz="1550" dirty="0">
                <a:latin typeface="Arial"/>
                <a:cs typeface="Arial"/>
              </a:rPr>
              <a:t>Split</a:t>
            </a:r>
            <a:r>
              <a:rPr sz="1550" spc="6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reshape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get</a:t>
            </a:r>
            <a:r>
              <a:rPr sz="1550" spc="10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K</a:t>
            </a:r>
            <a:r>
              <a:rPr sz="1550" dirty="0">
                <a:latin typeface="Arial"/>
                <a:cs typeface="Arial"/>
              </a:rPr>
              <a:t>,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V</a:t>
            </a:r>
            <a:r>
              <a:rPr sz="1550" b="1" spc="6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each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of </a:t>
            </a:r>
            <a:r>
              <a:rPr sz="1550" dirty="0">
                <a:latin typeface="Arial"/>
                <a:cs typeface="Arial"/>
              </a:rPr>
              <a:t>shape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[H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</a:t>
            </a:r>
            <a:r>
              <a:rPr sz="1575" spc="-37" baseline="-15873" dirty="0">
                <a:latin typeface="Arial"/>
                <a:cs typeface="Arial"/>
              </a:rPr>
              <a:t>H</a:t>
            </a:r>
            <a:r>
              <a:rPr sz="1550" spc="-25" dirty="0"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38675" y="1885950"/>
            <a:ext cx="4238625" cy="120967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7515" indent="-342900">
              <a:lnSpc>
                <a:spcPts val="1825"/>
              </a:lnSpc>
              <a:buAutoNum type="arabicPeriod" startAt="2"/>
              <a:tabLst>
                <a:tab pos="437515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QK</a:t>
            </a:r>
            <a:r>
              <a:rPr sz="1550" u="heavy" spc="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Similarity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90"/>
              </a:spcBef>
            </a:pP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x</a:t>
            </a:r>
            <a:r>
              <a:rPr sz="1550" b="1" spc="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AB4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AB4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FF9200"/>
                </a:solidFill>
                <a:latin typeface="Arial"/>
                <a:cs typeface="Arial"/>
              </a:rPr>
              <a:t>H</a:t>
            </a:r>
            <a:r>
              <a:rPr sz="1575" b="1" spc="44" baseline="-15873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9200"/>
                </a:solidFill>
                <a:latin typeface="Arial"/>
                <a:cs typeface="Arial"/>
              </a:rPr>
              <a:t>N]</a:t>
            </a:r>
            <a:r>
              <a:rPr sz="1550" b="1" spc="6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endParaRPr sz="1550">
              <a:latin typeface="Arial"/>
              <a:cs typeface="Arial"/>
            </a:endParaRPr>
          </a:p>
          <a:p>
            <a:pPr marL="437515" indent="-34290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437515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V-</a:t>
            </a:r>
            <a:r>
              <a:rPr sz="15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Weighting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x</a:t>
            </a:r>
            <a:r>
              <a:rPr sz="1550" b="1" spc="5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66666"/>
                </a:solidFill>
                <a:latin typeface="Arial"/>
                <a:cs typeface="Arial"/>
              </a:rPr>
              <a:t>N]</a:t>
            </a:r>
            <a:r>
              <a:rPr sz="1550" b="1" spc="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D</a:t>
            </a:r>
            <a:r>
              <a:rPr sz="1575" b="1" baseline="-15873" dirty="0">
                <a:solidFill>
                  <a:srgbClr val="8A81D2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8A81D2"/>
                </a:solidFill>
                <a:latin typeface="Arial"/>
                <a:cs typeface="Arial"/>
              </a:rPr>
              <a:t>]</a:t>
            </a:r>
            <a:r>
              <a:rPr sz="1550" b="1" spc="45" dirty="0">
                <a:solidFill>
                  <a:srgbClr val="8A81D2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1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[H</a:t>
            </a:r>
            <a:r>
              <a:rPr sz="1550" b="1" spc="9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N</a:t>
            </a:r>
            <a:r>
              <a:rPr sz="1550" b="1" spc="9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5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D</a:t>
            </a:r>
            <a:r>
              <a:rPr sz="1575" b="1" spc="-37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5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  <a:p>
            <a:pPr marL="438150">
              <a:lnSpc>
                <a:spcPts val="1820"/>
              </a:lnSpc>
              <a:spcBef>
                <a:spcPts val="90"/>
              </a:spcBef>
            </a:pPr>
            <a:r>
              <a:rPr sz="1550" dirty="0">
                <a:latin typeface="Arial"/>
                <a:cs typeface="Arial"/>
              </a:rPr>
              <a:t>Reshape</a:t>
            </a:r>
            <a:r>
              <a:rPr sz="1550" spc="7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spc="-30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spc="-20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71617" y="3312921"/>
            <a:ext cx="1571625" cy="19050"/>
          </a:xfrm>
          <a:custGeom>
            <a:avLst/>
            <a:gdLst/>
            <a:ahLst/>
            <a:cxnLst/>
            <a:rect l="l" t="t" r="r" b="b"/>
            <a:pathLst>
              <a:path w="1571625" h="19050">
                <a:moveTo>
                  <a:pt x="1571625" y="0"/>
                </a:moveTo>
                <a:lnTo>
                  <a:pt x="0" y="0"/>
                </a:lnTo>
                <a:lnTo>
                  <a:pt x="0" y="19050"/>
                </a:lnTo>
                <a:lnTo>
                  <a:pt x="1571625" y="19050"/>
                </a:lnTo>
                <a:lnTo>
                  <a:pt x="1571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95444" y="3087052"/>
            <a:ext cx="3260725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81000" algn="l"/>
              </a:tabLst>
            </a:pPr>
            <a:r>
              <a:rPr sz="1550" spc="-25" dirty="0">
                <a:latin typeface="Arial"/>
                <a:cs typeface="Arial"/>
              </a:rPr>
              <a:t>4.</a:t>
            </a:r>
            <a:r>
              <a:rPr sz="1550" dirty="0">
                <a:latin typeface="Arial"/>
                <a:cs typeface="Arial"/>
              </a:rPr>
              <a:t>	Output</a:t>
            </a:r>
            <a:r>
              <a:rPr sz="1550" spc="1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Projection</a:t>
            </a:r>
            <a:endParaRPr sz="1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[N</a:t>
            </a:r>
            <a:r>
              <a:rPr sz="1550" b="1" spc="1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x</a:t>
            </a:r>
            <a:r>
              <a:rPr sz="1550" b="1" spc="-10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HD</a:t>
            </a:r>
            <a:r>
              <a:rPr sz="1575" b="1" baseline="-15873" dirty="0">
                <a:solidFill>
                  <a:srgbClr val="D79F39"/>
                </a:solidFill>
                <a:latin typeface="Arial"/>
                <a:cs typeface="Arial"/>
              </a:rPr>
              <a:t>H</a:t>
            </a:r>
            <a:r>
              <a:rPr sz="1550" b="1" dirty="0">
                <a:solidFill>
                  <a:srgbClr val="D79F39"/>
                </a:solidFill>
                <a:latin typeface="Arial"/>
                <a:cs typeface="Arial"/>
              </a:rPr>
              <a:t>]</a:t>
            </a:r>
            <a:r>
              <a:rPr sz="1550" b="1" spc="65" dirty="0">
                <a:solidFill>
                  <a:srgbClr val="D79F39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[HD</a:t>
            </a:r>
            <a:r>
              <a:rPr sz="1575" b="1" baseline="-15873" dirty="0">
                <a:solidFill>
                  <a:srgbClr val="953334"/>
                </a:solidFill>
                <a:latin typeface="Arial"/>
                <a:cs typeface="Arial"/>
              </a:rPr>
              <a:t>H</a:t>
            </a:r>
            <a:r>
              <a:rPr sz="1575" b="1" spc="300" baseline="-15873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x</a:t>
            </a:r>
            <a:r>
              <a:rPr sz="1550" b="1" spc="65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953334"/>
                </a:solidFill>
                <a:latin typeface="Arial"/>
                <a:cs typeface="Arial"/>
              </a:rPr>
              <a:t>D]</a:t>
            </a:r>
            <a:r>
              <a:rPr sz="1550" b="1" spc="80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=&gt;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[N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x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D]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49719" y="4000969"/>
            <a:ext cx="638175" cy="9525"/>
          </a:xfrm>
          <a:custGeom>
            <a:avLst/>
            <a:gdLst/>
            <a:ahLst/>
            <a:cxnLst/>
            <a:rect l="l" t="t" r="r" b="b"/>
            <a:pathLst>
              <a:path w="638175" h="9525">
                <a:moveTo>
                  <a:pt x="638175" y="0"/>
                </a:moveTo>
                <a:lnTo>
                  <a:pt x="0" y="0"/>
                </a:lnTo>
                <a:lnTo>
                  <a:pt x="0" y="9524"/>
                </a:lnTo>
                <a:lnTo>
                  <a:pt x="638175" y="9524"/>
                </a:lnTo>
                <a:lnTo>
                  <a:pt x="638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509259" y="3795395"/>
            <a:ext cx="29502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Q: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memory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take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244084" y="4014787"/>
            <a:ext cx="3799840" cy="719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7495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number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increases?</a:t>
            </a:r>
            <a:endParaRPr sz="1400">
              <a:latin typeface="Arial"/>
              <a:cs typeface="Arial"/>
            </a:endParaRPr>
          </a:p>
          <a:p>
            <a:pPr marL="277495">
              <a:lnSpc>
                <a:spcPts val="1664"/>
              </a:lnSpc>
            </a:pPr>
            <a:r>
              <a:rPr sz="1400" b="1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O(N) with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Flash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Attention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650" dirty="0">
                <a:latin typeface="Arial"/>
                <a:cs typeface="Arial"/>
              </a:rPr>
              <a:t>Dao</a:t>
            </a:r>
            <a:r>
              <a:rPr sz="650" spc="15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18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“FlashAtten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tion: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Fast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an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d</a:t>
            </a:r>
            <a:r>
              <a:rPr sz="650" spc="4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Memor</a:t>
            </a:r>
            <a:r>
              <a:rPr sz="650" spc="-8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y-Efficien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Exact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Attentio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n</a:t>
            </a:r>
            <a:r>
              <a:rPr sz="650" spc="4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with</a:t>
            </a:r>
            <a:r>
              <a:rPr sz="650" spc="15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IO-Awaren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ess”,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30365" y="143573"/>
            <a:ext cx="2138680" cy="882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N=100K,</a:t>
            </a:r>
            <a:r>
              <a:rPr sz="14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H=64</a:t>
            </a:r>
            <a:r>
              <a:rPr sz="1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then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98400"/>
              </a:lnSpc>
              <a:spcBef>
                <a:spcPts val="75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HxNxN</a:t>
            </a:r>
            <a:r>
              <a:rPr sz="14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attention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weights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take</a:t>
            </a:r>
            <a:r>
              <a:rPr sz="14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1.192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TB!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GPUs</a:t>
            </a: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don’t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1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much</a:t>
            </a:r>
            <a:r>
              <a:rPr sz="1400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memory…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58516" y="632523"/>
            <a:ext cx="12115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Flash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 Attention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58516" y="851852"/>
            <a:ext cx="1684655" cy="882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30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algorithm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computes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2+3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at</a:t>
            </a:r>
            <a:r>
              <a:rPr sz="1400" spc="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the</a:t>
            </a:r>
            <a:r>
              <a:rPr sz="1400" spc="-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same</a:t>
            </a:r>
            <a:r>
              <a:rPr sz="1400" spc="-7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time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without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storing</a:t>
            </a:r>
            <a:r>
              <a:rPr sz="1400" spc="-6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full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attention</a:t>
            </a:r>
            <a:r>
              <a:rPr sz="1400" spc="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matrix!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58516" y="1920557"/>
            <a:ext cx="11747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Makes</a:t>
            </a:r>
            <a:r>
              <a:rPr sz="1400" spc="-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large</a:t>
            </a:r>
            <a:r>
              <a:rPr sz="1400" spc="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8AAB42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060" y="2111311"/>
            <a:ext cx="34632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325" b="1" baseline="1792" dirty="0">
                <a:latin typeface="Arial"/>
                <a:cs typeface="Arial"/>
              </a:rPr>
              <a:t>Output</a:t>
            </a:r>
            <a:r>
              <a:rPr sz="2325" b="1" spc="127" baseline="1792" dirty="0">
                <a:latin typeface="Arial"/>
                <a:cs typeface="Arial"/>
              </a:rPr>
              <a:t> </a:t>
            </a:r>
            <a:r>
              <a:rPr sz="2325" b="1" baseline="1792" dirty="0">
                <a:latin typeface="Arial"/>
                <a:cs typeface="Arial"/>
              </a:rPr>
              <a:t>matrix</a:t>
            </a:r>
            <a:r>
              <a:rPr sz="2325" baseline="1792" dirty="0">
                <a:latin typeface="Arial"/>
                <a:cs typeface="Arial"/>
              </a:rPr>
              <a:t>:</a:t>
            </a:r>
            <a:r>
              <a:rPr sz="2325" spc="142" baseline="1792" dirty="0">
                <a:latin typeface="Arial"/>
                <a:cs typeface="Arial"/>
              </a:rPr>
              <a:t> </a:t>
            </a:r>
            <a:r>
              <a:rPr sz="2325" b="1" baseline="1792" dirty="0">
                <a:solidFill>
                  <a:srgbClr val="953334"/>
                </a:solidFill>
                <a:latin typeface="Arial"/>
                <a:cs typeface="Arial"/>
              </a:rPr>
              <a:t>W</a:t>
            </a:r>
            <a:r>
              <a:rPr sz="1575" b="1" baseline="-13227" dirty="0">
                <a:solidFill>
                  <a:srgbClr val="953334"/>
                </a:solidFill>
                <a:latin typeface="Arial"/>
                <a:cs typeface="Arial"/>
              </a:rPr>
              <a:t>O</a:t>
            </a:r>
            <a:r>
              <a:rPr sz="1575" b="1" spc="330" baseline="-13227" dirty="0">
                <a:solidFill>
                  <a:srgbClr val="953334"/>
                </a:solidFill>
                <a:latin typeface="Arial"/>
                <a:cs typeface="Arial"/>
              </a:rPr>
              <a:t> </a:t>
            </a:r>
            <a:r>
              <a:rPr sz="2325" baseline="1792" dirty="0">
                <a:latin typeface="Arial"/>
                <a:cs typeface="Arial"/>
              </a:rPr>
              <a:t>[HD</a:t>
            </a:r>
            <a:r>
              <a:rPr sz="1575" baseline="-13227" dirty="0">
                <a:latin typeface="Arial"/>
                <a:cs typeface="Arial"/>
              </a:rPr>
              <a:t>H</a:t>
            </a:r>
            <a:r>
              <a:rPr sz="1575" spc="104" baseline="-13227" dirty="0">
                <a:latin typeface="Arial"/>
                <a:cs typeface="Arial"/>
              </a:rPr>
              <a:t> </a:t>
            </a:r>
            <a:r>
              <a:rPr sz="2325" baseline="1792" dirty="0">
                <a:latin typeface="Arial"/>
                <a:cs typeface="Arial"/>
              </a:rPr>
              <a:t>x</a:t>
            </a:r>
            <a:r>
              <a:rPr sz="2325" spc="179" baseline="1792" dirty="0">
                <a:latin typeface="Arial"/>
                <a:cs typeface="Arial"/>
              </a:rPr>
              <a:t> </a:t>
            </a:r>
            <a:r>
              <a:rPr sz="2325" baseline="1792" dirty="0">
                <a:latin typeface="Arial"/>
                <a:cs typeface="Arial"/>
              </a:rPr>
              <a:t>D]</a:t>
            </a:r>
            <a:r>
              <a:rPr sz="2325" spc="450" baseline="1792" dirty="0"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possible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07758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Three</a:t>
            </a:r>
            <a:r>
              <a:rPr spc="140" dirty="0"/>
              <a:t> </a:t>
            </a:r>
            <a:r>
              <a:rPr dirty="0"/>
              <a:t>Ways</a:t>
            </a:r>
            <a:r>
              <a:rPr spc="150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Processing</a:t>
            </a:r>
            <a:r>
              <a:rPr spc="150" dirty="0"/>
              <a:t> </a:t>
            </a:r>
            <a:r>
              <a:rPr spc="-10" dirty="0"/>
              <a:t>Sequences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07758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Three</a:t>
            </a:r>
            <a:r>
              <a:rPr spc="140" dirty="0"/>
              <a:t> </a:t>
            </a:r>
            <a:r>
              <a:rPr dirty="0"/>
              <a:t>Ways</a:t>
            </a:r>
            <a:r>
              <a:rPr spc="150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Processing</a:t>
            </a:r>
            <a:r>
              <a:rPr spc="150" dirty="0"/>
              <a:t> </a:t>
            </a:r>
            <a:r>
              <a:rPr spc="-10" dirty="0"/>
              <a:t>Sequences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3537" y="1309750"/>
          <a:ext cx="2362200" cy="1619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1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2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3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4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1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2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3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4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57237" y="1566925"/>
            <a:ext cx="276860" cy="76200"/>
          </a:xfrm>
          <a:custGeom>
            <a:avLst/>
            <a:gdLst/>
            <a:ahLst/>
            <a:cxnLst/>
            <a:rect l="l" t="t" r="r" b="b"/>
            <a:pathLst>
              <a:path w="276859" h="76200">
                <a:moveTo>
                  <a:pt x="200152" y="0"/>
                </a:moveTo>
                <a:lnTo>
                  <a:pt x="200152" y="76200"/>
                </a:lnTo>
                <a:lnTo>
                  <a:pt x="250952" y="50800"/>
                </a:lnTo>
                <a:lnTo>
                  <a:pt x="212852" y="50800"/>
                </a:lnTo>
                <a:lnTo>
                  <a:pt x="212852" y="25400"/>
                </a:lnTo>
                <a:lnTo>
                  <a:pt x="250952" y="25400"/>
                </a:lnTo>
                <a:lnTo>
                  <a:pt x="200152" y="0"/>
                </a:lnTo>
                <a:close/>
              </a:path>
              <a:path w="276859" h="76200">
                <a:moveTo>
                  <a:pt x="20015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0152" y="50800"/>
                </a:lnTo>
                <a:lnTo>
                  <a:pt x="200152" y="25400"/>
                </a:lnTo>
                <a:close/>
              </a:path>
              <a:path w="276859" h="76200">
                <a:moveTo>
                  <a:pt x="250952" y="25400"/>
                </a:moveTo>
                <a:lnTo>
                  <a:pt x="212852" y="25400"/>
                </a:lnTo>
                <a:lnTo>
                  <a:pt x="212852" y="50800"/>
                </a:lnTo>
                <a:lnTo>
                  <a:pt x="250952" y="50800"/>
                </a:lnTo>
                <a:lnTo>
                  <a:pt x="276352" y="38100"/>
                </a:lnTo>
                <a:lnTo>
                  <a:pt x="25095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4050" y="1566925"/>
            <a:ext cx="276860" cy="76200"/>
          </a:xfrm>
          <a:custGeom>
            <a:avLst/>
            <a:gdLst/>
            <a:ahLst/>
            <a:cxnLst/>
            <a:rect l="l" t="t" r="r" b="b"/>
            <a:pathLst>
              <a:path w="276860" h="76200">
                <a:moveTo>
                  <a:pt x="200152" y="0"/>
                </a:moveTo>
                <a:lnTo>
                  <a:pt x="200152" y="76200"/>
                </a:lnTo>
                <a:lnTo>
                  <a:pt x="250951" y="50800"/>
                </a:lnTo>
                <a:lnTo>
                  <a:pt x="212851" y="50800"/>
                </a:lnTo>
                <a:lnTo>
                  <a:pt x="212851" y="25400"/>
                </a:lnTo>
                <a:lnTo>
                  <a:pt x="250951" y="25400"/>
                </a:lnTo>
                <a:lnTo>
                  <a:pt x="200152" y="0"/>
                </a:lnTo>
                <a:close/>
              </a:path>
              <a:path w="276860" h="76200">
                <a:moveTo>
                  <a:pt x="20015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0152" y="50800"/>
                </a:lnTo>
                <a:lnTo>
                  <a:pt x="200152" y="25400"/>
                </a:lnTo>
                <a:close/>
              </a:path>
              <a:path w="276860" h="76200">
                <a:moveTo>
                  <a:pt x="250951" y="25400"/>
                </a:moveTo>
                <a:lnTo>
                  <a:pt x="212851" y="25400"/>
                </a:lnTo>
                <a:lnTo>
                  <a:pt x="212851" y="50800"/>
                </a:lnTo>
                <a:lnTo>
                  <a:pt x="250951" y="50800"/>
                </a:lnTo>
                <a:lnTo>
                  <a:pt x="276351" y="38100"/>
                </a:lnTo>
                <a:lnTo>
                  <a:pt x="25095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81148" y="1566925"/>
            <a:ext cx="276860" cy="76200"/>
          </a:xfrm>
          <a:custGeom>
            <a:avLst/>
            <a:gdLst/>
            <a:ahLst/>
            <a:cxnLst/>
            <a:rect l="l" t="t" r="r" b="b"/>
            <a:pathLst>
              <a:path w="276860" h="76200">
                <a:moveTo>
                  <a:pt x="200278" y="0"/>
                </a:moveTo>
                <a:lnTo>
                  <a:pt x="200278" y="76200"/>
                </a:lnTo>
                <a:lnTo>
                  <a:pt x="251078" y="50800"/>
                </a:lnTo>
                <a:lnTo>
                  <a:pt x="212978" y="50800"/>
                </a:lnTo>
                <a:lnTo>
                  <a:pt x="212978" y="25400"/>
                </a:lnTo>
                <a:lnTo>
                  <a:pt x="251078" y="25400"/>
                </a:lnTo>
                <a:lnTo>
                  <a:pt x="200278" y="0"/>
                </a:lnTo>
                <a:close/>
              </a:path>
              <a:path w="276860" h="76200">
                <a:moveTo>
                  <a:pt x="20027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0278" y="50800"/>
                </a:lnTo>
                <a:lnTo>
                  <a:pt x="200278" y="25400"/>
                </a:lnTo>
                <a:close/>
              </a:path>
              <a:path w="276860" h="76200">
                <a:moveTo>
                  <a:pt x="251078" y="25400"/>
                </a:moveTo>
                <a:lnTo>
                  <a:pt x="212978" y="25400"/>
                </a:lnTo>
                <a:lnTo>
                  <a:pt x="212978" y="50800"/>
                </a:lnTo>
                <a:lnTo>
                  <a:pt x="251078" y="50800"/>
                </a:lnTo>
                <a:lnTo>
                  <a:pt x="276478" y="38100"/>
                </a:lnTo>
                <a:lnTo>
                  <a:pt x="25107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8637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5862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52676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09901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4012" y="896048"/>
            <a:ext cx="23774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Recurrent</a:t>
            </a:r>
            <a:r>
              <a:rPr sz="1550" spc="1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Neural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Network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4150" y="3035617"/>
            <a:ext cx="2799080" cy="1531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Works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 </a:t>
            </a:r>
            <a:r>
              <a:rPr sz="1400" b="1" dirty="0">
                <a:latin typeface="Arial"/>
                <a:cs typeface="Arial"/>
              </a:rPr>
              <a:t>1D ordered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sequences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600"/>
              </a:lnSpc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Theoretically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good</a:t>
            </a:r>
            <a:r>
              <a:rPr sz="1400" spc="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at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long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sequences: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O(N)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compute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memory</a:t>
            </a:r>
            <a:r>
              <a:rPr sz="1400" spc="-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for</a:t>
            </a:r>
            <a:r>
              <a:rPr sz="1400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</a:t>
            </a:r>
            <a:r>
              <a:rPr sz="1400" spc="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sequence</a:t>
            </a:r>
            <a:r>
              <a:rPr sz="1400" spc="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length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8AAB42"/>
                </a:solidFill>
                <a:latin typeface="Arial"/>
                <a:cs typeface="Arial"/>
              </a:rPr>
              <a:t>N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(-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400" spc="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parallelizable.</a:t>
            </a:r>
            <a:r>
              <a:rPr sz="1400" spc="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sz="14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compute</a:t>
            </a: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hidden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states</a:t>
            </a:r>
            <a:r>
              <a:rPr sz="14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sequentially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07758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Three</a:t>
            </a:r>
            <a:r>
              <a:rPr spc="140" dirty="0"/>
              <a:t> </a:t>
            </a:r>
            <a:r>
              <a:rPr dirty="0"/>
              <a:t>Ways</a:t>
            </a:r>
            <a:r>
              <a:rPr spc="150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Processing</a:t>
            </a:r>
            <a:r>
              <a:rPr spc="150" dirty="0"/>
              <a:t> </a:t>
            </a:r>
            <a:r>
              <a:rPr spc="-10" dirty="0"/>
              <a:t>Sequences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3537" y="1309750"/>
          <a:ext cx="2362200" cy="1619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1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2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3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4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1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2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3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4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57237" y="1566925"/>
            <a:ext cx="276860" cy="76200"/>
          </a:xfrm>
          <a:custGeom>
            <a:avLst/>
            <a:gdLst/>
            <a:ahLst/>
            <a:cxnLst/>
            <a:rect l="l" t="t" r="r" b="b"/>
            <a:pathLst>
              <a:path w="276859" h="76200">
                <a:moveTo>
                  <a:pt x="200152" y="0"/>
                </a:moveTo>
                <a:lnTo>
                  <a:pt x="200152" y="76200"/>
                </a:lnTo>
                <a:lnTo>
                  <a:pt x="250952" y="50800"/>
                </a:lnTo>
                <a:lnTo>
                  <a:pt x="212852" y="50800"/>
                </a:lnTo>
                <a:lnTo>
                  <a:pt x="212852" y="25400"/>
                </a:lnTo>
                <a:lnTo>
                  <a:pt x="250952" y="25400"/>
                </a:lnTo>
                <a:lnTo>
                  <a:pt x="200152" y="0"/>
                </a:lnTo>
                <a:close/>
              </a:path>
              <a:path w="276859" h="76200">
                <a:moveTo>
                  <a:pt x="20015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0152" y="50800"/>
                </a:lnTo>
                <a:lnTo>
                  <a:pt x="200152" y="25400"/>
                </a:lnTo>
                <a:close/>
              </a:path>
              <a:path w="276859" h="76200">
                <a:moveTo>
                  <a:pt x="250952" y="25400"/>
                </a:moveTo>
                <a:lnTo>
                  <a:pt x="212852" y="25400"/>
                </a:lnTo>
                <a:lnTo>
                  <a:pt x="212852" y="50800"/>
                </a:lnTo>
                <a:lnTo>
                  <a:pt x="250952" y="50800"/>
                </a:lnTo>
                <a:lnTo>
                  <a:pt x="276352" y="38100"/>
                </a:lnTo>
                <a:lnTo>
                  <a:pt x="25095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4050" y="1566925"/>
            <a:ext cx="276860" cy="76200"/>
          </a:xfrm>
          <a:custGeom>
            <a:avLst/>
            <a:gdLst/>
            <a:ahLst/>
            <a:cxnLst/>
            <a:rect l="l" t="t" r="r" b="b"/>
            <a:pathLst>
              <a:path w="276860" h="76200">
                <a:moveTo>
                  <a:pt x="200152" y="0"/>
                </a:moveTo>
                <a:lnTo>
                  <a:pt x="200152" y="76200"/>
                </a:lnTo>
                <a:lnTo>
                  <a:pt x="250951" y="50800"/>
                </a:lnTo>
                <a:lnTo>
                  <a:pt x="212851" y="50800"/>
                </a:lnTo>
                <a:lnTo>
                  <a:pt x="212851" y="25400"/>
                </a:lnTo>
                <a:lnTo>
                  <a:pt x="250951" y="25400"/>
                </a:lnTo>
                <a:lnTo>
                  <a:pt x="200152" y="0"/>
                </a:lnTo>
                <a:close/>
              </a:path>
              <a:path w="276860" h="76200">
                <a:moveTo>
                  <a:pt x="20015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0152" y="50800"/>
                </a:lnTo>
                <a:lnTo>
                  <a:pt x="200152" y="25400"/>
                </a:lnTo>
                <a:close/>
              </a:path>
              <a:path w="276860" h="76200">
                <a:moveTo>
                  <a:pt x="250951" y="25400"/>
                </a:moveTo>
                <a:lnTo>
                  <a:pt x="212851" y="25400"/>
                </a:lnTo>
                <a:lnTo>
                  <a:pt x="212851" y="50800"/>
                </a:lnTo>
                <a:lnTo>
                  <a:pt x="250951" y="50800"/>
                </a:lnTo>
                <a:lnTo>
                  <a:pt x="276351" y="38100"/>
                </a:lnTo>
                <a:lnTo>
                  <a:pt x="25095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81148" y="1566925"/>
            <a:ext cx="276860" cy="76200"/>
          </a:xfrm>
          <a:custGeom>
            <a:avLst/>
            <a:gdLst/>
            <a:ahLst/>
            <a:cxnLst/>
            <a:rect l="l" t="t" r="r" b="b"/>
            <a:pathLst>
              <a:path w="276860" h="76200">
                <a:moveTo>
                  <a:pt x="200278" y="0"/>
                </a:moveTo>
                <a:lnTo>
                  <a:pt x="200278" y="76200"/>
                </a:lnTo>
                <a:lnTo>
                  <a:pt x="251078" y="50800"/>
                </a:lnTo>
                <a:lnTo>
                  <a:pt x="212978" y="50800"/>
                </a:lnTo>
                <a:lnTo>
                  <a:pt x="212978" y="25400"/>
                </a:lnTo>
                <a:lnTo>
                  <a:pt x="251078" y="25400"/>
                </a:lnTo>
                <a:lnTo>
                  <a:pt x="200278" y="0"/>
                </a:lnTo>
                <a:close/>
              </a:path>
              <a:path w="276860" h="76200">
                <a:moveTo>
                  <a:pt x="20027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0278" y="50800"/>
                </a:lnTo>
                <a:lnTo>
                  <a:pt x="200278" y="25400"/>
                </a:lnTo>
                <a:close/>
              </a:path>
              <a:path w="276860" h="76200">
                <a:moveTo>
                  <a:pt x="251078" y="25400"/>
                </a:moveTo>
                <a:lnTo>
                  <a:pt x="212978" y="25400"/>
                </a:lnTo>
                <a:lnTo>
                  <a:pt x="212978" y="50800"/>
                </a:lnTo>
                <a:lnTo>
                  <a:pt x="251078" y="50800"/>
                </a:lnTo>
                <a:lnTo>
                  <a:pt x="276478" y="38100"/>
                </a:lnTo>
                <a:lnTo>
                  <a:pt x="25107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8637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5862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52676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09901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383026" y="1347850"/>
          <a:ext cx="2362200" cy="162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1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2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3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4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D79F39"/>
                      </a:solidFill>
                      <a:prstDash val="solid"/>
                    </a:lnL>
                    <a:lnR w="28575">
                      <a:solidFill>
                        <a:srgbClr val="D79F39"/>
                      </a:solidFill>
                      <a:prstDash val="solid"/>
                    </a:lnR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D79F39"/>
                      </a:solidFill>
                      <a:prstDash val="solid"/>
                    </a:lnB>
                    <a:solidFill>
                      <a:srgbClr val="F7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D79F3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1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60655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2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60655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3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60655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37" baseline="-18518" dirty="0">
                          <a:latin typeface="Arial"/>
                          <a:cs typeface="Arial"/>
                        </a:rPr>
                        <a:t>4</a:t>
                      </a:r>
                      <a:endParaRPr sz="1800" baseline="-18518">
                        <a:latin typeface="Arial"/>
                        <a:cs typeface="Arial"/>
                      </a:endParaRPr>
                    </a:p>
                  </a:txBody>
                  <a:tcPr marL="0" marR="0" marT="160655" marB="0">
                    <a:lnL w="28575">
                      <a:solidFill>
                        <a:srgbClr val="3981B9"/>
                      </a:solidFill>
                      <a:prstDash val="solid"/>
                    </a:lnL>
                    <a:lnR w="28575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  <a:solidFill>
                      <a:srgbClr val="D5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548126" y="1957451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273" y="417575"/>
                </a:lnTo>
                <a:lnTo>
                  <a:pt x="50673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79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05223" y="1957451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72101" y="1957451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673" y="63500"/>
                </a:moveTo>
                <a:lnTo>
                  <a:pt x="25400" y="63500"/>
                </a:lnTo>
                <a:lnTo>
                  <a:pt x="25273" y="417575"/>
                </a:lnTo>
                <a:lnTo>
                  <a:pt x="50673" y="417575"/>
                </a:lnTo>
                <a:lnTo>
                  <a:pt x="50673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673" y="63500"/>
                </a:lnTo>
                <a:lnTo>
                  <a:pt x="50673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29326" y="1957451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673" y="63500"/>
                </a:moveTo>
                <a:lnTo>
                  <a:pt x="25400" y="63500"/>
                </a:lnTo>
                <a:lnTo>
                  <a:pt x="25273" y="417575"/>
                </a:lnTo>
                <a:lnTo>
                  <a:pt x="50673" y="417575"/>
                </a:lnTo>
                <a:lnTo>
                  <a:pt x="50673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673" y="63500"/>
                </a:lnTo>
                <a:lnTo>
                  <a:pt x="50673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27879" y="1986025"/>
            <a:ext cx="232410" cy="351155"/>
          </a:xfrm>
          <a:custGeom>
            <a:avLst/>
            <a:gdLst/>
            <a:ahLst/>
            <a:cxnLst/>
            <a:rect l="l" t="t" r="r" b="b"/>
            <a:pathLst>
              <a:path w="232410" h="351155">
                <a:moveTo>
                  <a:pt x="232410" y="331724"/>
                </a:moveTo>
                <a:lnTo>
                  <a:pt x="132981" y="164490"/>
                </a:lnTo>
                <a:lnTo>
                  <a:pt x="182587" y="81394"/>
                </a:lnTo>
                <a:lnTo>
                  <a:pt x="204343" y="94361"/>
                </a:lnTo>
                <a:lnTo>
                  <a:pt x="207098" y="57531"/>
                </a:lnTo>
                <a:lnTo>
                  <a:pt x="210693" y="9525"/>
                </a:lnTo>
                <a:lnTo>
                  <a:pt x="138938" y="55372"/>
                </a:lnTo>
                <a:lnTo>
                  <a:pt x="160769" y="68402"/>
                </a:lnTo>
                <a:lnTo>
                  <a:pt x="118237" y="139674"/>
                </a:lnTo>
                <a:lnTo>
                  <a:pt x="70256" y="58953"/>
                </a:lnTo>
                <a:lnTo>
                  <a:pt x="88658" y="48006"/>
                </a:lnTo>
                <a:lnTo>
                  <a:pt x="92075" y="45974"/>
                </a:lnTo>
                <a:lnTo>
                  <a:pt x="20447" y="0"/>
                </a:lnTo>
                <a:lnTo>
                  <a:pt x="26543" y="84963"/>
                </a:lnTo>
                <a:lnTo>
                  <a:pt x="48425" y="71945"/>
                </a:lnTo>
                <a:lnTo>
                  <a:pt x="103441" y="164465"/>
                </a:lnTo>
                <a:lnTo>
                  <a:pt x="0" y="337820"/>
                </a:lnTo>
                <a:lnTo>
                  <a:pt x="21717" y="350901"/>
                </a:lnTo>
                <a:lnTo>
                  <a:pt x="118186" y="189280"/>
                </a:lnTo>
                <a:lnTo>
                  <a:pt x="210693" y="344805"/>
                </a:lnTo>
                <a:lnTo>
                  <a:pt x="232410" y="33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3476" y="1986025"/>
            <a:ext cx="228600" cy="351155"/>
          </a:xfrm>
          <a:custGeom>
            <a:avLst/>
            <a:gdLst/>
            <a:ahLst/>
            <a:cxnLst/>
            <a:rect l="l" t="t" r="r" b="b"/>
            <a:pathLst>
              <a:path w="228600" h="351155">
                <a:moveTo>
                  <a:pt x="228346" y="9525"/>
                </a:moveTo>
                <a:lnTo>
                  <a:pt x="156591" y="55372"/>
                </a:lnTo>
                <a:lnTo>
                  <a:pt x="178422" y="68402"/>
                </a:lnTo>
                <a:lnTo>
                  <a:pt x="116801" y="171665"/>
                </a:lnTo>
                <a:lnTo>
                  <a:pt x="49809" y="58953"/>
                </a:lnTo>
                <a:lnTo>
                  <a:pt x="68211" y="48006"/>
                </a:lnTo>
                <a:lnTo>
                  <a:pt x="71628" y="45974"/>
                </a:lnTo>
                <a:lnTo>
                  <a:pt x="0" y="0"/>
                </a:lnTo>
                <a:lnTo>
                  <a:pt x="6096" y="84963"/>
                </a:lnTo>
                <a:lnTo>
                  <a:pt x="27978" y="71945"/>
                </a:lnTo>
                <a:lnTo>
                  <a:pt x="102006" y="196443"/>
                </a:lnTo>
                <a:lnTo>
                  <a:pt x="17653" y="337820"/>
                </a:lnTo>
                <a:lnTo>
                  <a:pt x="39370" y="350901"/>
                </a:lnTo>
                <a:lnTo>
                  <a:pt x="116763" y="221246"/>
                </a:lnTo>
                <a:lnTo>
                  <a:pt x="190246" y="344805"/>
                </a:lnTo>
                <a:lnTo>
                  <a:pt x="211963" y="331724"/>
                </a:lnTo>
                <a:lnTo>
                  <a:pt x="131546" y="196469"/>
                </a:lnTo>
                <a:lnTo>
                  <a:pt x="200240" y="81394"/>
                </a:lnTo>
                <a:lnTo>
                  <a:pt x="221996" y="94361"/>
                </a:lnTo>
                <a:lnTo>
                  <a:pt x="224751" y="57531"/>
                </a:lnTo>
                <a:lnTo>
                  <a:pt x="228346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65804" y="1986025"/>
            <a:ext cx="241935" cy="351155"/>
          </a:xfrm>
          <a:custGeom>
            <a:avLst/>
            <a:gdLst/>
            <a:ahLst/>
            <a:cxnLst/>
            <a:rect l="l" t="t" r="r" b="b"/>
            <a:pathLst>
              <a:path w="241935" h="351155">
                <a:moveTo>
                  <a:pt x="241935" y="331724"/>
                </a:moveTo>
                <a:lnTo>
                  <a:pt x="137756" y="156489"/>
                </a:lnTo>
                <a:lnTo>
                  <a:pt x="182587" y="81394"/>
                </a:lnTo>
                <a:lnTo>
                  <a:pt x="204343" y="94361"/>
                </a:lnTo>
                <a:lnTo>
                  <a:pt x="207098" y="57531"/>
                </a:lnTo>
                <a:lnTo>
                  <a:pt x="210693" y="9525"/>
                </a:lnTo>
                <a:lnTo>
                  <a:pt x="138938" y="55372"/>
                </a:lnTo>
                <a:lnTo>
                  <a:pt x="160769" y="68402"/>
                </a:lnTo>
                <a:lnTo>
                  <a:pt x="123012" y="131686"/>
                </a:lnTo>
                <a:lnTo>
                  <a:pt x="79781" y="58953"/>
                </a:lnTo>
                <a:lnTo>
                  <a:pt x="98183" y="48006"/>
                </a:lnTo>
                <a:lnTo>
                  <a:pt x="101600" y="45974"/>
                </a:lnTo>
                <a:lnTo>
                  <a:pt x="29845" y="0"/>
                </a:lnTo>
                <a:lnTo>
                  <a:pt x="36068" y="84963"/>
                </a:lnTo>
                <a:lnTo>
                  <a:pt x="57950" y="71945"/>
                </a:lnTo>
                <a:lnTo>
                  <a:pt x="108204" y="156476"/>
                </a:lnTo>
                <a:lnTo>
                  <a:pt x="0" y="337820"/>
                </a:lnTo>
                <a:lnTo>
                  <a:pt x="21717" y="350901"/>
                </a:lnTo>
                <a:lnTo>
                  <a:pt x="122961" y="181279"/>
                </a:lnTo>
                <a:lnTo>
                  <a:pt x="220218" y="344805"/>
                </a:lnTo>
                <a:lnTo>
                  <a:pt x="241935" y="33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4012" y="896048"/>
            <a:ext cx="47625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6650" algn="l"/>
              </a:tabLst>
            </a:pPr>
            <a:r>
              <a:rPr sz="1550" dirty="0">
                <a:latin typeface="Arial"/>
                <a:cs typeface="Arial"/>
              </a:rPr>
              <a:t>Recurrent</a:t>
            </a:r>
            <a:r>
              <a:rPr sz="1550" spc="1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Neural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Network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2325" spc="-15" baseline="1792" dirty="0">
                <a:latin typeface="Arial"/>
                <a:cs typeface="Arial"/>
              </a:rPr>
              <a:t>Convolution</a:t>
            </a:r>
            <a:endParaRPr sz="2325" baseline="1792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4150" y="3035617"/>
            <a:ext cx="27292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Works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 </a:t>
            </a:r>
            <a:r>
              <a:rPr sz="1400" b="1" dirty="0">
                <a:latin typeface="Arial"/>
                <a:cs typeface="Arial"/>
              </a:rPr>
              <a:t>1D ordered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sequences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4150" y="3465258"/>
            <a:ext cx="2799080" cy="1101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Theoretically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good</a:t>
            </a:r>
            <a:r>
              <a:rPr sz="1400" spc="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at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long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sequences: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O(N)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compute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memory</a:t>
            </a:r>
            <a:r>
              <a:rPr sz="1400" spc="-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for</a:t>
            </a:r>
            <a:r>
              <a:rPr sz="1400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</a:t>
            </a:r>
            <a:r>
              <a:rPr sz="1400" spc="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sequence</a:t>
            </a:r>
            <a:r>
              <a:rPr sz="1400" spc="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length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8AAB42"/>
                </a:solidFill>
                <a:latin typeface="Arial"/>
                <a:cs typeface="Arial"/>
              </a:rPr>
              <a:t>N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(-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400" spc="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parallelizable.</a:t>
            </a:r>
            <a:r>
              <a:rPr sz="1400" spc="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sz="14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compute</a:t>
            </a: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hidden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states</a:t>
            </a:r>
            <a:r>
              <a:rPr sz="14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sequentially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38551" y="3035617"/>
            <a:ext cx="25317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Works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N-</a:t>
            </a:r>
            <a:r>
              <a:rPr sz="1400" b="1" dirty="0">
                <a:latin typeface="Arial"/>
                <a:cs typeface="Arial"/>
              </a:rPr>
              <a:t>dimensional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grids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38551" y="3465258"/>
            <a:ext cx="2804160" cy="1101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just">
              <a:lnSpc>
                <a:spcPct val="100600"/>
              </a:lnSpc>
              <a:spcBef>
                <a:spcPts val="114"/>
              </a:spcBef>
            </a:pP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(-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Bad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1400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long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sequences: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stack</a:t>
            </a:r>
            <a:r>
              <a:rPr sz="14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many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layers</a:t>
            </a:r>
            <a:r>
              <a:rPr sz="14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14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build</a:t>
            </a:r>
            <a:r>
              <a:rPr sz="14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up</a:t>
            </a:r>
            <a:r>
              <a:rPr sz="14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C00000"/>
                </a:solidFill>
                <a:latin typeface="Arial"/>
                <a:cs typeface="Arial"/>
              </a:rPr>
              <a:t>large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receptive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fields</a:t>
            </a:r>
            <a:endParaRPr sz="1400">
              <a:latin typeface="Arial"/>
              <a:cs typeface="Arial"/>
            </a:endParaRPr>
          </a:p>
          <a:p>
            <a:pPr marL="12700" algn="just">
              <a:lnSpc>
                <a:spcPts val="1650"/>
              </a:lnSpc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Parallelizable,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outputs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can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be</a:t>
            </a:r>
            <a:endParaRPr sz="1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computed</a:t>
            </a:r>
            <a:r>
              <a:rPr sz="1400" spc="-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in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parallel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07758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Three</a:t>
            </a:r>
            <a:r>
              <a:rPr spc="140" dirty="0"/>
              <a:t> </a:t>
            </a:r>
            <a:r>
              <a:rPr dirty="0"/>
              <a:t>Ways</a:t>
            </a:r>
            <a:r>
              <a:rPr spc="150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Processing</a:t>
            </a:r>
            <a:r>
              <a:rPr spc="150" dirty="0"/>
              <a:t> </a:t>
            </a:r>
            <a:r>
              <a:rPr spc="-10" dirty="0"/>
              <a:t>Sequences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237" y="1309750"/>
            <a:ext cx="381000" cy="600075"/>
          </a:xfrm>
          <a:prstGeom prst="rect">
            <a:avLst/>
          </a:prstGeom>
          <a:solidFill>
            <a:srgbClr val="F7EBD6"/>
          </a:solidFill>
          <a:ln w="25400">
            <a:solidFill>
              <a:srgbClr val="D79F39"/>
            </a:solidFill>
          </a:ln>
        </p:spPr>
        <p:txBody>
          <a:bodyPr vert="horz" wrap="square" lIns="0" tIns="14986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18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1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462" y="1309750"/>
            <a:ext cx="390525" cy="600075"/>
          </a:xfrm>
          <a:prstGeom prst="rect">
            <a:avLst/>
          </a:prstGeom>
          <a:solidFill>
            <a:srgbClr val="F7EBD6"/>
          </a:solidFill>
          <a:ln w="25400">
            <a:solidFill>
              <a:srgbClr val="D79F39"/>
            </a:solidFill>
          </a:ln>
        </p:spPr>
        <p:txBody>
          <a:bodyPr vert="horz" wrap="square" lIns="0" tIns="1498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8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2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237" y="1566925"/>
            <a:ext cx="276860" cy="76200"/>
          </a:xfrm>
          <a:custGeom>
            <a:avLst/>
            <a:gdLst/>
            <a:ahLst/>
            <a:cxnLst/>
            <a:rect l="l" t="t" r="r" b="b"/>
            <a:pathLst>
              <a:path w="276859" h="76200">
                <a:moveTo>
                  <a:pt x="200152" y="0"/>
                </a:moveTo>
                <a:lnTo>
                  <a:pt x="200152" y="76200"/>
                </a:lnTo>
                <a:lnTo>
                  <a:pt x="250952" y="50800"/>
                </a:lnTo>
                <a:lnTo>
                  <a:pt x="212852" y="50800"/>
                </a:lnTo>
                <a:lnTo>
                  <a:pt x="212852" y="25400"/>
                </a:lnTo>
                <a:lnTo>
                  <a:pt x="250952" y="25400"/>
                </a:lnTo>
                <a:lnTo>
                  <a:pt x="200152" y="0"/>
                </a:lnTo>
                <a:close/>
              </a:path>
              <a:path w="276859" h="76200">
                <a:moveTo>
                  <a:pt x="20015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0152" y="50800"/>
                </a:lnTo>
                <a:lnTo>
                  <a:pt x="200152" y="25400"/>
                </a:lnTo>
                <a:close/>
              </a:path>
              <a:path w="276859" h="76200">
                <a:moveTo>
                  <a:pt x="250952" y="25400"/>
                </a:moveTo>
                <a:lnTo>
                  <a:pt x="212852" y="25400"/>
                </a:lnTo>
                <a:lnTo>
                  <a:pt x="212852" y="50800"/>
                </a:lnTo>
                <a:lnTo>
                  <a:pt x="250952" y="50800"/>
                </a:lnTo>
                <a:lnTo>
                  <a:pt x="276352" y="38100"/>
                </a:lnTo>
                <a:lnTo>
                  <a:pt x="25095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00276" y="1309750"/>
            <a:ext cx="381000" cy="600075"/>
          </a:xfrm>
          <a:prstGeom prst="rect">
            <a:avLst/>
          </a:prstGeom>
          <a:solidFill>
            <a:srgbClr val="F7EBD6"/>
          </a:solidFill>
          <a:ln w="25400">
            <a:solidFill>
              <a:srgbClr val="D79F39"/>
            </a:solidFill>
          </a:ln>
        </p:spPr>
        <p:txBody>
          <a:bodyPr vert="horz" wrap="square" lIns="0" tIns="14986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18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3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7501" y="1309750"/>
            <a:ext cx="381000" cy="600075"/>
          </a:xfrm>
          <a:prstGeom prst="rect">
            <a:avLst/>
          </a:prstGeom>
          <a:solidFill>
            <a:srgbClr val="F7EBD6"/>
          </a:solidFill>
          <a:ln w="25400">
            <a:solidFill>
              <a:srgbClr val="D79F39"/>
            </a:solidFill>
          </a:ln>
        </p:spPr>
        <p:txBody>
          <a:bodyPr vert="horz" wrap="square" lIns="0" tIns="14986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8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4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24050" y="1566925"/>
            <a:ext cx="276860" cy="76200"/>
          </a:xfrm>
          <a:custGeom>
            <a:avLst/>
            <a:gdLst/>
            <a:ahLst/>
            <a:cxnLst/>
            <a:rect l="l" t="t" r="r" b="b"/>
            <a:pathLst>
              <a:path w="276860" h="76200">
                <a:moveTo>
                  <a:pt x="200152" y="0"/>
                </a:moveTo>
                <a:lnTo>
                  <a:pt x="200152" y="76200"/>
                </a:lnTo>
                <a:lnTo>
                  <a:pt x="250951" y="50800"/>
                </a:lnTo>
                <a:lnTo>
                  <a:pt x="212851" y="50800"/>
                </a:lnTo>
                <a:lnTo>
                  <a:pt x="212851" y="25400"/>
                </a:lnTo>
                <a:lnTo>
                  <a:pt x="250951" y="25400"/>
                </a:lnTo>
                <a:lnTo>
                  <a:pt x="200152" y="0"/>
                </a:lnTo>
                <a:close/>
              </a:path>
              <a:path w="276860" h="76200">
                <a:moveTo>
                  <a:pt x="20015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0152" y="50800"/>
                </a:lnTo>
                <a:lnTo>
                  <a:pt x="200152" y="25400"/>
                </a:lnTo>
                <a:close/>
              </a:path>
              <a:path w="276860" h="76200">
                <a:moveTo>
                  <a:pt x="250951" y="25400"/>
                </a:moveTo>
                <a:lnTo>
                  <a:pt x="212851" y="25400"/>
                </a:lnTo>
                <a:lnTo>
                  <a:pt x="212851" y="50800"/>
                </a:lnTo>
                <a:lnTo>
                  <a:pt x="250951" y="50800"/>
                </a:lnTo>
                <a:lnTo>
                  <a:pt x="276351" y="38100"/>
                </a:lnTo>
                <a:lnTo>
                  <a:pt x="25095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81148" y="1566925"/>
            <a:ext cx="276860" cy="76200"/>
          </a:xfrm>
          <a:custGeom>
            <a:avLst/>
            <a:gdLst/>
            <a:ahLst/>
            <a:cxnLst/>
            <a:rect l="l" t="t" r="r" b="b"/>
            <a:pathLst>
              <a:path w="276860" h="76200">
                <a:moveTo>
                  <a:pt x="200278" y="0"/>
                </a:moveTo>
                <a:lnTo>
                  <a:pt x="200278" y="76200"/>
                </a:lnTo>
                <a:lnTo>
                  <a:pt x="251078" y="50800"/>
                </a:lnTo>
                <a:lnTo>
                  <a:pt x="212978" y="50800"/>
                </a:lnTo>
                <a:lnTo>
                  <a:pt x="212978" y="25400"/>
                </a:lnTo>
                <a:lnTo>
                  <a:pt x="251078" y="25400"/>
                </a:lnTo>
                <a:lnTo>
                  <a:pt x="200278" y="0"/>
                </a:lnTo>
                <a:close/>
              </a:path>
              <a:path w="276860" h="76200">
                <a:moveTo>
                  <a:pt x="20027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0278" y="50800"/>
                </a:lnTo>
                <a:lnTo>
                  <a:pt x="200278" y="25400"/>
                </a:lnTo>
                <a:close/>
              </a:path>
              <a:path w="276860" h="76200">
                <a:moveTo>
                  <a:pt x="251078" y="25400"/>
                </a:moveTo>
                <a:lnTo>
                  <a:pt x="212978" y="25400"/>
                </a:lnTo>
                <a:lnTo>
                  <a:pt x="212978" y="50800"/>
                </a:lnTo>
                <a:lnTo>
                  <a:pt x="251078" y="50800"/>
                </a:lnTo>
                <a:lnTo>
                  <a:pt x="276478" y="38100"/>
                </a:lnTo>
                <a:lnTo>
                  <a:pt x="25107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6237" y="2328926"/>
            <a:ext cx="381000" cy="600075"/>
          </a:xfrm>
          <a:prstGeom prst="rect">
            <a:avLst/>
          </a:prstGeom>
          <a:solidFill>
            <a:srgbClr val="D5E6F1"/>
          </a:solidFill>
          <a:ln w="25400">
            <a:solidFill>
              <a:srgbClr val="3981B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220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1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8637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33462" y="2328926"/>
            <a:ext cx="390525" cy="600075"/>
          </a:xfrm>
          <a:prstGeom prst="rect">
            <a:avLst/>
          </a:prstGeom>
          <a:solidFill>
            <a:srgbClr val="D5E6F1"/>
          </a:solidFill>
          <a:ln w="25400">
            <a:solidFill>
              <a:srgbClr val="3981B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20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2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0276" y="2328926"/>
            <a:ext cx="381000" cy="600075"/>
          </a:xfrm>
          <a:prstGeom prst="rect">
            <a:avLst/>
          </a:prstGeom>
          <a:solidFill>
            <a:srgbClr val="D5E6F1"/>
          </a:solidFill>
          <a:ln w="25400">
            <a:solidFill>
              <a:srgbClr val="3981B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220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3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57501" y="2328926"/>
            <a:ext cx="381000" cy="600075"/>
          </a:xfrm>
          <a:prstGeom prst="rect">
            <a:avLst/>
          </a:prstGeom>
          <a:solidFill>
            <a:srgbClr val="D5E6F1"/>
          </a:solidFill>
          <a:ln w="25400">
            <a:solidFill>
              <a:srgbClr val="3981B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20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4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5862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52676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09901" y="1909826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395726" y="1347850"/>
            <a:ext cx="381000" cy="609600"/>
          </a:xfrm>
          <a:prstGeom prst="rect">
            <a:avLst/>
          </a:prstGeom>
          <a:solidFill>
            <a:srgbClr val="F7EBD6"/>
          </a:solidFill>
          <a:ln w="25400">
            <a:solidFill>
              <a:srgbClr val="D79F3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22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1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2951" y="1347850"/>
            <a:ext cx="381000" cy="609600"/>
          </a:xfrm>
          <a:prstGeom prst="rect">
            <a:avLst/>
          </a:prstGeom>
          <a:solidFill>
            <a:srgbClr val="F7EBD6"/>
          </a:solidFill>
          <a:ln w="25400">
            <a:solidFill>
              <a:srgbClr val="D79F3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22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2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19701" y="1347850"/>
            <a:ext cx="381000" cy="609600"/>
          </a:xfrm>
          <a:prstGeom prst="rect">
            <a:avLst/>
          </a:prstGeom>
          <a:solidFill>
            <a:srgbClr val="F7EBD6"/>
          </a:solidFill>
          <a:ln w="25400">
            <a:solidFill>
              <a:srgbClr val="D79F3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22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3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76926" y="1347850"/>
            <a:ext cx="381000" cy="609600"/>
          </a:xfrm>
          <a:prstGeom prst="rect">
            <a:avLst/>
          </a:prstGeom>
          <a:solidFill>
            <a:srgbClr val="F7EBD6"/>
          </a:solidFill>
          <a:ln w="25400">
            <a:solidFill>
              <a:srgbClr val="D79F3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20"/>
              </a:spcBef>
            </a:pP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37" baseline="-18518" dirty="0">
                <a:latin typeface="Arial"/>
                <a:cs typeface="Arial"/>
              </a:rPr>
              <a:t>4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95726" y="2367026"/>
            <a:ext cx="381000" cy="609600"/>
          </a:xfrm>
          <a:prstGeom prst="rect">
            <a:avLst/>
          </a:prstGeom>
          <a:solidFill>
            <a:srgbClr val="D5E6F1"/>
          </a:solidFill>
          <a:ln w="25400">
            <a:solidFill>
              <a:srgbClr val="3981B9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265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1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548126" y="1957451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273" y="417575"/>
                </a:lnTo>
                <a:lnTo>
                  <a:pt x="50673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79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052951" y="2367026"/>
            <a:ext cx="381000" cy="609600"/>
          </a:xfrm>
          <a:prstGeom prst="rect">
            <a:avLst/>
          </a:prstGeom>
          <a:solidFill>
            <a:srgbClr val="D5E6F1"/>
          </a:solidFill>
          <a:ln w="25400">
            <a:solidFill>
              <a:srgbClr val="3981B9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265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2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19701" y="2367026"/>
            <a:ext cx="381000" cy="609600"/>
          </a:xfrm>
          <a:prstGeom prst="rect">
            <a:avLst/>
          </a:prstGeom>
          <a:solidFill>
            <a:srgbClr val="D5E6F1"/>
          </a:solidFill>
          <a:ln w="25400">
            <a:solidFill>
              <a:srgbClr val="3981B9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265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3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76926" y="2367026"/>
            <a:ext cx="381000" cy="609600"/>
          </a:xfrm>
          <a:prstGeom prst="rect">
            <a:avLst/>
          </a:prstGeom>
          <a:solidFill>
            <a:srgbClr val="D5E6F1"/>
          </a:solidFill>
          <a:ln w="25400">
            <a:solidFill>
              <a:srgbClr val="3981B9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65"/>
              </a:spcBef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8518" dirty="0">
                <a:latin typeface="Arial"/>
                <a:cs typeface="Arial"/>
              </a:rPr>
              <a:t>4</a:t>
            </a:r>
            <a:endParaRPr sz="1800" baseline="-18518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205223" y="1957451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800" y="63500"/>
                </a:moveTo>
                <a:lnTo>
                  <a:pt x="25400" y="63500"/>
                </a:lnTo>
                <a:lnTo>
                  <a:pt x="25400" y="417575"/>
                </a:lnTo>
                <a:lnTo>
                  <a:pt x="50800" y="417575"/>
                </a:lnTo>
                <a:lnTo>
                  <a:pt x="50800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72101" y="1957451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673" y="63500"/>
                </a:moveTo>
                <a:lnTo>
                  <a:pt x="25400" y="63500"/>
                </a:lnTo>
                <a:lnTo>
                  <a:pt x="25273" y="417575"/>
                </a:lnTo>
                <a:lnTo>
                  <a:pt x="50673" y="417575"/>
                </a:lnTo>
                <a:lnTo>
                  <a:pt x="50673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673" y="63500"/>
                </a:lnTo>
                <a:lnTo>
                  <a:pt x="50673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29326" y="1957451"/>
            <a:ext cx="76200" cy="417830"/>
          </a:xfrm>
          <a:custGeom>
            <a:avLst/>
            <a:gdLst/>
            <a:ahLst/>
            <a:cxnLst/>
            <a:rect l="l" t="t" r="r" b="b"/>
            <a:pathLst>
              <a:path w="76200" h="417830">
                <a:moveTo>
                  <a:pt x="50673" y="63500"/>
                </a:moveTo>
                <a:lnTo>
                  <a:pt x="25400" y="63500"/>
                </a:lnTo>
                <a:lnTo>
                  <a:pt x="25273" y="417575"/>
                </a:lnTo>
                <a:lnTo>
                  <a:pt x="50673" y="417575"/>
                </a:lnTo>
                <a:lnTo>
                  <a:pt x="50673" y="63500"/>
                </a:lnTo>
                <a:close/>
              </a:path>
              <a:path w="76200" h="417830">
                <a:moveTo>
                  <a:pt x="38100" y="0"/>
                </a:moveTo>
                <a:lnTo>
                  <a:pt x="0" y="76200"/>
                </a:lnTo>
                <a:lnTo>
                  <a:pt x="25395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17830">
                <a:moveTo>
                  <a:pt x="69850" y="63500"/>
                </a:moveTo>
                <a:lnTo>
                  <a:pt x="50673" y="63500"/>
                </a:lnTo>
                <a:lnTo>
                  <a:pt x="50673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65804" y="1986025"/>
            <a:ext cx="241935" cy="351155"/>
          </a:xfrm>
          <a:custGeom>
            <a:avLst/>
            <a:gdLst/>
            <a:ahLst/>
            <a:cxnLst/>
            <a:rect l="l" t="t" r="r" b="b"/>
            <a:pathLst>
              <a:path w="241935" h="351155">
                <a:moveTo>
                  <a:pt x="241935" y="331724"/>
                </a:moveTo>
                <a:lnTo>
                  <a:pt x="137756" y="156489"/>
                </a:lnTo>
                <a:lnTo>
                  <a:pt x="182587" y="81394"/>
                </a:lnTo>
                <a:lnTo>
                  <a:pt x="204343" y="94361"/>
                </a:lnTo>
                <a:lnTo>
                  <a:pt x="207098" y="57531"/>
                </a:lnTo>
                <a:lnTo>
                  <a:pt x="210693" y="9525"/>
                </a:lnTo>
                <a:lnTo>
                  <a:pt x="138938" y="55372"/>
                </a:lnTo>
                <a:lnTo>
                  <a:pt x="160769" y="68402"/>
                </a:lnTo>
                <a:lnTo>
                  <a:pt x="123012" y="131686"/>
                </a:lnTo>
                <a:lnTo>
                  <a:pt x="79781" y="58953"/>
                </a:lnTo>
                <a:lnTo>
                  <a:pt x="98183" y="48006"/>
                </a:lnTo>
                <a:lnTo>
                  <a:pt x="101600" y="45974"/>
                </a:lnTo>
                <a:lnTo>
                  <a:pt x="29845" y="0"/>
                </a:lnTo>
                <a:lnTo>
                  <a:pt x="36068" y="84963"/>
                </a:lnTo>
                <a:lnTo>
                  <a:pt x="57950" y="71945"/>
                </a:lnTo>
                <a:lnTo>
                  <a:pt x="108204" y="156476"/>
                </a:lnTo>
                <a:lnTo>
                  <a:pt x="0" y="337820"/>
                </a:lnTo>
                <a:lnTo>
                  <a:pt x="21717" y="350901"/>
                </a:lnTo>
                <a:lnTo>
                  <a:pt x="122961" y="181279"/>
                </a:lnTo>
                <a:lnTo>
                  <a:pt x="220218" y="344805"/>
                </a:lnTo>
                <a:lnTo>
                  <a:pt x="241935" y="33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43476" y="1986025"/>
            <a:ext cx="228600" cy="351155"/>
          </a:xfrm>
          <a:custGeom>
            <a:avLst/>
            <a:gdLst/>
            <a:ahLst/>
            <a:cxnLst/>
            <a:rect l="l" t="t" r="r" b="b"/>
            <a:pathLst>
              <a:path w="228600" h="351155">
                <a:moveTo>
                  <a:pt x="228346" y="9525"/>
                </a:moveTo>
                <a:lnTo>
                  <a:pt x="156591" y="55372"/>
                </a:lnTo>
                <a:lnTo>
                  <a:pt x="178422" y="68402"/>
                </a:lnTo>
                <a:lnTo>
                  <a:pt x="116801" y="171665"/>
                </a:lnTo>
                <a:lnTo>
                  <a:pt x="49809" y="58953"/>
                </a:lnTo>
                <a:lnTo>
                  <a:pt x="68211" y="48006"/>
                </a:lnTo>
                <a:lnTo>
                  <a:pt x="71628" y="45974"/>
                </a:lnTo>
                <a:lnTo>
                  <a:pt x="0" y="0"/>
                </a:lnTo>
                <a:lnTo>
                  <a:pt x="6096" y="84963"/>
                </a:lnTo>
                <a:lnTo>
                  <a:pt x="27978" y="71945"/>
                </a:lnTo>
                <a:lnTo>
                  <a:pt x="102006" y="196443"/>
                </a:lnTo>
                <a:lnTo>
                  <a:pt x="17653" y="337820"/>
                </a:lnTo>
                <a:lnTo>
                  <a:pt x="39370" y="350901"/>
                </a:lnTo>
                <a:lnTo>
                  <a:pt x="116763" y="221246"/>
                </a:lnTo>
                <a:lnTo>
                  <a:pt x="190246" y="344805"/>
                </a:lnTo>
                <a:lnTo>
                  <a:pt x="211963" y="331724"/>
                </a:lnTo>
                <a:lnTo>
                  <a:pt x="131546" y="196469"/>
                </a:lnTo>
                <a:lnTo>
                  <a:pt x="200240" y="81394"/>
                </a:lnTo>
                <a:lnTo>
                  <a:pt x="221996" y="94361"/>
                </a:lnTo>
                <a:lnTo>
                  <a:pt x="224751" y="57531"/>
                </a:lnTo>
                <a:lnTo>
                  <a:pt x="228346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27879" y="1986025"/>
            <a:ext cx="232410" cy="351155"/>
          </a:xfrm>
          <a:custGeom>
            <a:avLst/>
            <a:gdLst/>
            <a:ahLst/>
            <a:cxnLst/>
            <a:rect l="l" t="t" r="r" b="b"/>
            <a:pathLst>
              <a:path w="232410" h="351155">
                <a:moveTo>
                  <a:pt x="232410" y="331724"/>
                </a:moveTo>
                <a:lnTo>
                  <a:pt x="132981" y="164490"/>
                </a:lnTo>
                <a:lnTo>
                  <a:pt x="182587" y="81394"/>
                </a:lnTo>
                <a:lnTo>
                  <a:pt x="204343" y="94361"/>
                </a:lnTo>
                <a:lnTo>
                  <a:pt x="207098" y="57531"/>
                </a:lnTo>
                <a:lnTo>
                  <a:pt x="210693" y="9525"/>
                </a:lnTo>
                <a:lnTo>
                  <a:pt x="138938" y="55372"/>
                </a:lnTo>
                <a:lnTo>
                  <a:pt x="160769" y="68402"/>
                </a:lnTo>
                <a:lnTo>
                  <a:pt x="118237" y="139674"/>
                </a:lnTo>
                <a:lnTo>
                  <a:pt x="70256" y="58953"/>
                </a:lnTo>
                <a:lnTo>
                  <a:pt x="88658" y="48006"/>
                </a:lnTo>
                <a:lnTo>
                  <a:pt x="92075" y="45974"/>
                </a:lnTo>
                <a:lnTo>
                  <a:pt x="20447" y="0"/>
                </a:lnTo>
                <a:lnTo>
                  <a:pt x="26543" y="84963"/>
                </a:lnTo>
                <a:lnTo>
                  <a:pt x="48425" y="71945"/>
                </a:lnTo>
                <a:lnTo>
                  <a:pt x="103441" y="164465"/>
                </a:lnTo>
                <a:lnTo>
                  <a:pt x="0" y="337820"/>
                </a:lnTo>
                <a:lnTo>
                  <a:pt x="21717" y="350901"/>
                </a:lnTo>
                <a:lnTo>
                  <a:pt x="118186" y="189280"/>
                </a:lnTo>
                <a:lnTo>
                  <a:pt x="210693" y="344805"/>
                </a:lnTo>
                <a:lnTo>
                  <a:pt x="232410" y="331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7456428" y="2518457"/>
            <a:ext cx="653415" cy="284480"/>
            <a:chOff x="7456428" y="2518457"/>
            <a:chExt cx="653415" cy="284480"/>
          </a:xfrm>
        </p:grpSpPr>
        <p:sp>
          <p:nvSpPr>
            <p:cNvPr id="34" name="object 34"/>
            <p:cNvSpPr/>
            <p:nvPr/>
          </p:nvSpPr>
          <p:spPr>
            <a:xfrm>
              <a:off x="7470631" y="2751982"/>
              <a:ext cx="637540" cy="48895"/>
            </a:xfrm>
            <a:custGeom>
              <a:avLst/>
              <a:gdLst/>
              <a:ahLst/>
              <a:cxnLst/>
              <a:rect l="l" t="t" r="r" b="b"/>
              <a:pathLst>
                <a:path w="637540" h="48894">
                  <a:moveTo>
                    <a:pt x="0" y="0"/>
                  </a:moveTo>
                  <a:lnTo>
                    <a:pt x="49355" y="0"/>
                  </a:lnTo>
                  <a:lnTo>
                    <a:pt x="49355" y="48504"/>
                  </a:lnTo>
                  <a:lnTo>
                    <a:pt x="0" y="48504"/>
                  </a:lnTo>
                  <a:lnTo>
                    <a:pt x="0" y="0"/>
                  </a:lnTo>
                  <a:close/>
                </a:path>
                <a:path w="637540" h="48894">
                  <a:moveTo>
                    <a:pt x="65630" y="0"/>
                  </a:moveTo>
                  <a:lnTo>
                    <a:pt x="114985" y="0"/>
                  </a:lnTo>
                  <a:lnTo>
                    <a:pt x="114985" y="48504"/>
                  </a:lnTo>
                  <a:lnTo>
                    <a:pt x="65630" y="48504"/>
                  </a:lnTo>
                  <a:lnTo>
                    <a:pt x="65630" y="0"/>
                  </a:lnTo>
                  <a:close/>
                </a:path>
                <a:path w="637540" h="48894">
                  <a:moveTo>
                    <a:pt x="332864" y="0"/>
                  </a:moveTo>
                  <a:lnTo>
                    <a:pt x="386196" y="0"/>
                  </a:lnTo>
                  <a:lnTo>
                    <a:pt x="386196" y="48504"/>
                  </a:lnTo>
                  <a:lnTo>
                    <a:pt x="332864" y="48504"/>
                  </a:lnTo>
                  <a:lnTo>
                    <a:pt x="332864" y="0"/>
                  </a:lnTo>
                  <a:close/>
                </a:path>
                <a:path w="637540" h="48894">
                  <a:moveTo>
                    <a:pt x="258871" y="0"/>
                  </a:moveTo>
                  <a:lnTo>
                    <a:pt x="308227" y="0"/>
                  </a:lnTo>
                  <a:lnTo>
                    <a:pt x="308227" y="48504"/>
                  </a:lnTo>
                  <a:lnTo>
                    <a:pt x="258871" y="48504"/>
                  </a:lnTo>
                  <a:lnTo>
                    <a:pt x="258871" y="0"/>
                  </a:lnTo>
                  <a:close/>
                </a:path>
                <a:path w="637540" h="48894">
                  <a:moveTo>
                    <a:pt x="517784" y="0"/>
                  </a:moveTo>
                  <a:lnTo>
                    <a:pt x="567017" y="0"/>
                  </a:lnTo>
                  <a:lnTo>
                    <a:pt x="567017" y="48504"/>
                  </a:lnTo>
                  <a:lnTo>
                    <a:pt x="517784" y="48504"/>
                  </a:lnTo>
                  <a:lnTo>
                    <a:pt x="517784" y="0"/>
                  </a:lnTo>
                  <a:close/>
                </a:path>
                <a:path w="637540" h="48894">
                  <a:moveTo>
                    <a:pt x="587678" y="0"/>
                  </a:moveTo>
                  <a:lnTo>
                    <a:pt x="637034" y="0"/>
                  </a:lnTo>
                  <a:lnTo>
                    <a:pt x="637034" y="48504"/>
                  </a:lnTo>
                  <a:lnTo>
                    <a:pt x="587678" y="48504"/>
                  </a:lnTo>
                  <a:lnTo>
                    <a:pt x="587678" y="0"/>
                  </a:lnTo>
                  <a:close/>
                </a:path>
              </a:pathLst>
            </a:custGeom>
            <a:ln w="3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58333" y="2520362"/>
              <a:ext cx="139700" cy="116205"/>
            </a:xfrm>
            <a:custGeom>
              <a:avLst/>
              <a:gdLst/>
              <a:ahLst/>
              <a:cxnLst/>
              <a:rect l="l" t="t" r="r" b="b"/>
              <a:pathLst>
                <a:path w="139700" h="116205">
                  <a:moveTo>
                    <a:pt x="139622" y="0"/>
                  </a:moveTo>
                  <a:lnTo>
                    <a:pt x="0" y="0"/>
                  </a:lnTo>
                  <a:lnTo>
                    <a:pt x="0" y="116003"/>
                  </a:lnTo>
                  <a:lnTo>
                    <a:pt x="139622" y="116003"/>
                  </a:lnTo>
                  <a:lnTo>
                    <a:pt x="139622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58333" y="2520362"/>
              <a:ext cx="139700" cy="116205"/>
            </a:xfrm>
            <a:custGeom>
              <a:avLst/>
              <a:gdLst/>
              <a:ahLst/>
              <a:cxnLst/>
              <a:rect l="l" t="t" r="r" b="b"/>
              <a:pathLst>
                <a:path w="139700" h="116205">
                  <a:moveTo>
                    <a:pt x="0" y="0"/>
                  </a:moveTo>
                  <a:lnTo>
                    <a:pt x="139622" y="0"/>
                  </a:lnTo>
                  <a:lnTo>
                    <a:pt x="139622" y="116003"/>
                  </a:lnTo>
                  <a:lnTo>
                    <a:pt x="0" y="116003"/>
                  </a:lnTo>
                  <a:lnTo>
                    <a:pt x="0" y="0"/>
                  </a:lnTo>
                  <a:close/>
                </a:path>
              </a:pathLst>
            </a:custGeom>
            <a:ln w="3756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446674" y="2516373"/>
            <a:ext cx="15684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spc="-25" dirty="0">
                <a:latin typeface="Calibri"/>
                <a:cs typeface="Calibri"/>
              </a:rPr>
              <a:t>Q</a:t>
            </a:r>
            <a:r>
              <a:rPr sz="525" spc="-37" baseline="-15873" dirty="0">
                <a:latin typeface="Calibri"/>
                <a:cs typeface="Calibri"/>
              </a:rPr>
              <a:t>1</a:t>
            </a:r>
            <a:endParaRPr sz="525" baseline="-15873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715300" y="2518457"/>
            <a:ext cx="147955" cy="120014"/>
            <a:chOff x="7715300" y="2518457"/>
            <a:chExt cx="147955" cy="120014"/>
          </a:xfrm>
        </p:grpSpPr>
        <p:sp>
          <p:nvSpPr>
            <p:cNvPr id="39" name="object 39"/>
            <p:cNvSpPr/>
            <p:nvPr/>
          </p:nvSpPr>
          <p:spPr>
            <a:xfrm>
              <a:off x="7717205" y="2520362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143886" y="0"/>
                  </a:moveTo>
                  <a:lnTo>
                    <a:pt x="0" y="0"/>
                  </a:lnTo>
                  <a:lnTo>
                    <a:pt x="0" y="116003"/>
                  </a:lnTo>
                  <a:lnTo>
                    <a:pt x="143886" y="116003"/>
                  </a:lnTo>
                  <a:lnTo>
                    <a:pt x="143886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17205" y="2520362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0" y="0"/>
                  </a:moveTo>
                  <a:lnTo>
                    <a:pt x="143886" y="0"/>
                  </a:lnTo>
                  <a:lnTo>
                    <a:pt x="143886" y="116003"/>
                  </a:lnTo>
                  <a:lnTo>
                    <a:pt x="0" y="116003"/>
                  </a:lnTo>
                  <a:lnTo>
                    <a:pt x="0" y="0"/>
                  </a:lnTo>
                  <a:close/>
                </a:path>
              </a:pathLst>
            </a:custGeom>
            <a:ln w="3751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707390" y="2516373"/>
            <a:ext cx="15684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spc="-25" dirty="0">
                <a:latin typeface="Calibri"/>
                <a:cs typeface="Calibri"/>
              </a:rPr>
              <a:t>Q</a:t>
            </a:r>
            <a:r>
              <a:rPr sz="525" spc="-37" baseline="-15873" dirty="0">
                <a:latin typeface="Calibri"/>
                <a:cs typeface="Calibri"/>
              </a:rPr>
              <a:t>2</a:t>
            </a:r>
            <a:endParaRPr sz="525" baseline="-15873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978148" y="2518457"/>
            <a:ext cx="144145" cy="120014"/>
            <a:chOff x="7978148" y="2518457"/>
            <a:chExt cx="144145" cy="120014"/>
          </a:xfrm>
        </p:grpSpPr>
        <p:sp>
          <p:nvSpPr>
            <p:cNvPr id="43" name="object 43"/>
            <p:cNvSpPr/>
            <p:nvPr/>
          </p:nvSpPr>
          <p:spPr>
            <a:xfrm>
              <a:off x="7980053" y="2520362"/>
              <a:ext cx="140335" cy="116205"/>
            </a:xfrm>
            <a:custGeom>
              <a:avLst/>
              <a:gdLst/>
              <a:ahLst/>
              <a:cxnLst/>
              <a:rect l="l" t="t" r="r" b="b"/>
              <a:pathLst>
                <a:path w="140334" h="116205">
                  <a:moveTo>
                    <a:pt x="139950" y="0"/>
                  </a:moveTo>
                  <a:lnTo>
                    <a:pt x="0" y="0"/>
                  </a:lnTo>
                  <a:lnTo>
                    <a:pt x="0" y="116003"/>
                  </a:lnTo>
                  <a:lnTo>
                    <a:pt x="139950" y="116003"/>
                  </a:lnTo>
                  <a:lnTo>
                    <a:pt x="13995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980053" y="2520362"/>
              <a:ext cx="140335" cy="116205"/>
            </a:xfrm>
            <a:custGeom>
              <a:avLst/>
              <a:gdLst/>
              <a:ahLst/>
              <a:cxnLst/>
              <a:rect l="l" t="t" r="r" b="b"/>
              <a:pathLst>
                <a:path w="140334" h="116205">
                  <a:moveTo>
                    <a:pt x="0" y="0"/>
                  </a:moveTo>
                  <a:lnTo>
                    <a:pt x="139950" y="0"/>
                  </a:lnTo>
                  <a:lnTo>
                    <a:pt x="139950" y="116003"/>
                  </a:lnTo>
                  <a:lnTo>
                    <a:pt x="0" y="116003"/>
                  </a:lnTo>
                  <a:lnTo>
                    <a:pt x="0" y="0"/>
                  </a:lnTo>
                  <a:close/>
                </a:path>
              </a:pathLst>
            </a:custGeom>
            <a:ln w="3756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968229" y="2515441"/>
            <a:ext cx="15684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spc="-25" dirty="0">
                <a:latin typeface="Calibri"/>
                <a:cs typeface="Calibri"/>
              </a:rPr>
              <a:t>Q</a:t>
            </a:r>
            <a:r>
              <a:rPr sz="525" spc="-37" baseline="-15873" dirty="0">
                <a:latin typeface="Calibri"/>
                <a:cs typeface="Calibri"/>
              </a:rPr>
              <a:t>3</a:t>
            </a:r>
            <a:endParaRPr sz="525" baseline="-15873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119579" y="2096540"/>
            <a:ext cx="941069" cy="585470"/>
            <a:chOff x="7119579" y="2096540"/>
            <a:chExt cx="941069" cy="585470"/>
          </a:xfrm>
        </p:grpSpPr>
        <p:sp>
          <p:nvSpPr>
            <p:cNvPr id="47" name="object 47"/>
            <p:cNvSpPr/>
            <p:nvPr/>
          </p:nvSpPr>
          <p:spPr>
            <a:xfrm>
              <a:off x="7513790" y="2634335"/>
              <a:ext cx="546735" cy="47625"/>
            </a:xfrm>
            <a:custGeom>
              <a:avLst/>
              <a:gdLst/>
              <a:ahLst/>
              <a:cxnLst/>
              <a:rect l="l" t="t" r="r" b="b"/>
              <a:pathLst>
                <a:path w="546734" h="47625">
                  <a:moveTo>
                    <a:pt x="24599" y="22402"/>
                  </a:moveTo>
                  <a:lnTo>
                    <a:pt x="12293" y="0"/>
                  </a:lnTo>
                  <a:lnTo>
                    <a:pt x="0" y="22402"/>
                  </a:lnTo>
                  <a:lnTo>
                    <a:pt x="8318" y="22402"/>
                  </a:lnTo>
                  <a:lnTo>
                    <a:pt x="8318" y="46558"/>
                  </a:lnTo>
                  <a:lnTo>
                    <a:pt x="16281" y="46558"/>
                  </a:lnTo>
                  <a:lnTo>
                    <a:pt x="16281" y="22402"/>
                  </a:lnTo>
                  <a:lnTo>
                    <a:pt x="24599" y="22402"/>
                  </a:lnTo>
                  <a:close/>
                </a:path>
                <a:path w="546734" h="47625">
                  <a:moveTo>
                    <a:pt x="288467" y="22123"/>
                  </a:moveTo>
                  <a:lnTo>
                    <a:pt x="275145" y="0"/>
                  </a:lnTo>
                  <a:lnTo>
                    <a:pt x="263753" y="22771"/>
                  </a:lnTo>
                  <a:lnTo>
                    <a:pt x="272110" y="22402"/>
                  </a:lnTo>
                  <a:lnTo>
                    <a:pt x="272732" y="46837"/>
                  </a:lnTo>
                  <a:lnTo>
                    <a:pt x="281051" y="46558"/>
                  </a:lnTo>
                  <a:lnTo>
                    <a:pt x="280149" y="22123"/>
                  </a:lnTo>
                  <a:lnTo>
                    <a:pt x="288467" y="22123"/>
                  </a:lnTo>
                  <a:close/>
                </a:path>
                <a:path w="546734" h="47625">
                  <a:moveTo>
                    <a:pt x="546442" y="22402"/>
                  </a:moveTo>
                  <a:lnTo>
                    <a:pt x="534352" y="0"/>
                  </a:lnTo>
                  <a:lnTo>
                    <a:pt x="521716" y="22402"/>
                  </a:lnTo>
                  <a:lnTo>
                    <a:pt x="530085" y="22402"/>
                  </a:lnTo>
                  <a:lnTo>
                    <a:pt x="530085" y="47396"/>
                  </a:lnTo>
                  <a:lnTo>
                    <a:pt x="538403" y="47396"/>
                  </a:lnTo>
                  <a:lnTo>
                    <a:pt x="538403" y="22402"/>
                  </a:lnTo>
                  <a:lnTo>
                    <a:pt x="546442" y="224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121484" y="2098445"/>
              <a:ext cx="189230" cy="97155"/>
            </a:xfrm>
            <a:custGeom>
              <a:avLst/>
              <a:gdLst/>
              <a:ahLst/>
              <a:cxnLst/>
              <a:rect l="l" t="t" r="r" b="b"/>
              <a:pathLst>
                <a:path w="189229" h="97155">
                  <a:moveTo>
                    <a:pt x="188863" y="0"/>
                  </a:moveTo>
                  <a:lnTo>
                    <a:pt x="0" y="0"/>
                  </a:lnTo>
                  <a:lnTo>
                    <a:pt x="0" y="96949"/>
                  </a:lnTo>
                  <a:lnTo>
                    <a:pt x="188863" y="96949"/>
                  </a:lnTo>
                  <a:lnTo>
                    <a:pt x="188863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121484" y="2098445"/>
              <a:ext cx="189230" cy="97155"/>
            </a:xfrm>
            <a:custGeom>
              <a:avLst/>
              <a:gdLst/>
              <a:ahLst/>
              <a:cxnLst/>
              <a:rect l="l" t="t" r="r" b="b"/>
              <a:pathLst>
                <a:path w="189229" h="97155">
                  <a:moveTo>
                    <a:pt x="0" y="0"/>
                  </a:moveTo>
                  <a:lnTo>
                    <a:pt x="188863" y="0"/>
                  </a:lnTo>
                  <a:lnTo>
                    <a:pt x="188863" y="96949"/>
                  </a:lnTo>
                  <a:lnTo>
                    <a:pt x="0" y="96949"/>
                  </a:lnTo>
                  <a:lnTo>
                    <a:pt x="0" y="0"/>
                  </a:lnTo>
                  <a:close/>
                </a:path>
              </a:pathLst>
            </a:custGeom>
            <a:ln w="368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096083" y="2084649"/>
            <a:ext cx="240029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550" spc="-25" dirty="0">
                <a:latin typeface="Calibri"/>
                <a:cs typeface="Calibri"/>
              </a:rPr>
              <a:t>K</a:t>
            </a:r>
            <a:r>
              <a:rPr sz="525" spc="-37" baseline="-15873" dirty="0">
                <a:latin typeface="Calibri"/>
                <a:cs typeface="Calibri"/>
              </a:rPr>
              <a:t>3</a:t>
            </a:r>
            <a:endParaRPr sz="525" baseline="-15873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119579" y="2223469"/>
            <a:ext cx="193040" cy="101600"/>
            <a:chOff x="7119579" y="2223469"/>
            <a:chExt cx="193040" cy="101600"/>
          </a:xfrm>
        </p:grpSpPr>
        <p:sp>
          <p:nvSpPr>
            <p:cNvPr id="52" name="object 52"/>
            <p:cNvSpPr/>
            <p:nvPr/>
          </p:nvSpPr>
          <p:spPr>
            <a:xfrm>
              <a:off x="7121484" y="2225374"/>
              <a:ext cx="189230" cy="97790"/>
            </a:xfrm>
            <a:custGeom>
              <a:avLst/>
              <a:gdLst/>
              <a:ahLst/>
              <a:cxnLst/>
              <a:rect l="l" t="t" r="r" b="b"/>
              <a:pathLst>
                <a:path w="189229" h="97789">
                  <a:moveTo>
                    <a:pt x="188863" y="0"/>
                  </a:moveTo>
                  <a:lnTo>
                    <a:pt x="0" y="0"/>
                  </a:lnTo>
                  <a:lnTo>
                    <a:pt x="0" y="97173"/>
                  </a:lnTo>
                  <a:lnTo>
                    <a:pt x="188863" y="97173"/>
                  </a:lnTo>
                  <a:lnTo>
                    <a:pt x="188863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21484" y="2225374"/>
              <a:ext cx="189230" cy="97790"/>
            </a:xfrm>
            <a:custGeom>
              <a:avLst/>
              <a:gdLst/>
              <a:ahLst/>
              <a:cxnLst/>
              <a:rect l="l" t="t" r="r" b="b"/>
              <a:pathLst>
                <a:path w="189229" h="97789">
                  <a:moveTo>
                    <a:pt x="0" y="0"/>
                  </a:moveTo>
                  <a:lnTo>
                    <a:pt x="188863" y="0"/>
                  </a:lnTo>
                  <a:lnTo>
                    <a:pt x="188863" y="97173"/>
                  </a:lnTo>
                  <a:lnTo>
                    <a:pt x="0" y="97173"/>
                  </a:lnTo>
                  <a:lnTo>
                    <a:pt x="0" y="0"/>
                  </a:lnTo>
                  <a:close/>
                </a:path>
              </a:pathLst>
            </a:custGeom>
            <a:ln w="368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121483" y="2225374"/>
            <a:ext cx="189230" cy="1270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"/>
              </a:spcBef>
            </a:pPr>
            <a:r>
              <a:rPr sz="550" spc="-25" dirty="0">
                <a:latin typeface="Calibri"/>
                <a:cs typeface="Calibri"/>
              </a:rPr>
              <a:t>K</a:t>
            </a:r>
            <a:r>
              <a:rPr sz="525" spc="-37" baseline="-15873" dirty="0">
                <a:latin typeface="Calibri"/>
                <a:cs typeface="Calibri"/>
              </a:rPr>
              <a:t>2</a:t>
            </a:r>
            <a:endParaRPr sz="525" baseline="-15873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119579" y="2350361"/>
            <a:ext cx="193040" cy="101600"/>
            <a:chOff x="7119579" y="2350361"/>
            <a:chExt cx="193040" cy="101600"/>
          </a:xfrm>
        </p:grpSpPr>
        <p:sp>
          <p:nvSpPr>
            <p:cNvPr id="56" name="object 56"/>
            <p:cNvSpPr/>
            <p:nvPr/>
          </p:nvSpPr>
          <p:spPr>
            <a:xfrm>
              <a:off x="7121484" y="2352266"/>
              <a:ext cx="189230" cy="97790"/>
            </a:xfrm>
            <a:custGeom>
              <a:avLst/>
              <a:gdLst/>
              <a:ahLst/>
              <a:cxnLst/>
              <a:rect l="l" t="t" r="r" b="b"/>
              <a:pathLst>
                <a:path w="189229" h="97789">
                  <a:moveTo>
                    <a:pt x="188863" y="0"/>
                  </a:moveTo>
                  <a:lnTo>
                    <a:pt x="0" y="0"/>
                  </a:lnTo>
                  <a:lnTo>
                    <a:pt x="0" y="97210"/>
                  </a:lnTo>
                  <a:lnTo>
                    <a:pt x="188863" y="97210"/>
                  </a:lnTo>
                  <a:lnTo>
                    <a:pt x="188863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121484" y="2352266"/>
              <a:ext cx="189230" cy="97790"/>
            </a:xfrm>
            <a:custGeom>
              <a:avLst/>
              <a:gdLst/>
              <a:ahLst/>
              <a:cxnLst/>
              <a:rect l="l" t="t" r="r" b="b"/>
              <a:pathLst>
                <a:path w="189229" h="97789">
                  <a:moveTo>
                    <a:pt x="0" y="0"/>
                  </a:moveTo>
                  <a:lnTo>
                    <a:pt x="188863" y="0"/>
                  </a:lnTo>
                  <a:lnTo>
                    <a:pt x="188863" y="97210"/>
                  </a:lnTo>
                  <a:lnTo>
                    <a:pt x="0" y="97210"/>
                  </a:lnTo>
                  <a:lnTo>
                    <a:pt x="0" y="0"/>
                  </a:lnTo>
                  <a:close/>
                </a:path>
              </a:pathLst>
            </a:custGeom>
            <a:ln w="368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121483" y="2352266"/>
            <a:ext cx="189230" cy="97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5"/>
              </a:spcBef>
            </a:pPr>
            <a:r>
              <a:rPr sz="550" spc="-25" dirty="0">
                <a:latin typeface="Calibri"/>
                <a:cs typeface="Calibri"/>
              </a:rPr>
              <a:t>K</a:t>
            </a:r>
            <a:r>
              <a:rPr sz="525" spc="-37" baseline="-15873" dirty="0">
                <a:latin typeface="Calibri"/>
                <a:cs typeface="Calibri"/>
              </a:rPr>
              <a:t>1</a:t>
            </a:r>
            <a:endParaRPr sz="525" baseline="-15873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437672" y="2098445"/>
            <a:ext cx="180975" cy="97155"/>
          </a:xfrm>
          <a:custGeom>
            <a:avLst/>
            <a:gdLst/>
            <a:ahLst/>
            <a:cxnLst/>
            <a:rect l="l" t="t" r="r" b="b"/>
            <a:pathLst>
              <a:path w="180975" h="97155">
                <a:moveTo>
                  <a:pt x="180943" y="0"/>
                </a:moveTo>
                <a:lnTo>
                  <a:pt x="0" y="0"/>
                </a:lnTo>
                <a:lnTo>
                  <a:pt x="0" y="96949"/>
                </a:lnTo>
                <a:lnTo>
                  <a:pt x="180943" y="96949"/>
                </a:lnTo>
                <a:lnTo>
                  <a:pt x="180943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7008937" y="2098445"/>
            <a:ext cx="1131570" cy="802640"/>
            <a:chOff x="7008937" y="2098445"/>
            <a:chExt cx="1131570" cy="802640"/>
          </a:xfrm>
        </p:grpSpPr>
        <p:sp>
          <p:nvSpPr>
            <p:cNvPr id="61" name="object 61"/>
            <p:cNvSpPr/>
            <p:nvPr/>
          </p:nvSpPr>
          <p:spPr>
            <a:xfrm>
              <a:off x="7008927" y="2133841"/>
              <a:ext cx="1007744" cy="767715"/>
            </a:xfrm>
            <a:custGeom>
              <a:avLst/>
              <a:gdLst/>
              <a:ahLst/>
              <a:cxnLst/>
              <a:rect l="l" t="t" r="r" b="b"/>
              <a:pathLst>
                <a:path w="1007745" h="767714">
                  <a:moveTo>
                    <a:pt x="488759" y="665695"/>
                  </a:moveTo>
                  <a:lnTo>
                    <a:pt x="480517" y="665695"/>
                  </a:lnTo>
                  <a:lnTo>
                    <a:pt x="480517" y="704418"/>
                  </a:lnTo>
                  <a:lnTo>
                    <a:pt x="70624" y="704418"/>
                  </a:lnTo>
                  <a:lnTo>
                    <a:pt x="70624" y="665695"/>
                  </a:lnTo>
                  <a:lnTo>
                    <a:pt x="70624" y="276110"/>
                  </a:lnTo>
                  <a:lnTo>
                    <a:pt x="70624" y="268846"/>
                  </a:lnTo>
                  <a:lnTo>
                    <a:pt x="85686" y="268846"/>
                  </a:lnTo>
                  <a:lnTo>
                    <a:pt x="85686" y="276110"/>
                  </a:lnTo>
                  <a:lnTo>
                    <a:pt x="94259" y="276110"/>
                  </a:lnTo>
                  <a:lnTo>
                    <a:pt x="94259" y="268846"/>
                  </a:lnTo>
                  <a:lnTo>
                    <a:pt x="106248" y="268846"/>
                  </a:lnTo>
                  <a:lnTo>
                    <a:pt x="106248" y="265226"/>
                  </a:lnTo>
                  <a:lnTo>
                    <a:pt x="106387" y="265226"/>
                  </a:lnTo>
                  <a:lnTo>
                    <a:pt x="106387" y="261594"/>
                  </a:lnTo>
                  <a:lnTo>
                    <a:pt x="94399" y="261594"/>
                  </a:lnTo>
                  <a:lnTo>
                    <a:pt x="94399" y="254330"/>
                  </a:lnTo>
                  <a:lnTo>
                    <a:pt x="85686" y="254330"/>
                  </a:lnTo>
                  <a:lnTo>
                    <a:pt x="85686" y="261594"/>
                  </a:lnTo>
                  <a:lnTo>
                    <a:pt x="62280" y="261594"/>
                  </a:lnTo>
                  <a:lnTo>
                    <a:pt x="62280" y="265226"/>
                  </a:lnTo>
                  <a:lnTo>
                    <a:pt x="62280" y="711669"/>
                  </a:lnTo>
                  <a:lnTo>
                    <a:pt x="488759" y="711669"/>
                  </a:lnTo>
                  <a:lnTo>
                    <a:pt x="488759" y="704418"/>
                  </a:lnTo>
                  <a:lnTo>
                    <a:pt x="488759" y="665695"/>
                  </a:lnTo>
                  <a:close/>
                </a:path>
                <a:path w="1007745" h="767714">
                  <a:moveTo>
                    <a:pt x="744918" y="666648"/>
                  </a:moveTo>
                  <a:lnTo>
                    <a:pt x="736879" y="666648"/>
                  </a:lnTo>
                  <a:lnTo>
                    <a:pt x="736879" y="732243"/>
                  </a:lnTo>
                  <a:lnTo>
                    <a:pt x="40398" y="732243"/>
                  </a:lnTo>
                  <a:lnTo>
                    <a:pt x="40398" y="665695"/>
                  </a:lnTo>
                  <a:lnTo>
                    <a:pt x="40398" y="149072"/>
                  </a:lnTo>
                  <a:lnTo>
                    <a:pt x="40398" y="141808"/>
                  </a:lnTo>
                  <a:lnTo>
                    <a:pt x="106730" y="141808"/>
                  </a:lnTo>
                  <a:lnTo>
                    <a:pt x="106730" y="138188"/>
                  </a:lnTo>
                  <a:lnTo>
                    <a:pt x="105905" y="138188"/>
                  </a:lnTo>
                  <a:lnTo>
                    <a:pt x="105905" y="134556"/>
                  </a:lnTo>
                  <a:lnTo>
                    <a:pt x="32359" y="134556"/>
                  </a:lnTo>
                  <a:lnTo>
                    <a:pt x="32359" y="138188"/>
                  </a:lnTo>
                  <a:lnTo>
                    <a:pt x="32359" y="141808"/>
                  </a:lnTo>
                  <a:lnTo>
                    <a:pt x="32359" y="149072"/>
                  </a:lnTo>
                  <a:lnTo>
                    <a:pt x="32359" y="665695"/>
                  </a:lnTo>
                  <a:lnTo>
                    <a:pt x="32359" y="732243"/>
                  </a:lnTo>
                  <a:lnTo>
                    <a:pt x="32359" y="739495"/>
                  </a:lnTo>
                  <a:lnTo>
                    <a:pt x="744918" y="739495"/>
                  </a:lnTo>
                  <a:lnTo>
                    <a:pt x="744918" y="732243"/>
                  </a:lnTo>
                  <a:lnTo>
                    <a:pt x="744918" y="666648"/>
                  </a:lnTo>
                  <a:close/>
                </a:path>
                <a:path w="1007745" h="767714">
                  <a:moveTo>
                    <a:pt x="1007148" y="663041"/>
                  </a:moveTo>
                  <a:lnTo>
                    <a:pt x="998918" y="663041"/>
                  </a:lnTo>
                  <a:lnTo>
                    <a:pt x="998918" y="759675"/>
                  </a:lnTo>
                  <a:lnTo>
                    <a:pt x="8343" y="759675"/>
                  </a:lnTo>
                  <a:lnTo>
                    <a:pt x="8343" y="15062"/>
                  </a:lnTo>
                  <a:lnTo>
                    <a:pt x="85686" y="15062"/>
                  </a:lnTo>
                  <a:lnTo>
                    <a:pt x="85686" y="22402"/>
                  </a:lnTo>
                  <a:lnTo>
                    <a:pt x="110312" y="11188"/>
                  </a:lnTo>
                  <a:lnTo>
                    <a:pt x="85686" y="0"/>
                  </a:lnTo>
                  <a:lnTo>
                    <a:pt x="85686" y="7493"/>
                  </a:lnTo>
                  <a:lnTo>
                    <a:pt x="0" y="7493"/>
                  </a:lnTo>
                  <a:lnTo>
                    <a:pt x="0" y="767181"/>
                  </a:lnTo>
                  <a:lnTo>
                    <a:pt x="1007148" y="767181"/>
                  </a:lnTo>
                  <a:lnTo>
                    <a:pt x="1007148" y="663041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696543" y="2098446"/>
              <a:ext cx="443865" cy="351155"/>
            </a:xfrm>
            <a:custGeom>
              <a:avLst/>
              <a:gdLst/>
              <a:ahLst/>
              <a:cxnLst/>
              <a:rect l="l" t="t" r="r" b="b"/>
              <a:pathLst>
                <a:path w="443865" h="351155">
                  <a:moveTo>
                    <a:pt x="180936" y="0"/>
                  </a:moveTo>
                  <a:lnTo>
                    <a:pt x="0" y="0"/>
                  </a:lnTo>
                  <a:lnTo>
                    <a:pt x="0" y="96951"/>
                  </a:lnTo>
                  <a:lnTo>
                    <a:pt x="180936" y="96951"/>
                  </a:lnTo>
                  <a:lnTo>
                    <a:pt x="180936" y="0"/>
                  </a:lnTo>
                  <a:close/>
                </a:path>
                <a:path w="443865" h="351155">
                  <a:moveTo>
                    <a:pt x="443788" y="253822"/>
                  </a:moveTo>
                  <a:lnTo>
                    <a:pt x="263169" y="253822"/>
                  </a:lnTo>
                  <a:lnTo>
                    <a:pt x="263169" y="351040"/>
                  </a:lnTo>
                  <a:lnTo>
                    <a:pt x="443788" y="351040"/>
                  </a:lnTo>
                  <a:lnTo>
                    <a:pt x="443788" y="253822"/>
                  </a:lnTo>
                  <a:close/>
                </a:path>
                <a:path w="443865" h="351155">
                  <a:moveTo>
                    <a:pt x="443788" y="123317"/>
                  </a:moveTo>
                  <a:lnTo>
                    <a:pt x="263169" y="123317"/>
                  </a:lnTo>
                  <a:lnTo>
                    <a:pt x="263169" y="220230"/>
                  </a:lnTo>
                  <a:lnTo>
                    <a:pt x="443788" y="220230"/>
                  </a:lnTo>
                  <a:lnTo>
                    <a:pt x="443788" y="123317"/>
                  </a:lnTo>
                  <a:close/>
                </a:path>
                <a:path w="443865" h="351155">
                  <a:moveTo>
                    <a:pt x="443788" y="0"/>
                  </a:moveTo>
                  <a:lnTo>
                    <a:pt x="263169" y="0"/>
                  </a:lnTo>
                  <a:lnTo>
                    <a:pt x="263169" y="96951"/>
                  </a:lnTo>
                  <a:lnTo>
                    <a:pt x="443788" y="96951"/>
                  </a:lnTo>
                  <a:lnTo>
                    <a:pt x="44378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7435821" y="2074224"/>
          <a:ext cx="703579" cy="388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  <a:spcBef>
                          <a:spcPts val="320"/>
                        </a:spcBef>
                      </a:pPr>
                      <a:r>
                        <a:rPr sz="825" spc="-30" baseline="1010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350" spc="-20" dirty="0">
                          <a:latin typeface="Calibri"/>
                          <a:cs typeface="Calibri"/>
                        </a:rPr>
                        <a:t>1,3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635"/>
                        </a:lnSpc>
                        <a:spcBef>
                          <a:spcPts val="315"/>
                        </a:spcBef>
                      </a:pPr>
                      <a:r>
                        <a:rPr sz="825" spc="-30" baseline="1010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350" spc="-20" dirty="0">
                          <a:latin typeface="Calibri"/>
                          <a:cs typeface="Calibri"/>
                        </a:rPr>
                        <a:t>2,3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640"/>
                        </a:lnSpc>
                        <a:spcBef>
                          <a:spcPts val="305"/>
                        </a:spcBef>
                      </a:pPr>
                      <a:r>
                        <a:rPr sz="825" spc="-30" baseline="1010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350" spc="-20" dirty="0">
                          <a:latin typeface="Calibri"/>
                          <a:cs typeface="Calibri"/>
                        </a:rPr>
                        <a:t>3,3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364">
                <a:tc>
                  <a:txBody>
                    <a:bodyPr/>
                    <a:lstStyle/>
                    <a:p>
                      <a:pPr algn="ctr">
                        <a:lnSpc>
                          <a:spcPts val="640"/>
                        </a:lnSpc>
                        <a:spcBef>
                          <a:spcPts val="250"/>
                        </a:spcBef>
                      </a:pPr>
                      <a:r>
                        <a:rPr sz="825" spc="-30" baseline="1010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350" spc="-20" dirty="0">
                          <a:latin typeface="Calibri"/>
                          <a:cs typeface="Calibri"/>
                        </a:rPr>
                        <a:t>1,2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645"/>
                        </a:lnSpc>
                        <a:spcBef>
                          <a:spcPts val="250"/>
                        </a:spcBef>
                      </a:pPr>
                      <a:r>
                        <a:rPr sz="825" spc="-30" baseline="1010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350" spc="-20" dirty="0">
                          <a:latin typeface="Calibri"/>
                          <a:cs typeface="Calibri"/>
                        </a:rPr>
                        <a:t>2,2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655"/>
                        </a:lnSpc>
                        <a:spcBef>
                          <a:spcPts val="240"/>
                        </a:spcBef>
                      </a:pPr>
                      <a:r>
                        <a:rPr sz="825" spc="-30" baseline="1010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350" spc="-20" dirty="0">
                          <a:latin typeface="Calibri"/>
                          <a:cs typeface="Calibri"/>
                        </a:rPr>
                        <a:t>3,2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905">
                <a:tc>
                  <a:txBody>
                    <a:bodyPr/>
                    <a:lstStyle/>
                    <a:p>
                      <a:pPr algn="ctr">
                        <a:lnSpc>
                          <a:spcPts val="640"/>
                        </a:lnSpc>
                        <a:spcBef>
                          <a:spcPts val="275"/>
                        </a:spcBef>
                      </a:pPr>
                      <a:r>
                        <a:rPr sz="825" spc="-30" baseline="1010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350" spc="-20" dirty="0">
                          <a:latin typeface="Calibri"/>
                          <a:cs typeface="Calibri"/>
                        </a:rPr>
                        <a:t>1,1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645"/>
                        </a:lnSpc>
                        <a:spcBef>
                          <a:spcPts val="270"/>
                        </a:spcBef>
                      </a:pPr>
                      <a:r>
                        <a:rPr sz="825" spc="-30" baseline="1010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350" spc="-20" dirty="0">
                          <a:latin typeface="Calibri"/>
                          <a:cs typeface="Calibri"/>
                        </a:rPr>
                        <a:t>2,1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650"/>
                        </a:lnSpc>
                        <a:spcBef>
                          <a:spcPts val="260"/>
                        </a:spcBef>
                      </a:pPr>
                      <a:r>
                        <a:rPr sz="825" spc="-30" baseline="1010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350" spc="-20" dirty="0">
                          <a:latin typeface="Calibri"/>
                          <a:cs typeface="Calibri"/>
                        </a:rPr>
                        <a:t>3,1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4" name="object 64"/>
          <p:cNvGrpSpPr/>
          <p:nvPr/>
        </p:nvGrpSpPr>
        <p:grpSpPr>
          <a:xfrm>
            <a:off x="7320555" y="1525134"/>
            <a:ext cx="854710" cy="991869"/>
            <a:chOff x="7320555" y="1525134"/>
            <a:chExt cx="854710" cy="991869"/>
          </a:xfrm>
        </p:grpSpPr>
        <p:sp>
          <p:nvSpPr>
            <p:cNvPr id="65" name="object 65"/>
            <p:cNvSpPr/>
            <p:nvPr/>
          </p:nvSpPr>
          <p:spPr>
            <a:xfrm>
              <a:off x="7320547" y="2133841"/>
              <a:ext cx="739775" cy="382905"/>
            </a:xfrm>
            <a:custGeom>
              <a:avLst/>
              <a:gdLst/>
              <a:ahLst/>
              <a:cxnLst/>
              <a:rect l="l" t="t" r="r" b="b"/>
              <a:pathLst>
                <a:path w="739775" h="382905">
                  <a:moveTo>
                    <a:pt x="71539" y="265188"/>
                  </a:moveTo>
                  <a:lnTo>
                    <a:pt x="46774" y="254000"/>
                  </a:lnTo>
                  <a:lnTo>
                    <a:pt x="46774" y="261569"/>
                  </a:lnTo>
                  <a:lnTo>
                    <a:pt x="0" y="261569"/>
                  </a:lnTo>
                  <a:lnTo>
                    <a:pt x="0" y="268884"/>
                  </a:lnTo>
                  <a:lnTo>
                    <a:pt x="46774" y="268884"/>
                  </a:lnTo>
                  <a:lnTo>
                    <a:pt x="46774" y="276377"/>
                  </a:lnTo>
                  <a:lnTo>
                    <a:pt x="71539" y="265188"/>
                  </a:lnTo>
                  <a:close/>
                </a:path>
                <a:path w="739775" h="382905">
                  <a:moveTo>
                    <a:pt x="71539" y="134378"/>
                  </a:moveTo>
                  <a:lnTo>
                    <a:pt x="46774" y="123202"/>
                  </a:lnTo>
                  <a:lnTo>
                    <a:pt x="46774" y="130771"/>
                  </a:lnTo>
                  <a:lnTo>
                    <a:pt x="0" y="130771"/>
                  </a:lnTo>
                  <a:lnTo>
                    <a:pt x="0" y="138379"/>
                  </a:lnTo>
                  <a:lnTo>
                    <a:pt x="46774" y="138379"/>
                  </a:lnTo>
                  <a:lnTo>
                    <a:pt x="46774" y="145605"/>
                  </a:lnTo>
                  <a:lnTo>
                    <a:pt x="71539" y="134378"/>
                  </a:lnTo>
                  <a:close/>
                </a:path>
                <a:path w="739775" h="382905">
                  <a:moveTo>
                    <a:pt x="71539" y="11188"/>
                  </a:moveTo>
                  <a:lnTo>
                    <a:pt x="46774" y="0"/>
                  </a:lnTo>
                  <a:lnTo>
                    <a:pt x="46774" y="7493"/>
                  </a:lnTo>
                  <a:lnTo>
                    <a:pt x="0" y="7493"/>
                  </a:lnTo>
                  <a:lnTo>
                    <a:pt x="0" y="15062"/>
                  </a:lnTo>
                  <a:lnTo>
                    <a:pt x="46774" y="15062"/>
                  </a:lnTo>
                  <a:lnTo>
                    <a:pt x="46774" y="22402"/>
                  </a:lnTo>
                  <a:lnTo>
                    <a:pt x="71539" y="11188"/>
                  </a:lnTo>
                  <a:close/>
                </a:path>
                <a:path w="739775" h="382905">
                  <a:moveTo>
                    <a:pt x="217843" y="358482"/>
                  </a:moveTo>
                  <a:lnTo>
                    <a:pt x="205536" y="336118"/>
                  </a:lnTo>
                  <a:lnTo>
                    <a:pt x="193243" y="358482"/>
                  </a:lnTo>
                  <a:lnTo>
                    <a:pt x="201561" y="358482"/>
                  </a:lnTo>
                  <a:lnTo>
                    <a:pt x="201561" y="382841"/>
                  </a:lnTo>
                  <a:lnTo>
                    <a:pt x="209524" y="382841"/>
                  </a:lnTo>
                  <a:lnTo>
                    <a:pt x="209524" y="358482"/>
                  </a:lnTo>
                  <a:lnTo>
                    <a:pt x="217843" y="358482"/>
                  </a:lnTo>
                  <a:close/>
                </a:path>
                <a:path w="739775" h="382905">
                  <a:moveTo>
                    <a:pt x="477659" y="358228"/>
                  </a:moveTo>
                  <a:lnTo>
                    <a:pt x="464413" y="336118"/>
                  </a:lnTo>
                  <a:lnTo>
                    <a:pt x="453021" y="358787"/>
                  </a:lnTo>
                  <a:lnTo>
                    <a:pt x="461048" y="358787"/>
                  </a:lnTo>
                  <a:lnTo>
                    <a:pt x="462000" y="382841"/>
                  </a:lnTo>
                  <a:lnTo>
                    <a:pt x="470319" y="382574"/>
                  </a:lnTo>
                  <a:lnTo>
                    <a:pt x="469417" y="358482"/>
                  </a:lnTo>
                  <a:lnTo>
                    <a:pt x="477659" y="358228"/>
                  </a:lnTo>
                  <a:close/>
                </a:path>
                <a:path w="739775" h="382905">
                  <a:moveTo>
                    <a:pt x="739686" y="354876"/>
                  </a:moveTo>
                  <a:lnTo>
                    <a:pt x="727595" y="332498"/>
                  </a:lnTo>
                  <a:lnTo>
                    <a:pt x="714959" y="354876"/>
                  </a:lnTo>
                  <a:lnTo>
                    <a:pt x="723328" y="354876"/>
                  </a:lnTo>
                  <a:lnTo>
                    <a:pt x="723328" y="379780"/>
                  </a:lnTo>
                  <a:lnTo>
                    <a:pt x="731647" y="379780"/>
                  </a:lnTo>
                  <a:lnTo>
                    <a:pt x="731647" y="354876"/>
                  </a:lnTo>
                  <a:lnTo>
                    <a:pt x="739686" y="3548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413036" y="1527039"/>
              <a:ext cx="760730" cy="384810"/>
            </a:xfrm>
            <a:custGeom>
              <a:avLst/>
              <a:gdLst/>
              <a:ahLst/>
              <a:cxnLst/>
              <a:rect l="l" t="t" r="r" b="b"/>
              <a:pathLst>
                <a:path w="760729" h="384810">
                  <a:moveTo>
                    <a:pt x="760259" y="0"/>
                  </a:moveTo>
                  <a:lnTo>
                    <a:pt x="0" y="0"/>
                  </a:lnTo>
                  <a:lnTo>
                    <a:pt x="0" y="384628"/>
                  </a:lnTo>
                  <a:lnTo>
                    <a:pt x="760259" y="384629"/>
                  </a:lnTo>
                  <a:lnTo>
                    <a:pt x="76025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13036" y="1527039"/>
              <a:ext cx="760730" cy="384810"/>
            </a:xfrm>
            <a:custGeom>
              <a:avLst/>
              <a:gdLst/>
              <a:ahLst/>
              <a:cxnLst/>
              <a:rect l="l" t="t" r="r" b="b"/>
              <a:pathLst>
                <a:path w="760729" h="384810">
                  <a:moveTo>
                    <a:pt x="0" y="0"/>
                  </a:moveTo>
                  <a:lnTo>
                    <a:pt x="760259" y="0"/>
                  </a:lnTo>
                  <a:lnTo>
                    <a:pt x="760259" y="384629"/>
                  </a:lnTo>
                  <a:lnTo>
                    <a:pt x="0" y="384628"/>
                  </a:lnTo>
                  <a:lnTo>
                    <a:pt x="0" y="0"/>
                  </a:lnTo>
                  <a:close/>
                </a:path>
                <a:path w="760729" h="384810">
                  <a:moveTo>
                    <a:pt x="24636" y="18532"/>
                  </a:moveTo>
                  <a:lnTo>
                    <a:pt x="205580" y="18532"/>
                  </a:lnTo>
                  <a:lnTo>
                    <a:pt x="205580" y="115705"/>
                  </a:lnTo>
                  <a:lnTo>
                    <a:pt x="24636" y="115705"/>
                  </a:lnTo>
                  <a:lnTo>
                    <a:pt x="24636" y="18532"/>
                  </a:lnTo>
                  <a:close/>
                </a:path>
                <a:path w="760729" h="384810">
                  <a:moveTo>
                    <a:pt x="24636" y="145722"/>
                  </a:moveTo>
                  <a:lnTo>
                    <a:pt x="205580" y="145722"/>
                  </a:lnTo>
                  <a:lnTo>
                    <a:pt x="205580" y="242635"/>
                  </a:lnTo>
                  <a:lnTo>
                    <a:pt x="24636" y="242635"/>
                  </a:lnTo>
                  <a:lnTo>
                    <a:pt x="24636" y="145722"/>
                  </a:lnTo>
                  <a:close/>
                </a:path>
                <a:path w="760729" h="384810">
                  <a:moveTo>
                    <a:pt x="24636" y="272540"/>
                  </a:moveTo>
                  <a:lnTo>
                    <a:pt x="205580" y="272540"/>
                  </a:lnTo>
                  <a:lnTo>
                    <a:pt x="205580" y="369713"/>
                  </a:lnTo>
                  <a:lnTo>
                    <a:pt x="24636" y="369713"/>
                  </a:lnTo>
                  <a:lnTo>
                    <a:pt x="24636" y="272540"/>
                  </a:lnTo>
                  <a:close/>
                </a:path>
              </a:pathLst>
            </a:custGeom>
            <a:ln w="3789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427652" y="1512649"/>
            <a:ext cx="193675" cy="4038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 marR="30480" algn="just">
              <a:lnSpc>
                <a:spcPct val="151300"/>
              </a:lnSpc>
              <a:spcBef>
                <a:spcPts val="70"/>
              </a:spcBef>
            </a:pP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1,3</a:t>
            </a:r>
            <a:r>
              <a:rPr sz="350" spc="500" dirty="0">
                <a:latin typeface="Calibri"/>
                <a:cs typeface="Calibri"/>
              </a:rPr>
              <a:t> 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1,2</a:t>
            </a:r>
            <a:r>
              <a:rPr sz="350" spc="500" dirty="0">
                <a:latin typeface="Calibri"/>
                <a:cs typeface="Calibri"/>
              </a:rPr>
              <a:t> 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1,1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696544" y="1545571"/>
            <a:ext cx="180975" cy="351790"/>
          </a:xfrm>
          <a:custGeom>
            <a:avLst/>
            <a:gdLst/>
            <a:ahLst/>
            <a:cxnLst/>
            <a:rect l="l" t="t" r="r" b="b"/>
            <a:pathLst>
              <a:path w="180975" h="351789">
                <a:moveTo>
                  <a:pt x="0" y="0"/>
                </a:moveTo>
                <a:lnTo>
                  <a:pt x="180943" y="0"/>
                </a:lnTo>
                <a:lnTo>
                  <a:pt x="180943" y="97173"/>
                </a:lnTo>
                <a:lnTo>
                  <a:pt x="0" y="97173"/>
                </a:lnTo>
                <a:lnTo>
                  <a:pt x="0" y="0"/>
                </a:lnTo>
                <a:close/>
              </a:path>
              <a:path w="180975" h="351789">
                <a:moveTo>
                  <a:pt x="0" y="127190"/>
                </a:moveTo>
                <a:lnTo>
                  <a:pt x="180943" y="127190"/>
                </a:lnTo>
                <a:lnTo>
                  <a:pt x="180943" y="220411"/>
                </a:lnTo>
                <a:lnTo>
                  <a:pt x="0" y="220411"/>
                </a:lnTo>
                <a:lnTo>
                  <a:pt x="0" y="127190"/>
                </a:lnTo>
                <a:close/>
              </a:path>
              <a:path w="180975" h="351789">
                <a:moveTo>
                  <a:pt x="0" y="254007"/>
                </a:moveTo>
                <a:lnTo>
                  <a:pt x="180943" y="254008"/>
                </a:lnTo>
                <a:lnTo>
                  <a:pt x="180943" y="351181"/>
                </a:lnTo>
                <a:lnTo>
                  <a:pt x="0" y="351181"/>
                </a:lnTo>
                <a:lnTo>
                  <a:pt x="0" y="254007"/>
                </a:lnTo>
                <a:close/>
              </a:path>
            </a:pathLst>
          </a:custGeom>
          <a:ln w="3789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685827" y="1511866"/>
            <a:ext cx="194310" cy="4038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 marR="30480" algn="just">
              <a:lnSpc>
                <a:spcPct val="151400"/>
              </a:lnSpc>
              <a:spcBef>
                <a:spcPts val="70"/>
              </a:spcBef>
            </a:pP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2,3</a:t>
            </a:r>
            <a:r>
              <a:rPr sz="350" spc="500" dirty="0">
                <a:latin typeface="Calibri"/>
                <a:cs typeface="Calibri"/>
              </a:rPr>
              <a:t> 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2,2</a:t>
            </a:r>
            <a:r>
              <a:rPr sz="350" spc="500" dirty="0">
                <a:latin typeface="Calibri"/>
                <a:cs typeface="Calibri"/>
              </a:rPr>
              <a:t> 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2,1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959721" y="1545571"/>
            <a:ext cx="180975" cy="351790"/>
          </a:xfrm>
          <a:custGeom>
            <a:avLst/>
            <a:gdLst/>
            <a:ahLst/>
            <a:cxnLst/>
            <a:rect l="l" t="t" r="r" b="b"/>
            <a:pathLst>
              <a:path w="180975" h="351789">
                <a:moveTo>
                  <a:pt x="0" y="0"/>
                </a:moveTo>
                <a:lnTo>
                  <a:pt x="180615" y="0"/>
                </a:lnTo>
                <a:lnTo>
                  <a:pt x="180615" y="97173"/>
                </a:lnTo>
                <a:lnTo>
                  <a:pt x="0" y="97173"/>
                </a:lnTo>
                <a:lnTo>
                  <a:pt x="0" y="0"/>
                </a:lnTo>
                <a:close/>
              </a:path>
              <a:path w="180975" h="351789">
                <a:moveTo>
                  <a:pt x="0" y="123200"/>
                </a:moveTo>
                <a:lnTo>
                  <a:pt x="180615" y="123200"/>
                </a:lnTo>
                <a:lnTo>
                  <a:pt x="180615" y="220411"/>
                </a:lnTo>
                <a:lnTo>
                  <a:pt x="0" y="220411"/>
                </a:lnTo>
                <a:lnTo>
                  <a:pt x="0" y="123200"/>
                </a:lnTo>
                <a:close/>
              </a:path>
              <a:path w="180975" h="351789">
                <a:moveTo>
                  <a:pt x="0" y="254007"/>
                </a:moveTo>
                <a:lnTo>
                  <a:pt x="180615" y="254008"/>
                </a:lnTo>
                <a:lnTo>
                  <a:pt x="180615" y="351181"/>
                </a:lnTo>
                <a:lnTo>
                  <a:pt x="0" y="351181"/>
                </a:lnTo>
                <a:lnTo>
                  <a:pt x="0" y="254007"/>
                </a:lnTo>
                <a:close/>
              </a:path>
            </a:pathLst>
          </a:custGeom>
          <a:ln w="3789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7947856" y="1510524"/>
            <a:ext cx="194310" cy="403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 marR="30480" algn="just">
              <a:lnSpc>
                <a:spcPct val="151400"/>
              </a:lnSpc>
              <a:spcBef>
                <a:spcPts val="75"/>
              </a:spcBef>
            </a:pP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3,3</a:t>
            </a:r>
            <a:r>
              <a:rPr sz="350" spc="500" dirty="0">
                <a:latin typeface="Calibri"/>
                <a:cs typeface="Calibri"/>
              </a:rPr>
              <a:t> 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3,2</a:t>
            </a:r>
            <a:r>
              <a:rPr sz="350" spc="500" dirty="0">
                <a:latin typeface="Calibri"/>
                <a:cs typeface="Calibri"/>
              </a:rPr>
              <a:t> 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3,1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119579" y="1536358"/>
            <a:ext cx="189230" cy="354965"/>
            <a:chOff x="7119579" y="1536358"/>
            <a:chExt cx="189230" cy="354965"/>
          </a:xfrm>
        </p:grpSpPr>
        <p:sp>
          <p:nvSpPr>
            <p:cNvPr id="74" name="object 74"/>
            <p:cNvSpPr/>
            <p:nvPr/>
          </p:nvSpPr>
          <p:spPr>
            <a:xfrm>
              <a:off x="7121484" y="1538263"/>
              <a:ext cx="185420" cy="97155"/>
            </a:xfrm>
            <a:custGeom>
              <a:avLst/>
              <a:gdLst/>
              <a:ahLst/>
              <a:cxnLst/>
              <a:rect l="l" t="t" r="r" b="b"/>
              <a:pathLst>
                <a:path w="185420" h="97155">
                  <a:moveTo>
                    <a:pt x="184887" y="0"/>
                  </a:moveTo>
                  <a:lnTo>
                    <a:pt x="0" y="0"/>
                  </a:lnTo>
                  <a:lnTo>
                    <a:pt x="0" y="96912"/>
                  </a:lnTo>
                  <a:lnTo>
                    <a:pt x="184887" y="96912"/>
                  </a:lnTo>
                  <a:lnTo>
                    <a:pt x="184887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121484" y="1538263"/>
              <a:ext cx="185420" cy="97155"/>
            </a:xfrm>
            <a:custGeom>
              <a:avLst/>
              <a:gdLst/>
              <a:ahLst/>
              <a:cxnLst/>
              <a:rect l="l" t="t" r="r" b="b"/>
              <a:pathLst>
                <a:path w="185420" h="97155">
                  <a:moveTo>
                    <a:pt x="0" y="0"/>
                  </a:moveTo>
                  <a:lnTo>
                    <a:pt x="184887" y="0"/>
                  </a:lnTo>
                  <a:lnTo>
                    <a:pt x="184887" y="96912"/>
                  </a:lnTo>
                  <a:lnTo>
                    <a:pt x="0" y="96912"/>
                  </a:lnTo>
                  <a:lnTo>
                    <a:pt x="0" y="0"/>
                  </a:lnTo>
                  <a:close/>
                </a:path>
              </a:pathLst>
            </a:custGeom>
            <a:ln w="3687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121484" y="1665155"/>
              <a:ext cx="185420" cy="97790"/>
            </a:xfrm>
            <a:custGeom>
              <a:avLst/>
              <a:gdLst/>
              <a:ahLst/>
              <a:cxnLst/>
              <a:rect l="l" t="t" r="r" b="b"/>
              <a:pathLst>
                <a:path w="185420" h="97789">
                  <a:moveTo>
                    <a:pt x="184887" y="0"/>
                  </a:moveTo>
                  <a:lnTo>
                    <a:pt x="0" y="0"/>
                  </a:lnTo>
                  <a:lnTo>
                    <a:pt x="0" y="97210"/>
                  </a:lnTo>
                  <a:lnTo>
                    <a:pt x="184887" y="97210"/>
                  </a:lnTo>
                  <a:lnTo>
                    <a:pt x="184887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121484" y="1665155"/>
              <a:ext cx="185420" cy="97790"/>
            </a:xfrm>
            <a:custGeom>
              <a:avLst/>
              <a:gdLst/>
              <a:ahLst/>
              <a:cxnLst/>
              <a:rect l="l" t="t" r="r" b="b"/>
              <a:pathLst>
                <a:path w="185420" h="97789">
                  <a:moveTo>
                    <a:pt x="0" y="0"/>
                  </a:moveTo>
                  <a:lnTo>
                    <a:pt x="184887" y="0"/>
                  </a:lnTo>
                  <a:lnTo>
                    <a:pt x="184887" y="97210"/>
                  </a:lnTo>
                  <a:lnTo>
                    <a:pt x="0" y="97210"/>
                  </a:lnTo>
                  <a:lnTo>
                    <a:pt x="0" y="0"/>
                  </a:lnTo>
                  <a:close/>
                </a:path>
              </a:pathLst>
            </a:custGeom>
            <a:ln w="3687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121484" y="1792084"/>
              <a:ext cx="185420" cy="97790"/>
            </a:xfrm>
            <a:custGeom>
              <a:avLst/>
              <a:gdLst/>
              <a:ahLst/>
              <a:cxnLst/>
              <a:rect l="l" t="t" r="r" b="b"/>
              <a:pathLst>
                <a:path w="185420" h="97789">
                  <a:moveTo>
                    <a:pt x="184887" y="0"/>
                  </a:moveTo>
                  <a:lnTo>
                    <a:pt x="0" y="0"/>
                  </a:lnTo>
                  <a:lnTo>
                    <a:pt x="0" y="97173"/>
                  </a:lnTo>
                  <a:lnTo>
                    <a:pt x="184887" y="97173"/>
                  </a:lnTo>
                  <a:lnTo>
                    <a:pt x="184887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121484" y="1792084"/>
              <a:ext cx="185420" cy="97790"/>
            </a:xfrm>
            <a:custGeom>
              <a:avLst/>
              <a:gdLst/>
              <a:ahLst/>
              <a:cxnLst/>
              <a:rect l="l" t="t" r="r" b="b"/>
              <a:pathLst>
                <a:path w="185420" h="97789">
                  <a:moveTo>
                    <a:pt x="0" y="0"/>
                  </a:moveTo>
                  <a:lnTo>
                    <a:pt x="184887" y="0"/>
                  </a:lnTo>
                  <a:lnTo>
                    <a:pt x="184887" y="97173"/>
                  </a:lnTo>
                  <a:lnTo>
                    <a:pt x="0" y="97173"/>
                  </a:lnTo>
                  <a:lnTo>
                    <a:pt x="0" y="0"/>
                  </a:lnTo>
                  <a:close/>
                </a:path>
              </a:pathLst>
            </a:custGeom>
            <a:ln w="3687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7135793" y="1488971"/>
            <a:ext cx="148590" cy="4025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 algn="just">
              <a:lnSpc>
                <a:spcPct val="150400"/>
              </a:lnSpc>
              <a:spcBef>
                <a:spcPts val="80"/>
              </a:spcBef>
            </a:pPr>
            <a:r>
              <a:rPr sz="550" spc="-25" dirty="0">
                <a:latin typeface="Calibri"/>
                <a:cs typeface="Calibri"/>
              </a:rPr>
              <a:t>V</a:t>
            </a:r>
            <a:r>
              <a:rPr sz="525" spc="-37" baseline="-15873" dirty="0">
                <a:latin typeface="Calibri"/>
                <a:cs typeface="Calibri"/>
              </a:rPr>
              <a:t>3</a:t>
            </a:r>
            <a:r>
              <a:rPr sz="525" spc="750" baseline="-15873" dirty="0">
                <a:latin typeface="Calibri"/>
                <a:cs typeface="Calibri"/>
              </a:rPr>
              <a:t> </a:t>
            </a:r>
            <a:r>
              <a:rPr sz="550" spc="-25" dirty="0">
                <a:latin typeface="Calibri"/>
                <a:cs typeface="Calibri"/>
              </a:rPr>
              <a:t>V</a:t>
            </a:r>
            <a:r>
              <a:rPr sz="525" spc="-37" baseline="-15873" dirty="0">
                <a:latin typeface="Calibri"/>
                <a:cs typeface="Calibri"/>
              </a:rPr>
              <a:t>2</a:t>
            </a:r>
            <a:r>
              <a:rPr sz="525" spc="750" baseline="-15873" dirty="0">
                <a:latin typeface="Calibri"/>
                <a:cs typeface="Calibri"/>
              </a:rPr>
              <a:t> </a:t>
            </a:r>
            <a:r>
              <a:rPr sz="550" spc="-25" dirty="0">
                <a:latin typeface="Calibri"/>
                <a:cs typeface="Calibri"/>
              </a:rPr>
              <a:t>V</a:t>
            </a:r>
            <a:r>
              <a:rPr sz="525" spc="-37" baseline="-15873" dirty="0">
                <a:latin typeface="Calibri"/>
                <a:cs typeface="Calibri"/>
              </a:rPr>
              <a:t>1</a:t>
            </a:r>
            <a:endParaRPr sz="525" baseline="-15873">
              <a:latin typeface="Calibri"/>
              <a:cs typeface="Calibri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7320555" y="1397943"/>
            <a:ext cx="854710" cy="639445"/>
            <a:chOff x="7320555" y="1397943"/>
            <a:chExt cx="854710" cy="639445"/>
          </a:xfrm>
        </p:grpSpPr>
        <p:sp>
          <p:nvSpPr>
            <p:cNvPr id="82" name="object 82"/>
            <p:cNvSpPr/>
            <p:nvPr/>
          </p:nvSpPr>
          <p:spPr>
            <a:xfrm>
              <a:off x="7320547" y="1573542"/>
              <a:ext cx="71755" cy="276860"/>
            </a:xfrm>
            <a:custGeom>
              <a:avLst/>
              <a:gdLst/>
              <a:ahLst/>
              <a:cxnLst/>
              <a:rect l="l" t="t" r="r" b="b"/>
              <a:pathLst>
                <a:path w="71754" h="276860">
                  <a:moveTo>
                    <a:pt x="71539" y="265264"/>
                  </a:moveTo>
                  <a:lnTo>
                    <a:pt x="46774" y="254088"/>
                  </a:lnTo>
                  <a:lnTo>
                    <a:pt x="46774" y="261658"/>
                  </a:lnTo>
                  <a:lnTo>
                    <a:pt x="0" y="261658"/>
                  </a:lnTo>
                  <a:lnTo>
                    <a:pt x="0" y="268884"/>
                  </a:lnTo>
                  <a:lnTo>
                    <a:pt x="46774" y="268884"/>
                  </a:lnTo>
                  <a:lnTo>
                    <a:pt x="46774" y="276491"/>
                  </a:lnTo>
                  <a:lnTo>
                    <a:pt x="71539" y="265264"/>
                  </a:lnTo>
                  <a:close/>
                </a:path>
                <a:path w="71754" h="276860">
                  <a:moveTo>
                    <a:pt x="71539" y="134505"/>
                  </a:moveTo>
                  <a:lnTo>
                    <a:pt x="46774" y="123278"/>
                  </a:lnTo>
                  <a:lnTo>
                    <a:pt x="46774" y="130771"/>
                  </a:lnTo>
                  <a:lnTo>
                    <a:pt x="0" y="130771"/>
                  </a:lnTo>
                  <a:lnTo>
                    <a:pt x="0" y="138379"/>
                  </a:lnTo>
                  <a:lnTo>
                    <a:pt x="46774" y="138379"/>
                  </a:lnTo>
                  <a:lnTo>
                    <a:pt x="46774" y="145681"/>
                  </a:lnTo>
                  <a:lnTo>
                    <a:pt x="71539" y="134505"/>
                  </a:lnTo>
                  <a:close/>
                </a:path>
                <a:path w="71754" h="276860">
                  <a:moveTo>
                    <a:pt x="71539" y="11188"/>
                  </a:moveTo>
                  <a:lnTo>
                    <a:pt x="46774" y="0"/>
                  </a:lnTo>
                  <a:lnTo>
                    <a:pt x="46774" y="7569"/>
                  </a:lnTo>
                  <a:lnTo>
                    <a:pt x="0" y="7569"/>
                  </a:lnTo>
                  <a:lnTo>
                    <a:pt x="0" y="15176"/>
                  </a:lnTo>
                  <a:lnTo>
                    <a:pt x="46774" y="15176"/>
                  </a:lnTo>
                  <a:lnTo>
                    <a:pt x="46774" y="22377"/>
                  </a:lnTo>
                  <a:lnTo>
                    <a:pt x="71539" y="111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413036" y="1399848"/>
              <a:ext cx="760730" cy="635635"/>
            </a:xfrm>
            <a:custGeom>
              <a:avLst/>
              <a:gdLst/>
              <a:ahLst/>
              <a:cxnLst/>
              <a:rect l="l" t="t" r="r" b="b"/>
              <a:pathLst>
                <a:path w="760729" h="635635">
                  <a:moveTo>
                    <a:pt x="0" y="0"/>
                  </a:moveTo>
                  <a:lnTo>
                    <a:pt x="760259" y="0"/>
                  </a:lnTo>
                  <a:lnTo>
                    <a:pt x="760259" y="71183"/>
                  </a:lnTo>
                  <a:lnTo>
                    <a:pt x="0" y="71183"/>
                  </a:lnTo>
                  <a:lnTo>
                    <a:pt x="0" y="0"/>
                  </a:lnTo>
                  <a:close/>
                </a:path>
                <a:path w="760729" h="635635">
                  <a:moveTo>
                    <a:pt x="0" y="564209"/>
                  </a:moveTo>
                  <a:lnTo>
                    <a:pt x="760259" y="564209"/>
                  </a:lnTo>
                  <a:lnTo>
                    <a:pt x="760259" y="635020"/>
                  </a:lnTo>
                  <a:lnTo>
                    <a:pt x="0" y="635019"/>
                  </a:lnTo>
                  <a:lnTo>
                    <a:pt x="0" y="564209"/>
                  </a:lnTo>
                  <a:close/>
                </a:path>
              </a:pathLst>
            </a:custGeom>
            <a:ln w="3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7637973" y="1949881"/>
            <a:ext cx="302260" cy="88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10" dirty="0">
                <a:latin typeface="Calibri"/>
                <a:cs typeface="Calibri"/>
              </a:rPr>
              <a:t>Softmax(↑)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963955" y="1827620"/>
            <a:ext cx="600710" cy="1106170"/>
          </a:xfrm>
          <a:custGeom>
            <a:avLst/>
            <a:gdLst/>
            <a:ahLst/>
            <a:cxnLst/>
            <a:rect l="l" t="t" r="r" b="b"/>
            <a:pathLst>
              <a:path w="600709" h="1106170">
                <a:moveTo>
                  <a:pt x="130665" y="0"/>
                </a:moveTo>
                <a:lnTo>
                  <a:pt x="130665" y="7569"/>
                </a:lnTo>
                <a:lnTo>
                  <a:pt x="0" y="7569"/>
                </a:lnTo>
                <a:lnTo>
                  <a:pt x="0" y="1106161"/>
                </a:lnTo>
                <a:lnTo>
                  <a:pt x="600099" y="1106161"/>
                </a:lnTo>
                <a:lnTo>
                  <a:pt x="600099" y="970920"/>
                </a:lnTo>
                <a:lnTo>
                  <a:pt x="592064" y="970920"/>
                </a:lnTo>
                <a:lnTo>
                  <a:pt x="592064" y="1098662"/>
                </a:lnTo>
                <a:lnTo>
                  <a:pt x="8346" y="1098662"/>
                </a:lnTo>
                <a:lnTo>
                  <a:pt x="8346" y="14803"/>
                </a:lnTo>
                <a:lnTo>
                  <a:pt x="130665" y="14803"/>
                </a:lnTo>
                <a:lnTo>
                  <a:pt x="130665" y="22410"/>
                </a:lnTo>
                <a:lnTo>
                  <a:pt x="155290" y="11186"/>
                </a:lnTo>
                <a:lnTo>
                  <a:pt x="130665" y="0"/>
                </a:lnTo>
                <a:close/>
              </a:path>
            </a:pathLst>
          </a:custGeom>
          <a:solidFill>
            <a:srgbClr val="BB4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object 86"/>
          <p:cNvGrpSpPr/>
          <p:nvPr/>
        </p:nvGrpSpPr>
        <p:grpSpPr>
          <a:xfrm>
            <a:off x="6880407" y="1237454"/>
            <a:ext cx="1242060" cy="1763395"/>
            <a:chOff x="6880407" y="1237454"/>
            <a:chExt cx="1242060" cy="1763395"/>
          </a:xfrm>
        </p:grpSpPr>
        <p:sp>
          <p:nvSpPr>
            <p:cNvPr id="87" name="object 87"/>
            <p:cNvSpPr/>
            <p:nvPr/>
          </p:nvSpPr>
          <p:spPr>
            <a:xfrm>
              <a:off x="7776641" y="1469021"/>
              <a:ext cx="24765" cy="607060"/>
            </a:xfrm>
            <a:custGeom>
              <a:avLst/>
              <a:gdLst/>
              <a:ahLst/>
              <a:cxnLst/>
              <a:rect l="l" t="t" r="r" b="b"/>
              <a:pathLst>
                <a:path w="24765" h="607060">
                  <a:moveTo>
                    <a:pt x="24714" y="586320"/>
                  </a:moveTo>
                  <a:lnTo>
                    <a:pt x="12293" y="563918"/>
                  </a:lnTo>
                  <a:lnTo>
                    <a:pt x="0" y="586320"/>
                  </a:lnTo>
                  <a:lnTo>
                    <a:pt x="8318" y="586320"/>
                  </a:lnTo>
                  <a:lnTo>
                    <a:pt x="8318" y="607060"/>
                  </a:lnTo>
                  <a:lnTo>
                    <a:pt x="16675" y="607060"/>
                  </a:lnTo>
                  <a:lnTo>
                    <a:pt x="16675" y="586320"/>
                  </a:lnTo>
                  <a:lnTo>
                    <a:pt x="24714" y="586320"/>
                  </a:lnTo>
                  <a:close/>
                </a:path>
                <a:path w="24765" h="607060">
                  <a:moveTo>
                    <a:pt x="24714" y="463118"/>
                  </a:moveTo>
                  <a:lnTo>
                    <a:pt x="12623" y="440715"/>
                  </a:lnTo>
                  <a:lnTo>
                    <a:pt x="0" y="463118"/>
                  </a:lnTo>
                  <a:lnTo>
                    <a:pt x="8318" y="463118"/>
                  </a:lnTo>
                  <a:lnTo>
                    <a:pt x="8318" y="491909"/>
                  </a:lnTo>
                  <a:lnTo>
                    <a:pt x="16675" y="491909"/>
                  </a:lnTo>
                  <a:lnTo>
                    <a:pt x="16675" y="463118"/>
                  </a:lnTo>
                  <a:lnTo>
                    <a:pt x="24714" y="463118"/>
                  </a:lnTo>
                  <a:close/>
                </a:path>
                <a:path w="24765" h="607060">
                  <a:moveTo>
                    <a:pt x="24714" y="22491"/>
                  </a:moveTo>
                  <a:lnTo>
                    <a:pt x="12293" y="0"/>
                  </a:lnTo>
                  <a:lnTo>
                    <a:pt x="0" y="22491"/>
                  </a:lnTo>
                  <a:lnTo>
                    <a:pt x="8318" y="22491"/>
                  </a:lnTo>
                  <a:lnTo>
                    <a:pt x="8318" y="52654"/>
                  </a:lnTo>
                  <a:lnTo>
                    <a:pt x="16675" y="52654"/>
                  </a:lnTo>
                  <a:lnTo>
                    <a:pt x="16675" y="22491"/>
                  </a:lnTo>
                  <a:lnTo>
                    <a:pt x="24714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454233" y="1239359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143722" y="0"/>
                  </a:moveTo>
                  <a:lnTo>
                    <a:pt x="0" y="0"/>
                  </a:lnTo>
                  <a:lnTo>
                    <a:pt x="0" y="115705"/>
                  </a:lnTo>
                  <a:lnTo>
                    <a:pt x="143722" y="115705"/>
                  </a:lnTo>
                  <a:lnTo>
                    <a:pt x="143722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454233" y="1239359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0" y="0"/>
                  </a:moveTo>
                  <a:lnTo>
                    <a:pt x="143722" y="0"/>
                  </a:lnTo>
                  <a:lnTo>
                    <a:pt x="143722" y="115705"/>
                  </a:lnTo>
                  <a:lnTo>
                    <a:pt x="0" y="115705"/>
                  </a:lnTo>
                  <a:lnTo>
                    <a:pt x="0" y="0"/>
                  </a:lnTo>
                  <a:close/>
                </a:path>
              </a:pathLst>
            </a:custGeom>
            <a:ln w="3751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721181" y="1242976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143886" y="0"/>
                  </a:moveTo>
                  <a:lnTo>
                    <a:pt x="0" y="0"/>
                  </a:lnTo>
                  <a:lnTo>
                    <a:pt x="0" y="115966"/>
                  </a:lnTo>
                  <a:lnTo>
                    <a:pt x="143886" y="115966"/>
                  </a:lnTo>
                  <a:lnTo>
                    <a:pt x="143886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721181" y="1242976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0" y="0"/>
                  </a:moveTo>
                  <a:lnTo>
                    <a:pt x="143886" y="0"/>
                  </a:lnTo>
                  <a:lnTo>
                    <a:pt x="143886" y="115966"/>
                  </a:lnTo>
                  <a:lnTo>
                    <a:pt x="0" y="115966"/>
                  </a:lnTo>
                  <a:lnTo>
                    <a:pt x="0" y="0"/>
                  </a:lnTo>
                  <a:close/>
                </a:path>
              </a:pathLst>
            </a:custGeom>
            <a:ln w="3751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976076" y="1239360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143927" y="0"/>
                  </a:moveTo>
                  <a:lnTo>
                    <a:pt x="0" y="0"/>
                  </a:lnTo>
                  <a:lnTo>
                    <a:pt x="0" y="115705"/>
                  </a:lnTo>
                  <a:lnTo>
                    <a:pt x="143927" y="115705"/>
                  </a:lnTo>
                  <a:lnTo>
                    <a:pt x="143927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976076" y="1239360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0" y="0"/>
                  </a:moveTo>
                  <a:lnTo>
                    <a:pt x="143927" y="0"/>
                  </a:lnTo>
                  <a:lnTo>
                    <a:pt x="143927" y="115705"/>
                  </a:lnTo>
                  <a:lnTo>
                    <a:pt x="0" y="115705"/>
                  </a:lnTo>
                  <a:lnTo>
                    <a:pt x="0" y="0"/>
                  </a:lnTo>
                  <a:close/>
                </a:path>
              </a:pathLst>
            </a:custGeom>
            <a:ln w="37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513790" y="1353388"/>
              <a:ext cx="546735" cy="44450"/>
            </a:xfrm>
            <a:custGeom>
              <a:avLst/>
              <a:gdLst/>
              <a:ahLst/>
              <a:cxnLst/>
              <a:rect l="l" t="t" r="r" b="b"/>
              <a:pathLst>
                <a:path w="546734" h="44450">
                  <a:moveTo>
                    <a:pt x="24599" y="22415"/>
                  </a:moveTo>
                  <a:lnTo>
                    <a:pt x="12293" y="0"/>
                  </a:lnTo>
                  <a:lnTo>
                    <a:pt x="0" y="22415"/>
                  </a:lnTo>
                  <a:lnTo>
                    <a:pt x="8318" y="22415"/>
                  </a:lnTo>
                  <a:lnTo>
                    <a:pt x="8318" y="43154"/>
                  </a:lnTo>
                  <a:lnTo>
                    <a:pt x="16281" y="43154"/>
                  </a:lnTo>
                  <a:lnTo>
                    <a:pt x="16281" y="22415"/>
                  </a:lnTo>
                  <a:lnTo>
                    <a:pt x="24599" y="22415"/>
                  </a:lnTo>
                  <a:close/>
                </a:path>
                <a:path w="546734" h="44450">
                  <a:moveTo>
                    <a:pt x="287566" y="26035"/>
                  </a:moveTo>
                  <a:lnTo>
                    <a:pt x="275145" y="3619"/>
                  </a:lnTo>
                  <a:lnTo>
                    <a:pt x="262851" y="26035"/>
                  </a:lnTo>
                  <a:lnTo>
                    <a:pt x="271170" y="26035"/>
                  </a:lnTo>
                  <a:lnTo>
                    <a:pt x="271170" y="44272"/>
                  </a:lnTo>
                  <a:lnTo>
                    <a:pt x="279527" y="44272"/>
                  </a:lnTo>
                  <a:lnTo>
                    <a:pt x="279527" y="26035"/>
                  </a:lnTo>
                  <a:lnTo>
                    <a:pt x="287566" y="26035"/>
                  </a:lnTo>
                  <a:close/>
                </a:path>
                <a:path w="546734" h="44450">
                  <a:moveTo>
                    <a:pt x="546442" y="22415"/>
                  </a:moveTo>
                  <a:lnTo>
                    <a:pt x="534352" y="0"/>
                  </a:lnTo>
                  <a:lnTo>
                    <a:pt x="521716" y="22415"/>
                  </a:lnTo>
                  <a:lnTo>
                    <a:pt x="530085" y="22415"/>
                  </a:lnTo>
                  <a:lnTo>
                    <a:pt x="530085" y="43967"/>
                  </a:lnTo>
                  <a:lnTo>
                    <a:pt x="538403" y="43967"/>
                  </a:lnTo>
                  <a:lnTo>
                    <a:pt x="538403" y="22415"/>
                  </a:lnTo>
                  <a:lnTo>
                    <a:pt x="546442" y="224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880402" y="1573910"/>
              <a:ext cx="1207135" cy="1426845"/>
            </a:xfrm>
            <a:custGeom>
              <a:avLst/>
              <a:gdLst/>
              <a:ahLst/>
              <a:cxnLst/>
              <a:rect l="l" t="t" r="r" b="b"/>
              <a:pathLst>
                <a:path w="1207134" h="1426845">
                  <a:moveTo>
                    <a:pt x="951992" y="1226578"/>
                  </a:moveTo>
                  <a:lnTo>
                    <a:pt x="943749" y="1226578"/>
                  </a:lnTo>
                  <a:lnTo>
                    <a:pt x="943749" y="1386547"/>
                  </a:lnTo>
                  <a:lnTo>
                    <a:pt x="53327" y="1386547"/>
                  </a:lnTo>
                  <a:lnTo>
                    <a:pt x="53327" y="1224419"/>
                  </a:lnTo>
                  <a:lnTo>
                    <a:pt x="53327" y="148818"/>
                  </a:lnTo>
                  <a:lnTo>
                    <a:pt x="53327" y="141566"/>
                  </a:lnTo>
                  <a:lnTo>
                    <a:pt x="214210" y="141566"/>
                  </a:lnTo>
                  <a:lnTo>
                    <a:pt x="214210" y="148818"/>
                  </a:lnTo>
                  <a:lnTo>
                    <a:pt x="223024" y="148818"/>
                  </a:lnTo>
                  <a:lnTo>
                    <a:pt x="223024" y="141566"/>
                  </a:lnTo>
                  <a:lnTo>
                    <a:pt x="235013" y="141566"/>
                  </a:lnTo>
                  <a:lnTo>
                    <a:pt x="235013" y="137934"/>
                  </a:lnTo>
                  <a:lnTo>
                    <a:pt x="234683" y="137934"/>
                  </a:lnTo>
                  <a:lnTo>
                    <a:pt x="234683" y="134302"/>
                  </a:lnTo>
                  <a:lnTo>
                    <a:pt x="222745" y="134302"/>
                  </a:lnTo>
                  <a:lnTo>
                    <a:pt x="222745" y="127038"/>
                  </a:lnTo>
                  <a:lnTo>
                    <a:pt x="214210" y="127038"/>
                  </a:lnTo>
                  <a:lnTo>
                    <a:pt x="214210" y="134302"/>
                  </a:lnTo>
                  <a:lnTo>
                    <a:pt x="45072" y="134302"/>
                  </a:lnTo>
                  <a:lnTo>
                    <a:pt x="45072" y="137934"/>
                  </a:lnTo>
                  <a:lnTo>
                    <a:pt x="45072" y="1393799"/>
                  </a:lnTo>
                  <a:lnTo>
                    <a:pt x="951992" y="1393799"/>
                  </a:lnTo>
                  <a:lnTo>
                    <a:pt x="951992" y="1386547"/>
                  </a:lnTo>
                  <a:lnTo>
                    <a:pt x="951992" y="1226578"/>
                  </a:lnTo>
                  <a:close/>
                </a:path>
                <a:path w="1207134" h="1426845">
                  <a:moveTo>
                    <a:pt x="1206601" y="1226578"/>
                  </a:moveTo>
                  <a:lnTo>
                    <a:pt x="1198270" y="1226578"/>
                  </a:lnTo>
                  <a:lnTo>
                    <a:pt x="1198270" y="1419212"/>
                  </a:lnTo>
                  <a:lnTo>
                    <a:pt x="8343" y="1419212"/>
                  </a:lnTo>
                  <a:lnTo>
                    <a:pt x="8343" y="1223213"/>
                  </a:lnTo>
                  <a:lnTo>
                    <a:pt x="8343" y="21780"/>
                  </a:lnTo>
                  <a:lnTo>
                    <a:pt x="8343" y="14528"/>
                  </a:lnTo>
                  <a:lnTo>
                    <a:pt x="214210" y="14528"/>
                  </a:lnTo>
                  <a:lnTo>
                    <a:pt x="214210" y="21780"/>
                  </a:lnTo>
                  <a:lnTo>
                    <a:pt x="222694" y="21780"/>
                  </a:lnTo>
                  <a:lnTo>
                    <a:pt x="222694" y="14528"/>
                  </a:lnTo>
                  <a:lnTo>
                    <a:pt x="234683" y="14528"/>
                  </a:lnTo>
                  <a:lnTo>
                    <a:pt x="234683" y="10896"/>
                  </a:lnTo>
                  <a:lnTo>
                    <a:pt x="235000" y="10896"/>
                  </a:lnTo>
                  <a:lnTo>
                    <a:pt x="235000" y="7264"/>
                  </a:lnTo>
                  <a:lnTo>
                    <a:pt x="223024" y="7264"/>
                  </a:lnTo>
                  <a:lnTo>
                    <a:pt x="223024" y="0"/>
                  </a:lnTo>
                  <a:lnTo>
                    <a:pt x="214210" y="0"/>
                  </a:lnTo>
                  <a:lnTo>
                    <a:pt x="214210" y="7264"/>
                  </a:lnTo>
                  <a:lnTo>
                    <a:pt x="0" y="7264"/>
                  </a:lnTo>
                  <a:lnTo>
                    <a:pt x="0" y="10896"/>
                  </a:lnTo>
                  <a:lnTo>
                    <a:pt x="0" y="1426476"/>
                  </a:lnTo>
                  <a:lnTo>
                    <a:pt x="1206601" y="1426476"/>
                  </a:lnTo>
                  <a:lnTo>
                    <a:pt x="1206601" y="1419212"/>
                  </a:lnTo>
                  <a:lnTo>
                    <a:pt x="1206601" y="1226578"/>
                  </a:lnTo>
                  <a:close/>
                </a:path>
              </a:pathLst>
            </a:custGeom>
            <a:solidFill>
              <a:srgbClr val="BB4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458333" y="2684777"/>
              <a:ext cx="139700" cy="116205"/>
            </a:xfrm>
            <a:custGeom>
              <a:avLst/>
              <a:gdLst/>
              <a:ahLst/>
              <a:cxnLst/>
              <a:rect l="l" t="t" r="r" b="b"/>
              <a:pathLst>
                <a:path w="139700" h="116205">
                  <a:moveTo>
                    <a:pt x="139622" y="0"/>
                  </a:moveTo>
                  <a:lnTo>
                    <a:pt x="0" y="0"/>
                  </a:lnTo>
                  <a:lnTo>
                    <a:pt x="0" y="115709"/>
                  </a:lnTo>
                  <a:lnTo>
                    <a:pt x="139622" y="115709"/>
                  </a:lnTo>
                  <a:lnTo>
                    <a:pt x="139622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458333" y="2684777"/>
              <a:ext cx="139700" cy="116205"/>
            </a:xfrm>
            <a:custGeom>
              <a:avLst/>
              <a:gdLst/>
              <a:ahLst/>
              <a:cxnLst/>
              <a:rect l="l" t="t" r="r" b="b"/>
              <a:pathLst>
                <a:path w="139700" h="116205">
                  <a:moveTo>
                    <a:pt x="0" y="0"/>
                  </a:moveTo>
                  <a:lnTo>
                    <a:pt x="139622" y="0"/>
                  </a:lnTo>
                  <a:lnTo>
                    <a:pt x="139622" y="115709"/>
                  </a:lnTo>
                  <a:lnTo>
                    <a:pt x="0" y="115709"/>
                  </a:lnTo>
                  <a:lnTo>
                    <a:pt x="0" y="0"/>
                  </a:lnTo>
                  <a:close/>
                </a:path>
              </a:pathLst>
            </a:custGeom>
            <a:ln w="375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450732" y="2679110"/>
            <a:ext cx="14414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spc="-25" dirty="0">
                <a:latin typeface="Calibri"/>
                <a:cs typeface="Calibri"/>
              </a:rPr>
              <a:t>X</a:t>
            </a:r>
            <a:r>
              <a:rPr sz="525" spc="-37" baseline="-15873" dirty="0">
                <a:latin typeface="Calibri"/>
                <a:cs typeface="Calibri"/>
              </a:rPr>
              <a:t>1</a:t>
            </a:r>
            <a:endParaRPr sz="525" baseline="-15873">
              <a:latin typeface="Calibri"/>
              <a:cs typeface="Calibr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7719276" y="2682873"/>
            <a:ext cx="144145" cy="120014"/>
            <a:chOff x="7719276" y="2682873"/>
            <a:chExt cx="144145" cy="120014"/>
          </a:xfrm>
        </p:grpSpPr>
        <p:sp>
          <p:nvSpPr>
            <p:cNvPr id="100" name="object 100"/>
            <p:cNvSpPr/>
            <p:nvPr/>
          </p:nvSpPr>
          <p:spPr>
            <a:xfrm>
              <a:off x="7721181" y="2684778"/>
              <a:ext cx="140335" cy="116205"/>
            </a:xfrm>
            <a:custGeom>
              <a:avLst/>
              <a:gdLst/>
              <a:ahLst/>
              <a:cxnLst/>
              <a:rect l="l" t="t" r="r" b="b"/>
              <a:pathLst>
                <a:path w="140334" h="116205">
                  <a:moveTo>
                    <a:pt x="139909" y="0"/>
                  </a:moveTo>
                  <a:lnTo>
                    <a:pt x="0" y="0"/>
                  </a:lnTo>
                  <a:lnTo>
                    <a:pt x="0" y="115709"/>
                  </a:lnTo>
                  <a:lnTo>
                    <a:pt x="139909" y="115709"/>
                  </a:lnTo>
                  <a:lnTo>
                    <a:pt x="139909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721181" y="2684778"/>
              <a:ext cx="140335" cy="116205"/>
            </a:xfrm>
            <a:custGeom>
              <a:avLst/>
              <a:gdLst/>
              <a:ahLst/>
              <a:cxnLst/>
              <a:rect l="l" t="t" r="r" b="b"/>
              <a:pathLst>
                <a:path w="140334" h="116205">
                  <a:moveTo>
                    <a:pt x="0" y="0"/>
                  </a:moveTo>
                  <a:lnTo>
                    <a:pt x="139909" y="0"/>
                  </a:lnTo>
                  <a:lnTo>
                    <a:pt x="139909" y="115709"/>
                  </a:lnTo>
                  <a:lnTo>
                    <a:pt x="0" y="115709"/>
                  </a:lnTo>
                  <a:lnTo>
                    <a:pt x="0" y="0"/>
                  </a:lnTo>
                  <a:close/>
                </a:path>
              </a:pathLst>
            </a:custGeom>
            <a:ln w="375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7713293" y="2679110"/>
            <a:ext cx="144780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spc="-25" dirty="0">
                <a:latin typeface="Calibri"/>
                <a:cs typeface="Calibri"/>
              </a:rPr>
              <a:t>X</a:t>
            </a:r>
            <a:r>
              <a:rPr sz="525" spc="-37" baseline="-15873" dirty="0">
                <a:latin typeface="Calibri"/>
                <a:cs typeface="Calibri"/>
              </a:rPr>
              <a:t>2</a:t>
            </a:r>
            <a:endParaRPr sz="525" baseline="-15873">
              <a:latin typeface="Calibri"/>
              <a:cs typeface="Calibri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7978167" y="2682891"/>
            <a:ext cx="144145" cy="120014"/>
            <a:chOff x="7978167" y="2682891"/>
            <a:chExt cx="144145" cy="120014"/>
          </a:xfrm>
        </p:grpSpPr>
        <p:sp>
          <p:nvSpPr>
            <p:cNvPr id="104" name="object 104"/>
            <p:cNvSpPr/>
            <p:nvPr/>
          </p:nvSpPr>
          <p:spPr>
            <a:xfrm>
              <a:off x="7980053" y="2684778"/>
              <a:ext cx="140335" cy="116205"/>
            </a:xfrm>
            <a:custGeom>
              <a:avLst/>
              <a:gdLst/>
              <a:ahLst/>
              <a:cxnLst/>
              <a:rect l="l" t="t" r="r" b="b"/>
              <a:pathLst>
                <a:path w="140334" h="116205">
                  <a:moveTo>
                    <a:pt x="139950" y="0"/>
                  </a:moveTo>
                  <a:lnTo>
                    <a:pt x="0" y="0"/>
                  </a:lnTo>
                  <a:lnTo>
                    <a:pt x="0" y="115709"/>
                  </a:lnTo>
                  <a:lnTo>
                    <a:pt x="139950" y="115709"/>
                  </a:lnTo>
                  <a:lnTo>
                    <a:pt x="13995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980053" y="2684778"/>
              <a:ext cx="140335" cy="116205"/>
            </a:xfrm>
            <a:custGeom>
              <a:avLst/>
              <a:gdLst/>
              <a:ahLst/>
              <a:cxnLst/>
              <a:rect l="l" t="t" r="r" b="b"/>
              <a:pathLst>
                <a:path w="140334" h="116205">
                  <a:moveTo>
                    <a:pt x="0" y="0"/>
                  </a:moveTo>
                  <a:lnTo>
                    <a:pt x="139950" y="0"/>
                  </a:lnTo>
                  <a:lnTo>
                    <a:pt x="139950" y="115709"/>
                  </a:lnTo>
                  <a:lnTo>
                    <a:pt x="0" y="115709"/>
                  </a:lnTo>
                  <a:lnTo>
                    <a:pt x="0" y="0"/>
                  </a:lnTo>
                  <a:close/>
                </a:path>
              </a:pathLst>
            </a:custGeom>
            <a:ln w="375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7972206" y="2679110"/>
            <a:ext cx="144780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spc="-25" dirty="0">
                <a:latin typeface="Calibri"/>
                <a:cs typeface="Calibri"/>
              </a:rPr>
              <a:t>X</a:t>
            </a:r>
            <a:r>
              <a:rPr sz="525" spc="-37" baseline="-15873" dirty="0">
                <a:latin typeface="Calibri"/>
                <a:cs typeface="Calibri"/>
              </a:rPr>
              <a:t>3</a:t>
            </a:r>
            <a:endParaRPr sz="525" baseline="-15873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6" name="object 1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17" name="object 1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  <p:sp>
        <p:nvSpPr>
          <p:cNvPr id="118" name="object 1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6866890" y="892111"/>
            <a:ext cx="1316355" cy="582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Self-</a:t>
            </a:r>
            <a:r>
              <a:rPr sz="1550" spc="-10" dirty="0">
                <a:latin typeface="Arial"/>
                <a:cs typeface="Arial"/>
              </a:rPr>
              <a:t>Attention</a:t>
            </a:r>
            <a:endParaRPr sz="1550">
              <a:latin typeface="Arial"/>
              <a:cs typeface="Arial"/>
            </a:endParaRPr>
          </a:p>
          <a:p>
            <a:pPr marL="621030">
              <a:lnSpc>
                <a:spcPct val="100000"/>
              </a:lnSpc>
              <a:spcBef>
                <a:spcPts val="865"/>
              </a:spcBef>
              <a:tabLst>
                <a:tab pos="885825" algn="l"/>
                <a:tab pos="1141730" algn="l"/>
              </a:tabLst>
            </a:pPr>
            <a:r>
              <a:rPr sz="550" spc="-25" dirty="0">
                <a:latin typeface="Calibri"/>
                <a:cs typeface="Calibri"/>
              </a:rPr>
              <a:t>Y</a:t>
            </a:r>
            <a:r>
              <a:rPr sz="525" spc="-37" baseline="-15873" dirty="0">
                <a:latin typeface="Calibri"/>
                <a:cs typeface="Calibri"/>
              </a:rPr>
              <a:t>1</a:t>
            </a:r>
            <a:r>
              <a:rPr sz="525" baseline="-15873" dirty="0">
                <a:latin typeface="Calibri"/>
                <a:cs typeface="Calibri"/>
              </a:rPr>
              <a:t>	</a:t>
            </a:r>
            <a:r>
              <a:rPr sz="550" spc="-25" dirty="0">
                <a:latin typeface="Calibri"/>
                <a:cs typeface="Calibri"/>
              </a:rPr>
              <a:t>Y</a:t>
            </a:r>
            <a:r>
              <a:rPr sz="525" spc="-37" baseline="-15873" dirty="0">
                <a:latin typeface="Calibri"/>
                <a:cs typeface="Calibri"/>
              </a:rPr>
              <a:t>2</a:t>
            </a:r>
            <a:r>
              <a:rPr sz="525" baseline="-15873" dirty="0">
                <a:latin typeface="Calibri"/>
                <a:cs typeface="Calibri"/>
              </a:rPr>
              <a:t>	</a:t>
            </a:r>
            <a:r>
              <a:rPr sz="550" spc="-25" dirty="0">
                <a:latin typeface="Calibri"/>
                <a:cs typeface="Calibri"/>
              </a:rPr>
              <a:t>Y</a:t>
            </a:r>
            <a:r>
              <a:rPr sz="525" spc="-37" baseline="-15873" dirty="0">
                <a:latin typeface="Calibri"/>
                <a:cs typeface="Calibri"/>
              </a:rPr>
              <a:t>3</a:t>
            </a:r>
            <a:endParaRPr sz="525" baseline="-15873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50">
              <a:latin typeface="Calibri"/>
              <a:cs typeface="Calibri"/>
            </a:endParaRPr>
          </a:p>
          <a:p>
            <a:pPr marL="668655">
              <a:lnSpc>
                <a:spcPct val="100000"/>
              </a:lnSpc>
            </a:pPr>
            <a:r>
              <a:rPr sz="400" dirty="0">
                <a:latin typeface="Calibri"/>
                <a:cs typeface="Calibri"/>
              </a:rPr>
              <a:t>Product(→),</a:t>
            </a:r>
            <a:r>
              <a:rPr sz="400" spc="395" dirty="0">
                <a:latin typeface="Calibri"/>
                <a:cs typeface="Calibri"/>
              </a:rPr>
              <a:t> </a:t>
            </a:r>
            <a:r>
              <a:rPr sz="400" spc="-10" dirty="0">
                <a:latin typeface="Calibri"/>
                <a:cs typeface="Calibri"/>
              </a:rPr>
              <a:t>Sum(↑)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54012" y="896048"/>
            <a:ext cx="47625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6650" algn="l"/>
              </a:tabLst>
            </a:pPr>
            <a:r>
              <a:rPr sz="1550" dirty="0">
                <a:latin typeface="Arial"/>
                <a:cs typeface="Arial"/>
              </a:rPr>
              <a:t>Recurrent</a:t>
            </a:r>
            <a:r>
              <a:rPr sz="1550" spc="1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Neural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Network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2325" spc="-15" baseline="1792" dirty="0">
                <a:latin typeface="Arial"/>
                <a:cs typeface="Arial"/>
              </a:rPr>
              <a:t>Convolution</a:t>
            </a:r>
            <a:endParaRPr sz="2325" baseline="1792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84150" y="3035617"/>
            <a:ext cx="27292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Works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 </a:t>
            </a:r>
            <a:r>
              <a:rPr sz="1400" b="1" dirty="0">
                <a:latin typeface="Arial"/>
                <a:cs typeface="Arial"/>
              </a:rPr>
              <a:t>1D ordered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sequences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84150" y="3465258"/>
            <a:ext cx="2799080" cy="1101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Theoretically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good</a:t>
            </a:r>
            <a:r>
              <a:rPr sz="1400" spc="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at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long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sequences: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O(N)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compute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memory</a:t>
            </a:r>
            <a:r>
              <a:rPr sz="1400" spc="-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for</a:t>
            </a:r>
            <a:r>
              <a:rPr sz="1400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</a:t>
            </a:r>
            <a:r>
              <a:rPr sz="1400" spc="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sequence</a:t>
            </a:r>
            <a:r>
              <a:rPr sz="1400" spc="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length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8AAB42"/>
                </a:solidFill>
                <a:latin typeface="Arial"/>
                <a:cs typeface="Arial"/>
              </a:rPr>
              <a:t>N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(-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400" spc="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parallelizable.</a:t>
            </a:r>
            <a:r>
              <a:rPr sz="1400" spc="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sz="14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compute</a:t>
            </a: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hidden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states</a:t>
            </a:r>
            <a:r>
              <a:rPr sz="14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sequentially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138551" y="3035617"/>
            <a:ext cx="25317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Works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N-</a:t>
            </a:r>
            <a:r>
              <a:rPr sz="1400" b="1" dirty="0">
                <a:latin typeface="Arial"/>
                <a:cs typeface="Arial"/>
              </a:rPr>
              <a:t>dimensional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grids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138551" y="3465258"/>
            <a:ext cx="2804160" cy="1101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just">
              <a:lnSpc>
                <a:spcPct val="100600"/>
              </a:lnSpc>
              <a:spcBef>
                <a:spcPts val="114"/>
              </a:spcBef>
            </a:pP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(-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Bad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1400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long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sequences: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stack</a:t>
            </a:r>
            <a:r>
              <a:rPr sz="14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many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layers</a:t>
            </a:r>
            <a:r>
              <a:rPr sz="14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14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build</a:t>
            </a:r>
            <a:r>
              <a:rPr sz="14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up</a:t>
            </a:r>
            <a:r>
              <a:rPr sz="14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C00000"/>
                </a:solidFill>
                <a:latin typeface="Arial"/>
                <a:cs typeface="Arial"/>
              </a:rPr>
              <a:t>large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receptive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fields</a:t>
            </a:r>
            <a:endParaRPr sz="1400">
              <a:latin typeface="Arial"/>
              <a:cs typeface="Arial"/>
            </a:endParaRPr>
          </a:p>
          <a:p>
            <a:pPr marL="12700" algn="just">
              <a:lnSpc>
                <a:spcPts val="1650"/>
              </a:lnSpc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Parallelizable,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outputs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can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be</a:t>
            </a:r>
            <a:endParaRPr sz="1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computed</a:t>
            </a:r>
            <a:r>
              <a:rPr sz="1400" spc="-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in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parallel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126226" y="3041269"/>
            <a:ext cx="207772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latin typeface="Arial"/>
                <a:cs typeface="Arial"/>
              </a:rPr>
              <a:t>Works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sets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6100826" y="3471227"/>
            <a:ext cx="2973070" cy="1102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 marR="30480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Great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for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long</a:t>
            </a:r>
            <a:r>
              <a:rPr sz="1400" spc="-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sequences;</a:t>
            </a:r>
            <a:r>
              <a:rPr sz="1400" spc="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output</a:t>
            </a:r>
            <a:r>
              <a:rPr sz="1400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depends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directly</a:t>
            </a:r>
            <a:r>
              <a:rPr sz="1400" spc="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on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all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inputs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Highly</a:t>
            </a:r>
            <a:r>
              <a:rPr sz="1400" spc="-7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parallel,</a:t>
            </a:r>
            <a:r>
              <a:rPr sz="1400" spc="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it’s</a:t>
            </a:r>
            <a:r>
              <a:rPr sz="1400" spc="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just</a:t>
            </a:r>
            <a:r>
              <a:rPr sz="1400" spc="-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4</a:t>
            </a:r>
            <a:r>
              <a:rPr sz="1400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matmuls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(-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Expensive:</a:t>
            </a:r>
            <a:r>
              <a:rPr sz="1400" spc="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O(N</a:t>
            </a:r>
            <a:r>
              <a:rPr sz="1350" baseline="27777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compute,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C00000"/>
                </a:solidFill>
                <a:latin typeface="Arial"/>
                <a:cs typeface="Arial"/>
              </a:rPr>
              <a:t>O(N)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memory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sequence</a:t>
            </a:r>
            <a:r>
              <a:rPr sz="14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400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length</a:t>
            </a:r>
            <a:r>
              <a:rPr sz="14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07758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Three</a:t>
            </a:r>
            <a:r>
              <a:rPr spc="140" dirty="0"/>
              <a:t> </a:t>
            </a:r>
            <a:r>
              <a:rPr dirty="0"/>
              <a:t>Ways</a:t>
            </a:r>
            <a:r>
              <a:rPr spc="150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Processing</a:t>
            </a:r>
            <a:r>
              <a:rPr spc="150" dirty="0"/>
              <a:t> </a:t>
            </a:r>
            <a:r>
              <a:rPr spc="-10" dirty="0"/>
              <a:t>Sequences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3537" y="1237454"/>
            <a:ext cx="7758430" cy="732790"/>
            <a:chOff x="363537" y="1237454"/>
            <a:chExt cx="7758430" cy="732790"/>
          </a:xfrm>
        </p:grpSpPr>
        <p:sp>
          <p:nvSpPr>
            <p:cNvPr id="4" name="object 4"/>
            <p:cNvSpPr/>
            <p:nvPr/>
          </p:nvSpPr>
          <p:spPr>
            <a:xfrm>
              <a:off x="376237" y="1309751"/>
              <a:ext cx="381000" cy="85725"/>
            </a:xfrm>
            <a:custGeom>
              <a:avLst/>
              <a:gdLst/>
              <a:ahLst/>
              <a:cxnLst/>
              <a:rect l="l" t="t" r="r" b="b"/>
              <a:pathLst>
                <a:path w="381000" h="85725">
                  <a:moveTo>
                    <a:pt x="0" y="85725"/>
                  </a:moveTo>
                  <a:lnTo>
                    <a:pt x="381000" y="8572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237" y="1309751"/>
              <a:ext cx="381000" cy="600075"/>
            </a:xfrm>
            <a:custGeom>
              <a:avLst/>
              <a:gdLst/>
              <a:ahLst/>
              <a:cxnLst/>
              <a:rect l="l" t="t" r="r" b="b"/>
              <a:pathLst>
                <a:path w="381000" h="600075">
                  <a:moveTo>
                    <a:pt x="0" y="600075"/>
                  </a:moveTo>
                  <a:lnTo>
                    <a:pt x="381000" y="60007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600075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3462" y="1309751"/>
              <a:ext cx="390525" cy="85725"/>
            </a:xfrm>
            <a:custGeom>
              <a:avLst/>
              <a:gdLst/>
              <a:ahLst/>
              <a:cxnLst/>
              <a:rect l="l" t="t" r="r" b="b"/>
              <a:pathLst>
                <a:path w="390525" h="85725">
                  <a:moveTo>
                    <a:pt x="0" y="85725"/>
                  </a:moveTo>
                  <a:lnTo>
                    <a:pt x="390525" y="85725"/>
                  </a:lnTo>
                  <a:lnTo>
                    <a:pt x="390525" y="0"/>
                  </a:ln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3462" y="1309751"/>
              <a:ext cx="390525" cy="600075"/>
            </a:xfrm>
            <a:custGeom>
              <a:avLst/>
              <a:gdLst/>
              <a:ahLst/>
              <a:cxnLst/>
              <a:rect l="l" t="t" r="r" b="b"/>
              <a:pathLst>
                <a:path w="390525" h="600075">
                  <a:moveTo>
                    <a:pt x="0" y="600075"/>
                  </a:moveTo>
                  <a:lnTo>
                    <a:pt x="390525" y="600075"/>
                  </a:lnTo>
                  <a:lnTo>
                    <a:pt x="390525" y="0"/>
                  </a:lnTo>
                  <a:lnTo>
                    <a:pt x="0" y="0"/>
                  </a:lnTo>
                  <a:lnTo>
                    <a:pt x="0" y="600075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0275" y="1309751"/>
              <a:ext cx="381000" cy="85725"/>
            </a:xfrm>
            <a:custGeom>
              <a:avLst/>
              <a:gdLst/>
              <a:ahLst/>
              <a:cxnLst/>
              <a:rect l="l" t="t" r="r" b="b"/>
              <a:pathLst>
                <a:path w="381000" h="85725">
                  <a:moveTo>
                    <a:pt x="0" y="85725"/>
                  </a:moveTo>
                  <a:lnTo>
                    <a:pt x="381000" y="8572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00275" y="1309751"/>
              <a:ext cx="381000" cy="600075"/>
            </a:xfrm>
            <a:custGeom>
              <a:avLst/>
              <a:gdLst/>
              <a:ahLst/>
              <a:cxnLst/>
              <a:rect l="l" t="t" r="r" b="b"/>
              <a:pathLst>
                <a:path w="381000" h="600075">
                  <a:moveTo>
                    <a:pt x="0" y="600075"/>
                  </a:moveTo>
                  <a:lnTo>
                    <a:pt x="381000" y="60007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600075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57501" y="1309751"/>
              <a:ext cx="381000" cy="85725"/>
            </a:xfrm>
            <a:custGeom>
              <a:avLst/>
              <a:gdLst/>
              <a:ahLst/>
              <a:cxnLst/>
              <a:rect l="l" t="t" r="r" b="b"/>
              <a:pathLst>
                <a:path w="381000" h="85725">
                  <a:moveTo>
                    <a:pt x="0" y="85725"/>
                  </a:moveTo>
                  <a:lnTo>
                    <a:pt x="381000" y="8572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57501" y="1309751"/>
              <a:ext cx="381000" cy="600075"/>
            </a:xfrm>
            <a:custGeom>
              <a:avLst/>
              <a:gdLst/>
              <a:ahLst/>
              <a:cxnLst/>
              <a:rect l="l" t="t" r="r" b="b"/>
              <a:pathLst>
                <a:path w="381000" h="600075">
                  <a:moveTo>
                    <a:pt x="0" y="600075"/>
                  </a:moveTo>
                  <a:lnTo>
                    <a:pt x="381000" y="60007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600075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95726" y="1347851"/>
              <a:ext cx="381000" cy="47625"/>
            </a:xfrm>
            <a:custGeom>
              <a:avLst/>
              <a:gdLst/>
              <a:ahLst/>
              <a:cxnLst/>
              <a:rect l="l" t="t" r="r" b="b"/>
              <a:pathLst>
                <a:path w="381000" h="47625">
                  <a:moveTo>
                    <a:pt x="0" y="47625"/>
                  </a:moveTo>
                  <a:lnTo>
                    <a:pt x="381000" y="4762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5726" y="1347851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609600"/>
                  </a:moveTo>
                  <a:lnTo>
                    <a:pt x="381000" y="6096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52951" y="1347851"/>
              <a:ext cx="381000" cy="47625"/>
            </a:xfrm>
            <a:custGeom>
              <a:avLst/>
              <a:gdLst/>
              <a:ahLst/>
              <a:cxnLst/>
              <a:rect l="l" t="t" r="r" b="b"/>
              <a:pathLst>
                <a:path w="381000" h="47625">
                  <a:moveTo>
                    <a:pt x="0" y="47625"/>
                  </a:moveTo>
                  <a:lnTo>
                    <a:pt x="381000" y="4762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52951" y="1347851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609600"/>
                  </a:moveTo>
                  <a:lnTo>
                    <a:pt x="381000" y="6096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19701" y="1347851"/>
              <a:ext cx="381000" cy="47625"/>
            </a:xfrm>
            <a:custGeom>
              <a:avLst/>
              <a:gdLst/>
              <a:ahLst/>
              <a:cxnLst/>
              <a:rect l="l" t="t" r="r" b="b"/>
              <a:pathLst>
                <a:path w="381000" h="47625">
                  <a:moveTo>
                    <a:pt x="0" y="47625"/>
                  </a:moveTo>
                  <a:lnTo>
                    <a:pt x="381000" y="4762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19701" y="1347851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609600"/>
                  </a:moveTo>
                  <a:lnTo>
                    <a:pt x="381000" y="6096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76926" y="1347851"/>
              <a:ext cx="381000" cy="47625"/>
            </a:xfrm>
            <a:custGeom>
              <a:avLst/>
              <a:gdLst/>
              <a:ahLst/>
              <a:cxnLst/>
              <a:rect l="l" t="t" r="r" b="b"/>
              <a:pathLst>
                <a:path w="381000" h="47625">
                  <a:moveTo>
                    <a:pt x="0" y="47625"/>
                  </a:moveTo>
                  <a:lnTo>
                    <a:pt x="381000" y="47625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76926" y="1347851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609600"/>
                  </a:moveTo>
                  <a:lnTo>
                    <a:pt x="381000" y="6096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54234" y="1239359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143722" y="0"/>
                  </a:moveTo>
                  <a:lnTo>
                    <a:pt x="0" y="0"/>
                  </a:lnTo>
                  <a:lnTo>
                    <a:pt x="0" y="115705"/>
                  </a:lnTo>
                  <a:lnTo>
                    <a:pt x="143722" y="115705"/>
                  </a:lnTo>
                  <a:lnTo>
                    <a:pt x="143722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54234" y="1239359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0" y="0"/>
                  </a:moveTo>
                  <a:lnTo>
                    <a:pt x="143722" y="0"/>
                  </a:lnTo>
                  <a:lnTo>
                    <a:pt x="143722" y="115705"/>
                  </a:lnTo>
                  <a:lnTo>
                    <a:pt x="0" y="115705"/>
                  </a:lnTo>
                  <a:lnTo>
                    <a:pt x="0" y="0"/>
                  </a:lnTo>
                  <a:close/>
                </a:path>
              </a:pathLst>
            </a:custGeom>
            <a:ln w="3751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21181" y="1242976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143886" y="0"/>
                  </a:moveTo>
                  <a:lnTo>
                    <a:pt x="0" y="0"/>
                  </a:lnTo>
                  <a:lnTo>
                    <a:pt x="0" y="115966"/>
                  </a:lnTo>
                  <a:lnTo>
                    <a:pt x="143886" y="115966"/>
                  </a:lnTo>
                  <a:lnTo>
                    <a:pt x="143886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21181" y="1242976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0" y="0"/>
                  </a:moveTo>
                  <a:lnTo>
                    <a:pt x="143886" y="0"/>
                  </a:lnTo>
                  <a:lnTo>
                    <a:pt x="143886" y="115966"/>
                  </a:lnTo>
                  <a:lnTo>
                    <a:pt x="0" y="115966"/>
                  </a:lnTo>
                  <a:lnTo>
                    <a:pt x="0" y="0"/>
                  </a:lnTo>
                  <a:close/>
                </a:path>
              </a:pathLst>
            </a:custGeom>
            <a:ln w="3751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76077" y="1239360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143927" y="0"/>
                  </a:moveTo>
                  <a:lnTo>
                    <a:pt x="0" y="0"/>
                  </a:lnTo>
                  <a:lnTo>
                    <a:pt x="0" y="115705"/>
                  </a:lnTo>
                  <a:lnTo>
                    <a:pt x="143927" y="115705"/>
                  </a:lnTo>
                  <a:lnTo>
                    <a:pt x="143927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976077" y="1239360"/>
              <a:ext cx="144145" cy="116205"/>
            </a:xfrm>
            <a:custGeom>
              <a:avLst/>
              <a:gdLst/>
              <a:ahLst/>
              <a:cxnLst/>
              <a:rect l="l" t="t" r="r" b="b"/>
              <a:pathLst>
                <a:path w="144145" h="116205">
                  <a:moveTo>
                    <a:pt x="0" y="0"/>
                  </a:moveTo>
                  <a:lnTo>
                    <a:pt x="143927" y="0"/>
                  </a:lnTo>
                  <a:lnTo>
                    <a:pt x="143927" y="115705"/>
                  </a:lnTo>
                  <a:lnTo>
                    <a:pt x="0" y="115705"/>
                  </a:lnTo>
                  <a:lnTo>
                    <a:pt x="0" y="0"/>
                  </a:lnTo>
                  <a:close/>
                </a:path>
              </a:pathLst>
            </a:custGeom>
            <a:ln w="37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13790" y="1353388"/>
              <a:ext cx="546735" cy="44450"/>
            </a:xfrm>
            <a:custGeom>
              <a:avLst/>
              <a:gdLst/>
              <a:ahLst/>
              <a:cxnLst/>
              <a:rect l="l" t="t" r="r" b="b"/>
              <a:pathLst>
                <a:path w="546734" h="44450">
                  <a:moveTo>
                    <a:pt x="24599" y="22415"/>
                  </a:moveTo>
                  <a:lnTo>
                    <a:pt x="12293" y="0"/>
                  </a:lnTo>
                  <a:lnTo>
                    <a:pt x="0" y="22415"/>
                  </a:lnTo>
                  <a:lnTo>
                    <a:pt x="8318" y="22415"/>
                  </a:lnTo>
                  <a:lnTo>
                    <a:pt x="8318" y="43154"/>
                  </a:lnTo>
                  <a:lnTo>
                    <a:pt x="16281" y="43154"/>
                  </a:lnTo>
                  <a:lnTo>
                    <a:pt x="16281" y="22415"/>
                  </a:lnTo>
                  <a:lnTo>
                    <a:pt x="24599" y="22415"/>
                  </a:lnTo>
                  <a:close/>
                </a:path>
                <a:path w="546734" h="44450">
                  <a:moveTo>
                    <a:pt x="287566" y="26035"/>
                  </a:moveTo>
                  <a:lnTo>
                    <a:pt x="275145" y="3619"/>
                  </a:lnTo>
                  <a:lnTo>
                    <a:pt x="262851" y="26035"/>
                  </a:lnTo>
                  <a:lnTo>
                    <a:pt x="271170" y="26035"/>
                  </a:lnTo>
                  <a:lnTo>
                    <a:pt x="271170" y="44272"/>
                  </a:lnTo>
                  <a:lnTo>
                    <a:pt x="279527" y="44272"/>
                  </a:lnTo>
                  <a:lnTo>
                    <a:pt x="279527" y="26035"/>
                  </a:lnTo>
                  <a:lnTo>
                    <a:pt x="287566" y="26035"/>
                  </a:lnTo>
                  <a:close/>
                </a:path>
                <a:path w="546734" h="44450">
                  <a:moveTo>
                    <a:pt x="546442" y="22415"/>
                  </a:moveTo>
                  <a:lnTo>
                    <a:pt x="534352" y="0"/>
                  </a:lnTo>
                  <a:lnTo>
                    <a:pt x="521716" y="22415"/>
                  </a:lnTo>
                  <a:lnTo>
                    <a:pt x="530085" y="22415"/>
                  </a:lnTo>
                  <a:lnTo>
                    <a:pt x="530085" y="43967"/>
                  </a:lnTo>
                  <a:lnTo>
                    <a:pt x="538403" y="43967"/>
                  </a:lnTo>
                  <a:lnTo>
                    <a:pt x="538403" y="22415"/>
                  </a:lnTo>
                  <a:lnTo>
                    <a:pt x="546442" y="224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879590" y="892111"/>
            <a:ext cx="1290955" cy="4597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"/>
                <a:cs typeface="Arial"/>
              </a:rPr>
              <a:t>Self-</a:t>
            </a:r>
            <a:r>
              <a:rPr sz="1550" spc="-10" dirty="0">
                <a:latin typeface="Arial"/>
                <a:cs typeface="Arial"/>
              </a:rPr>
              <a:t>Attention</a:t>
            </a:r>
            <a:endParaRPr sz="1550">
              <a:latin typeface="Arial"/>
              <a:cs typeface="Arial"/>
            </a:endParaRPr>
          </a:p>
          <a:p>
            <a:pPr marL="608330">
              <a:lnSpc>
                <a:spcPct val="100000"/>
              </a:lnSpc>
              <a:spcBef>
                <a:spcPts val="865"/>
              </a:spcBef>
              <a:tabLst>
                <a:tab pos="873125" algn="l"/>
                <a:tab pos="1129030" algn="l"/>
              </a:tabLst>
            </a:pPr>
            <a:r>
              <a:rPr sz="550" spc="-25" dirty="0">
                <a:latin typeface="Calibri"/>
                <a:cs typeface="Calibri"/>
              </a:rPr>
              <a:t>Y</a:t>
            </a:r>
            <a:r>
              <a:rPr sz="525" spc="-37" baseline="-15873" dirty="0">
                <a:latin typeface="Calibri"/>
                <a:cs typeface="Calibri"/>
              </a:rPr>
              <a:t>1</a:t>
            </a:r>
            <a:r>
              <a:rPr sz="525" baseline="-15873" dirty="0">
                <a:latin typeface="Calibri"/>
                <a:cs typeface="Calibri"/>
              </a:rPr>
              <a:t>	</a:t>
            </a:r>
            <a:r>
              <a:rPr sz="550" spc="-25" dirty="0">
                <a:latin typeface="Calibri"/>
                <a:cs typeface="Calibri"/>
              </a:rPr>
              <a:t>Y</a:t>
            </a:r>
            <a:r>
              <a:rPr sz="525" spc="-37" baseline="-15873" dirty="0">
                <a:latin typeface="Calibri"/>
                <a:cs typeface="Calibri"/>
              </a:rPr>
              <a:t>2</a:t>
            </a:r>
            <a:r>
              <a:rPr sz="525" baseline="-15873" dirty="0">
                <a:latin typeface="Calibri"/>
                <a:cs typeface="Calibri"/>
              </a:rPr>
              <a:t>	</a:t>
            </a:r>
            <a:r>
              <a:rPr sz="550" spc="-25" dirty="0">
                <a:latin typeface="Calibri"/>
                <a:cs typeface="Calibri"/>
              </a:rPr>
              <a:t>Y</a:t>
            </a:r>
            <a:r>
              <a:rPr sz="525" spc="-37" baseline="-15873" dirty="0">
                <a:latin typeface="Calibri"/>
                <a:cs typeface="Calibri"/>
              </a:rPr>
              <a:t>3</a:t>
            </a:r>
            <a:endParaRPr sz="525" baseline="-15873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4012" y="896048"/>
            <a:ext cx="47625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6650" algn="l"/>
              </a:tabLst>
            </a:pPr>
            <a:r>
              <a:rPr sz="1550" dirty="0">
                <a:latin typeface="Arial"/>
                <a:cs typeface="Arial"/>
              </a:rPr>
              <a:t>Recurrent</a:t>
            </a:r>
            <a:r>
              <a:rPr sz="1550" spc="1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Neural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Network</a:t>
            </a:r>
            <a:r>
              <a:rPr sz="1550" dirty="0">
                <a:latin typeface="Arial"/>
                <a:cs typeface="Arial"/>
              </a:rPr>
              <a:t>	</a:t>
            </a:r>
            <a:r>
              <a:rPr sz="2325" spc="-15" baseline="1792" dirty="0">
                <a:latin typeface="Arial"/>
                <a:cs typeface="Arial"/>
              </a:rPr>
              <a:t>Convolution</a:t>
            </a:r>
            <a:endParaRPr sz="2325" baseline="1792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4150" y="3894454"/>
            <a:ext cx="2799080" cy="673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14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memory</a:t>
            </a:r>
            <a:r>
              <a:rPr sz="1400" spc="-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for</a:t>
            </a:r>
            <a:r>
              <a:rPr sz="1400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</a:t>
            </a:r>
            <a:r>
              <a:rPr sz="1400" spc="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sequence</a:t>
            </a:r>
            <a:r>
              <a:rPr sz="1400" spc="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length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8AAB42"/>
                </a:solidFill>
                <a:latin typeface="Arial"/>
                <a:cs typeface="Arial"/>
              </a:rPr>
              <a:t>N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(-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400" spc="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parallelizable.</a:t>
            </a:r>
            <a:r>
              <a:rPr sz="1400" spc="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sz="14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compute</a:t>
            </a: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hidden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states</a:t>
            </a:r>
            <a:r>
              <a:rPr sz="14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sequentially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38551" y="3894454"/>
            <a:ext cx="2610485" cy="673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receptive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fields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Parallelizable,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outputs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can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be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computed</a:t>
            </a:r>
            <a:r>
              <a:rPr sz="1400" spc="-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in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parallel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6850" y="1411773"/>
            <a:ext cx="8782685" cy="2501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5880" algn="ctr">
              <a:lnSpc>
                <a:spcPts val="390"/>
              </a:lnSpc>
            </a:pPr>
            <a:r>
              <a:rPr sz="400" dirty="0">
                <a:latin typeface="Calibri"/>
                <a:cs typeface="Calibri"/>
              </a:rPr>
              <a:t>Product(→),</a:t>
            </a:r>
            <a:r>
              <a:rPr sz="400" spc="395" dirty="0">
                <a:latin typeface="Calibri"/>
                <a:cs typeface="Calibri"/>
              </a:rPr>
              <a:t> </a:t>
            </a:r>
            <a:r>
              <a:rPr sz="400" spc="-10" dirty="0">
                <a:latin typeface="Calibri"/>
                <a:cs typeface="Calibri"/>
              </a:rPr>
              <a:t>Sum(↑)</a:t>
            </a:r>
            <a:endParaRPr sz="400">
              <a:latin typeface="Calibri"/>
              <a:cs typeface="Calibri"/>
            </a:endParaRPr>
          </a:p>
          <a:p>
            <a:pPr marL="266700">
              <a:lnSpc>
                <a:spcPts val="775"/>
              </a:lnSpc>
              <a:spcBef>
                <a:spcPts val="365"/>
              </a:spcBef>
              <a:tabLst>
                <a:tab pos="927100" algn="l"/>
                <a:tab pos="1588135" algn="l"/>
                <a:tab pos="2249170" algn="l"/>
                <a:tab pos="3288665" algn="l"/>
                <a:tab pos="3949700" algn="l"/>
                <a:tab pos="4610735" algn="l"/>
                <a:tab pos="5271770" algn="l"/>
              </a:tabLst>
            </a:pPr>
            <a:r>
              <a:rPr sz="2700" spc="-37" baseline="12345" dirty="0">
                <a:latin typeface="Arial"/>
                <a:cs typeface="Arial"/>
              </a:rPr>
              <a:t>y</a:t>
            </a:r>
            <a:r>
              <a:rPr sz="1200" spc="-25" dirty="0">
                <a:latin typeface="Arial"/>
                <a:cs typeface="Arial"/>
              </a:rPr>
              <a:t>1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2700" spc="-37" baseline="12345" dirty="0">
                <a:latin typeface="Arial"/>
                <a:cs typeface="Arial"/>
              </a:rPr>
              <a:t>y</a:t>
            </a:r>
            <a:r>
              <a:rPr sz="1200" spc="-25" dirty="0">
                <a:latin typeface="Arial"/>
                <a:cs typeface="Arial"/>
              </a:rPr>
              <a:t>2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2700" spc="-37" baseline="12345" dirty="0">
                <a:latin typeface="Arial"/>
                <a:cs typeface="Arial"/>
              </a:rPr>
              <a:t>y</a:t>
            </a:r>
            <a:r>
              <a:rPr sz="1200" spc="-25" dirty="0">
                <a:latin typeface="Arial"/>
                <a:cs typeface="Arial"/>
              </a:rPr>
              <a:t>3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2700" spc="-37" baseline="12345" dirty="0">
                <a:latin typeface="Arial"/>
                <a:cs typeface="Arial"/>
              </a:rPr>
              <a:t>y</a:t>
            </a:r>
            <a:r>
              <a:rPr sz="1200" spc="-25" dirty="0">
                <a:latin typeface="Arial"/>
                <a:cs typeface="Arial"/>
              </a:rPr>
              <a:t>4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2700" spc="-37" baseline="1543" dirty="0">
                <a:latin typeface="Arial"/>
                <a:cs typeface="Arial"/>
              </a:rPr>
              <a:t>y</a:t>
            </a:r>
            <a:r>
              <a:rPr sz="1800" spc="-37" baseline="-16203" dirty="0">
                <a:latin typeface="Arial"/>
                <a:cs typeface="Arial"/>
              </a:rPr>
              <a:t>1</a:t>
            </a:r>
            <a:r>
              <a:rPr sz="1800" baseline="-16203" dirty="0">
                <a:latin typeface="Arial"/>
                <a:cs typeface="Arial"/>
              </a:rPr>
              <a:t>	</a:t>
            </a:r>
            <a:r>
              <a:rPr sz="2700" spc="-37" baseline="1543" dirty="0">
                <a:latin typeface="Arial"/>
                <a:cs typeface="Arial"/>
              </a:rPr>
              <a:t>y</a:t>
            </a:r>
            <a:r>
              <a:rPr sz="1800" spc="-37" baseline="-16203" dirty="0">
                <a:latin typeface="Arial"/>
                <a:cs typeface="Arial"/>
              </a:rPr>
              <a:t>2</a:t>
            </a:r>
            <a:r>
              <a:rPr sz="1800" baseline="-16203" dirty="0">
                <a:latin typeface="Arial"/>
                <a:cs typeface="Arial"/>
              </a:rPr>
              <a:t>	</a:t>
            </a:r>
            <a:r>
              <a:rPr sz="2700" spc="-37" baseline="1543" dirty="0">
                <a:latin typeface="Arial"/>
                <a:cs typeface="Arial"/>
              </a:rPr>
              <a:t>y</a:t>
            </a:r>
            <a:r>
              <a:rPr sz="1800" spc="-37" baseline="-16203" dirty="0">
                <a:latin typeface="Arial"/>
                <a:cs typeface="Arial"/>
              </a:rPr>
              <a:t>3</a:t>
            </a:r>
            <a:r>
              <a:rPr sz="1800" baseline="-16203" dirty="0">
                <a:latin typeface="Arial"/>
                <a:cs typeface="Arial"/>
              </a:rPr>
              <a:t>	</a:t>
            </a:r>
            <a:r>
              <a:rPr sz="2700" spc="-37" baseline="1543" dirty="0">
                <a:latin typeface="Arial"/>
                <a:cs typeface="Arial"/>
              </a:rPr>
              <a:t>y</a:t>
            </a:r>
            <a:r>
              <a:rPr sz="1800" spc="-37" baseline="-16203" dirty="0">
                <a:latin typeface="Arial"/>
                <a:cs typeface="Arial"/>
              </a:rPr>
              <a:t>4</a:t>
            </a:r>
            <a:endParaRPr sz="1800" baseline="-16203">
              <a:latin typeface="Arial"/>
              <a:cs typeface="Arial"/>
            </a:endParaRPr>
          </a:p>
          <a:p>
            <a:pPr marL="6976745">
              <a:lnSpc>
                <a:spcPts val="335"/>
              </a:lnSpc>
              <a:tabLst>
                <a:tab pos="7268845" algn="l"/>
                <a:tab pos="7526655" algn="l"/>
                <a:tab pos="7788909" algn="l"/>
              </a:tabLst>
            </a:pPr>
            <a:r>
              <a:rPr sz="825" spc="-37" baseline="20202" dirty="0">
                <a:latin typeface="Calibri"/>
                <a:cs typeface="Calibri"/>
              </a:rPr>
              <a:t>V</a:t>
            </a:r>
            <a:r>
              <a:rPr sz="525" spc="-37" baseline="7936" dirty="0">
                <a:latin typeface="Calibri"/>
                <a:cs typeface="Calibri"/>
              </a:rPr>
              <a:t>3</a:t>
            </a:r>
            <a:r>
              <a:rPr sz="525" baseline="7936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1,3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2,3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515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3,3</a:t>
            </a:r>
            <a:endParaRPr sz="350">
              <a:latin typeface="Calibri"/>
              <a:cs typeface="Calibri"/>
            </a:endParaRPr>
          </a:p>
          <a:p>
            <a:pPr marL="6976745">
              <a:lnSpc>
                <a:spcPct val="100000"/>
              </a:lnSpc>
              <a:spcBef>
                <a:spcPts val="320"/>
              </a:spcBef>
              <a:tabLst>
                <a:tab pos="7268845" algn="l"/>
                <a:tab pos="7526655" algn="l"/>
                <a:tab pos="7788909" algn="l"/>
              </a:tabLst>
            </a:pPr>
            <a:r>
              <a:rPr sz="825" spc="-37" baseline="20202" dirty="0">
                <a:latin typeface="Calibri"/>
                <a:cs typeface="Calibri"/>
              </a:rPr>
              <a:t>V</a:t>
            </a:r>
            <a:r>
              <a:rPr sz="525" spc="-37" baseline="7936" dirty="0">
                <a:latin typeface="Calibri"/>
                <a:cs typeface="Calibri"/>
              </a:rPr>
              <a:t>2</a:t>
            </a:r>
            <a:r>
              <a:rPr sz="525" baseline="7936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1,2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2,2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515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3,2</a:t>
            </a:r>
            <a:endParaRPr sz="350">
              <a:latin typeface="Calibri"/>
              <a:cs typeface="Calibri"/>
            </a:endParaRPr>
          </a:p>
          <a:p>
            <a:pPr marL="6976745">
              <a:lnSpc>
                <a:spcPct val="100000"/>
              </a:lnSpc>
              <a:spcBef>
                <a:spcPts val="355"/>
              </a:spcBef>
              <a:tabLst>
                <a:tab pos="7268845" algn="l"/>
                <a:tab pos="7526655" algn="l"/>
                <a:tab pos="7788909" algn="l"/>
              </a:tabLst>
            </a:pPr>
            <a:r>
              <a:rPr sz="825" spc="-37" baseline="20202" dirty="0">
                <a:latin typeface="Calibri"/>
                <a:cs typeface="Calibri"/>
              </a:rPr>
              <a:t>V</a:t>
            </a:r>
            <a:r>
              <a:rPr sz="525" spc="-37" baseline="15873" dirty="0">
                <a:latin typeface="Calibri"/>
                <a:cs typeface="Calibri"/>
              </a:rPr>
              <a:t>1</a:t>
            </a:r>
            <a:r>
              <a:rPr sz="525" baseline="15873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1,1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2,1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5151" dirty="0">
                <a:latin typeface="Calibri"/>
                <a:cs typeface="Calibri"/>
              </a:rPr>
              <a:t>A</a:t>
            </a:r>
            <a:r>
              <a:rPr sz="350" spc="-20" dirty="0">
                <a:latin typeface="Calibri"/>
                <a:cs typeface="Calibri"/>
              </a:rPr>
              <a:t>3,1</a:t>
            </a: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0">
              <a:latin typeface="Calibri"/>
              <a:cs typeface="Calibri"/>
            </a:endParaRPr>
          </a:p>
          <a:p>
            <a:pPr marL="6401435" algn="ctr">
              <a:lnSpc>
                <a:spcPct val="100000"/>
              </a:lnSpc>
              <a:spcBef>
                <a:spcPts val="5"/>
              </a:spcBef>
            </a:pPr>
            <a:r>
              <a:rPr sz="400" spc="-10" dirty="0">
                <a:latin typeface="Calibri"/>
                <a:cs typeface="Calibri"/>
              </a:rPr>
              <a:t>Softmax(↑)</a:t>
            </a:r>
            <a:endParaRPr sz="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400">
              <a:latin typeface="Calibri"/>
              <a:cs typeface="Calibri"/>
            </a:endParaRPr>
          </a:p>
          <a:p>
            <a:pPr marL="6981825">
              <a:lnSpc>
                <a:spcPct val="100000"/>
              </a:lnSpc>
              <a:tabLst>
                <a:tab pos="7272655" algn="l"/>
                <a:tab pos="7531100" algn="l"/>
                <a:tab pos="7792720" algn="l"/>
              </a:tabLst>
            </a:pPr>
            <a:r>
              <a:rPr sz="825" spc="-37" baseline="10101" dirty="0">
                <a:latin typeface="Calibri"/>
                <a:cs typeface="Calibri"/>
              </a:rPr>
              <a:t>K</a:t>
            </a:r>
            <a:r>
              <a:rPr sz="350" spc="-25" dirty="0">
                <a:latin typeface="Calibri"/>
                <a:cs typeface="Calibri"/>
              </a:rPr>
              <a:t>3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E</a:t>
            </a:r>
            <a:r>
              <a:rPr sz="350" spc="-20" dirty="0">
                <a:latin typeface="Calibri"/>
                <a:cs typeface="Calibri"/>
              </a:rPr>
              <a:t>1,3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E</a:t>
            </a:r>
            <a:r>
              <a:rPr sz="350" spc="-20" dirty="0">
                <a:latin typeface="Calibri"/>
                <a:cs typeface="Calibri"/>
              </a:rPr>
              <a:t>2,3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5151" dirty="0">
                <a:latin typeface="Calibri"/>
                <a:cs typeface="Calibri"/>
              </a:rPr>
              <a:t>E</a:t>
            </a:r>
            <a:r>
              <a:rPr sz="350" spc="-20" dirty="0">
                <a:latin typeface="Calibri"/>
                <a:cs typeface="Calibri"/>
              </a:rPr>
              <a:t>3,3</a:t>
            </a:r>
            <a:endParaRPr sz="350">
              <a:latin typeface="Calibri"/>
              <a:cs typeface="Calibri"/>
            </a:endParaRPr>
          </a:p>
          <a:p>
            <a:pPr marL="6981825">
              <a:lnSpc>
                <a:spcPct val="100000"/>
              </a:lnSpc>
              <a:spcBef>
                <a:spcPts val="325"/>
              </a:spcBef>
              <a:tabLst>
                <a:tab pos="7272655" algn="l"/>
                <a:tab pos="7531100" algn="l"/>
                <a:tab pos="7792720" algn="l"/>
              </a:tabLst>
            </a:pPr>
            <a:r>
              <a:rPr sz="825" spc="-37" baseline="10101" dirty="0">
                <a:latin typeface="Calibri"/>
                <a:cs typeface="Calibri"/>
              </a:rPr>
              <a:t>K</a:t>
            </a:r>
            <a:r>
              <a:rPr sz="350" spc="-25" dirty="0">
                <a:latin typeface="Calibri"/>
                <a:cs typeface="Calibri"/>
              </a:rPr>
              <a:t>2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E</a:t>
            </a:r>
            <a:r>
              <a:rPr sz="350" spc="-20" dirty="0">
                <a:latin typeface="Calibri"/>
                <a:cs typeface="Calibri"/>
              </a:rPr>
              <a:t>1,2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5151" dirty="0">
                <a:latin typeface="Calibri"/>
                <a:cs typeface="Calibri"/>
              </a:rPr>
              <a:t>E</a:t>
            </a:r>
            <a:r>
              <a:rPr sz="350" spc="-20" dirty="0">
                <a:latin typeface="Calibri"/>
                <a:cs typeface="Calibri"/>
              </a:rPr>
              <a:t>2,2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5151" dirty="0">
                <a:latin typeface="Calibri"/>
                <a:cs typeface="Calibri"/>
              </a:rPr>
              <a:t>E</a:t>
            </a:r>
            <a:r>
              <a:rPr sz="350" spc="-20" dirty="0">
                <a:latin typeface="Calibri"/>
                <a:cs typeface="Calibri"/>
              </a:rPr>
              <a:t>3,2</a:t>
            </a:r>
            <a:endParaRPr sz="350">
              <a:latin typeface="Calibri"/>
              <a:cs typeface="Calibri"/>
            </a:endParaRPr>
          </a:p>
          <a:p>
            <a:pPr marL="6981825">
              <a:lnSpc>
                <a:spcPct val="100000"/>
              </a:lnSpc>
              <a:spcBef>
                <a:spcPts val="350"/>
              </a:spcBef>
              <a:tabLst>
                <a:tab pos="7272655" algn="l"/>
                <a:tab pos="7531100" algn="l"/>
                <a:tab pos="7792720" algn="l"/>
              </a:tabLst>
            </a:pPr>
            <a:r>
              <a:rPr sz="825" spc="-37" baseline="15151" dirty="0">
                <a:latin typeface="Calibri"/>
                <a:cs typeface="Calibri"/>
              </a:rPr>
              <a:t>K</a:t>
            </a:r>
            <a:r>
              <a:rPr sz="350" spc="-25" dirty="0">
                <a:latin typeface="Calibri"/>
                <a:cs typeface="Calibri"/>
              </a:rPr>
              <a:t>1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E</a:t>
            </a:r>
            <a:r>
              <a:rPr sz="350" spc="-20" dirty="0">
                <a:latin typeface="Calibri"/>
                <a:cs typeface="Calibri"/>
              </a:rPr>
              <a:t>1,1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0101" dirty="0">
                <a:latin typeface="Calibri"/>
                <a:cs typeface="Calibri"/>
              </a:rPr>
              <a:t>E</a:t>
            </a:r>
            <a:r>
              <a:rPr sz="350" spc="-20" dirty="0">
                <a:latin typeface="Calibri"/>
                <a:cs typeface="Calibri"/>
              </a:rPr>
              <a:t>2,1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825" spc="-30" baseline="15151" dirty="0">
                <a:latin typeface="Calibri"/>
                <a:cs typeface="Calibri"/>
              </a:rPr>
              <a:t>E</a:t>
            </a:r>
            <a:r>
              <a:rPr sz="350" spc="-20" dirty="0">
                <a:latin typeface="Calibri"/>
                <a:cs typeface="Calibri"/>
              </a:rPr>
              <a:t>3,1</a:t>
            </a: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50">
              <a:latin typeface="Calibri"/>
              <a:cs typeface="Calibri"/>
            </a:endParaRPr>
          </a:p>
          <a:p>
            <a:pPr marL="266700">
              <a:lnSpc>
                <a:spcPts val="350"/>
              </a:lnSpc>
              <a:tabLst>
                <a:tab pos="927100" algn="l"/>
                <a:tab pos="1588135" algn="l"/>
                <a:tab pos="2249170" algn="l"/>
                <a:tab pos="3288665" algn="l"/>
                <a:tab pos="3949700" algn="l"/>
                <a:tab pos="4610735" algn="l"/>
                <a:tab pos="5271770" algn="l"/>
                <a:tab pos="7553959" algn="l"/>
                <a:tab pos="7813040" algn="l"/>
              </a:tabLst>
            </a:pPr>
            <a:r>
              <a:rPr sz="2700" spc="-37" baseline="12345" dirty="0">
                <a:latin typeface="Arial"/>
                <a:cs typeface="Arial"/>
              </a:rPr>
              <a:t>x</a:t>
            </a:r>
            <a:r>
              <a:rPr sz="1800" spc="-37" baseline="2314" dirty="0">
                <a:latin typeface="Arial"/>
                <a:cs typeface="Arial"/>
              </a:rPr>
              <a:t>1</a:t>
            </a:r>
            <a:r>
              <a:rPr sz="1800" baseline="2314" dirty="0">
                <a:latin typeface="Arial"/>
                <a:cs typeface="Arial"/>
              </a:rPr>
              <a:t>	</a:t>
            </a:r>
            <a:r>
              <a:rPr sz="2700" spc="-37" baseline="12345" dirty="0">
                <a:latin typeface="Arial"/>
                <a:cs typeface="Arial"/>
              </a:rPr>
              <a:t>x</a:t>
            </a:r>
            <a:r>
              <a:rPr sz="1800" spc="-37" baseline="2314" dirty="0">
                <a:latin typeface="Arial"/>
                <a:cs typeface="Arial"/>
              </a:rPr>
              <a:t>2</a:t>
            </a:r>
            <a:r>
              <a:rPr sz="1800" baseline="2314" dirty="0">
                <a:latin typeface="Arial"/>
                <a:cs typeface="Arial"/>
              </a:rPr>
              <a:t>	</a:t>
            </a:r>
            <a:r>
              <a:rPr sz="2700" spc="-37" baseline="12345" dirty="0">
                <a:latin typeface="Arial"/>
                <a:cs typeface="Arial"/>
              </a:rPr>
              <a:t>x</a:t>
            </a:r>
            <a:r>
              <a:rPr sz="1800" spc="-37" baseline="2314" dirty="0">
                <a:latin typeface="Arial"/>
                <a:cs typeface="Arial"/>
              </a:rPr>
              <a:t>3</a:t>
            </a:r>
            <a:r>
              <a:rPr sz="1800" baseline="2314" dirty="0">
                <a:latin typeface="Arial"/>
                <a:cs typeface="Arial"/>
              </a:rPr>
              <a:t>	</a:t>
            </a:r>
            <a:r>
              <a:rPr sz="2700" spc="-37" baseline="12345" dirty="0">
                <a:latin typeface="Arial"/>
                <a:cs typeface="Arial"/>
              </a:rPr>
              <a:t>x</a:t>
            </a:r>
            <a:r>
              <a:rPr sz="1800" spc="-37" baseline="2314" dirty="0">
                <a:latin typeface="Arial"/>
                <a:cs typeface="Arial"/>
              </a:rPr>
              <a:t>4</a:t>
            </a:r>
            <a:r>
              <a:rPr sz="1800" baseline="2314" dirty="0">
                <a:latin typeface="Arial"/>
                <a:cs typeface="Arial"/>
              </a:rPr>
              <a:t>	</a:t>
            </a:r>
            <a:r>
              <a:rPr sz="2700" spc="-37" baseline="3086" dirty="0">
                <a:latin typeface="Arial"/>
                <a:cs typeface="Arial"/>
              </a:rPr>
              <a:t>x</a:t>
            </a:r>
            <a:r>
              <a:rPr sz="1800" spc="-37" baseline="-13888" dirty="0">
                <a:latin typeface="Arial"/>
                <a:cs typeface="Arial"/>
              </a:rPr>
              <a:t>1</a:t>
            </a:r>
            <a:r>
              <a:rPr sz="1800" baseline="-13888" dirty="0">
                <a:latin typeface="Arial"/>
                <a:cs typeface="Arial"/>
              </a:rPr>
              <a:t>	</a:t>
            </a:r>
            <a:r>
              <a:rPr sz="2700" spc="-37" baseline="3086" dirty="0">
                <a:latin typeface="Arial"/>
                <a:cs typeface="Arial"/>
              </a:rPr>
              <a:t>x</a:t>
            </a:r>
            <a:r>
              <a:rPr sz="1800" spc="-37" baseline="-13888" dirty="0">
                <a:latin typeface="Arial"/>
                <a:cs typeface="Arial"/>
              </a:rPr>
              <a:t>2</a:t>
            </a:r>
            <a:r>
              <a:rPr sz="1800" baseline="-13888" dirty="0">
                <a:latin typeface="Arial"/>
                <a:cs typeface="Arial"/>
              </a:rPr>
              <a:t>	</a:t>
            </a:r>
            <a:r>
              <a:rPr sz="2700" spc="-37" baseline="3086" dirty="0">
                <a:latin typeface="Arial"/>
                <a:cs typeface="Arial"/>
              </a:rPr>
              <a:t>x</a:t>
            </a:r>
            <a:r>
              <a:rPr sz="1800" spc="-37" baseline="-13888" dirty="0">
                <a:latin typeface="Arial"/>
                <a:cs typeface="Arial"/>
              </a:rPr>
              <a:t>3</a:t>
            </a:r>
            <a:r>
              <a:rPr sz="1800" baseline="-13888" dirty="0">
                <a:latin typeface="Arial"/>
                <a:cs typeface="Arial"/>
              </a:rPr>
              <a:t>	</a:t>
            </a:r>
            <a:r>
              <a:rPr sz="2700" spc="-37" baseline="3086" dirty="0">
                <a:latin typeface="Arial"/>
                <a:cs typeface="Arial"/>
              </a:rPr>
              <a:t>x</a:t>
            </a:r>
            <a:r>
              <a:rPr sz="1800" spc="-37" baseline="-13888" dirty="0">
                <a:latin typeface="Arial"/>
                <a:cs typeface="Arial"/>
              </a:rPr>
              <a:t>4</a:t>
            </a:r>
            <a:r>
              <a:rPr sz="1800" baseline="-13888" dirty="0">
                <a:latin typeface="Arial"/>
                <a:cs typeface="Arial"/>
              </a:rPr>
              <a:t>	</a:t>
            </a:r>
            <a:r>
              <a:rPr sz="550" spc="-50" dirty="0">
                <a:latin typeface="Calibri"/>
                <a:cs typeface="Calibri"/>
              </a:rPr>
              <a:t>X</a:t>
            </a:r>
            <a:r>
              <a:rPr sz="550" dirty="0">
                <a:latin typeface="Calibri"/>
                <a:cs typeface="Calibri"/>
              </a:rPr>
              <a:t>	</a:t>
            </a:r>
            <a:r>
              <a:rPr sz="550" spc="-50" dirty="0">
                <a:latin typeface="Calibri"/>
                <a:cs typeface="Calibri"/>
              </a:rPr>
              <a:t>X</a:t>
            </a:r>
            <a:endParaRPr sz="550">
              <a:latin typeface="Calibri"/>
              <a:cs typeface="Calibri"/>
            </a:endParaRPr>
          </a:p>
          <a:p>
            <a:pPr marL="6395085" algn="ctr">
              <a:lnSpc>
                <a:spcPts val="280"/>
              </a:lnSpc>
              <a:tabLst>
                <a:tab pos="6656070" algn="l"/>
                <a:tab pos="6916420" algn="l"/>
              </a:tabLst>
            </a:pPr>
            <a:r>
              <a:rPr sz="550" spc="-25" dirty="0">
                <a:latin typeface="Calibri"/>
                <a:cs typeface="Calibri"/>
              </a:rPr>
              <a:t>Q</a:t>
            </a:r>
            <a:r>
              <a:rPr sz="525" spc="-37" baseline="-15873" dirty="0">
                <a:latin typeface="Calibri"/>
                <a:cs typeface="Calibri"/>
              </a:rPr>
              <a:t>1</a:t>
            </a:r>
            <a:r>
              <a:rPr sz="525" baseline="-15873" dirty="0">
                <a:latin typeface="Calibri"/>
                <a:cs typeface="Calibri"/>
              </a:rPr>
              <a:t>	</a:t>
            </a:r>
            <a:r>
              <a:rPr sz="550" spc="-25" dirty="0">
                <a:latin typeface="Calibri"/>
                <a:cs typeface="Calibri"/>
              </a:rPr>
              <a:t>Q</a:t>
            </a:r>
            <a:r>
              <a:rPr sz="525" spc="-37" baseline="-15873" dirty="0">
                <a:latin typeface="Calibri"/>
                <a:cs typeface="Calibri"/>
              </a:rPr>
              <a:t>2</a:t>
            </a:r>
            <a:r>
              <a:rPr sz="525" baseline="-15873" dirty="0">
                <a:latin typeface="Calibri"/>
                <a:cs typeface="Calibri"/>
              </a:rPr>
              <a:t>	</a:t>
            </a:r>
            <a:r>
              <a:rPr sz="550" spc="-25" dirty="0">
                <a:latin typeface="Calibri"/>
                <a:cs typeface="Calibri"/>
              </a:rPr>
              <a:t>Q</a:t>
            </a:r>
            <a:r>
              <a:rPr sz="525" spc="-37" baseline="-15873" dirty="0">
                <a:latin typeface="Calibri"/>
                <a:cs typeface="Calibri"/>
              </a:rPr>
              <a:t>3</a:t>
            </a:r>
            <a:endParaRPr sz="525" baseline="-15873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50">
              <a:latin typeface="Calibri"/>
              <a:cs typeface="Calibri"/>
            </a:endParaRPr>
          </a:p>
          <a:p>
            <a:pPr marL="6391275" algn="ctr">
              <a:lnSpc>
                <a:spcPct val="100000"/>
              </a:lnSpc>
              <a:tabLst>
                <a:tab pos="6694805" algn="l"/>
                <a:tab pos="6953884" algn="l"/>
              </a:tabLst>
            </a:pPr>
            <a:r>
              <a:rPr sz="825" spc="-37" baseline="10101" dirty="0">
                <a:latin typeface="Calibri"/>
                <a:cs typeface="Calibri"/>
              </a:rPr>
              <a:t>X</a:t>
            </a:r>
            <a:r>
              <a:rPr sz="350" spc="-25" dirty="0">
                <a:latin typeface="Calibri"/>
                <a:cs typeface="Calibri"/>
              </a:rPr>
              <a:t>1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350" spc="-50" dirty="0">
                <a:latin typeface="Calibri"/>
                <a:cs typeface="Calibri"/>
              </a:rPr>
              <a:t>2</a:t>
            </a:r>
            <a:r>
              <a:rPr sz="350" dirty="0">
                <a:latin typeface="Calibri"/>
                <a:cs typeface="Calibri"/>
              </a:rPr>
              <a:t>	</a:t>
            </a:r>
            <a:r>
              <a:rPr sz="350" spc="-50" dirty="0">
                <a:latin typeface="Calibri"/>
                <a:cs typeface="Calibri"/>
              </a:rPr>
              <a:t>3</a:t>
            </a: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350">
              <a:latin typeface="Calibri"/>
              <a:cs typeface="Calibri"/>
            </a:endParaRPr>
          </a:p>
          <a:p>
            <a:pPr>
              <a:lnSpc>
                <a:spcPct val="100000"/>
              </a:lnSpc>
              <a:tabLst>
                <a:tab pos="2954020" algn="l"/>
                <a:tab pos="5941695" algn="l"/>
              </a:tabLst>
            </a:pPr>
            <a:r>
              <a:rPr sz="2100" baseline="1984" dirty="0">
                <a:latin typeface="Arial"/>
                <a:cs typeface="Arial"/>
              </a:rPr>
              <a:t>Works</a:t>
            </a:r>
            <a:r>
              <a:rPr sz="2100" spc="-89" baseline="1984" dirty="0">
                <a:latin typeface="Arial"/>
                <a:cs typeface="Arial"/>
              </a:rPr>
              <a:t> </a:t>
            </a:r>
            <a:r>
              <a:rPr sz="2100" baseline="1984" dirty="0">
                <a:latin typeface="Arial"/>
                <a:cs typeface="Arial"/>
              </a:rPr>
              <a:t>on </a:t>
            </a:r>
            <a:r>
              <a:rPr sz="2100" b="1" baseline="1984" dirty="0">
                <a:latin typeface="Arial"/>
                <a:cs typeface="Arial"/>
              </a:rPr>
              <a:t>1D ordered</a:t>
            </a:r>
            <a:r>
              <a:rPr sz="2100" b="1" spc="-104" baseline="1984" dirty="0">
                <a:latin typeface="Arial"/>
                <a:cs typeface="Arial"/>
              </a:rPr>
              <a:t> </a:t>
            </a:r>
            <a:r>
              <a:rPr sz="2100" b="1" spc="-15" baseline="1984" dirty="0">
                <a:latin typeface="Arial"/>
                <a:cs typeface="Arial"/>
              </a:rPr>
              <a:t>sequences</a:t>
            </a:r>
            <a:r>
              <a:rPr sz="2100" b="1" baseline="1984" dirty="0">
                <a:latin typeface="Arial"/>
                <a:cs typeface="Arial"/>
              </a:rPr>
              <a:t>	</a:t>
            </a:r>
            <a:r>
              <a:rPr sz="2100" baseline="1984" dirty="0">
                <a:latin typeface="Arial"/>
                <a:cs typeface="Arial"/>
              </a:rPr>
              <a:t>Works</a:t>
            </a:r>
            <a:r>
              <a:rPr sz="2100" spc="-127" baseline="1984" dirty="0">
                <a:latin typeface="Arial"/>
                <a:cs typeface="Arial"/>
              </a:rPr>
              <a:t> </a:t>
            </a:r>
            <a:r>
              <a:rPr sz="2100" baseline="1984" dirty="0">
                <a:latin typeface="Arial"/>
                <a:cs typeface="Arial"/>
              </a:rPr>
              <a:t>on</a:t>
            </a:r>
            <a:r>
              <a:rPr sz="2100" spc="-37" baseline="1984" dirty="0">
                <a:latin typeface="Arial"/>
                <a:cs typeface="Arial"/>
              </a:rPr>
              <a:t> </a:t>
            </a:r>
            <a:r>
              <a:rPr sz="2100" b="1" spc="-15" baseline="1984" dirty="0">
                <a:latin typeface="Arial"/>
                <a:cs typeface="Arial"/>
              </a:rPr>
              <a:t>N-</a:t>
            </a:r>
            <a:r>
              <a:rPr sz="2100" b="1" baseline="1984" dirty="0">
                <a:latin typeface="Arial"/>
                <a:cs typeface="Arial"/>
              </a:rPr>
              <a:t>dimensional</a:t>
            </a:r>
            <a:r>
              <a:rPr sz="2100" b="1" spc="-7" baseline="1984" dirty="0">
                <a:latin typeface="Arial"/>
                <a:cs typeface="Arial"/>
              </a:rPr>
              <a:t> </a:t>
            </a:r>
            <a:r>
              <a:rPr sz="2100" b="1" spc="-15" baseline="1984" dirty="0">
                <a:latin typeface="Arial"/>
                <a:cs typeface="Arial"/>
              </a:rPr>
              <a:t>grids</a:t>
            </a:r>
            <a:r>
              <a:rPr sz="2100" b="1" baseline="1984" dirty="0">
                <a:latin typeface="Arial"/>
                <a:cs typeface="Arial"/>
              </a:rPr>
              <a:t>	</a:t>
            </a:r>
            <a:r>
              <a:rPr sz="1400" dirty="0">
                <a:latin typeface="Arial"/>
                <a:cs typeface="Arial"/>
              </a:rPr>
              <a:t>Works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sets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400">
              <a:latin typeface="Arial"/>
              <a:cs typeface="Arial"/>
            </a:endParaRPr>
          </a:p>
          <a:p>
            <a:pPr>
              <a:lnSpc>
                <a:spcPts val="1650"/>
              </a:lnSpc>
              <a:tabLst>
                <a:tab pos="2954020" algn="l"/>
                <a:tab pos="5941695" algn="l"/>
              </a:tabLst>
            </a:pPr>
            <a:r>
              <a:rPr sz="2100" baseline="1984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2100" spc="-67" baseline="1984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8AAB42"/>
                </a:solidFill>
                <a:latin typeface="Arial"/>
                <a:cs typeface="Arial"/>
              </a:rPr>
              <a:t>Theoretically</a:t>
            </a:r>
            <a:r>
              <a:rPr sz="2100" spc="-89" baseline="1984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8AAB42"/>
                </a:solidFill>
                <a:latin typeface="Arial"/>
                <a:cs typeface="Arial"/>
              </a:rPr>
              <a:t>good</a:t>
            </a:r>
            <a:r>
              <a:rPr sz="2100" spc="7" baseline="1984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8AAB42"/>
                </a:solidFill>
                <a:latin typeface="Arial"/>
                <a:cs typeface="Arial"/>
              </a:rPr>
              <a:t>at</a:t>
            </a:r>
            <a:r>
              <a:rPr sz="2100" spc="-60" baseline="1984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2100" spc="-30" baseline="1984" dirty="0">
                <a:solidFill>
                  <a:srgbClr val="8AAB42"/>
                </a:solidFill>
                <a:latin typeface="Arial"/>
                <a:cs typeface="Arial"/>
              </a:rPr>
              <a:t>long</a:t>
            </a:r>
            <a:r>
              <a:rPr sz="2100" baseline="1984" dirty="0">
                <a:solidFill>
                  <a:srgbClr val="8AAB42"/>
                </a:solidFill>
                <a:latin typeface="Arial"/>
                <a:cs typeface="Arial"/>
              </a:rPr>
              <a:t>	</a:t>
            </a:r>
            <a:r>
              <a:rPr sz="2100" spc="-15" baseline="1984" dirty="0">
                <a:solidFill>
                  <a:srgbClr val="C00000"/>
                </a:solidFill>
                <a:latin typeface="Arial"/>
                <a:cs typeface="Arial"/>
              </a:rPr>
              <a:t>(-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2100" spc="-89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Bad</a:t>
            </a:r>
            <a:r>
              <a:rPr sz="2100" spc="-15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2100" spc="15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long</a:t>
            </a:r>
            <a:r>
              <a:rPr sz="2100" spc="-15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sequences:</a:t>
            </a:r>
            <a:r>
              <a:rPr sz="2100" spc="-75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sz="2100" spc="-15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spc="-37" baseline="1984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Great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for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long</a:t>
            </a:r>
            <a:r>
              <a:rPr sz="1400" spc="-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sequences;</a:t>
            </a:r>
            <a:r>
              <a:rPr sz="1400" spc="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each </a:t>
            </a:r>
            <a:r>
              <a:rPr sz="2100" baseline="1984" dirty="0">
                <a:solidFill>
                  <a:srgbClr val="8AAB42"/>
                </a:solidFill>
                <a:latin typeface="Arial"/>
                <a:cs typeface="Arial"/>
              </a:rPr>
              <a:t>sequences:</a:t>
            </a:r>
            <a:r>
              <a:rPr sz="2100" spc="-60" baseline="1984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8AAB42"/>
                </a:solidFill>
                <a:latin typeface="Arial"/>
                <a:cs typeface="Arial"/>
              </a:rPr>
              <a:t>O(N)</a:t>
            </a:r>
            <a:r>
              <a:rPr sz="2100" spc="-67" baseline="1984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8AAB42"/>
                </a:solidFill>
                <a:latin typeface="Arial"/>
                <a:cs typeface="Arial"/>
              </a:rPr>
              <a:t>compute</a:t>
            </a:r>
            <a:r>
              <a:rPr sz="2100" spc="-89" baseline="1984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2100" spc="-37" baseline="1984" dirty="0">
                <a:solidFill>
                  <a:srgbClr val="8AAB42"/>
                </a:solidFill>
                <a:latin typeface="Arial"/>
                <a:cs typeface="Arial"/>
              </a:rPr>
              <a:t>and</a:t>
            </a:r>
            <a:r>
              <a:rPr sz="2100" baseline="1984" dirty="0">
                <a:solidFill>
                  <a:srgbClr val="8AAB42"/>
                </a:solidFill>
                <a:latin typeface="Arial"/>
                <a:cs typeface="Arial"/>
              </a:rPr>
              <a:t>	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stack</a:t>
            </a:r>
            <a:r>
              <a:rPr sz="2100" spc="30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many</a:t>
            </a:r>
            <a:r>
              <a:rPr sz="2100" spc="-75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layers</a:t>
            </a:r>
            <a:r>
              <a:rPr sz="2100" spc="-82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2100" spc="30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build</a:t>
            </a:r>
            <a:r>
              <a:rPr sz="2100" spc="-89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up</a:t>
            </a:r>
            <a:r>
              <a:rPr sz="2100" spc="-89" baseline="19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100" spc="-15" baseline="1984" dirty="0">
                <a:solidFill>
                  <a:srgbClr val="C00000"/>
                </a:solidFill>
                <a:latin typeface="Arial"/>
                <a:cs typeface="Arial"/>
              </a:rPr>
              <a:t>large</a:t>
            </a:r>
            <a:r>
              <a:rPr sz="2100" baseline="1984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output</a:t>
            </a:r>
            <a:r>
              <a:rPr sz="1400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depends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directly</a:t>
            </a:r>
            <a:r>
              <a:rPr sz="1400" spc="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on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all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00826" y="3900170"/>
            <a:ext cx="2973070" cy="673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 marR="30480">
              <a:lnSpc>
                <a:spcPct val="100699"/>
              </a:lnSpc>
              <a:spcBef>
                <a:spcPts val="114"/>
              </a:spcBef>
            </a:pP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(+)</a:t>
            </a:r>
            <a:r>
              <a:rPr sz="1400" spc="-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Highly</a:t>
            </a:r>
            <a:r>
              <a:rPr sz="1400" spc="-7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parallel,</a:t>
            </a:r>
            <a:r>
              <a:rPr sz="1400" spc="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it’s</a:t>
            </a:r>
            <a:r>
              <a:rPr sz="1400" spc="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just</a:t>
            </a:r>
            <a:r>
              <a:rPr sz="1400" spc="-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4</a:t>
            </a:r>
            <a:r>
              <a:rPr sz="1400" spc="-3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matmuls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(-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Expensive:</a:t>
            </a:r>
            <a:r>
              <a:rPr sz="1400" spc="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O(N</a:t>
            </a:r>
            <a:r>
              <a:rPr sz="1350" baseline="27777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compute,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C00000"/>
                </a:solidFill>
                <a:latin typeface="Arial"/>
                <a:cs typeface="Arial"/>
              </a:rPr>
              <a:t>O(N)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memory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sequence</a:t>
            </a:r>
            <a:r>
              <a:rPr sz="14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400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length</a:t>
            </a:r>
            <a:r>
              <a:rPr sz="14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2562" y="1382775"/>
            <a:ext cx="8836025" cy="2454275"/>
            <a:chOff x="182562" y="1382775"/>
            <a:chExt cx="8836025" cy="2454275"/>
          </a:xfrm>
        </p:grpSpPr>
        <p:sp>
          <p:nvSpPr>
            <p:cNvPr id="34" name="object 34"/>
            <p:cNvSpPr/>
            <p:nvPr/>
          </p:nvSpPr>
          <p:spPr>
            <a:xfrm>
              <a:off x="195262" y="1395475"/>
              <a:ext cx="8810625" cy="2428875"/>
            </a:xfrm>
            <a:custGeom>
              <a:avLst/>
              <a:gdLst/>
              <a:ahLst/>
              <a:cxnLst/>
              <a:rect l="l" t="t" r="r" b="b"/>
              <a:pathLst>
                <a:path w="8810625" h="2428875">
                  <a:moveTo>
                    <a:pt x="8810625" y="0"/>
                  </a:moveTo>
                  <a:lnTo>
                    <a:pt x="0" y="0"/>
                  </a:lnTo>
                  <a:lnTo>
                    <a:pt x="0" y="2428875"/>
                  </a:lnTo>
                  <a:lnTo>
                    <a:pt x="8810625" y="2428875"/>
                  </a:lnTo>
                  <a:lnTo>
                    <a:pt x="88106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5262" y="1395475"/>
              <a:ext cx="8810625" cy="2428875"/>
            </a:xfrm>
            <a:custGeom>
              <a:avLst/>
              <a:gdLst/>
              <a:ahLst/>
              <a:cxnLst/>
              <a:rect l="l" t="t" r="r" b="b"/>
              <a:pathLst>
                <a:path w="8810625" h="2428875">
                  <a:moveTo>
                    <a:pt x="0" y="2428875"/>
                  </a:moveTo>
                  <a:lnTo>
                    <a:pt x="8810625" y="2428875"/>
                  </a:lnTo>
                  <a:lnTo>
                    <a:pt x="8810625" y="0"/>
                  </a:lnTo>
                  <a:lnTo>
                    <a:pt x="0" y="0"/>
                  </a:lnTo>
                  <a:lnTo>
                    <a:pt x="0" y="2428875"/>
                  </a:lnTo>
                  <a:close/>
                </a:path>
              </a:pathLst>
            </a:custGeom>
            <a:ln w="25400">
              <a:solidFill>
                <a:srgbClr val="1233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07962" y="2102167"/>
            <a:ext cx="8785225" cy="9874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0"/>
              </a:spcBef>
            </a:pPr>
            <a:r>
              <a:rPr sz="4400" dirty="0">
                <a:latin typeface="Arial"/>
                <a:cs typeface="Arial"/>
              </a:rPr>
              <a:t>Attention</a:t>
            </a:r>
            <a:r>
              <a:rPr sz="4400" spc="-5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is</a:t>
            </a:r>
            <a:r>
              <a:rPr sz="4400" spc="-4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All</a:t>
            </a:r>
            <a:r>
              <a:rPr sz="4400" spc="-8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You</a:t>
            </a:r>
            <a:r>
              <a:rPr sz="4400" spc="-55" dirty="0">
                <a:latin typeface="Arial"/>
                <a:cs typeface="Arial"/>
              </a:rPr>
              <a:t> </a:t>
            </a:r>
            <a:r>
              <a:rPr sz="4400" spc="-20" dirty="0">
                <a:latin typeface="Arial"/>
                <a:cs typeface="Arial"/>
              </a:rPr>
              <a:t>Need</a:t>
            </a:r>
            <a:endParaRPr sz="4400">
              <a:latin typeface="Arial"/>
              <a:cs typeface="Arial"/>
            </a:endParaRPr>
          </a:p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Vaswani et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NeurIPS</a:t>
            </a:r>
            <a:r>
              <a:rPr sz="1800" spc="-20" dirty="0">
                <a:latin typeface="Arial"/>
                <a:cs typeface="Arial"/>
              </a:rPr>
              <a:t> 2017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70626" y="4113212"/>
            <a:ext cx="422275" cy="450850"/>
            <a:chOff x="5770626" y="4113212"/>
            <a:chExt cx="422275" cy="450850"/>
          </a:xfrm>
        </p:grpSpPr>
        <p:sp>
          <p:nvSpPr>
            <p:cNvPr id="3" name="object 3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570726" y="4113212"/>
            <a:ext cx="422275" cy="450850"/>
            <a:chOff x="6570726" y="4113212"/>
            <a:chExt cx="422275" cy="450850"/>
          </a:xfrm>
        </p:grpSpPr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370826" y="4113212"/>
            <a:ext cx="422275" cy="450850"/>
            <a:chOff x="7370826" y="4113212"/>
            <a:chExt cx="422275" cy="450850"/>
          </a:xfrm>
        </p:grpSpPr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170926" y="4113212"/>
            <a:ext cx="431800" cy="450850"/>
            <a:chOff x="8170926" y="4113212"/>
            <a:chExt cx="431800" cy="450850"/>
          </a:xfrm>
        </p:grpSpPr>
        <p:sp>
          <p:nvSpPr>
            <p:cNvPr id="12" name="object 12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389" y="4589862"/>
            <a:ext cx="25476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80670" y="788987"/>
            <a:ext cx="1776730" cy="672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42026" y="3586226"/>
            <a:ext cx="3279775" cy="977900"/>
            <a:chOff x="5542026" y="3586226"/>
            <a:chExt cx="3279775" cy="977900"/>
          </a:xfrm>
        </p:grpSpPr>
        <p:sp>
          <p:nvSpPr>
            <p:cNvPr id="3" name="object 3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8299" y="3586226"/>
              <a:ext cx="76200" cy="19532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48399" y="3586226"/>
              <a:ext cx="76200" cy="19532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8499" y="3586226"/>
              <a:ext cx="76200" cy="19532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48599" y="3586226"/>
              <a:ext cx="76200" cy="19532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548376" y="3281426"/>
            <a:ext cx="3276600" cy="295275"/>
          </a:xfrm>
          <a:prstGeom prst="rect">
            <a:avLst/>
          </a:prstGeom>
          <a:solidFill>
            <a:srgbClr val="E8EFD7"/>
          </a:solidFill>
          <a:ln w="12700">
            <a:solidFill>
              <a:srgbClr val="8AAB4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76300">
              <a:lnSpc>
                <a:spcPts val="2325"/>
              </a:lnSpc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389" y="4589862"/>
            <a:ext cx="25476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80670" y="788987"/>
            <a:ext cx="1776730" cy="672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95041" y="3339528"/>
            <a:ext cx="222631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interact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through </a:t>
            </a:r>
            <a:r>
              <a:rPr sz="1400" dirty="0">
                <a:latin typeface="Arial"/>
                <a:cs typeface="Arial"/>
              </a:rPr>
              <a:t>(multiheaded)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670" y="788987"/>
            <a:ext cx="1776730" cy="672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7039" y="2930207"/>
            <a:ext cx="16205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Residual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42026" y="3275076"/>
            <a:ext cx="3289300" cy="1289050"/>
            <a:chOff x="5542026" y="3275076"/>
            <a:chExt cx="3289300" cy="1289050"/>
          </a:xfrm>
        </p:grpSpPr>
        <p:sp>
          <p:nvSpPr>
            <p:cNvPr id="6" name="object 6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11976" y="3255898"/>
            <a:ext cx="15500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8251" y="2954401"/>
            <a:ext cx="206375" cy="20637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089140" y="2849879"/>
            <a:ext cx="2038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07076" y="3014726"/>
            <a:ext cx="3514725" cy="1100455"/>
            <a:chOff x="5307076" y="3014726"/>
            <a:chExt cx="3514725" cy="1100455"/>
          </a:xfrm>
        </p:grpSpPr>
        <p:sp>
          <p:nvSpPr>
            <p:cNvPr id="20" name="object 20"/>
            <p:cNvSpPr/>
            <p:nvPr/>
          </p:nvSpPr>
          <p:spPr>
            <a:xfrm>
              <a:off x="5307076" y="3014726"/>
              <a:ext cx="1794510" cy="858519"/>
            </a:xfrm>
            <a:custGeom>
              <a:avLst/>
              <a:gdLst/>
              <a:ahLst/>
              <a:cxnLst/>
              <a:rect l="l" t="t" r="r" b="b"/>
              <a:pathLst>
                <a:path w="1794509" h="858520">
                  <a:moveTo>
                    <a:pt x="1717928" y="25400"/>
                  </a:moveTo>
                  <a:lnTo>
                    <a:pt x="5587" y="25400"/>
                  </a:lnTo>
                  <a:lnTo>
                    <a:pt x="0" y="30987"/>
                  </a:lnTo>
                  <a:lnTo>
                    <a:pt x="0" y="852805"/>
                  </a:lnTo>
                  <a:lnTo>
                    <a:pt x="5587" y="858520"/>
                  </a:lnTo>
                  <a:lnTo>
                    <a:pt x="241173" y="858520"/>
                  </a:lnTo>
                  <a:lnTo>
                    <a:pt x="241173" y="845820"/>
                  </a:lnTo>
                  <a:lnTo>
                    <a:pt x="25400" y="845820"/>
                  </a:lnTo>
                  <a:lnTo>
                    <a:pt x="12700" y="833120"/>
                  </a:lnTo>
                  <a:lnTo>
                    <a:pt x="25400" y="833120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400"/>
                  </a:lnTo>
                  <a:close/>
                </a:path>
                <a:path w="1794509" h="858520">
                  <a:moveTo>
                    <a:pt x="25400" y="833120"/>
                  </a:moveTo>
                  <a:lnTo>
                    <a:pt x="12700" y="833120"/>
                  </a:lnTo>
                  <a:lnTo>
                    <a:pt x="25400" y="845820"/>
                  </a:lnTo>
                  <a:lnTo>
                    <a:pt x="25400" y="833120"/>
                  </a:lnTo>
                  <a:close/>
                </a:path>
                <a:path w="1794509" h="858520">
                  <a:moveTo>
                    <a:pt x="241173" y="833120"/>
                  </a:moveTo>
                  <a:lnTo>
                    <a:pt x="25400" y="833120"/>
                  </a:lnTo>
                  <a:lnTo>
                    <a:pt x="25400" y="845820"/>
                  </a:lnTo>
                  <a:lnTo>
                    <a:pt x="241173" y="845820"/>
                  </a:lnTo>
                  <a:lnTo>
                    <a:pt x="241173" y="833120"/>
                  </a:lnTo>
                  <a:close/>
                </a:path>
                <a:path w="1794509" h="858520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400"/>
                  </a:lnTo>
                  <a:lnTo>
                    <a:pt x="1768728" y="25400"/>
                  </a:lnTo>
                  <a:lnTo>
                    <a:pt x="1717928" y="0"/>
                  </a:lnTo>
                  <a:close/>
                </a:path>
                <a:path w="1794509" h="858520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858520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858520">
                  <a:moveTo>
                    <a:pt x="1768728" y="25400"/>
                  </a:moveTo>
                  <a:lnTo>
                    <a:pt x="1730628" y="25400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728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0100" y="3148076"/>
              <a:ext cx="76073" cy="13881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8299" y="3586226"/>
              <a:ext cx="76200" cy="19532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48399" y="3586226"/>
              <a:ext cx="76200" cy="19532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48499" y="3586226"/>
              <a:ext cx="76200" cy="19532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48599" y="3586226"/>
              <a:ext cx="76200" cy="19532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995041" y="3339528"/>
            <a:ext cx="222631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interact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through </a:t>
            </a:r>
            <a:r>
              <a:rPr sz="1400" dirty="0">
                <a:latin typeface="Arial"/>
                <a:cs typeface="Arial"/>
              </a:rPr>
              <a:t>(multiheaded)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389" y="4589862"/>
            <a:ext cx="25476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670" y="788987"/>
            <a:ext cx="16059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670" y="1218247"/>
            <a:ext cx="17767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7254" y="2420556"/>
            <a:ext cx="1739900" cy="7531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Layer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normalization </a:t>
            </a:r>
            <a:r>
              <a:rPr sz="1400" dirty="0">
                <a:latin typeface="Arial"/>
                <a:cs typeface="Arial"/>
              </a:rPr>
              <a:t>normalizes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  <a:p>
            <a:pPr marL="62230">
              <a:lnSpc>
                <a:spcPct val="100000"/>
              </a:lnSpc>
              <a:spcBef>
                <a:spcPts val="605"/>
              </a:spcBef>
            </a:pPr>
            <a:r>
              <a:rPr sz="1400" dirty="0">
                <a:latin typeface="Arial"/>
                <a:cs typeface="Arial"/>
              </a:rPr>
              <a:t>Residual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42026" y="3275076"/>
            <a:ext cx="3289300" cy="1289050"/>
            <a:chOff x="5542026" y="3275076"/>
            <a:chExt cx="3289300" cy="1289050"/>
          </a:xfrm>
        </p:grpSpPr>
        <p:sp>
          <p:nvSpPr>
            <p:cNvPr id="7" name="object 7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11976" y="3255898"/>
            <a:ext cx="15500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57901" y="2548001"/>
            <a:ext cx="3267075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2284">
              <a:lnSpc>
                <a:spcPts val="232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8251" y="2954401"/>
            <a:ext cx="206375" cy="20637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089140" y="2849879"/>
            <a:ext cx="2038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07076" y="2843276"/>
            <a:ext cx="3514725" cy="1271905"/>
            <a:chOff x="5307076" y="2843276"/>
            <a:chExt cx="3514725" cy="1271905"/>
          </a:xfrm>
        </p:grpSpPr>
        <p:sp>
          <p:nvSpPr>
            <p:cNvPr id="22" name="object 22"/>
            <p:cNvSpPr/>
            <p:nvPr/>
          </p:nvSpPr>
          <p:spPr>
            <a:xfrm>
              <a:off x="5307076" y="3014726"/>
              <a:ext cx="1794510" cy="858519"/>
            </a:xfrm>
            <a:custGeom>
              <a:avLst/>
              <a:gdLst/>
              <a:ahLst/>
              <a:cxnLst/>
              <a:rect l="l" t="t" r="r" b="b"/>
              <a:pathLst>
                <a:path w="1794509" h="858520">
                  <a:moveTo>
                    <a:pt x="1717928" y="25400"/>
                  </a:moveTo>
                  <a:lnTo>
                    <a:pt x="5587" y="25400"/>
                  </a:lnTo>
                  <a:lnTo>
                    <a:pt x="0" y="30987"/>
                  </a:lnTo>
                  <a:lnTo>
                    <a:pt x="0" y="852805"/>
                  </a:lnTo>
                  <a:lnTo>
                    <a:pt x="5587" y="858520"/>
                  </a:lnTo>
                  <a:lnTo>
                    <a:pt x="241173" y="858520"/>
                  </a:lnTo>
                  <a:lnTo>
                    <a:pt x="241173" y="845820"/>
                  </a:lnTo>
                  <a:lnTo>
                    <a:pt x="25400" y="845820"/>
                  </a:lnTo>
                  <a:lnTo>
                    <a:pt x="12700" y="833120"/>
                  </a:lnTo>
                  <a:lnTo>
                    <a:pt x="25400" y="833120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400"/>
                  </a:lnTo>
                  <a:close/>
                </a:path>
                <a:path w="1794509" h="858520">
                  <a:moveTo>
                    <a:pt x="25400" y="833120"/>
                  </a:moveTo>
                  <a:lnTo>
                    <a:pt x="12700" y="833120"/>
                  </a:lnTo>
                  <a:lnTo>
                    <a:pt x="25400" y="845820"/>
                  </a:lnTo>
                  <a:lnTo>
                    <a:pt x="25400" y="833120"/>
                  </a:lnTo>
                  <a:close/>
                </a:path>
                <a:path w="1794509" h="858520">
                  <a:moveTo>
                    <a:pt x="241173" y="833120"/>
                  </a:moveTo>
                  <a:lnTo>
                    <a:pt x="25400" y="833120"/>
                  </a:lnTo>
                  <a:lnTo>
                    <a:pt x="25400" y="845820"/>
                  </a:lnTo>
                  <a:lnTo>
                    <a:pt x="241173" y="845820"/>
                  </a:lnTo>
                  <a:lnTo>
                    <a:pt x="241173" y="833120"/>
                  </a:lnTo>
                  <a:close/>
                </a:path>
                <a:path w="1794509" h="858520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400"/>
                  </a:lnTo>
                  <a:lnTo>
                    <a:pt x="1768728" y="25400"/>
                  </a:lnTo>
                  <a:lnTo>
                    <a:pt x="1717928" y="0"/>
                  </a:lnTo>
                  <a:close/>
                </a:path>
                <a:path w="1794509" h="858520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858520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858520">
                  <a:moveTo>
                    <a:pt x="1768728" y="25400"/>
                  </a:moveTo>
                  <a:lnTo>
                    <a:pt x="1730628" y="25400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728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0100" y="3148076"/>
              <a:ext cx="76073" cy="13881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48512" y="2843276"/>
              <a:ext cx="76264" cy="12026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9" y="3586226"/>
              <a:ext cx="76200" cy="19532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9" y="3586226"/>
              <a:ext cx="76200" cy="19532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9" y="3586226"/>
              <a:ext cx="76200" cy="19532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9" y="3586226"/>
              <a:ext cx="76200" cy="195326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542279" y="169862"/>
            <a:ext cx="23164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Recall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Layer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Normalization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389" y="4589862"/>
            <a:ext cx="25476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223506" y="389191"/>
            <a:ext cx="918844" cy="1092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2860" algn="ctr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(Shape: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D)</a:t>
            </a:r>
            <a:endParaRPr sz="1400">
              <a:latin typeface="Arial"/>
              <a:cs typeface="Arial"/>
            </a:endParaRPr>
          </a:p>
          <a:p>
            <a:pPr marR="3810" algn="ctr">
              <a:lnSpc>
                <a:spcPts val="1655"/>
              </a:lnSpc>
            </a:pPr>
            <a:r>
              <a:rPr sz="1400" dirty="0">
                <a:latin typeface="Arial"/>
                <a:cs typeface="Arial"/>
              </a:rPr>
              <a:t>(Shape: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D)</a:t>
            </a:r>
            <a:endParaRPr sz="1400">
              <a:latin typeface="Arial"/>
              <a:cs typeface="Arial"/>
            </a:endParaRPr>
          </a:p>
          <a:p>
            <a:pPr marL="33020" algn="ctr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(Shape: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D)</a:t>
            </a:r>
            <a:endParaRPr sz="1400">
              <a:latin typeface="Arial"/>
              <a:cs typeface="Arial"/>
            </a:endParaRPr>
          </a:p>
          <a:p>
            <a:pPr marL="179070" marR="128905" indent="5715" algn="ctr">
              <a:lnSpc>
                <a:spcPts val="1650"/>
              </a:lnSpc>
              <a:spcBef>
                <a:spcPts val="130"/>
              </a:spcBef>
            </a:pPr>
            <a:r>
              <a:rPr sz="1400" spc="-10" dirty="0">
                <a:latin typeface="Arial"/>
                <a:cs typeface="Arial"/>
              </a:rPr>
              <a:t>(scalar) (scalar)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16879" y="389191"/>
            <a:ext cx="1724660" cy="15220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 marR="443230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"/>
                <a:cs typeface="Arial"/>
              </a:rPr>
              <a:t>Given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…,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18518" dirty="0">
                <a:latin typeface="Arial"/>
                <a:cs typeface="Arial"/>
              </a:rPr>
              <a:t>N </a:t>
            </a:r>
            <a:r>
              <a:rPr sz="1400" dirty="0">
                <a:latin typeface="Arial"/>
                <a:cs typeface="Arial"/>
              </a:rPr>
              <a:t>scale: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𝛾</a:t>
            </a:r>
            <a:endParaRPr sz="1400">
              <a:latin typeface="Cambria Math"/>
              <a:cs typeface="Cambria Math"/>
            </a:endParaRPr>
          </a:p>
          <a:p>
            <a:pPr marL="38100">
              <a:lnSpc>
                <a:spcPts val="1605"/>
              </a:lnSpc>
            </a:pPr>
            <a:r>
              <a:rPr sz="1400" dirty="0">
                <a:latin typeface="Arial"/>
                <a:cs typeface="Arial"/>
              </a:rPr>
              <a:t>shift: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𝛽</a:t>
            </a:r>
            <a:endParaRPr sz="1400">
              <a:latin typeface="Cambria Math"/>
              <a:cs typeface="Cambria Math"/>
            </a:endParaRPr>
          </a:p>
          <a:p>
            <a:pPr marL="38100">
              <a:lnSpc>
                <a:spcPts val="1664"/>
              </a:lnSpc>
              <a:spcBef>
                <a:spcPts val="50"/>
              </a:spcBef>
            </a:pPr>
            <a:r>
              <a:rPr sz="1400" dirty="0">
                <a:latin typeface="Cambria Math"/>
                <a:cs typeface="Cambria Math"/>
              </a:rPr>
              <a:t>𝜇</a:t>
            </a:r>
            <a:r>
              <a:rPr sz="1350" baseline="-18518" dirty="0">
                <a:latin typeface="Arial"/>
                <a:cs typeface="Arial"/>
              </a:rPr>
              <a:t>i</a:t>
            </a:r>
            <a:r>
              <a:rPr sz="1350" spc="217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(∑</a:t>
            </a:r>
            <a:r>
              <a:rPr sz="1350" baseline="-18518" dirty="0">
                <a:latin typeface="Arial"/>
                <a:cs typeface="Arial"/>
              </a:rPr>
              <a:t>j</a:t>
            </a:r>
            <a:r>
              <a:rPr sz="1350" spc="225" baseline="-18518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</a:t>
            </a:r>
            <a:r>
              <a:rPr sz="1350" spc="-15" baseline="-18518" dirty="0">
                <a:latin typeface="Arial"/>
                <a:cs typeface="Arial"/>
              </a:rPr>
              <a:t>i,j</a:t>
            </a:r>
            <a:r>
              <a:rPr sz="1400" spc="-10" dirty="0">
                <a:latin typeface="Arial"/>
                <a:cs typeface="Arial"/>
              </a:rPr>
              <a:t>)/D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dirty="0">
                <a:latin typeface="Cambria Math"/>
                <a:cs typeface="Cambria Math"/>
              </a:rPr>
              <a:t>𝜎</a:t>
            </a:r>
            <a:r>
              <a:rPr sz="1350" baseline="-18518" dirty="0">
                <a:latin typeface="Arial"/>
                <a:cs typeface="Arial"/>
              </a:rPr>
              <a:t>i</a:t>
            </a:r>
            <a:r>
              <a:rPr sz="1350" spc="217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(∑</a:t>
            </a:r>
            <a:r>
              <a:rPr sz="1350" baseline="-18518" dirty="0">
                <a:latin typeface="Arial"/>
                <a:cs typeface="Arial"/>
              </a:rPr>
              <a:t>j</a:t>
            </a:r>
            <a:r>
              <a:rPr sz="1350" spc="217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(h</a:t>
            </a:r>
            <a:r>
              <a:rPr sz="1350" baseline="-18518" dirty="0">
                <a:latin typeface="Arial"/>
                <a:cs typeface="Arial"/>
              </a:rPr>
              <a:t>i,j</a:t>
            </a:r>
            <a:r>
              <a:rPr sz="1350" spc="262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Cambria Math"/>
                <a:cs typeface="Cambria Math"/>
              </a:rPr>
              <a:t>𝜇</a:t>
            </a:r>
            <a:r>
              <a:rPr sz="1350" spc="-15" baseline="-18518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)</a:t>
            </a:r>
            <a:r>
              <a:rPr sz="1350" spc="-15" baseline="27777" dirty="0">
                <a:latin typeface="Arial"/>
                <a:cs typeface="Arial"/>
              </a:rPr>
              <a:t>2</a:t>
            </a:r>
            <a:r>
              <a:rPr sz="1400" spc="-10" dirty="0">
                <a:latin typeface="Arial"/>
                <a:cs typeface="Arial"/>
              </a:rPr>
              <a:t>/D)</a:t>
            </a:r>
            <a:r>
              <a:rPr sz="1350" spc="-15" baseline="27777" dirty="0">
                <a:latin typeface="Arial"/>
                <a:cs typeface="Arial"/>
              </a:rPr>
              <a:t>1/2</a:t>
            </a:r>
            <a:endParaRPr sz="1350" baseline="27777">
              <a:latin typeface="Arial"/>
              <a:cs typeface="Arial"/>
            </a:endParaRPr>
          </a:p>
          <a:p>
            <a:pPr marL="38100">
              <a:lnSpc>
                <a:spcPts val="1664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r>
              <a:rPr sz="1350" baseline="-18518" dirty="0">
                <a:latin typeface="Arial"/>
                <a:cs typeface="Arial"/>
              </a:rPr>
              <a:t>i</a:t>
            </a:r>
            <a:r>
              <a:rPr sz="1350" spc="225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(h</a:t>
            </a:r>
            <a:r>
              <a:rPr sz="1350" baseline="-18518" dirty="0">
                <a:latin typeface="Arial"/>
                <a:cs typeface="Arial"/>
              </a:rPr>
              <a:t>i</a:t>
            </a:r>
            <a:r>
              <a:rPr sz="1350" spc="225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Cambria Math"/>
                <a:cs typeface="Cambria Math"/>
              </a:rPr>
              <a:t>𝜇</a:t>
            </a:r>
            <a:r>
              <a:rPr sz="1350" baseline="-18518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)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/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𝜎</a:t>
            </a:r>
            <a:r>
              <a:rPr sz="1350" spc="-37" baseline="-18518" dirty="0">
                <a:latin typeface="Arial"/>
                <a:cs typeface="Arial"/>
              </a:rPr>
              <a:t>i</a:t>
            </a:r>
            <a:endParaRPr sz="1350" baseline="-18518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y</a:t>
            </a:r>
            <a:r>
              <a:rPr sz="1350" baseline="-18518" dirty="0">
                <a:latin typeface="Arial"/>
                <a:cs typeface="Arial"/>
              </a:rPr>
              <a:t>i</a:t>
            </a:r>
            <a:r>
              <a:rPr sz="1350" spc="217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Cambria Math"/>
                <a:cs typeface="Cambria Math"/>
              </a:rPr>
              <a:t>𝛾</a:t>
            </a:r>
            <a:r>
              <a:rPr sz="1400" spc="60" dirty="0">
                <a:latin typeface="Cambria Math"/>
                <a:cs typeface="Cambria Math"/>
              </a:rPr>
              <a:t> </a:t>
            </a:r>
            <a:r>
              <a:rPr sz="1400" dirty="0">
                <a:latin typeface="Arial"/>
                <a:cs typeface="Arial"/>
              </a:rPr>
              <a:t>*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z</a:t>
            </a:r>
            <a:r>
              <a:rPr sz="1350" baseline="-18518" dirty="0">
                <a:latin typeface="Arial"/>
                <a:cs typeface="Arial"/>
              </a:rPr>
              <a:t>i</a:t>
            </a:r>
            <a:r>
              <a:rPr sz="1350" spc="217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+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𝛽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42279" y="2097341"/>
            <a:ext cx="11233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Ba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al,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95041" y="3339528"/>
            <a:ext cx="222631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interact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through </a:t>
            </a:r>
            <a:r>
              <a:rPr sz="1400" dirty="0">
                <a:latin typeface="Arial"/>
                <a:cs typeface="Arial"/>
              </a:rPr>
              <a:t>(multiheaded)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670" y="788987"/>
            <a:ext cx="16059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670" y="1218247"/>
            <a:ext cx="17767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42026" y="3275076"/>
            <a:ext cx="3289300" cy="1289050"/>
            <a:chOff x="5542026" y="3275076"/>
            <a:chExt cx="3289300" cy="1289050"/>
          </a:xfrm>
        </p:grpSpPr>
        <p:sp>
          <p:nvSpPr>
            <p:cNvPr id="6" name="object 6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615051" y="1747901"/>
            <a:ext cx="733425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15151" y="1747901"/>
            <a:ext cx="733425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5251" y="1747901"/>
            <a:ext cx="733425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24876" y="1747901"/>
            <a:ext cx="723900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11976" y="3255898"/>
            <a:ext cx="15500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57901" y="2548001"/>
            <a:ext cx="3267075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2284">
              <a:lnSpc>
                <a:spcPts val="232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8251" y="2954401"/>
            <a:ext cx="206375" cy="20637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089140" y="2849879"/>
            <a:ext cx="2038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7076" y="2843276"/>
            <a:ext cx="3514725" cy="1271905"/>
            <a:chOff x="5307076" y="2843276"/>
            <a:chExt cx="3514725" cy="1271905"/>
          </a:xfrm>
        </p:grpSpPr>
        <p:sp>
          <p:nvSpPr>
            <p:cNvPr id="25" name="object 25"/>
            <p:cNvSpPr/>
            <p:nvPr/>
          </p:nvSpPr>
          <p:spPr>
            <a:xfrm>
              <a:off x="5307076" y="3014726"/>
              <a:ext cx="1794510" cy="858519"/>
            </a:xfrm>
            <a:custGeom>
              <a:avLst/>
              <a:gdLst/>
              <a:ahLst/>
              <a:cxnLst/>
              <a:rect l="l" t="t" r="r" b="b"/>
              <a:pathLst>
                <a:path w="1794509" h="858520">
                  <a:moveTo>
                    <a:pt x="1717928" y="25400"/>
                  </a:moveTo>
                  <a:lnTo>
                    <a:pt x="5587" y="25400"/>
                  </a:lnTo>
                  <a:lnTo>
                    <a:pt x="0" y="30987"/>
                  </a:lnTo>
                  <a:lnTo>
                    <a:pt x="0" y="852805"/>
                  </a:lnTo>
                  <a:lnTo>
                    <a:pt x="5587" y="858520"/>
                  </a:lnTo>
                  <a:lnTo>
                    <a:pt x="241173" y="858520"/>
                  </a:lnTo>
                  <a:lnTo>
                    <a:pt x="241173" y="845820"/>
                  </a:lnTo>
                  <a:lnTo>
                    <a:pt x="25400" y="845820"/>
                  </a:lnTo>
                  <a:lnTo>
                    <a:pt x="12700" y="833120"/>
                  </a:lnTo>
                  <a:lnTo>
                    <a:pt x="25400" y="833120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400"/>
                  </a:lnTo>
                  <a:close/>
                </a:path>
                <a:path w="1794509" h="858520">
                  <a:moveTo>
                    <a:pt x="25400" y="833120"/>
                  </a:moveTo>
                  <a:lnTo>
                    <a:pt x="12700" y="833120"/>
                  </a:lnTo>
                  <a:lnTo>
                    <a:pt x="25400" y="845820"/>
                  </a:lnTo>
                  <a:lnTo>
                    <a:pt x="25400" y="833120"/>
                  </a:lnTo>
                  <a:close/>
                </a:path>
                <a:path w="1794509" h="858520">
                  <a:moveTo>
                    <a:pt x="241173" y="833120"/>
                  </a:moveTo>
                  <a:lnTo>
                    <a:pt x="25400" y="833120"/>
                  </a:lnTo>
                  <a:lnTo>
                    <a:pt x="25400" y="845820"/>
                  </a:lnTo>
                  <a:lnTo>
                    <a:pt x="241173" y="845820"/>
                  </a:lnTo>
                  <a:lnTo>
                    <a:pt x="241173" y="833120"/>
                  </a:lnTo>
                  <a:close/>
                </a:path>
                <a:path w="1794509" h="858520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400"/>
                  </a:lnTo>
                  <a:lnTo>
                    <a:pt x="1768728" y="25400"/>
                  </a:lnTo>
                  <a:lnTo>
                    <a:pt x="1717928" y="0"/>
                  </a:lnTo>
                  <a:close/>
                </a:path>
                <a:path w="1794509" h="858520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858520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858520">
                  <a:moveTo>
                    <a:pt x="1768728" y="25400"/>
                  </a:moveTo>
                  <a:lnTo>
                    <a:pt x="1730628" y="25400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728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0100" y="3148076"/>
              <a:ext cx="76073" cy="13881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48512" y="2843276"/>
              <a:ext cx="76264" cy="12026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9" y="3586226"/>
              <a:ext cx="76200" cy="19532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9" y="3586226"/>
              <a:ext cx="76200" cy="19532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9" y="3586226"/>
              <a:ext cx="76200" cy="19532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9" y="3586226"/>
              <a:ext cx="76200" cy="195326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5948299" y="2043048"/>
            <a:ext cx="2474595" cy="509905"/>
          </a:xfrm>
          <a:custGeom>
            <a:avLst/>
            <a:gdLst/>
            <a:ahLst/>
            <a:cxnLst/>
            <a:rect l="l" t="t" r="r" b="b"/>
            <a:pathLst>
              <a:path w="2474595" h="509905">
                <a:moveTo>
                  <a:pt x="2474595" y="76327"/>
                </a:moveTo>
                <a:lnTo>
                  <a:pt x="2468245" y="63627"/>
                </a:lnTo>
                <a:lnTo>
                  <a:pt x="2436495" y="127"/>
                </a:lnTo>
                <a:lnTo>
                  <a:pt x="2398395" y="76327"/>
                </a:lnTo>
                <a:lnTo>
                  <a:pt x="2423795" y="76327"/>
                </a:lnTo>
                <a:lnTo>
                  <a:pt x="2423795" y="242062"/>
                </a:lnTo>
                <a:lnTo>
                  <a:pt x="1643126" y="242062"/>
                </a:lnTo>
                <a:lnTo>
                  <a:pt x="1643126" y="76327"/>
                </a:lnTo>
                <a:lnTo>
                  <a:pt x="1668526" y="76327"/>
                </a:lnTo>
                <a:lnTo>
                  <a:pt x="1662176" y="63627"/>
                </a:lnTo>
                <a:lnTo>
                  <a:pt x="1630426" y="127"/>
                </a:lnTo>
                <a:lnTo>
                  <a:pt x="1592326" y="76327"/>
                </a:lnTo>
                <a:lnTo>
                  <a:pt x="1617726" y="76327"/>
                </a:lnTo>
                <a:lnTo>
                  <a:pt x="1617726" y="242062"/>
                </a:lnTo>
                <a:lnTo>
                  <a:pt x="1250823" y="242062"/>
                </a:lnTo>
                <a:lnTo>
                  <a:pt x="1249553" y="242062"/>
                </a:lnTo>
                <a:lnTo>
                  <a:pt x="1231265" y="242062"/>
                </a:lnTo>
                <a:lnTo>
                  <a:pt x="851027" y="242062"/>
                </a:lnTo>
                <a:lnTo>
                  <a:pt x="851027" y="76200"/>
                </a:lnTo>
                <a:lnTo>
                  <a:pt x="876300" y="76200"/>
                </a:lnTo>
                <a:lnTo>
                  <a:pt x="869950" y="63500"/>
                </a:lnTo>
                <a:lnTo>
                  <a:pt x="838200" y="0"/>
                </a:lnTo>
                <a:lnTo>
                  <a:pt x="800100" y="76200"/>
                </a:lnTo>
                <a:lnTo>
                  <a:pt x="825500" y="76200"/>
                </a:lnTo>
                <a:lnTo>
                  <a:pt x="825500" y="242062"/>
                </a:lnTo>
                <a:lnTo>
                  <a:pt x="50800" y="242062"/>
                </a:lnTo>
                <a:lnTo>
                  <a:pt x="50800" y="76327"/>
                </a:lnTo>
                <a:lnTo>
                  <a:pt x="76200" y="76327"/>
                </a:lnTo>
                <a:lnTo>
                  <a:pt x="69850" y="63627"/>
                </a:lnTo>
                <a:lnTo>
                  <a:pt x="38100" y="127"/>
                </a:lnTo>
                <a:lnTo>
                  <a:pt x="0" y="76327"/>
                </a:lnTo>
                <a:lnTo>
                  <a:pt x="25400" y="76327"/>
                </a:lnTo>
                <a:lnTo>
                  <a:pt x="25400" y="261747"/>
                </a:lnTo>
                <a:lnTo>
                  <a:pt x="31115" y="267462"/>
                </a:lnTo>
                <a:lnTo>
                  <a:pt x="831215" y="267462"/>
                </a:lnTo>
                <a:lnTo>
                  <a:pt x="1225550" y="267462"/>
                </a:lnTo>
                <a:lnTo>
                  <a:pt x="1225550" y="509397"/>
                </a:lnTo>
                <a:lnTo>
                  <a:pt x="1229868" y="509397"/>
                </a:lnTo>
                <a:lnTo>
                  <a:pt x="1231011" y="509397"/>
                </a:lnTo>
                <a:lnTo>
                  <a:pt x="1250950" y="509397"/>
                </a:lnTo>
                <a:lnTo>
                  <a:pt x="1255268" y="509397"/>
                </a:lnTo>
                <a:lnTo>
                  <a:pt x="1256411" y="509397"/>
                </a:lnTo>
                <a:lnTo>
                  <a:pt x="1256411" y="267462"/>
                </a:lnTo>
                <a:lnTo>
                  <a:pt x="1637411" y="267462"/>
                </a:lnTo>
                <a:lnTo>
                  <a:pt x="2443480" y="267462"/>
                </a:lnTo>
                <a:lnTo>
                  <a:pt x="2449195" y="261747"/>
                </a:lnTo>
                <a:lnTo>
                  <a:pt x="2449195" y="242062"/>
                </a:lnTo>
                <a:lnTo>
                  <a:pt x="2449195" y="76327"/>
                </a:lnTo>
                <a:lnTo>
                  <a:pt x="2474595" y="763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437254" y="2420556"/>
            <a:ext cx="1739900" cy="7531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Layer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normalization </a:t>
            </a:r>
            <a:r>
              <a:rPr sz="1400" dirty="0">
                <a:latin typeface="Arial"/>
                <a:cs typeface="Arial"/>
              </a:rPr>
              <a:t>normalizes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  <a:p>
            <a:pPr marL="62230">
              <a:lnSpc>
                <a:spcPct val="100000"/>
              </a:lnSpc>
              <a:spcBef>
                <a:spcPts val="605"/>
              </a:spcBef>
            </a:pPr>
            <a:r>
              <a:rPr sz="1400" dirty="0">
                <a:latin typeface="Arial"/>
                <a:cs typeface="Arial"/>
              </a:rPr>
              <a:t>Residual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389" y="4589862"/>
            <a:ext cx="25476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995041" y="3339528"/>
            <a:ext cx="222631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interact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through </a:t>
            </a:r>
            <a:r>
              <a:rPr sz="1400" dirty="0">
                <a:latin typeface="Arial"/>
                <a:cs typeface="Arial"/>
              </a:rPr>
              <a:t>(multiheaded)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29076" y="1655762"/>
            <a:ext cx="1543685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MLP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independently </a:t>
            </a:r>
            <a:r>
              <a:rPr sz="1400" dirty="0">
                <a:latin typeface="Arial"/>
                <a:cs typeface="Arial"/>
              </a:rPr>
              <a:t>on 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63234" y="217741"/>
            <a:ext cx="1993900" cy="6724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Usually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two-</a:t>
            </a:r>
            <a:r>
              <a:rPr sz="1400" dirty="0">
                <a:latin typeface="Arial"/>
                <a:cs typeface="Arial"/>
              </a:rPr>
              <a:t>layer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MLP; </a:t>
            </a:r>
            <a:r>
              <a:rPr sz="1400" dirty="0">
                <a:latin typeface="Arial"/>
                <a:cs typeface="Arial"/>
              </a:rPr>
              <a:t>classic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setup </a:t>
            </a:r>
            <a:r>
              <a:rPr sz="1400" spc="-25" dirty="0">
                <a:latin typeface="Arial"/>
                <a:cs typeface="Arial"/>
              </a:rPr>
              <a:t>is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55"/>
              </a:lnSpc>
            </a:pPr>
            <a:r>
              <a:rPr sz="1400" dirty="0">
                <a:latin typeface="Arial"/>
                <a:cs typeface="Arial"/>
              </a:rPr>
              <a:t>D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63234" y="1076642"/>
            <a:ext cx="2183765" cy="4533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"/>
                <a:cs typeface="Arial"/>
              </a:rPr>
              <a:t>Also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sometimes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called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FFN </a:t>
            </a:r>
            <a:r>
              <a:rPr sz="1400" spc="-10" dirty="0">
                <a:latin typeface="Arial"/>
                <a:cs typeface="Arial"/>
              </a:rPr>
              <a:t>(Feed-</a:t>
            </a:r>
            <a:r>
              <a:rPr sz="1400" dirty="0">
                <a:latin typeface="Arial"/>
                <a:cs typeface="Arial"/>
              </a:rPr>
              <a:t>Forward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Network)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670" y="788987"/>
            <a:ext cx="16059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670" y="1218247"/>
            <a:ext cx="17767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7254" y="2420556"/>
            <a:ext cx="1739900" cy="7531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Layer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normalization </a:t>
            </a:r>
            <a:r>
              <a:rPr sz="1400" dirty="0">
                <a:latin typeface="Arial"/>
                <a:cs typeface="Arial"/>
              </a:rPr>
              <a:t>normalizes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  <a:p>
            <a:pPr marL="62230">
              <a:lnSpc>
                <a:spcPct val="100000"/>
              </a:lnSpc>
              <a:spcBef>
                <a:spcPts val="605"/>
              </a:spcBef>
            </a:pPr>
            <a:r>
              <a:rPr sz="1400" dirty="0">
                <a:latin typeface="Arial"/>
                <a:cs typeface="Arial"/>
              </a:rPr>
              <a:t>Residual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5041" y="3339528"/>
            <a:ext cx="222631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interact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through </a:t>
            </a:r>
            <a:r>
              <a:rPr sz="1400" dirty="0">
                <a:latin typeface="Arial"/>
                <a:cs typeface="Arial"/>
              </a:rPr>
              <a:t>(multiheaded)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2026" y="3275076"/>
            <a:ext cx="3289300" cy="1289050"/>
            <a:chOff x="5542026" y="3275076"/>
            <a:chExt cx="3289300" cy="1289050"/>
          </a:xfrm>
        </p:grpSpPr>
        <p:sp>
          <p:nvSpPr>
            <p:cNvPr id="8" name="object 8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608701" y="1741551"/>
            <a:ext cx="746125" cy="307975"/>
            <a:chOff x="5608701" y="1741551"/>
            <a:chExt cx="746125" cy="307975"/>
          </a:xfrm>
        </p:grpSpPr>
        <p:sp>
          <p:nvSpPr>
            <p:cNvPr id="19" name="object 19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150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08801" y="1741551"/>
            <a:ext cx="746125" cy="307975"/>
            <a:chOff x="6408801" y="1741551"/>
            <a:chExt cx="746125" cy="307975"/>
          </a:xfrm>
        </p:grpSpPr>
        <p:sp>
          <p:nvSpPr>
            <p:cNvPr id="23" name="object 23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151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15251" y="1747901"/>
            <a:ext cx="733425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24876" y="1747901"/>
            <a:ext cx="723900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1976" y="3255898"/>
            <a:ext cx="15500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57901" y="2548001"/>
            <a:ext cx="3267075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2284">
              <a:lnSpc>
                <a:spcPts val="232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8251" y="2954401"/>
            <a:ext cx="206375" cy="206375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089140" y="2849879"/>
            <a:ext cx="2038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8251" y="1306575"/>
            <a:ext cx="206375" cy="206375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5307076" y="2843276"/>
            <a:ext cx="3514725" cy="1271905"/>
            <a:chOff x="5307076" y="2843276"/>
            <a:chExt cx="3514725" cy="1271905"/>
          </a:xfrm>
        </p:grpSpPr>
        <p:sp>
          <p:nvSpPr>
            <p:cNvPr id="34" name="object 34"/>
            <p:cNvSpPr/>
            <p:nvPr/>
          </p:nvSpPr>
          <p:spPr>
            <a:xfrm>
              <a:off x="5307076" y="3014726"/>
              <a:ext cx="1794510" cy="858519"/>
            </a:xfrm>
            <a:custGeom>
              <a:avLst/>
              <a:gdLst/>
              <a:ahLst/>
              <a:cxnLst/>
              <a:rect l="l" t="t" r="r" b="b"/>
              <a:pathLst>
                <a:path w="1794509" h="858520">
                  <a:moveTo>
                    <a:pt x="1717928" y="25400"/>
                  </a:moveTo>
                  <a:lnTo>
                    <a:pt x="5587" y="25400"/>
                  </a:lnTo>
                  <a:lnTo>
                    <a:pt x="0" y="30987"/>
                  </a:lnTo>
                  <a:lnTo>
                    <a:pt x="0" y="852805"/>
                  </a:lnTo>
                  <a:lnTo>
                    <a:pt x="5587" y="858520"/>
                  </a:lnTo>
                  <a:lnTo>
                    <a:pt x="241173" y="858520"/>
                  </a:lnTo>
                  <a:lnTo>
                    <a:pt x="241173" y="845820"/>
                  </a:lnTo>
                  <a:lnTo>
                    <a:pt x="25400" y="845820"/>
                  </a:lnTo>
                  <a:lnTo>
                    <a:pt x="12700" y="833120"/>
                  </a:lnTo>
                  <a:lnTo>
                    <a:pt x="25400" y="833120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400"/>
                  </a:lnTo>
                  <a:close/>
                </a:path>
                <a:path w="1794509" h="858520">
                  <a:moveTo>
                    <a:pt x="25400" y="833120"/>
                  </a:moveTo>
                  <a:lnTo>
                    <a:pt x="12700" y="833120"/>
                  </a:lnTo>
                  <a:lnTo>
                    <a:pt x="25400" y="845820"/>
                  </a:lnTo>
                  <a:lnTo>
                    <a:pt x="25400" y="833120"/>
                  </a:lnTo>
                  <a:close/>
                </a:path>
                <a:path w="1794509" h="858520">
                  <a:moveTo>
                    <a:pt x="241173" y="833120"/>
                  </a:moveTo>
                  <a:lnTo>
                    <a:pt x="25400" y="833120"/>
                  </a:lnTo>
                  <a:lnTo>
                    <a:pt x="25400" y="845820"/>
                  </a:lnTo>
                  <a:lnTo>
                    <a:pt x="241173" y="845820"/>
                  </a:lnTo>
                  <a:lnTo>
                    <a:pt x="241173" y="833120"/>
                  </a:lnTo>
                  <a:close/>
                </a:path>
                <a:path w="1794509" h="858520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400"/>
                  </a:lnTo>
                  <a:lnTo>
                    <a:pt x="1768728" y="25400"/>
                  </a:lnTo>
                  <a:lnTo>
                    <a:pt x="1717928" y="0"/>
                  </a:lnTo>
                  <a:close/>
                </a:path>
                <a:path w="1794509" h="858520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858520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858520">
                  <a:moveTo>
                    <a:pt x="1768728" y="25400"/>
                  </a:moveTo>
                  <a:lnTo>
                    <a:pt x="1730628" y="25400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728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100" y="3148076"/>
              <a:ext cx="76073" cy="13881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8512" y="2843276"/>
              <a:ext cx="76264" cy="12026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8299" y="3586226"/>
              <a:ext cx="76200" cy="19532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48399" y="3586226"/>
              <a:ext cx="76200" cy="19532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48499" y="3586226"/>
              <a:ext cx="76200" cy="19532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48599" y="3586226"/>
              <a:ext cx="76200" cy="195326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089140" y="1204849"/>
            <a:ext cx="2038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330063" y="1376425"/>
            <a:ext cx="3093085" cy="1176020"/>
          </a:xfrm>
          <a:custGeom>
            <a:avLst/>
            <a:gdLst/>
            <a:ahLst/>
            <a:cxnLst/>
            <a:rect l="l" t="t" r="r" b="b"/>
            <a:pathLst>
              <a:path w="3093084" h="1176020">
                <a:moveTo>
                  <a:pt x="3067685" y="239903"/>
                </a:moveTo>
                <a:lnTo>
                  <a:pt x="3061970" y="234315"/>
                </a:lnTo>
                <a:lnTo>
                  <a:pt x="2255901" y="234315"/>
                </a:lnTo>
                <a:lnTo>
                  <a:pt x="1874393" y="234315"/>
                </a:lnTo>
                <a:lnTo>
                  <a:pt x="1874393" y="200025"/>
                </a:lnTo>
                <a:lnTo>
                  <a:pt x="1894586" y="200025"/>
                </a:lnTo>
                <a:lnTo>
                  <a:pt x="1898650" y="200025"/>
                </a:lnTo>
                <a:lnTo>
                  <a:pt x="1899793" y="200025"/>
                </a:lnTo>
                <a:lnTo>
                  <a:pt x="1893443" y="187325"/>
                </a:lnTo>
                <a:lnTo>
                  <a:pt x="1861693" y="123825"/>
                </a:lnTo>
                <a:lnTo>
                  <a:pt x="1861121" y="124968"/>
                </a:lnTo>
                <a:lnTo>
                  <a:pt x="1860550" y="123825"/>
                </a:lnTo>
                <a:lnTo>
                  <a:pt x="1858543" y="127825"/>
                </a:lnTo>
                <a:lnTo>
                  <a:pt x="1856486" y="123698"/>
                </a:lnTo>
                <a:lnTo>
                  <a:pt x="1818386" y="199898"/>
                </a:lnTo>
                <a:lnTo>
                  <a:pt x="1818386" y="200025"/>
                </a:lnTo>
                <a:lnTo>
                  <a:pt x="1822450" y="200025"/>
                </a:lnTo>
                <a:lnTo>
                  <a:pt x="1823593" y="200025"/>
                </a:lnTo>
                <a:lnTo>
                  <a:pt x="1843786" y="200025"/>
                </a:lnTo>
                <a:lnTo>
                  <a:pt x="1843786" y="234315"/>
                </a:lnTo>
                <a:lnTo>
                  <a:pt x="1449451" y="234315"/>
                </a:lnTo>
                <a:lnTo>
                  <a:pt x="649351" y="234315"/>
                </a:lnTo>
                <a:lnTo>
                  <a:pt x="643636" y="239903"/>
                </a:lnTo>
                <a:lnTo>
                  <a:pt x="643636" y="370205"/>
                </a:lnTo>
                <a:lnTo>
                  <a:pt x="669036" y="370205"/>
                </a:lnTo>
                <a:lnTo>
                  <a:pt x="669036" y="259715"/>
                </a:lnTo>
                <a:lnTo>
                  <a:pt x="1443736" y="259715"/>
                </a:lnTo>
                <a:lnTo>
                  <a:pt x="1443736" y="370205"/>
                </a:lnTo>
                <a:lnTo>
                  <a:pt x="1469136" y="370205"/>
                </a:lnTo>
                <a:lnTo>
                  <a:pt x="1469136" y="259715"/>
                </a:lnTo>
                <a:lnTo>
                  <a:pt x="1849501" y="259715"/>
                </a:lnTo>
                <a:lnTo>
                  <a:pt x="1867535" y="259715"/>
                </a:lnTo>
                <a:lnTo>
                  <a:pt x="1868678" y="259715"/>
                </a:lnTo>
                <a:lnTo>
                  <a:pt x="2236216" y="259715"/>
                </a:lnTo>
                <a:lnTo>
                  <a:pt x="2236216" y="370205"/>
                </a:lnTo>
                <a:lnTo>
                  <a:pt x="2261616" y="370205"/>
                </a:lnTo>
                <a:lnTo>
                  <a:pt x="2261616" y="259715"/>
                </a:lnTo>
                <a:lnTo>
                  <a:pt x="3042285" y="259715"/>
                </a:lnTo>
                <a:lnTo>
                  <a:pt x="3042285" y="370205"/>
                </a:lnTo>
                <a:lnTo>
                  <a:pt x="3067685" y="370205"/>
                </a:lnTo>
                <a:lnTo>
                  <a:pt x="3067685" y="259715"/>
                </a:lnTo>
                <a:lnTo>
                  <a:pt x="3067685" y="239903"/>
                </a:lnTo>
                <a:close/>
              </a:path>
              <a:path w="3093084" h="1176020">
                <a:moveTo>
                  <a:pt x="3092831" y="742950"/>
                </a:moveTo>
                <a:lnTo>
                  <a:pt x="3086481" y="730250"/>
                </a:lnTo>
                <a:lnTo>
                  <a:pt x="3054731" y="666750"/>
                </a:lnTo>
                <a:lnTo>
                  <a:pt x="3016631" y="742950"/>
                </a:lnTo>
                <a:lnTo>
                  <a:pt x="3042031" y="742950"/>
                </a:lnTo>
                <a:lnTo>
                  <a:pt x="3042031" y="908685"/>
                </a:lnTo>
                <a:lnTo>
                  <a:pt x="2261362" y="908685"/>
                </a:lnTo>
                <a:lnTo>
                  <a:pt x="2261362" y="742950"/>
                </a:lnTo>
                <a:lnTo>
                  <a:pt x="2286762" y="742950"/>
                </a:lnTo>
                <a:lnTo>
                  <a:pt x="2280412" y="730250"/>
                </a:lnTo>
                <a:lnTo>
                  <a:pt x="2248662" y="666750"/>
                </a:lnTo>
                <a:lnTo>
                  <a:pt x="2210562" y="742950"/>
                </a:lnTo>
                <a:lnTo>
                  <a:pt x="2235962" y="742950"/>
                </a:lnTo>
                <a:lnTo>
                  <a:pt x="2235962" y="908685"/>
                </a:lnTo>
                <a:lnTo>
                  <a:pt x="1869059" y="908685"/>
                </a:lnTo>
                <a:lnTo>
                  <a:pt x="1867789" y="908685"/>
                </a:lnTo>
                <a:lnTo>
                  <a:pt x="1849501" y="908685"/>
                </a:lnTo>
                <a:lnTo>
                  <a:pt x="1469263" y="908685"/>
                </a:lnTo>
                <a:lnTo>
                  <a:pt x="1469263" y="742823"/>
                </a:lnTo>
                <a:lnTo>
                  <a:pt x="1494536" y="742823"/>
                </a:lnTo>
                <a:lnTo>
                  <a:pt x="1488186" y="730123"/>
                </a:lnTo>
                <a:lnTo>
                  <a:pt x="1456436" y="666623"/>
                </a:lnTo>
                <a:lnTo>
                  <a:pt x="1418336" y="742823"/>
                </a:lnTo>
                <a:lnTo>
                  <a:pt x="1443736" y="742823"/>
                </a:lnTo>
                <a:lnTo>
                  <a:pt x="1443736" y="908685"/>
                </a:lnTo>
                <a:lnTo>
                  <a:pt x="669036" y="908685"/>
                </a:lnTo>
                <a:lnTo>
                  <a:pt x="669036" y="742950"/>
                </a:lnTo>
                <a:lnTo>
                  <a:pt x="694436" y="742950"/>
                </a:lnTo>
                <a:lnTo>
                  <a:pt x="688086" y="730250"/>
                </a:lnTo>
                <a:lnTo>
                  <a:pt x="656336" y="666750"/>
                </a:lnTo>
                <a:lnTo>
                  <a:pt x="618236" y="742950"/>
                </a:lnTo>
                <a:lnTo>
                  <a:pt x="643636" y="742950"/>
                </a:lnTo>
                <a:lnTo>
                  <a:pt x="643636" y="928370"/>
                </a:lnTo>
                <a:lnTo>
                  <a:pt x="649351" y="934085"/>
                </a:lnTo>
                <a:lnTo>
                  <a:pt x="1449451" y="934085"/>
                </a:lnTo>
                <a:lnTo>
                  <a:pt x="1843786" y="934085"/>
                </a:lnTo>
                <a:lnTo>
                  <a:pt x="1843786" y="1044321"/>
                </a:lnTo>
                <a:lnTo>
                  <a:pt x="25400" y="1044321"/>
                </a:lnTo>
                <a:lnTo>
                  <a:pt x="25400" y="50800"/>
                </a:lnTo>
                <a:lnTo>
                  <a:pt x="1694561" y="50800"/>
                </a:lnTo>
                <a:lnTo>
                  <a:pt x="1694561" y="76200"/>
                </a:lnTo>
                <a:lnTo>
                  <a:pt x="1745361" y="50800"/>
                </a:lnTo>
                <a:lnTo>
                  <a:pt x="1770761" y="38100"/>
                </a:lnTo>
                <a:lnTo>
                  <a:pt x="1745361" y="25400"/>
                </a:lnTo>
                <a:lnTo>
                  <a:pt x="1694561" y="0"/>
                </a:lnTo>
                <a:lnTo>
                  <a:pt x="1694561" y="25400"/>
                </a:lnTo>
                <a:lnTo>
                  <a:pt x="5715" y="25400"/>
                </a:lnTo>
                <a:lnTo>
                  <a:pt x="0" y="30988"/>
                </a:lnTo>
                <a:lnTo>
                  <a:pt x="0" y="1064006"/>
                </a:lnTo>
                <a:lnTo>
                  <a:pt x="5715" y="1069721"/>
                </a:lnTo>
                <a:lnTo>
                  <a:pt x="1843786" y="1069721"/>
                </a:lnTo>
                <a:lnTo>
                  <a:pt x="1843786" y="1176020"/>
                </a:lnTo>
                <a:lnTo>
                  <a:pt x="1874647" y="1176020"/>
                </a:lnTo>
                <a:lnTo>
                  <a:pt x="1874647" y="934085"/>
                </a:lnTo>
                <a:lnTo>
                  <a:pt x="2255647" y="934085"/>
                </a:lnTo>
                <a:lnTo>
                  <a:pt x="3061716" y="934085"/>
                </a:lnTo>
                <a:lnTo>
                  <a:pt x="3067431" y="928370"/>
                </a:lnTo>
                <a:lnTo>
                  <a:pt x="3067431" y="908685"/>
                </a:lnTo>
                <a:lnTo>
                  <a:pt x="3067431" y="742950"/>
                </a:lnTo>
                <a:lnTo>
                  <a:pt x="3092831" y="742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529076" y="1655762"/>
            <a:ext cx="1543685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MLP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independently </a:t>
            </a:r>
            <a:r>
              <a:rPr sz="1400" dirty="0">
                <a:latin typeface="Arial"/>
                <a:cs typeface="Arial"/>
              </a:rPr>
              <a:t>on 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2389" y="4589862"/>
            <a:ext cx="25476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3529076" y="1260411"/>
            <a:ext cx="16205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Residual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670" y="788987"/>
            <a:ext cx="16059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670" y="1218247"/>
            <a:ext cx="17767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7254" y="2420556"/>
            <a:ext cx="1739900" cy="7531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Layer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normalization </a:t>
            </a:r>
            <a:r>
              <a:rPr sz="1400" dirty="0">
                <a:latin typeface="Arial"/>
                <a:cs typeface="Arial"/>
              </a:rPr>
              <a:t>normalizes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  <a:p>
            <a:pPr marL="62230">
              <a:lnSpc>
                <a:spcPct val="100000"/>
              </a:lnSpc>
              <a:spcBef>
                <a:spcPts val="605"/>
              </a:spcBef>
            </a:pPr>
            <a:r>
              <a:rPr sz="1400" dirty="0">
                <a:latin typeface="Arial"/>
                <a:cs typeface="Arial"/>
              </a:rPr>
              <a:t>Residual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5041" y="3339528"/>
            <a:ext cx="222631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All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interact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through </a:t>
            </a:r>
            <a:r>
              <a:rPr sz="1400" dirty="0">
                <a:latin typeface="Arial"/>
                <a:cs typeface="Arial"/>
              </a:rPr>
              <a:t>(multiheaded)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9076" y="1655762"/>
            <a:ext cx="1543685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MLP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independently </a:t>
            </a:r>
            <a:r>
              <a:rPr sz="1400" dirty="0">
                <a:latin typeface="Arial"/>
                <a:cs typeface="Arial"/>
              </a:rPr>
              <a:t>on 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9076" y="909002"/>
            <a:ext cx="1623695" cy="594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Another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Layer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Norm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latin typeface="Arial"/>
                <a:cs typeface="Arial"/>
              </a:rPr>
              <a:t>Residual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42026" y="3275076"/>
            <a:ext cx="3289300" cy="1289050"/>
            <a:chOff x="5542026" y="3275076"/>
            <a:chExt cx="3289300" cy="1289050"/>
          </a:xfrm>
        </p:grpSpPr>
        <p:sp>
          <p:nvSpPr>
            <p:cNvPr id="10" name="object 10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780151" y="246125"/>
            <a:ext cx="422275" cy="460375"/>
            <a:chOff x="5780151" y="246125"/>
            <a:chExt cx="422275" cy="460375"/>
          </a:xfrm>
        </p:grpSpPr>
        <p:sp>
          <p:nvSpPr>
            <p:cNvPr id="21" name="object 21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570726" y="246125"/>
            <a:ext cx="422275" cy="460375"/>
            <a:chOff x="6570726" y="246125"/>
            <a:chExt cx="422275" cy="460375"/>
          </a:xfrm>
        </p:grpSpPr>
        <p:sp>
          <p:nvSpPr>
            <p:cNvPr id="24" name="object 24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370826" y="246125"/>
            <a:ext cx="422275" cy="460375"/>
            <a:chOff x="7370826" y="246125"/>
            <a:chExt cx="422275" cy="460375"/>
          </a:xfrm>
        </p:grpSpPr>
        <p:sp>
          <p:nvSpPr>
            <p:cNvPr id="27" name="object 27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170926" y="246125"/>
            <a:ext cx="431800" cy="460375"/>
            <a:chOff x="8170926" y="246125"/>
            <a:chExt cx="431800" cy="460375"/>
          </a:xfrm>
        </p:grpSpPr>
        <p:sp>
          <p:nvSpPr>
            <p:cNvPr id="30" name="object 30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608701" y="1741551"/>
            <a:ext cx="746125" cy="307975"/>
            <a:chOff x="5608701" y="1741551"/>
            <a:chExt cx="746125" cy="307975"/>
          </a:xfrm>
        </p:grpSpPr>
        <p:sp>
          <p:nvSpPr>
            <p:cNvPr id="34" name="object 34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6150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408801" y="1741551"/>
            <a:ext cx="746125" cy="307975"/>
            <a:chOff x="6408801" y="1741551"/>
            <a:chExt cx="746125" cy="307975"/>
          </a:xfrm>
        </p:grpSpPr>
        <p:sp>
          <p:nvSpPr>
            <p:cNvPr id="38" name="object 38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4151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15251" y="1747901"/>
            <a:ext cx="733425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024876" y="1747901"/>
            <a:ext cx="723900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11976" y="3255898"/>
            <a:ext cx="15500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57901" y="2548001"/>
            <a:ext cx="3267075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2284">
              <a:lnSpc>
                <a:spcPts val="232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8251" y="2954401"/>
            <a:ext cx="206375" cy="206375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7089140" y="2849879"/>
            <a:ext cx="2038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307076" y="2843276"/>
            <a:ext cx="3514725" cy="1271905"/>
            <a:chOff x="5307076" y="2843276"/>
            <a:chExt cx="3514725" cy="1271905"/>
          </a:xfrm>
        </p:grpSpPr>
        <p:sp>
          <p:nvSpPr>
            <p:cNvPr id="48" name="object 48"/>
            <p:cNvSpPr/>
            <p:nvPr/>
          </p:nvSpPr>
          <p:spPr>
            <a:xfrm>
              <a:off x="5307076" y="3014726"/>
              <a:ext cx="1794510" cy="858519"/>
            </a:xfrm>
            <a:custGeom>
              <a:avLst/>
              <a:gdLst/>
              <a:ahLst/>
              <a:cxnLst/>
              <a:rect l="l" t="t" r="r" b="b"/>
              <a:pathLst>
                <a:path w="1794509" h="858520">
                  <a:moveTo>
                    <a:pt x="1717928" y="25400"/>
                  </a:moveTo>
                  <a:lnTo>
                    <a:pt x="5587" y="25400"/>
                  </a:lnTo>
                  <a:lnTo>
                    <a:pt x="0" y="30987"/>
                  </a:lnTo>
                  <a:lnTo>
                    <a:pt x="0" y="852805"/>
                  </a:lnTo>
                  <a:lnTo>
                    <a:pt x="5587" y="858520"/>
                  </a:lnTo>
                  <a:lnTo>
                    <a:pt x="241173" y="858520"/>
                  </a:lnTo>
                  <a:lnTo>
                    <a:pt x="241173" y="845820"/>
                  </a:lnTo>
                  <a:lnTo>
                    <a:pt x="25400" y="845820"/>
                  </a:lnTo>
                  <a:lnTo>
                    <a:pt x="12700" y="833120"/>
                  </a:lnTo>
                  <a:lnTo>
                    <a:pt x="25400" y="833120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400"/>
                  </a:lnTo>
                  <a:close/>
                </a:path>
                <a:path w="1794509" h="858520">
                  <a:moveTo>
                    <a:pt x="25400" y="833120"/>
                  </a:moveTo>
                  <a:lnTo>
                    <a:pt x="12700" y="833120"/>
                  </a:lnTo>
                  <a:lnTo>
                    <a:pt x="25400" y="845820"/>
                  </a:lnTo>
                  <a:lnTo>
                    <a:pt x="25400" y="833120"/>
                  </a:lnTo>
                  <a:close/>
                </a:path>
                <a:path w="1794509" h="858520">
                  <a:moveTo>
                    <a:pt x="241173" y="833120"/>
                  </a:moveTo>
                  <a:lnTo>
                    <a:pt x="25400" y="833120"/>
                  </a:lnTo>
                  <a:lnTo>
                    <a:pt x="25400" y="845820"/>
                  </a:lnTo>
                  <a:lnTo>
                    <a:pt x="241173" y="845820"/>
                  </a:lnTo>
                  <a:lnTo>
                    <a:pt x="241173" y="833120"/>
                  </a:lnTo>
                  <a:close/>
                </a:path>
                <a:path w="1794509" h="858520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400"/>
                  </a:lnTo>
                  <a:lnTo>
                    <a:pt x="1768728" y="25400"/>
                  </a:lnTo>
                  <a:lnTo>
                    <a:pt x="1717928" y="0"/>
                  </a:lnTo>
                  <a:close/>
                </a:path>
                <a:path w="1794509" h="858520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858520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858520">
                  <a:moveTo>
                    <a:pt x="1768728" y="25400"/>
                  </a:moveTo>
                  <a:lnTo>
                    <a:pt x="1730628" y="25400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728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0100" y="3148076"/>
              <a:ext cx="76073" cy="13881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48512" y="2843276"/>
              <a:ext cx="76264" cy="12026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9" y="3586226"/>
              <a:ext cx="76200" cy="19532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9" y="3586226"/>
              <a:ext cx="76200" cy="19532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9" y="3586226"/>
              <a:ext cx="76200" cy="19532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9" y="3586226"/>
              <a:ext cx="76200" cy="195326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5548376" y="900175"/>
            <a:ext cx="3276600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1175">
              <a:lnSpc>
                <a:spcPts val="228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88251" y="1306575"/>
            <a:ext cx="206375" cy="206375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7089140" y="1204849"/>
            <a:ext cx="2038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5330063" y="1195450"/>
            <a:ext cx="3093085" cy="1356995"/>
            <a:chOff x="5330063" y="1195450"/>
            <a:chExt cx="3093085" cy="1356995"/>
          </a:xfrm>
        </p:grpSpPr>
        <p:sp>
          <p:nvSpPr>
            <p:cNvPr id="65" name="object 65"/>
            <p:cNvSpPr/>
            <p:nvPr/>
          </p:nvSpPr>
          <p:spPr>
            <a:xfrm>
              <a:off x="5948299" y="1500123"/>
              <a:ext cx="2474595" cy="1052830"/>
            </a:xfrm>
            <a:custGeom>
              <a:avLst/>
              <a:gdLst/>
              <a:ahLst/>
              <a:cxnLst/>
              <a:rect l="l" t="t" r="r" b="b"/>
              <a:pathLst>
                <a:path w="2474595" h="1052830">
                  <a:moveTo>
                    <a:pt x="2449449" y="116205"/>
                  </a:moveTo>
                  <a:lnTo>
                    <a:pt x="2443734" y="110617"/>
                  </a:lnTo>
                  <a:lnTo>
                    <a:pt x="1637665" y="110617"/>
                  </a:lnTo>
                  <a:lnTo>
                    <a:pt x="1256157" y="110617"/>
                  </a:lnTo>
                  <a:lnTo>
                    <a:pt x="1256157" y="76327"/>
                  </a:lnTo>
                  <a:lnTo>
                    <a:pt x="1276350" y="76327"/>
                  </a:lnTo>
                  <a:lnTo>
                    <a:pt x="1280414" y="76327"/>
                  </a:lnTo>
                  <a:lnTo>
                    <a:pt x="1281557" y="76327"/>
                  </a:lnTo>
                  <a:lnTo>
                    <a:pt x="1275207" y="63627"/>
                  </a:lnTo>
                  <a:lnTo>
                    <a:pt x="1243457" y="127"/>
                  </a:lnTo>
                  <a:lnTo>
                    <a:pt x="1242885" y="1270"/>
                  </a:lnTo>
                  <a:lnTo>
                    <a:pt x="1242314" y="127"/>
                  </a:lnTo>
                  <a:lnTo>
                    <a:pt x="1240307" y="4127"/>
                  </a:lnTo>
                  <a:lnTo>
                    <a:pt x="1238250" y="0"/>
                  </a:lnTo>
                  <a:lnTo>
                    <a:pt x="1200150" y="76200"/>
                  </a:lnTo>
                  <a:lnTo>
                    <a:pt x="1200150" y="76327"/>
                  </a:lnTo>
                  <a:lnTo>
                    <a:pt x="1204214" y="76327"/>
                  </a:lnTo>
                  <a:lnTo>
                    <a:pt x="1205357" y="76327"/>
                  </a:lnTo>
                  <a:lnTo>
                    <a:pt x="1225550" y="76327"/>
                  </a:lnTo>
                  <a:lnTo>
                    <a:pt x="1225550" y="110617"/>
                  </a:lnTo>
                  <a:lnTo>
                    <a:pt x="831215" y="110617"/>
                  </a:lnTo>
                  <a:lnTo>
                    <a:pt x="31115" y="110617"/>
                  </a:lnTo>
                  <a:lnTo>
                    <a:pt x="25400" y="116205"/>
                  </a:lnTo>
                  <a:lnTo>
                    <a:pt x="25400" y="246507"/>
                  </a:lnTo>
                  <a:lnTo>
                    <a:pt x="50800" y="246507"/>
                  </a:lnTo>
                  <a:lnTo>
                    <a:pt x="50800" y="136017"/>
                  </a:lnTo>
                  <a:lnTo>
                    <a:pt x="825500" y="136017"/>
                  </a:lnTo>
                  <a:lnTo>
                    <a:pt x="825500" y="246507"/>
                  </a:lnTo>
                  <a:lnTo>
                    <a:pt x="850900" y="246507"/>
                  </a:lnTo>
                  <a:lnTo>
                    <a:pt x="850900" y="136017"/>
                  </a:lnTo>
                  <a:lnTo>
                    <a:pt x="1231265" y="136017"/>
                  </a:lnTo>
                  <a:lnTo>
                    <a:pt x="1249299" y="136017"/>
                  </a:lnTo>
                  <a:lnTo>
                    <a:pt x="1250442" y="136017"/>
                  </a:lnTo>
                  <a:lnTo>
                    <a:pt x="1617980" y="136017"/>
                  </a:lnTo>
                  <a:lnTo>
                    <a:pt x="1617980" y="246507"/>
                  </a:lnTo>
                  <a:lnTo>
                    <a:pt x="1643380" y="246507"/>
                  </a:lnTo>
                  <a:lnTo>
                    <a:pt x="1643380" y="136017"/>
                  </a:lnTo>
                  <a:lnTo>
                    <a:pt x="2424049" y="136017"/>
                  </a:lnTo>
                  <a:lnTo>
                    <a:pt x="2424049" y="246507"/>
                  </a:lnTo>
                  <a:lnTo>
                    <a:pt x="2449449" y="246507"/>
                  </a:lnTo>
                  <a:lnTo>
                    <a:pt x="2449449" y="136017"/>
                  </a:lnTo>
                  <a:lnTo>
                    <a:pt x="2449449" y="116205"/>
                  </a:lnTo>
                  <a:close/>
                </a:path>
                <a:path w="2474595" h="1052830">
                  <a:moveTo>
                    <a:pt x="2474595" y="619252"/>
                  </a:moveTo>
                  <a:lnTo>
                    <a:pt x="2468245" y="606552"/>
                  </a:lnTo>
                  <a:lnTo>
                    <a:pt x="2436495" y="543052"/>
                  </a:lnTo>
                  <a:lnTo>
                    <a:pt x="2398395" y="619252"/>
                  </a:lnTo>
                  <a:lnTo>
                    <a:pt x="2423795" y="619252"/>
                  </a:lnTo>
                  <a:lnTo>
                    <a:pt x="2423795" y="784987"/>
                  </a:lnTo>
                  <a:lnTo>
                    <a:pt x="1643126" y="784987"/>
                  </a:lnTo>
                  <a:lnTo>
                    <a:pt x="1643126" y="619252"/>
                  </a:lnTo>
                  <a:lnTo>
                    <a:pt x="1668526" y="619252"/>
                  </a:lnTo>
                  <a:lnTo>
                    <a:pt x="1662176" y="606552"/>
                  </a:lnTo>
                  <a:lnTo>
                    <a:pt x="1630426" y="543052"/>
                  </a:lnTo>
                  <a:lnTo>
                    <a:pt x="1592326" y="619252"/>
                  </a:lnTo>
                  <a:lnTo>
                    <a:pt x="1617726" y="619252"/>
                  </a:lnTo>
                  <a:lnTo>
                    <a:pt x="1617726" y="784987"/>
                  </a:lnTo>
                  <a:lnTo>
                    <a:pt x="1250823" y="784987"/>
                  </a:lnTo>
                  <a:lnTo>
                    <a:pt x="1249553" y="784987"/>
                  </a:lnTo>
                  <a:lnTo>
                    <a:pt x="1231265" y="784987"/>
                  </a:lnTo>
                  <a:lnTo>
                    <a:pt x="851027" y="784987"/>
                  </a:lnTo>
                  <a:lnTo>
                    <a:pt x="851027" y="619125"/>
                  </a:lnTo>
                  <a:lnTo>
                    <a:pt x="876300" y="619125"/>
                  </a:lnTo>
                  <a:lnTo>
                    <a:pt x="869950" y="606425"/>
                  </a:lnTo>
                  <a:lnTo>
                    <a:pt x="838200" y="542925"/>
                  </a:lnTo>
                  <a:lnTo>
                    <a:pt x="800100" y="619125"/>
                  </a:lnTo>
                  <a:lnTo>
                    <a:pt x="825500" y="619125"/>
                  </a:lnTo>
                  <a:lnTo>
                    <a:pt x="825500" y="784987"/>
                  </a:lnTo>
                  <a:lnTo>
                    <a:pt x="50800" y="784987"/>
                  </a:lnTo>
                  <a:lnTo>
                    <a:pt x="50800" y="619252"/>
                  </a:lnTo>
                  <a:lnTo>
                    <a:pt x="76200" y="619252"/>
                  </a:lnTo>
                  <a:lnTo>
                    <a:pt x="69850" y="606552"/>
                  </a:lnTo>
                  <a:lnTo>
                    <a:pt x="38100" y="543052"/>
                  </a:lnTo>
                  <a:lnTo>
                    <a:pt x="0" y="619252"/>
                  </a:lnTo>
                  <a:lnTo>
                    <a:pt x="25400" y="619252"/>
                  </a:lnTo>
                  <a:lnTo>
                    <a:pt x="25400" y="804672"/>
                  </a:lnTo>
                  <a:lnTo>
                    <a:pt x="31115" y="810387"/>
                  </a:lnTo>
                  <a:lnTo>
                    <a:pt x="831215" y="810387"/>
                  </a:lnTo>
                  <a:lnTo>
                    <a:pt x="1225550" y="810387"/>
                  </a:lnTo>
                  <a:lnTo>
                    <a:pt x="1225550" y="1052322"/>
                  </a:lnTo>
                  <a:lnTo>
                    <a:pt x="1229868" y="1052322"/>
                  </a:lnTo>
                  <a:lnTo>
                    <a:pt x="1231011" y="1052322"/>
                  </a:lnTo>
                  <a:lnTo>
                    <a:pt x="1250950" y="1052322"/>
                  </a:lnTo>
                  <a:lnTo>
                    <a:pt x="1255268" y="1052322"/>
                  </a:lnTo>
                  <a:lnTo>
                    <a:pt x="1256411" y="1052322"/>
                  </a:lnTo>
                  <a:lnTo>
                    <a:pt x="1256411" y="810387"/>
                  </a:lnTo>
                  <a:lnTo>
                    <a:pt x="1637411" y="810387"/>
                  </a:lnTo>
                  <a:lnTo>
                    <a:pt x="2443480" y="810387"/>
                  </a:lnTo>
                  <a:lnTo>
                    <a:pt x="2449195" y="804672"/>
                  </a:lnTo>
                  <a:lnTo>
                    <a:pt x="2449195" y="784987"/>
                  </a:lnTo>
                  <a:lnTo>
                    <a:pt x="2449195" y="619252"/>
                  </a:lnTo>
                  <a:lnTo>
                    <a:pt x="2474595" y="6192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48385" y="1195450"/>
              <a:ext cx="76263" cy="129032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330063" y="1376425"/>
              <a:ext cx="1854835" cy="1069975"/>
            </a:xfrm>
            <a:custGeom>
              <a:avLst/>
              <a:gdLst/>
              <a:ahLst/>
              <a:cxnLst/>
              <a:rect l="l" t="t" r="r" b="b"/>
              <a:pathLst>
                <a:path w="1854834" h="1069975">
                  <a:moveTo>
                    <a:pt x="1694561" y="25400"/>
                  </a:moveTo>
                  <a:lnTo>
                    <a:pt x="5714" y="25400"/>
                  </a:lnTo>
                  <a:lnTo>
                    <a:pt x="0" y="30987"/>
                  </a:lnTo>
                  <a:lnTo>
                    <a:pt x="0" y="1064006"/>
                  </a:lnTo>
                  <a:lnTo>
                    <a:pt x="5714" y="1069721"/>
                  </a:lnTo>
                  <a:lnTo>
                    <a:pt x="1854835" y="1069721"/>
                  </a:lnTo>
                  <a:lnTo>
                    <a:pt x="1854835" y="1057021"/>
                  </a:lnTo>
                  <a:lnTo>
                    <a:pt x="25400" y="1057021"/>
                  </a:lnTo>
                  <a:lnTo>
                    <a:pt x="12700" y="1044321"/>
                  </a:lnTo>
                  <a:lnTo>
                    <a:pt x="25400" y="1044321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694561" y="38100"/>
                  </a:lnTo>
                  <a:lnTo>
                    <a:pt x="1694561" y="25400"/>
                  </a:lnTo>
                  <a:close/>
                </a:path>
                <a:path w="1854834" h="1069975">
                  <a:moveTo>
                    <a:pt x="25400" y="1044321"/>
                  </a:moveTo>
                  <a:lnTo>
                    <a:pt x="12700" y="1044321"/>
                  </a:lnTo>
                  <a:lnTo>
                    <a:pt x="25400" y="1057021"/>
                  </a:lnTo>
                  <a:lnTo>
                    <a:pt x="25400" y="1044321"/>
                  </a:lnTo>
                  <a:close/>
                </a:path>
                <a:path w="1854834" h="1069975">
                  <a:moveTo>
                    <a:pt x="1854835" y="1044321"/>
                  </a:moveTo>
                  <a:lnTo>
                    <a:pt x="25400" y="1044321"/>
                  </a:lnTo>
                  <a:lnTo>
                    <a:pt x="25400" y="1057021"/>
                  </a:lnTo>
                  <a:lnTo>
                    <a:pt x="1854835" y="1057021"/>
                  </a:lnTo>
                  <a:lnTo>
                    <a:pt x="1854835" y="1044321"/>
                  </a:lnTo>
                  <a:close/>
                </a:path>
                <a:path w="1854834" h="1069975">
                  <a:moveTo>
                    <a:pt x="1694561" y="0"/>
                  </a:moveTo>
                  <a:lnTo>
                    <a:pt x="1694561" y="76200"/>
                  </a:lnTo>
                  <a:lnTo>
                    <a:pt x="1745361" y="50800"/>
                  </a:lnTo>
                  <a:lnTo>
                    <a:pt x="1707388" y="50800"/>
                  </a:lnTo>
                  <a:lnTo>
                    <a:pt x="1707388" y="25400"/>
                  </a:lnTo>
                  <a:lnTo>
                    <a:pt x="1745361" y="25400"/>
                  </a:lnTo>
                  <a:lnTo>
                    <a:pt x="1694561" y="0"/>
                  </a:lnTo>
                  <a:close/>
                </a:path>
                <a:path w="1854834" h="106997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854834" h="1069975">
                  <a:moveTo>
                    <a:pt x="1694561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694561" y="50800"/>
                  </a:lnTo>
                  <a:lnTo>
                    <a:pt x="1694561" y="38100"/>
                  </a:lnTo>
                  <a:close/>
                </a:path>
                <a:path w="1854834" h="1069975">
                  <a:moveTo>
                    <a:pt x="1745361" y="25400"/>
                  </a:moveTo>
                  <a:lnTo>
                    <a:pt x="1707388" y="25400"/>
                  </a:lnTo>
                  <a:lnTo>
                    <a:pt x="1707388" y="50800"/>
                  </a:lnTo>
                  <a:lnTo>
                    <a:pt x="1745361" y="50800"/>
                  </a:lnTo>
                  <a:lnTo>
                    <a:pt x="1770761" y="38100"/>
                  </a:lnTo>
                  <a:lnTo>
                    <a:pt x="1745361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8" name="object 6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29248" y="700151"/>
            <a:ext cx="76200" cy="19532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29348" y="700151"/>
            <a:ext cx="76200" cy="19532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29448" y="700151"/>
            <a:ext cx="76200" cy="19532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29548" y="700151"/>
            <a:ext cx="76200" cy="19532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2389" y="4589862"/>
            <a:ext cx="25476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  <p:sp>
        <p:nvSpPr>
          <p:cNvPr id="80" name="object 8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246125"/>
            <a:ext cx="3829050" cy="3806825"/>
            <a:chOff x="5195951" y="246125"/>
            <a:chExt cx="3829050" cy="3806825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770626" y="4113212"/>
            <a:ext cx="422275" cy="450850"/>
            <a:chOff x="5770626" y="4113212"/>
            <a:chExt cx="422275" cy="450850"/>
          </a:xfrm>
        </p:grpSpPr>
        <p:sp>
          <p:nvSpPr>
            <p:cNvPr id="7" name="object 7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570726" y="4113212"/>
            <a:ext cx="422275" cy="450850"/>
            <a:chOff x="6570726" y="4113212"/>
            <a:chExt cx="422275" cy="450850"/>
          </a:xfrm>
        </p:grpSpPr>
        <p:sp>
          <p:nvSpPr>
            <p:cNvPr id="10" name="object 10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370826" y="4113212"/>
            <a:ext cx="422275" cy="450850"/>
            <a:chOff x="7370826" y="4113212"/>
            <a:chExt cx="422275" cy="450850"/>
          </a:xfrm>
        </p:grpSpPr>
        <p:sp>
          <p:nvSpPr>
            <p:cNvPr id="13" name="object 13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170926" y="4113212"/>
            <a:ext cx="431800" cy="450850"/>
            <a:chOff x="8170926" y="4113212"/>
            <a:chExt cx="431800" cy="450850"/>
          </a:xfrm>
        </p:grpSpPr>
        <p:sp>
          <p:nvSpPr>
            <p:cNvPr id="16" name="object 16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840729" y="295592"/>
            <a:ext cx="299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70726" y="246125"/>
            <a:ext cx="422275" cy="460375"/>
            <a:chOff x="6570726" y="246125"/>
            <a:chExt cx="422275" cy="460375"/>
          </a:xfrm>
        </p:grpSpPr>
        <p:sp>
          <p:nvSpPr>
            <p:cNvPr id="20" name="object 20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637908" y="295592"/>
            <a:ext cx="299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70826" y="246125"/>
            <a:ext cx="422275" cy="460375"/>
            <a:chOff x="7370826" y="246125"/>
            <a:chExt cx="422275" cy="460375"/>
          </a:xfrm>
        </p:grpSpPr>
        <p:sp>
          <p:nvSpPr>
            <p:cNvPr id="24" name="object 24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435215" y="295592"/>
            <a:ext cx="299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70926" y="246125"/>
            <a:ext cx="431800" cy="460375"/>
            <a:chOff x="8170926" y="246125"/>
            <a:chExt cx="431800" cy="460375"/>
          </a:xfrm>
        </p:grpSpPr>
        <p:sp>
          <p:nvSpPr>
            <p:cNvPr id="28" name="object 28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241918" y="295592"/>
            <a:ext cx="299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608701" y="1741551"/>
            <a:ext cx="746125" cy="307975"/>
            <a:chOff x="5608701" y="1741551"/>
            <a:chExt cx="746125" cy="307975"/>
          </a:xfrm>
        </p:grpSpPr>
        <p:sp>
          <p:nvSpPr>
            <p:cNvPr id="32" name="object 32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150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408801" y="1741551"/>
            <a:ext cx="746125" cy="307975"/>
            <a:chOff x="6408801" y="1741551"/>
            <a:chExt cx="746125" cy="307975"/>
          </a:xfrm>
        </p:grpSpPr>
        <p:sp>
          <p:nvSpPr>
            <p:cNvPr id="36" name="object 36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4151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15251" y="1747901"/>
            <a:ext cx="733425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24876" y="1747901"/>
            <a:ext cx="723900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542026" y="3275076"/>
            <a:ext cx="3289300" cy="307975"/>
            <a:chOff x="5542026" y="3275076"/>
            <a:chExt cx="3289300" cy="307975"/>
          </a:xfrm>
        </p:grpSpPr>
        <p:sp>
          <p:nvSpPr>
            <p:cNvPr id="42" name="object 42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557901" y="2548001"/>
            <a:ext cx="3267075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2284">
              <a:lnSpc>
                <a:spcPts val="232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307076" y="2954401"/>
            <a:ext cx="3514725" cy="1160780"/>
            <a:chOff x="5307076" y="2954401"/>
            <a:chExt cx="3514725" cy="1160780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954401"/>
              <a:ext cx="206375" cy="2063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307076" y="3014726"/>
              <a:ext cx="1794510" cy="858519"/>
            </a:xfrm>
            <a:custGeom>
              <a:avLst/>
              <a:gdLst/>
              <a:ahLst/>
              <a:cxnLst/>
              <a:rect l="l" t="t" r="r" b="b"/>
              <a:pathLst>
                <a:path w="1794509" h="858520">
                  <a:moveTo>
                    <a:pt x="1717928" y="25400"/>
                  </a:moveTo>
                  <a:lnTo>
                    <a:pt x="5587" y="25400"/>
                  </a:lnTo>
                  <a:lnTo>
                    <a:pt x="0" y="30987"/>
                  </a:lnTo>
                  <a:lnTo>
                    <a:pt x="0" y="852805"/>
                  </a:lnTo>
                  <a:lnTo>
                    <a:pt x="5587" y="858520"/>
                  </a:lnTo>
                  <a:lnTo>
                    <a:pt x="241173" y="858520"/>
                  </a:lnTo>
                  <a:lnTo>
                    <a:pt x="241173" y="845820"/>
                  </a:lnTo>
                  <a:lnTo>
                    <a:pt x="25400" y="845820"/>
                  </a:lnTo>
                  <a:lnTo>
                    <a:pt x="12700" y="833120"/>
                  </a:lnTo>
                  <a:lnTo>
                    <a:pt x="25400" y="833120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400"/>
                  </a:lnTo>
                  <a:close/>
                </a:path>
                <a:path w="1794509" h="858520">
                  <a:moveTo>
                    <a:pt x="25400" y="833120"/>
                  </a:moveTo>
                  <a:lnTo>
                    <a:pt x="12700" y="833120"/>
                  </a:lnTo>
                  <a:lnTo>
                    <a:pt x="25400" y="845820"/>
                  </a:lnTo>
                  <a:lnTo>
                    <a:pt x="25400" y="833120"/>
                  </a:lnTo>
                  <a:close/>
                </a:path>
                <a:path w="1794509" h="858520">
                  <a:moveTo>
                    <a:pt x="241173" y="833120"/>
                  </a:moveTo>
                  <a:lnTo>
                    <a:pt x="25400" y="833120"/>
                  </a:lnTo>
                  <a:lnTo>
                    <a:pt x="25400" y="845820"/>
                  </a:lnTo>
                  <a:lnTo>
                    <a:pt x="241173" y="845820"/>
                  </a:lnTo>
                  <a:lnTo>
                    <a:pt x="241173" y="833120"/>
                  </a:lnTo>
                  <a:close/>
                </a:path>
                <a:path w="1794509" h="858520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400"/>
                  </a:lnTo>
                  <a:lnTo>
                    <a:pt x="1768728" y="25400"/>
                  </a:lnTo>
                  <a:lnTo>
                    <a:pt x="1717928" y="0"/>
                  </a:lnTo>
                  <a:close/>
                </a:path>
                <a:path w="1794509" h="858520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858520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858520">
                  <a:moveTo>
                    <a:pt x="1768728" y="25400"/>
                  </a:moveTo>
                  <a:lnTo>
                    <a:pt x="1730628" y="25400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728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548376" y="900175"/>
            <a:ext cx="3276600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1175">
              <a:lnSpc>
                <a:spcPts val="228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5" name="object 5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8251" y="1306575"/>
            <a:ext cx="206375" cy="206375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 sz="2400">
              <a:latin typeface="Times New Roman"/>
              <a:cs typeface="Times New Roman"/>
            </a:endParaRPr>
          </a:p>
          <a:p>
            <a:pPr marL="160655" algn="ctr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4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345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330063" y="700151"/>
            <a:ext cx="3094990" cy="3081655"/>
            <a:chOff x="5330063" y="700151"/>
            <a:chExt cx="3094990" cy="3081655"/>
          </a:xfrm>
        </p:grpSpPr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100" y="3148076"/>
              <a:ext cx="76073" cy="138811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8511" y="2843276"/>
              <a:ext cx="76264" cy="12026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8299" y="3586226"/>
              <a:ext cx="76200" cy="19532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48399" y="3586226"/>
              <a:ext cx="76200" cy="19532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48498" y="3586226"/>
              <a:ext cx="76200" cy="19532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48598" y="3586226"/>
              <a:ext cx="76200" cy="195326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948299" y="1500123"/>
              <a:ext cx="2474595" cy="1052830"/>
            </a:xfrm>
            <a:custGeom>
              <a:avLst/>
              <a:gdLst/>
              <a:ahLst/>
              <a:cxnLst/>
              <a:rect l="l" t="t" r="r" b="b"/>
              <a:pathLst>
                <a:path w="2474595" h="1052830">
                  <a:moveTo>
                    <a:pt x="2449449" y="116205"/>
                  </a:moveTo>
                  <a:lnTo>
                    <a:pt x="2443734" y="110617"/>
                  </a:lnTo>
                  <a:lnTo>
                    <a:pt x="1637665" y="110617"/>
                  </a:lnTo>
                  <a:lnTo>
                    <a:pt x="1256157" y="110617"/>
                  </a:lnTo>
                  <a:lnTo>
                    <a:pt x="1256157" y="76327"/>
                  </a:lnTo>
                  <a:lnTo>
                    <a:pt x="1276350" y="76327"/>
                  </a:lnTo>
                  <a:lnTo>
                    <a:pt x="1280414" y="76327"/>
                  </a:lnTo>
                  <a:lnTo>
                    <a:pt x="1281557" y="76327"/>
                  </a:lnTo>
                  <a:lnTo>
                    <a:pt x="1275207" y="63627"/>
                  </a:lnTo>
                  <a:lnTo>
                    <a:pt x="1243457" y="127"/>
                  </a:lnTo>
                  <a:lnTo>
                    <a:pt x="1242885" y="1270"/>
                  </a:lnTo>
                  <a:lnTo>
                    <a:pt x="1242314" y="127"/>
                  </a:lnTo>
                  <a:lnTo>
                    <a:pt x="1240307" y="4127"/>
                  </a:lnTo>
                  <a:lnTo>
                    <a:pt x="1238250" y="0"/>
                  </a:lnTo>
                  <a:lnTo>
                    <a:pt x="1200150" y="76200"/>
                  </a:lnTo>
                  <a:lnTo>
                    <a:pt x="1200150" y="76327"/>
                  </a:lnTo>
                  <a:lnTo>
                    <a:pt x="1204214" y="76327"/>
                  </a:lnTo>
                  <a:lnTo>
                    <a:pt x="1205357" y="76327"/>
                  </a:lnTo>
                  <a:lnTo>
                    <a:pt x="1225550" y="76327"/>
                  </a:lnTo>
                  <a:lnTo>
                    <a:pt x="1225550" y="110617"/>
                  </a:lnTo>
                  <a:lnTo>
                    <a:pt x="831215" y="110617"/>
                  </a:lnTo>
                  <a:lnTo>
                    <a:pt x="31115" y="110617"/>
                  </a:lnTo>
                  <a:lnTo>
                    <a:pt x="25400" y="116205"/>
                  </a:lnTo>
                  <a:lnTo>
                    <a:pt x="25400" y="246507"/>
                  </a:lnTo>
                  <a:lnTo>
                    <a:pt x="50800" y="246507"/>
                  </a:lnTo>
                  <a:lnTo>
                    <a:pt x="50800" y="136017"/>
                  </a:lnTo>
                  <a:lnTo>
                    <a:pt x="825500" y="136017"/>
                  </a:lnTo>
                  <a:lnTo>
                    <a:pt x="825500" y="246507"/>
                  </a:lnTo>
                  <a:lnTo>
                    <a:pt x="850900" y="246507"/>
                  </a:lnTo>
                  <a:lnTo>
                    <a:pt x="850900" y="136017"/>
                  </a:lnTo>
                  <a:lnTo>
                    <a:pt x="1231265" y="136017"/>
                  </a:lnTo>
                  <a:lnTo>
                    <a:pt x="1249299" y="136017"/>
                  </a:lnTo>
                  <a:lnTo>
                    <a:pt x="1250442" y="136017"/>
                  </a:lnTo>
                  <a:lnTo>
                    <a:pt x="1617980" y="136017"/>
                  </a:lnTo>
                  <a:lnTo>
                    <a:pt x="1617980" y="246507"/>
                  </a:lnTo>
                  <a:lnTo>
                    <a:pt x="1643380" y="246507"/>
                  </a:lnTo>
                  <a:lnTo>
                    <a:pt x="1643380" y="136017"/>
                  </a:lnTo>
                  <a:lnTo>
                    <a:pt x="2424049" y="136017"/>
                  </a:lnTo>
                  <a:lnTo>
                    <a:pt x="2424049" y="246507"/>
                  </a:lnTo>
                  <a:lnTo>
                    <a:pt x="2449449" y="246507"/>
                  </a:lnTo>
                  <a:lnTo>
                    <a:pt x="2449449" y="136017"/>
                  </a:lnTo>
                  <a:lnTo>
                    <a:pt x="2449449" y="116205"/>
                  </a:lnTo>
                  <a:close/>
                </a:path>
                <a:path w="2474595" h="1052830">
                  <a:moveTo>
                    <a:pt x="2474595" y="619252"/>
                  </a:moveTo>
                  <a:lnTo>
                    <a:pt x="2468245" y="606552"/>
                  </a:lnTo>
                  <a:lnTo>
                    <a:pt x="2436495" y="543052"/>
                  </a:lnTo>
                  <a:lnTo>
                    <a:pt x="2398395" y="619252"/>
                  </a:lnTo>
                  <a:lnTo>
                    <a:pt x="2423795" y="619252"/>
                  </a:lnTo>
                  <a:lnTo>
                    <a:pt x="2423795" y="784987"/>
                  </a:lnTo>
                  <a:lnTo>
                    <a:pt x="1643126" y="784987"/>
                  </a:lnTo>
                  <a:lnTo>
                    <a:pt x="1643126" y="619252"/>
                  </a:lnTo>
                  <a:lnTo>
                    <a:pt x="1668526" y="619252"/>
                  </a:lnTo>
                  <a:lnTo>
                    <a:pt x="1662176" y="606552"/>
                  </a:lnTo>
                  <a:lnTo>
                    <a:pt x="1630426" y="543052"/>
                  </a:lnTo>
                  <a:lnTo>
                    <a:pt x="1592326" y="619252"/>
                  </a:lnTo>
                  <a:lnTo>
                    <a:pt x="1617726" y="619252"/>
                  </a:lnTo>
                  <a:lnTo>
                    <a:pt x="1617726" y="784987"/>
                  </a:lnTo>
                  <a:lnTo>
                    <a:pt x="1250823" y="784987"/>
                  </a:lnTo>
                  <a:lnTo>
                    <a:pt x="1249553" y="784987"/>
                  </a:lnTo>
                  <a:lnTo>
                    <a:pt x="1231265" y="784987"/>
                  </a:lnTo>
                  <a:lnTo>
                    <a:pt x="851027" y="784987"/>
                  </a:lnTo>
                  <a:lnTo>
                    <a:pt x="851027" y="619125"/>
                  </a:lnTo>
                  <a:lnTo>
                    <a:pt x="876300" y="619125"/>
                  </a:lnTo>
                  <a:lnTo>
                    <a:pt x="869950" y="606425"/>
                  </a:lnTo>
                  <a:lnTo>
                    <a:pt x="838200" y="542925"/>
                  </a:lnTo>
                  <a:lnTo>
                    <a:pt x="800100" y="619125"/>
                  </a:lnTo>
                  <a:lnTo>
                    <a:pt x="825500" y="619125"/>
                  </a:lnTo>
                  <a:lnTo>
                    <a:pt x="825500" y="784987"/>
                  </a:lnTo>
                  <a:lnTo>
                    <a:pt x="50800" y="784987"/>
                  </a:lnTo>
                  <a:lnTo>
                    <a:pt x="50800" y="619252"/>
                  </a:lnTo>
                  <a:lnTo>
                    <a:pt x="76200" y="619252"/>
                  </a:lnTo>
                  <a:lnTo>
                    <a:pt x="69850" y="606552"/>
                  </a:lnTo>
                  <a:lnTo>
                    <a:pt x="38100" y="543052"/>
                  </a:lnTo>
                  <a:lnTo>
                    <a:pt x="0" y="619252"/>
                  </a:lnTo>
                  <a:lnTo>
                    <a:pt x="25400" y="619252"/>
                  </a:lnTo>
                  <a:lnTo>
                    <a:pt x="25400" y="804672"/>
                  </a:lnTo>
                  <a:lnTo>
                    <a:pt x="31115" y="810387"/>
                  </a:lnTo>
                  <a:lnTo>
                    <a:pt x="831215" y="810387"/>
                  </a:lnTo>
                  <a:lnTo>
                    <a:pt x="1225550" y="810387"/>
                  </a:lnTo>
                  <a:lnTo>
                    <a:pt x="1225550" y="1052322"/>
                  </a:lnTo>
                  <a:lnTo>
                    <a:pt x="1229868" y="1052322"/>
                  </a:lnTo>
                  <a:lnTo>
                    <a:pt x="1231011" y="1052322"/>
                  </a:lnTo>
                  <a:lnTo>
                    <a:pt x="1250950" y="1052322"/>
                  </a:lnTo>
                  <a:lnTo>
                    <a:pt x="1255268" y="1052322"/>
                  </a:lnTo>
                  <a:lnTo>
                    <a:pt x="1256411" y="1052322"/>
                  </a:lnTo>
                  <a:lnTo>
                    <a:pt x="1256411" y="810387"/>
                  </a:lnTo>
                  <a:lnTo>
                    <a:pt x="1637411" y="810387"/>
                  </a:lnTo>
                  <a:lnTo>
                    <a:pt x="2443480" y="810387"/>
                  </a:lnTo>
                  <a:lnTo>
                    <a:pt x="2449195" y="804672"/>
                  </a:lnTo>
                  <a:lnTo>
                    <a:pt x="2449195" y="784987"/>
                  </a:lnTo>
                  <a:lnTo>
                    <a:pt x="2449195" y="619252"/>
                  </a:lnTo>
                  <a:lnTo>
                    <a:pt x="2474595" y="6192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48385" y="1195451"/>
              <a:ext cx="76263" cy="12903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29249" y="700151"/>
              <a:ext cx="76200" cy="19532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29349" y="700151"/>
              <a:ext cx="76200" cy="19532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9448" y="700151"/>
              <a:ext cx="76200" cy="19532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29548" y="700151"/>
              <a:ext cx="76200" cy="19532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330063" y="1376426"/>
              <a:ext cx="1854835" cy="1069975"/>
            </a:xfrm>
            <a:custGeom>
              <a:avLst/>
              <a:gdLst/>
              <a:ahLst/>
              <a:cxnLst/>
              <a:rect l="l" t="t" r="r" b="b"/>
              <a:pathLst>
                <a:path w="1854834" h="1069975">
                  <a:moveTo>
                    <a:pt x="1694561" y="25400"/>
                  </a:moveTo>
                  <a:lnTo>
                    <a:pt x="5714" y="25400"/>
                  </a:lnTo>
                  <a:lnTo>
                    <a:pt x="0" y="30987"/>
                  </a:lnTo>
                  <a:lnTo>
                    <a:pt x="0" y="1064006"/>
                  </a:lnTo>
                  <a:lnTo>
                    <a:pt x="5714" y="1069721"/>
                  </a:lnTo>
                  <a:lnTo>
                    <a:pt x="1854835" y="1069721"/>
                  </a:lnTo>
                  <a:lnTo>
                    <a:pt x="1854835" y="1057021"/>
                  </a:lnTo>
                  <a:lnTo>
                    <a:pt x="25400" y="1057021"/>
                  </a:lnTo>
                  <a:lnTo>
                    <a:pt x="12700" y="1044321"/>
                  </a:lnTo>
                  <a:lnTo>
                    <a:pt x="25400" y="1044321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694561" y="38100"/>
                  </a:lnTo>
                  <a:lnTo>
                    <a:pt x="1694561" y="25400"/>
                  </a:lnTo>
                  <a:close/>
                </a:path>
                <a:path w="1854834" h="1069975">
                  <a:moveTo>
                    <a:pt x="25400" y="1044321"/>
                  </a:moveTo>
                  <a:lnTo>
                    <a:pt x="12700" y="1044321"/>
                  </a:lnTo>
                  <a:lnTo>
                    <a:pt x="25400" y="1057021"/>
                  </a:lnTo>
                  <a:lnTo>
                    <a:pt x="25400" y="1044321"/>
                  </a:lnTo>
                  <a:close/>
                </a:path>
                <a:path w="1854834" h="1069975">
                  <a:moveTo>
                    <a:pt x="1854835" y="1044321"/>
                  </a:moveTo>
                  <a:lnTo>
                    <a:pt x="25400" y="1044321"/>
                  </a:lnTo>
                  <a:lnTo>
                    <a:pt x="25400" y="1057021"/>
                  </a:lnTo>
                  <a:lnTo>
                    <a:pt x="1854835" y="1057021"/>
                  </a:lnTo>
                  <a:lnTo>
                    <a:pt x="1854835" y="1044321"/>
                  </a:lnTo>
                  <a:close/>
                </a:path>
                <a:path w="1854834" h="1069975">
                  <a:moveTo>
                    <a:pt x="1694561" y="0"/>
                  </a:moveTo>
                  <a:lnTo>
                    <a:pt x="1694561" y="76200"/>
                  </a:lnTo>
                  <a:lnTo>
                    <a:pt x="1745361" y="50800"/>
                  </a:lnTo>
                  <a:lnTo>
                    <a:pt x="1707388" y="50800"/>
                  </a:lnTo>
                  <a:lnTo>
                    <a:pt x="1707388" y="25400"/>
                  </a:lnTo>
                  <a:lnTo>
                    <a:pt x="1745361" y="25400"/>
                  </a:lnTo>
                  <a:lnTo>
                    <a:pt x="1694561" y="0"/>
                  </a:lnTo>
                  <a:close/>
                </a:path>
                <a:path w="1854834" h="106997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854834" h="1069975">
                  <a:moveTo>
                    <a:pt x="1694561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694561" y="50800"/>
                  </a:lnTo>
                  <a:lnTo>
                    <a:pt x="1694561" y="38100"/>
                  </a:lnTo>
                  <a:close/>
                </a:path>
                <a:path w="1854834" h="1069975">
                  <a:moveTo>
                    <a:pt x="1745361" y="25400"/>
                  </a:moveTo>
                  <a:lnTo>
                    <a:pt x="1707388" y="25400"/>
                  </a:lnTo>
                  <a:lnTo>
                    <a:pt x="1707388" y="50800"/>
                  </a:lnTo>
                  <a:lnTo>
                    <a:pt x="1745361" y="50800"/>
                  </a:lnTo>
                  <a:lnTo>
                    <a:pt x="1770761" y="38100"/>
                  </a:lnTo>
                  <a:lnTo>
                    <a:pt x="1745361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2389" y="4231350"/>
            <a:ext cx="2547620" cy="501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615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2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MLP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  <p:sp>
        <p:nvSpPr>
          <p:cNvPr id="86" name="object 8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281304" y="788352"/>
            <a:ext cx="16021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81304" y="1217294"/>
            <a:ext cx="1924685" cy="454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30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0"/>
              </a:lnSpc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81304" y="1857057"/>
            <a:ext cx="2181860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Arial"/>
                <a:cs typeface="Arial"/>
              </a:rPr>
              <a:t>Self-</a:t>
            </a:r>
            <a:r>
              <a:rPr sz="1400" dirty="0">
                <a:latin typeface="Arial"/>
                <a:cs typeface="Arial"/>
              </a:rPr>
              <a:t>Attention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only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interaction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between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81304" y="2496502"/>
            <a:ext cx="233807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LayerNorm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work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on </a:t>
            </a:r>
            <a:r>
              <a:rPr sz="1400" dirty="0">
                <a:latin typeface="Arial"/>
                <a:cs typeface="Arial"/>
              </a:rPr>
              <a:t>each </a:t>
            </a:r>
            <a:r>
              <a:rPr sz="1400" spc="-10" dirty="0">
                <a:latin typeface="Arial"/>
                <a:cs typeface="Arial"/>
              </a:rPr>
              <a:t>vector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independently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81304" y="3145472"/>
            <a:ext cx="2127885" cy="66294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"/>
                <a:cs typeface="Arial"/>
              </a:rPr>
              <a:t>Highly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scalable </a:t>
            </a:r>
            <a:r>
              <a:rPr sz="1400" spc="-25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parallelizable,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most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compute is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 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matmuls: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81304" y="3994784"/>
            <a:ext cx="16433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4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304" y="788352"/>
            <a:ext cx="16021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304" y="1217294"/>
            <a:ext cx="1924685" cy="454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30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0"/>
              </a:lnSpc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304" y="1857057"/>
            <a:ext cx="2181860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Arial"/>
                <a:cs typeface="Arial"/>
              </a:rPr>
              <a:t>Self-</a:t>
            </a:r>
            <a:r>
              <a:rPr sz="1400" dirty="0">
                <a:latin typeface="Arial"/>
                <a:cs typeface="Arial"/>
              </a:rPr>
              <a:t>Attention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only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interaction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between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304" y="2496502"/>
            <a:ext cx="233807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LayerNorm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work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on </a:t>
            </a:r>
            <a:r>
              <a:rPr sz="1400" dirty="0">
                <a:latin typeface="Arial"/>
                <a:cs typeface="Arial"/>
              </a:rPr>
              <a:t>each </a:t>
            </a:r>
            <a:r>
              <a:rPr sz="1400" spc="-10" dirty="0">
                <a:latin typeface="Arial"/>
                <a:cs typeface="Arial"/>
              </a:rPr>
              <a:t>vector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independently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304" y="3145472"/>
            <a:ext cx="2127885" cy="66294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"/>
                <a:cs typeface="Arial"/>
              </a:rPr>
              <a:t>Highly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scalable </a:t>
            </a:r>
            <a:r>
              <a:rPr sz="1400" spc="-25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parallelizable,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most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compute is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 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matmuls: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304" y="3994784"/>
            <a:ext cx="16433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4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38950" y="657228"/>
            <a:ext cx="1390650" cy="3686175"/>
            <a:chOff x="6838950" y="657228"/>
            <a:chExt cx="1390650" cy="36861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8950" y="1903757"/>
              <a:ext cx="1390357" cy="12297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8950" y="3086103"/>
              <a:ext cx="1390357" cy="125709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8950" y="657228"/>
              <a:ext cx="1390357" cy="125709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78860" y="817816"/>
            <a:ext cx="255016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Transformer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stack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</a:t>
            </a:r>
            <a:r>
              <a:rPr sz="1400" dirty="0">
                <a:latin typeface="Arial"/>
                <a:cs typeface="Arial"/>
              </a:rPr>
              <a:t>identical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Transformer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blocks!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389" y="4231350"/>
            <a:ext cx="2547620" cy="501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615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2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MLP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92</a:t>
            </a:fld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78860" y="1457261"/>
            <a:ext cx="283019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They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changed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since </a:t>
            </a:r>
            <a:r>
              <a:rPr sz="1400" dirty="0">
                <a:latin typeface="Arial"/>
                <a:cs typeface="Arial"/>
              </a:rPr>
              <a:t>2017…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gotten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bigger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" y="4805679"/>
            <a:ext cx="325374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9758" y="4805679"/>
            <a:ext cx="13074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April</a:t>
            </a:r>
            <a:r>
              <a:rPr sz="1800" spc="-3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24, </a:t>
            </a: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2025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6794" y="4810125"/>
            <a:ext cx="13582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Lecture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8</a:t>
            </a:r>
            <a:r>
              <a:rPr sz="2700" spc="-37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2700" baseline="1543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r>
              <a:rPr sz="2700" spc="690" baseline="1543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Source Sans 3"/>
                <a:cs typeface="Source Sans 3"/>
              </a:rPr>
              <a:t>93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1304" y="788352"/>
            <a:ext cx="16021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304" y="1217294"/>
            <a:ext cx="1924685" cy="454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30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0"/>
              </a:lnSpc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304" y="1857057"/>
            <a:ext cx="2181860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Arial"/>
                <a:cs typeface="Arial"/>
              </a:rPr>
              <a:t>Self-</a:t>
            </a:r>
            <a:r>
              <a:rPr sz="1400" dirty="0">
                <a:latin typeface="Arial"/>
                <a:cs typeface="Arial"/>
              </a:rPr>
              <a:t>Attention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only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interaction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between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304" y="2496502"/>
            <a:ext cx="233807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LayerNorm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work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on </a:t>
            </a:r>
            <a:r>
              <a:rPr sz="1400" dirty="0">
                <a:latin typeface="Arial"/>
                <a:cs typeface="Arial"/>
              </a:rPr>
              <a:t>each </a:t>
            </a:r>
            <a:r>
              <a:rPr sz="1400" spc="-10" dirty="0">
                <a:latin typeface="Arial"/>
                <a:cs typeface="Arial"/>
              </a:rPr>
              <a:t>vector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independently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389" y="3145472"/>
            <a:ext cx="2547620" cy="15855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21615" marR="215900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"/>
                <a:cs typeface="Arial"/>
              </a:rPr>
              <a:t>Highly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scalable </a:t>
            </a:r>
            <a:r>
              <a:rPr sz="1400" spc="-25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parallelizable,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most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compute is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 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matmuls: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Arial"/>
              <a:cs typeface="Arial"/>
            </a:endParaRPr>
          </a:p>
          <a:p>
            <a:pPr marL="22161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4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  <a:p>
            <a:pPr marL="221615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Arial"/>
                <a:cs typeface="Arial"/>
              </a:rPr>
              <a:t>2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MLP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38950" y="657228"/>
            <a:ext cx="1390650" cy="3686175"/>
            <a:chOff x="6838950" y="657228"/>
            <a:chExt cx="1390650" cy="36861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8950" y="1903757"/>
              <a:ext cx="1390357" cy="122976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8950" y="3086103"/>
              <a:ext cx="1390357" cy="125709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8950" y="657228"/>
              <a:ext cx="1390357" cy="125709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078860" y="817816"/>
            <a:ext cx="255016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Transformer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stack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</a:t>
            </a:r>
            <a:r>
              <a:rPr sz="1400" dirty="0">
                <a:latin typeface="Arial"/>
                <a:cs typeface="Arial"/>
              </a:rPr>
              <a:t>identical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Transformer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blocks!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8860" y="1457261"/>
            <a:ext cx="283019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They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changed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since </a:t>
            </a:r>
            <a:r>
              <a:rPr sz="1400" dirty="0">
                <a:latin typeface="Arial"/>
                <a:cs typeface="Arial"/>
              </a:rPr>
              <a:t>2017…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gotten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bigger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8860" y="2105977"/>
            <a:ext cx="2659380" cy="662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Original</a:t>
            </a:r>
            <a:r>
              <a:rPr sz="1400" u="none" dirty="0">
                <a:latin typeface="Arial"/>
                <a:cs typeface="Arial"/>
              </a:rPr>
              <a:t>:</a:t>
            </a:r>
            <a:r>
              <a:rPr sz="1400" u="none" spc="-4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[Vaswani</a:t>
            </a:r>
            <a:r>
              <a:rPr sz="1400" u="none" spc="-3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et</a:t>
            </a:r>
            <a:r>
              <a:rPr sz="1400" u="none" spc="-3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al,</a:t>
            </a:r>
            <a:r>
              <a:rPr sz="1400" u="none" spc="-5" dirty="0">
                <a:latin typeface="Arial"/>
                <a:cs typeface="Arial"/>
              </a:rPr>
              <a:t> </a:t>
            </a:r>
            <a:r>
              <a:rPr sz="1400" u="none" spc="-20" dirty="0">
                <a:latin typeface="Arial"/>
                <a:cs typeface="Arial"/>
              </a:rPr>
              <a:t>2017]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55"/>
              </a:lnSpc>
            </a:pPr>
            <a:r>
              <a:rPr sz="1400" dirty="0">
                <a:latin typeface="Arial"/>
                <a:cs typeface="Arial"/>
              </a:rPr>
              <a:t>12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blocks,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D=1024,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H=16,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N=512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213M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params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304" y="788352"/>
            <a:ext cx="16021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304" y="1217294"/>
            <a:ext cx="1924685" cy="454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30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0"/>
              </a:lnSpc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304" y="1857057"/>
            <a:ext cx="2181860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Arial"/>
                <a:cs typeface="Arial"/>
              </a:rPr>
              <a:t>Self-</a:t>
            </a:r>
            <a:r>
              <a:rPr sz="1400" dirty="0">
                <a:latin typeface="Arial"/>
                <a:cs typeface="Arial"/>
              </a:rPr>
              <a:t>Attention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only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interaction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between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304" y="2496502"/>
            <a:ext cx="233807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LayerNorm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work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on </a:t>
            </a:r>
            <a:r>
              <a:rPr sz="1400" dirty="0">
                <a:latin typeface="Arial"/>
                <a:cs typeface="Arial"/>
              </a:rPr>
              <a:t>each </a:t>
            </a:r>
            <a:r>
              <a:rPr sz="1400" spc="-10" dirty="0">
                <a:latin typeface="Arial"/>
                <a:cs typeface="Arial"/>
              </a:rPr>
              <a:t>vector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independently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304" y="3145472"/>
            <a:ext cx="2127885" cy="66294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"/>
                <a:cs typeface="Arial"/>
              </a:rPr>
              <a:t>Highly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scalable </a:t>
            </a:r>
            <a:r>
              <a:rPr sz="1400" spc="-25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parallelizable,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most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compute is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 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matmuls: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304" y="3994784"/>
            <a:ext cx="1643380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4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2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MLP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38950" y="657228"/>
            <a:ext cx="1390650" cy="3686175"/>
            <a:chOff x="6838950" y="657228"/>
            <a:chExt cx="1390650" cy="36861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8950" y="1903757"/>
              <a:ext cx="1390357" cy="12297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8950" y="3086103"/>
              <a:ext cx="1390357" cy="125709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8950" y="657228"/>
              <a:ext cx="1390357" cy="125709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78860" y="817816"/>
            <a:ext cx="255016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Transformer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stack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</a:t>
            </a:r>
            <a:r>
              <a:rPr sz="1400" dirty="0">
                <a:latin typeface="Arial"/>
                <a:cs typeface="Arial"/>
              </a:rPr>
              <a:t>identical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Transformer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blocks!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389" y="4589862"/>
            <a:ext cx="25476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78860" y="1457261"/>
            <a:ext cx="283019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They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changed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since </a:t>
            </a:r>
            <a:r>
              <a:rPr sz="1400" dirty="0">
                <a:latin typeface="Arial"/>
                <a:cs typeface="Arial"/>
              </a:rPr>
              <a:t>2017…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gotten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bigger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78860" y="2105977"/>
            <a:ext cx="2659380" cy="662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Original</a:t>
            </a:r>
            <a:r>
              <a:rPr sz="1400" u="none" dirty="0">
                <a:latin typeface="Arial"/>
                <a:cs typeface="Arial"/>
              </a:rPr>
              <a:t>:</a:t>
            </a:r>
            <a:r>
              <a:rPr sz="1400" u="none" spc="-4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[Vaswani</a:t>
            </a:r>
            <a:r>
              <a:rPr sz="1400" u="none" spc="-3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et</a:t>
            </a:r>
            <a:r>
              <a:rPr sz="1400" u="none" spc="-3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al,</a:t>
            </a:r>
            <a:r>
              <a:rPr sz="1400" u="none" spc="-5" dirty="0">
                <a:latin typeface="Arial"/>
                <a:cs typeface="Arial"/>
              </a:rPr>
              <a:t> </a:t>
            </a:r>
            <a:r>
              <a:rPr sz="1400" u="none" spc="-20" dirty="0">
                <a:latin typeface="Arial"/>
                <a:cs typeface="Arial"/>
              </a:rPr>
              <a:t>2017]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55"/>
              </a:lnSpc>
            </a:pPr>
            <a:r>
              <a:rPr sz="1400" dirty="0">
                <a:latin typeface="Arial"/>
                <a:cs typeface="Arial"/>
              </a:rPr>
              <a:t>12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blocks,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D=1024,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H=16,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N=512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213M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params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8860" y="2955353"/>
            <a:ext cx="2754630" cy="672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GPT-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1400" u="none" dirty="0">
                <a:latin typeface="Arial"/>
                <a:cs typeface="Arial"/>
              </a:rPr>
              <a:t>:</a:t>
            </a:r>
            <a:r>
              <a:rPr sz="1400" u="none" spc="-5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[Radford et</a:t>
            </a:r>
            <a:r>
              <a:rPr sz="1400" u="none" spc="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al,</a:t>
            </a:r>
            <a:r>
              <a:rPr sz="1400" u="none" spc="-10" dirty="0">
                <a:latin typeface="Arial"/>
                <a:cs typeface="Arial"/>
              </a:rPr>
              <a:t> </a:t>
            </a:r>
            <a:r>
              <a:rPr sz="1400" u="none" spc="-20" dirty="0">
                <a:latin typeface="Arial"/>
                <a:cs typeface="Arial"/>
              </a:rPr>
              <a:t>2019]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48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blocks,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D=1600,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H=25,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N=1024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1.5B </a:t>
            </a:r>
            <a:r>
              <a:rPr sz="1400" spc="-10" dirty="0">
                <a:latin typeface="Arial"/>
                <a:cs typeface="Arial"/>
              </a:rPr>
              <a:t>params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304" y="788352"/>
            <a:ext cx="16021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Transformer</a:t>
            </a:r>
            <a:r>
              <a:rPr sz="14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304" y="1217294"/>
            <a:ext cx="1924685" cy="454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30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0"/>
              </a:lnSpc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304" y="1857057"/>
            <a:ext cx="2181860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Arial"/>
                <a:cs typeface="Arial"/>
              </a:rPr>
              <a:t>Self-</a:t>
            </a:r>
            <a:r>
              <a:rPr sz="1400" dirty="0">
                <a:latin typeface="Arial"/>
                <a:cs typeface="Arial"/>
              </a:rPr>
              <a:t>Attention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only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interaction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between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vectors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304" y="2496502"/>
            <a:ext cx="233807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LayerNorm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work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on </a:t>
            </a:r>
            <a:r>
              <a:rPr sz="1400" dirty="0">
                <a:latin typeface="Arial"/>
                <a:cs typeface="Arial"/>
              </a:rPr>
              <a:t>each </a:t>
            </a:r>
            <a:r>
              <a:rPr sz="1400" spc="-10" dirty="0">
                <a:latin typeface="Arial"/>
                <a:cs typeface="Arial"/>
              </a:rPr>
              <a:t>vector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independently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304" y="3145472"/>
            <a:ext cx="2127885" cy="66294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"/>
                <a:cs typeface="Arial"/>
              </a:rPr>
              <a:t>Highly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scalable </a:t>
            </a:r>
            <a:r>
              <a:rPr sz="1400" spc="-25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parallelizable,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most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compute is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 6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matmuls: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304" y="3994784"/>
            <a:ext cx="1643380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4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Self-Attention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2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MLP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38950" y="657228"/>
            <a:ext cx="1390650" cy="3686175"/>
            <a:chOff x="6838950" y="657228"/>
            <a:chExt cx="1390650" cy="36861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8950" y="1903757"/>
              <a:ext cx="1390357" cy="12297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8950" y="3086103"/>
              <a:ext cx="1390357" cy="125709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8950" y="657228"/>
              <a:ext cx="1390357" cy="125709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78860" y="817816"/>
            <a:ext cx="255016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Transformer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just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stack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</a:t>
            </a:r>
            <a:r>
              <a:rPr sz="1400" dirty="0">
                <a:latin typeface="Arial"/>
                <a:cs typeface="Arial"/>
              </a:rPr>
              <a:t>identical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Transformer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blocks!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389" y="4589862"/>
            <a:ext cx="25476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Vaswani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“Attention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need,”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78860" y="1457261"/>
            <a:ext cx="283019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They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changed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since </a:t>
            </a:r>
            <a:r>
              <a:rPr sz="1400" dirty="0">
                <a:latin typeface="Arial"/>
                <a:cs typeface="Arial"/>
              </a:rPr>
              <a:t>2017…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gotten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bigger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78860" y="2105977"/>
            <a:ext cx="2659380" cy="662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Original</a:t>
            </a:r>
            <a:r>
              <a:rPr sz="1400" u="none" dirty="0">
                <a:latin typeface="Arial"/>
                <a:cs typeface="Arial"/>
              </a:rPr>
              <a:t>:</a:t>
            </a:r>
            <a:r>
              <a:rPr sz="1400" u="none" spc="-4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[Vaswani</a:t>
            </a:r>
            <a:r>
              <a:rPr sz="1400" u="none" spc="-3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et</a:t>
            </a:r>
            <a:r>
              <a:rPr sz="1400" u="none" spc="-3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al,</a:t>
            </a:r>
            <a:r>
              <a:rPr sz="1400" u="none" spc="-5" dirty="0">
                <a:latin typeface="Arial"/>
                <a:cs typeface="Arial"/>
              </a:rPr>
              <a:t> </a:t>
            </a:r>
            <a:r>
              <a:rPr sz="1400" u="none" spc="-20" dirty="0">
                <a:latin typeface="Arial"/>
                <a:cs typeface="Arial"/>
              </a:rPr>
              <a:t>2017]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55"/>
              </a:lnSpc>
            </a:pPr>
            <a:r>
              <a:rPr sz="1400" dirty="0">
                <a:latin typeface="Arial"/>
                <a:cs typeface="Arial"/>
              </a:rPr>
              <a:t>12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blocks,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D=1024,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H=16,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N=512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213M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params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8860" y="2955353"/>
            <a:ext cx="2754630" cy="672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GPT-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1400" u="none" dirty="0">
                <a:latin typeface="Arial"/>
                <a:cs typeface="Arial"/>
              </a:rPr>
              <a:t>:</a:t>
            </a:r>
            <a:r>
              <a:rPr sz="1400" u="none" spc="-5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[Radford et</a:t>
            </a:r>
            <a:r>
              <a:rPr sz="1400" u="none" spc="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al,</a:t>
            </a:r>
            <a:r>
              <a:rPr sz="1400" u="none" spc="-10" dirty="0">
                <a:latin typeface="Arial"/>
                <a:cs typeface="Arial"/>
              </a:rPr>
              <a:t> </a:t>
            </a:r>
            <a:r>
              <a:rPr sz="1400" u="none" spc="-20" dirty="0">
                <a:latin typeface="Arial"/>
                <a:cs typeface="Arial"/>
              </a:rPr>
              <a:t>2019]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48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blocks,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D=1600,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H=25,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N=1024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1.5B </a:t>
            </a:r>
            <a:r>
              <a:rPr sz="1400" spc="-10" dirty="0">
                <a:latin typeface="Arial"/>
                <a:cs typeface="Arial"/>
              </a:rPr>
              <a:t>params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8860" y="3814127"/>
            <a:ext cx="2853690" cy="673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25"/>
              </a:spcBef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GPT-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</a:t>
            </a:r>
            <a:r>
              <a:rPr sz="1400" u="none" dirty="0">
                <a:latin typeface="Arial"/>
                <a:cs typeface="Arial"/>
              </a:rPr>
              <a:t>:</a:t>
            </a:r>
            <a:r>
              <a:rPr sz="1400" u="none" spc="-3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[Brown</a:t>
            </a:r>
            <a:r>
              <a:rPr sz="1400" u="none" spc="2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et</a:t>
            </a:r>
            <a:r>
              <a:rPr sz="1400" u="none" spc="-3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al,</a:t>
            </a:r>
            <a:r>
              <a:rPr sz="1400" u="none" spc="-10" dirty="0">
                <a:latin typeface="Arial"/>
                <a:cs typeface="Arial"/>
              </a:rPr>
              <a:t> </a:t>
            </a:r>
            <a:r>
              <a:rPr sz="1400" u="none" spc="-20" dirty="0">
                <a:latin typeface="Arial"/>
                <a:cs typeface="Arial"/>
              </a:rPr>
              <a:t>2020]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96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blocks,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D=12288,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H=96,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N=2048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175B </a:t>
            </a:r>
            <a:r>
              <a:rPr sz="1400" spc="-10" dirty="0">
                <a:latin typeface="Arial"/>
                <a:cs typeface="Arial"/>
              </a:rPr>
              <a:t>params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9215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Transformers</a:t>
            </a:r>
            <a:r>
              <a:rPr spc="195" dirty="0"/>
              <a:t> </a:t>
            </a:r>
            <a:r>
              <a:rPr dirty="0"/>
              <a:t>for</a:t>
            </a:r>
            <a:r>
              <a:rPr spc="215" dirty="0"/>
              <a:t> </a:t>
            </a:r>
            <a:r>
              <a:rPr dirty="0"/>
              <a:t>Language</a:t>
            </a:r>
            <a:r>
              <a:rPr spc="185" dirty="0"/>
              <a:t> </a:t>
            </a:r>
            <a:r>
              <a:rPr dirty="0"/>
              <a:t>Modeling</a:t>
            </a:r>
            <a:r>
              <a:rPr spc="190" dirty="0"/>
              <a:t> </a:t>
            </a:r>
            <a:r>
              <a:rPr spc="-10" dirty="0"/>
              <a:t>(LLM)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9275" y="1457328"/>
            <a:ext cx="1380849" cy="24762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34101" y="3948112"/>
            <a:ext cx="1381125" cy="4000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505459" marR="174625" indent="-320675">
              <a:lnSpc>
                <a:spcPct val="105500"/>
              </a:lnSpc>
              <a:spcBef>
                <a:spcPts val="335"/>
              </a:spcBef>
            </a:pPr>
            <a:r>
              <a:rPr sz="950" dirty="0">
                <a:latin typeface="Arial"/>
                <a:cs typeface="Arial"/>
              </a:rPr>
              <a:t>Embedding</a:t>
            </a:r>
            <a:r>
              <a:rPr sz="950" spc="229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Matrix </a:t>
            </a:r>
            <a:r>
              <a:rPr sz="950" dirty="0">
                <a:latin typeface="Arial"/>
                <a:cs typeface="Arial"/>
              </a:rPr>
              <a:t>[V x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D]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7527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8007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876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876" y="38100"/>
                </a:lnTo>
                <a:close/>
              </a:path>
              <a:path w="50800" h="195579">
                <a:moveTo>
                  <a:pt x="25526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81" y="38100"/>
                </a:lnTo>
                <a:lnTo>
                  <a:pt x="25526" y="0"/>
                </a:lnTo>
                <a:close/>
              </a:path>
              <a:path w="50800" h="195579">
                <a:moveTo>
                  <a:pt x="44481" y="38100"/>
                </a:moveTo>
                <a:lnTo>
                  <a:pt x="31876" y="38100"/>
                </a:lnTo>
                <a:lnTo>
                  <a:pt x="31866" y="50800"/>
                </a:lnTo>
                <a:lnTo>
                  <a:pt x="50800" y="50800"/>
                </a:lnTo>
                <a:lnTo>
                  <a:pt x="444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6582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062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1304" y="788352"/>
            <a:ext cx="3276600" cy="11023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77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Learn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embedding</a:t>
            </a:r>
            <a:r>
              <a:rPr sz="14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matrix</a:t>
            </a:r>
            <a:r>
              <a:rPr sz="1400" u="none" spc="-7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at</a:t>
            </a:r>
            <a:r>
              <a:rPr sz="1400" u="none" spc="2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start</a:t>
            </a:r>
            <a:r>
              <a:rPr sz="1400" u="none" spc="-45" dirty="0">
                <a:latin typeface="Arial"/>
                <a:cs typeface="Arial"/>
              </a:rPr>
              <a:t> </a:t>
            </a:r>
            <a:r>
              <a:rPr sz="1400" u="none" spc="-25" dirty="0">
                <a:latin typeface="Arial"/>
                <a:cs typeface="Arial"/>
              </a:rPr>
              <a:t>of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-8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model</a:t>
            </a:r>
            <a:r>
              <a:rPr sz="1400" u="none" spc="-5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to</a:t>
            </a:r>
            <a:r>
              <a:rPr sz="1400" u="none" spc="-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convert</a:t>
            </a:r>
            <a:r>
              <a:rPr sz="1400" u="none" spc="1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words</a:t>
            </a:r>
            <a:r>
              <a:rPr sz="1400" u="none" spc="-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into</a:t>
            </a:r>
            <a:r>
              <a:rPr sz="1400" u="none" spc="-10" dirty="0">
                <a:latin typeface="Arial"/>
                <a:cs typeface="Arial"/>
              </a:rPr>
              <a:t> vectors.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2899"/>
              </a:lnSpc>
              <a:spcBef>
                <a:spcPts val="1580"/>
              </a:spcBef>
            </a:pPr>
            <a:r>
              <a:rPr sz="1400" dirty="0">
                <a:latin typeface="Arial"/>
                <a:cs typeface="Arial"/>
              </a:rPr>
              <a:t>Given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vocab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size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dimension </a:t>
            </a:r>
            <a:r>
              <a:rPr sz="1400" dirty="0">
                <a:latin typeface="Arial"/>
                <a:cs typeface="Arial"/>
              </a:rPr>
              <a:t>D,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it’s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lookup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table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shape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[V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19801" y="4545362"/>
            <a:ext cx="47942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Attention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1659" y="4545362"/>
            <a:ext cx="40132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276860" algn="l"/>
              </a:tabLst>
            </a:pPr>
            <a:r>
              <a:rPr sz="900" spc="-25" dirty="0">
                <a:latin typeface="Arial"/>
                <a:cs typeface="Arial"/>
              </a:rPr>
              <a:t>is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all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2900" y="4540947"/>
            <a:ext cx="21336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25" dirty="0">
                <a:latin typeface="Arial"/>
                <a:cs typeface="Arial"/>
              </a:rPr>
              <a:t>you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96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9215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Transformers</a:t>
            </a:r>
            <a:r>
              <a:rPr spc="195" dirty="0"/>
              <a:t> </a:t>
            </a:r>
            <a:r>
              <a:rPr dirty="0"/>
              <a:t>for</a:t>
            </a:r>
            <a:r>
              <a:rPr spc="215" dirty="0"/>
              <a:t> </a:t>
            </a:r>
            <a:r>
              <a:rPr dirty="0"/>
              <a:t>Language</a:t>
            </a:r>
            <a:r>
              <a:rPr spc="185" dirty="0"/>
              <a:t> </a:t>
            </a:r>
            <a:r>
              <a:rPr dirty="0"/>
              <a:t>Modeling</a:t>
            </a:r>
            <a:r>
              <a:rPr spc="190" dirty="0"/>
              <a:t> </a:t>
            </a:r>
            <a:r>
              <a:rPr spc="-10" dirty="0"/>
              <a:t>(LLM)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9275" y="1457328"/>
            <a:ext cx="1380849" cy="24762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34101" y="3948112"/>
            <a:ext cx="1381125" cy="4000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505459" marR="174625" indent="-320675">
              <a:lnSpc>
                <a:spcPct val="105500"/>
              </a:lnSpc>
              <a:spcBef>
                <a:spcPts val="335"/>
              </a:spcBef>
            </a:pPr>
            <a:r>
              <a:rPr sz="950" dirty="0">
                <a:latin typeface="Arial"/>
                <a:cs typeface="Arial"/>
              </a:rPr>
              <a:t>Embedding</a:t>
            </a:r>
            <a:r>
              <a:rPr sz="950" spc="229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Matrix </a:t>
            </a:r>
            <a:r>
              <a:rPr sz="950" dirty="0">
                <a:latin typeface="Arial"/>
                <a:cs typeface="Arial"/>
              </a:rPr>
              <a:t>[V x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D]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7527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8007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876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876" y="38100"/>
                </a:lnTo>
                <a:close/>
              </a:path>
              <a:path w="50800" h="195579">
                <a:moveTo>
                  <a:pt x="25526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81" y="38100"/>
                </a:lnTo>
                <a:lnTo>
                  <a:pt x="25526" y="0"/>
                </a:lnTo>
                <a:close/>
              </a:path>
              <a:path w="50800" h="195579">
                <a:moveTo>
                  <a:pt x="44481" y="38100"/>
                </a:moveTo>
                <a:lnTo>
                  <a:pt x="31876" y="38100"/>
                </a:lnTo>
                <a:lnTo>
                  <a:pt x="31866" y="50800"/>
                </a:lnTo>
                <a:lnTo>
                  <a:pt x="50800" y="50800"/>
                </a:lnTo>
                <a:lnTo>
                  <a:pt x="444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6582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062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1304" y="788352"/>
            <a:ext cx="3276600" cy="19513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77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Learn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embedding</a:t>
            </a:r>
            <a:r>
              <a:rPr sz="14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matrix</a:t>
            </a:r>
            <a:r>
              <a:rPr sz="1400" u="none" spc="-7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at</a:t>
            </a:r>
            <a:r>
              <a:rPr sz="1400" u="none" spc="2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start</a:t>
            </a:r>
            <a:r>
              <a:rPr sz="1400" u="none" spc="-45" dirty="0">
                <a:latin typeface="Arial"/>
                <a:cs typeface="Arial"/>
              </a:rPr>
              <a:t> </a:t>
            </a:r>
            <a:r>
              <a:rPr sz="1400" u="none" spc="-25" dirty="0">
                <a:latin typeface="Arial"/>
                <a:cs typeface="Arial"/>
              </a:rPr>
              <a:t>of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-8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model</a:t>
            </a:r>
            <a:r>
              <a:rPr sz="1400" u="none" spc="-5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to</a:t>
            </a:r>
            <a:r>
              <a:rPr sz="1400" u="none" spc="-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convert</a:t>
            </a:r>
            <a:r>
              <a:rPr sz="1400" u="none" spc="1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words</a:t>
            </a:r>
            <a:r>
              <a:rPr sz="1400" u="none" spc="-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into</a:t>
            </a:r>
            <a:r>
              <a:rPr sz="1400" u="none" spc="-10" dirty="0">
                <a:latin typeface="Arial"/>
                <a:cs typeface="Arial"/>
              </a:rPr>
              <a:t> vectors.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2899"/>
              </a:lnSpc>
              <a:spcBef>
                <a:spcPts val="1580"/>
              </a:spcBef>
            </a:pPr>
            <a:r>
              <a:rPr sz="1400" dirty="0">
                <a:latin typeface="Arial"/>
                <a:cs typeface="Arial"/>
              </a:rPr>
              <a:t>Given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vocab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size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dimension </a:t>
            </a:r>
            <a:r>
              <a:rPr sz="1400" dirty="0">
                <a:latin typeface="Arial"/>
                <a:cs typeface="Arial"/>
              </a:rPr>
              <a:t>D,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it’s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lookup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table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shape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[V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400">
              <a:latin typeface="Arial"/>
              <a:cs typeface="Arial"/>
            </a:endParaRPr>
          </a:p>
          <a:p>
            <a:pPr marL="12700" marR="24130">
              <a:lnSpc>
                <a:spcPts val="165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Use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masked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attention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inside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each </a:t>
            </a:r>
            <a:r>
              <a:rPr sz="1400" dirty="0">
                <a:latin typeface="Arial"/>
                <a:cs typeface="Arial"/>
              </a:rPr>
              <a:t>transformer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block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token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only </a:t>
            </a:r>
            <a:r>
              <a:rPr sz="1400" dirty="0">
                <a:latin typeface="Arial"/>
                <a:cs typeface="Arial"/>
              </a:rPr>
              <a:t>see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ones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before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19801" y="4545362"/>
            <a:ext cx="47942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Attention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1659" y="4545362"/>
            <a:ext cx="40132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276860" algn="l"/>
              </a:tabLst>
            </a:pPr>
            <a:r>
              <a:rPr sz="900" spc="-25" dirty="0">
                <a:latin typeface="Arial"/>
                <a:cs typeface="Arial"/>
              </a:rPr>
              <a:t>is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all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2900" y="4540947"/>
            <a:ext cx="21336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25" dirty="0">
                <a:latin typeface="Arial"/>
                <a:cs typeface="Arial"/>
              </a:rPr>
              <a:t>you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97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9215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Transformers</a:t>
            </a:r>
            <a:r>
              <a:rPr spc="195" dirty="0"/>
              <a:t> </a:t>
            </a:r>
            <a:r>
              <a:rPr dirty="0"/>
              <a:t>for</a:t>
            </a:r>
            <a:r>
              <a:rPr spc="215" dirty="0"/>
              <a:t> </a:t>
            </a:r>
            <a:r>
              <a:rPr dirty="0"/>
              <a:t>Language</a:t>
            </a:r>
            <a:r>
              <a:rPr spc="185" dirty="0"/>
              <a:t> </a:t>
            </a:r>
            <a:r>
              <a:rPr dirty="0"/>
              <a:t>Modeling</a:t>
            </a:r>
            <a:r>
              <a:rPr spc="190" dirty="0"/>
              <a:t> </a:t>
            </a:r>
            <a:r>
              <a:rPr spc="-10" dirty="0"/>
              <a:t>(LLM)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9275" y="1457328"/>
            <a:ext cx="1380849" cy="24762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34101" y="3948112"/>
            <a:ext cx="1381125" cy="4000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505459" marR="174625" indent="-320675">
              <a:lnSpc>
                <a:spcPct val="105500"/>
              </a:lnSpc>
              <a:spcBef>
                <a:spcPts val="335"/>
              </a:spcBef>
            </a:pPr>
            <a:r>
              <a:rPr sz="950" dirty="0">
                <a:latin typeface="Arial"/>
                <a:cs typeface="Arial"/>
              </a:rPr>
              <a:t>Embedding</a:t>
            </a:r>
            <a:r>
              <a:rPr sz="950" spc="229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Matrix </a:t>
            </a:r>
            <a:r>
              <a:rPr sz="950" dirty="0">
                <a:latin typeface="Arial"/>
                <a:cs typeface="Arial"/>
              </a:rPr>
              <a:t>[V x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D]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7527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8007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876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876" y="38100"/>
                </a:lnTo>
                <a:close/>
              </a:path>
              <a:path w="50800" h="195579">
                <a:moveTo>
                  <a:pt x="25526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81" y="38100"/>
                </a:lnTo>
                <a:lnTo>
                  <a:pt x="25526" y="0"/>
                </a:lnTo>
                <a:close/>
              </a:path>
              <a:path w="50800" h="195579">
                <a:moveTo>
                  <a:pt x="44481" y="38100"/>
                </a:moveTo>
                <a:lnTo>
                  <a:pt x="31876" y="38100"/>
                </a:lnTo>
                <a:lnTo>
                  <a:pt x="31866" y="50800"/>
                </a:lnTo>
                <a:lnTo>
                  <a:pt x="50800" y="50800"/>
                </a:lnTo>
                <a:lnTo>
                  <a:pt x="444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6582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062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1304" y="788352"/>
            <a:ext cx="326390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Learn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embedding</a:t>
            </a:r>
            <a:r>
              <a:rPr sz="14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matrix</a:t>
            </a:r>
            <a:r>
              <a:rPr sz="1400" u="none" spc="-7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at</a:t>
            </a:r>
            <a:r>
              <a:rPr sz="1400" u="none" spc="2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start</a:t>
            </a:r>
            <a:r>
              <a:rPr sz="1400" u="none" spc="-45" dirty="0">
                <a:latin typeface="Arial"/>
                <a:cs typeface="Arial"/>
              </a:rPr>
              <a:t> </a:t>
            </a:r>
            <a:r>
              <a:rPr sz="1400" u="none" spc="-25" dirty="0">
                <a:latin typeface="Arial"/>
                <a:cs typeface="Arial"/>
              </a:rPr>
              <a:t>of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-8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model</a:t>
            </a:r>
            <a:r>
              <a:rPr sz="1400" u="none" spc="-5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to</a:t>
            </a:r>
            <a:r>
              <a:rPr sz="1400" u="none" spc="-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convert</a:t>
            </a:r>
            <a:r>
              <a:rPr sz="1400" u="none" spc="1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words</a:t>
            </a:r>
            <a:r>
              <a:rPr sz="1400" u="none" spc="-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into</a:t>
            </a:r>
            <a:r>
              <a:rPr sz="1400" u="none" spc="-10" dirty="0">
                <a:latin typeface="Arial"/>
                <a:cs typeface="Arial"/>
              </a:rPr>
              <a:t> vectors.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304" y="1427797"/>
            <a:ext cx="3276600" cy="238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Given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vocab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size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dimension </a:t>
            </a:r>
            <a:r>
              <a:rPr sz="1400" dirty="0">
                <a:latin typeface="Arial"/>
                <a:cs typeface="Arial"/>
              </a:rPr>
              <a:t>D,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it’s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lookup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table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shape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[V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400">
              <a:latin typeface="Arial"/>
              <a:cs typeface="Arial"/>
            </a:endParaRPr>
          </a:p>
          <a:p>
            <a:pPr marL="12700" marR="2413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Use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masked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attention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inside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each </a:t>
            </a:r>
            <a:r>
              <a:rPr sz="1400" dirty="0">
                <a:latin typeface="Arial"/>
                <a:cs typeface="Arial"/>
              </a:rPr>
              <a:t>transformer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block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token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only </a:t>
            </a:r>
            <a:r>
              <a:rPr sz="1400" dirty="0">
                <a:latin typeface="Arial"/>
                <a:cs typeface="Arial"/>
              </a:rPr>
              <a:t>see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ones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before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Arial"/>
              <a:cs typeface="Arial"/>
            </a:endParaRPr>
          </a:p>
          <a:p>
            <a:pPr marL="12700" marR="260985">
              <a:lnSpc>
                <a:spcPct val="99900"/>
              </a:lnSpc>
            </a:pPr>
            <a:r>
              <a:rPr sz="1400" dirty="0">
                <a:latin typeface="Arial"/>
                <a:cs typeface="Arial"/>
              </a:rPr>
              <a:t>At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end,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learn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matrix</a:t>
            </a:r>
            <a:r>
              <a:rPr sz="1400" u="none" spc="-10" dirty="0">
                <a:latin typeface="Arial"/>
                <a:cs typeface="Arial"/>
              </a:rPr>
              <a:t> </a:t>
            </a:r>
            <a:r>
              <a:rPr sz="1400" u="none" spc="-25" dirty="0">
                <a:latin typeface="Arial"/>
                <a:cs typeface="Arial"/>
              </a:rPr>
              <a:t>of </a:t>
            </a:r>
            <a:r>
              <a:rPr sz="1400" u="none" dirty="0">
                <a:latin typeface="Arial"/>
                <a:cs typeface="Arial"/>
              </a:rPr>
              <a:t>shape</a:t>
            </a:r>
            <a:r>
              <a:rPr sz="1400" u="none" spc="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[D</a:t>
            </a:r>
            <a:r>
              <a:rPr sz="1400" u="none" spc="-1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x</a:t>
            </a:r>
            <a:r>
              <a:rPr sz="1400" u="none" spc="-6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V]</a:t>
            </a:r>
            <a:r>
              <a:rPr sz="1400" u="none" spc="-4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to</a:t>
            </a:r>
            <a:r>
              <a:rPr sz="1400" u="none" spc="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project</a:t>
            </a:r>
            <a:r>
              <a:rPr sz="1400" u="none" spc="2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each</a:t>
            </a:r>
            <a:r>
              <a:rPr sz="1400" u="none" spc="-6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D-</a:t>
            </a:r>
            <a:r>
              <a:rPr sz="1400" u="none" spc="-25" dirty="0">
                <a:latin typeface="Arial"/>
                <a:cs typeface="Arial"/>
              </a:rPr>
              <a:t>dim </a:t>
            </a:r>
            <a:r>
              <a:rPr sz="1400" u="none" dirty="0">
                <a:latin typeface="Arial"/>
                <a:cs typeface="Arial"/>
              </a:rPr>
              <a:t>vector</a:t>
            </a:r>
            <a:r>
              <a:rPr sz="1400" u="none" spc="-4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to</a:t>
            </a:r>
            <a:r>
              <a:rPr sz="1400" u="none" spc="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</a:t>
            </a:r>
            <a:r>
              <a:rPr sz="1400" u="none" spc="-55" dirty="0">
                <a:latin typeface="Arial"/>
                <a:cs typeface="Arial"/>
              </a:rPr>
              <a:t> </a:t>
            </a:r>
            <a:r>
              <a:rPr sz="1400" u="none" spc="-10" dirty="0">
                <a:latin typeface="Arial"/>
                <a:cs typeface="Arial"/>
              </a:rPr>
              <a:t>V-</a:t>
            </a:r>
            <a:r>
              <a:rPr sz="1400" u="none" dirty="0">
                <a:latin typeface="Arial"/>
                <a:cs typeface="Arial"/>
              </a:rPr>
              <a:t>dim</a:t>
            </a:r>
            <a:r>
              <a:rPr sz="1400" u="none" spc="-7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vector</a:t>
            </a:r>
            <a:r>
              <a:rPr sz="1400" u="none" spc="-3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of</a:t>
            </a:r>
            <a:r>
              <a:rPr sz="1400" u="none" spc="4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scores</a:t>
            </a:r>
            <a:r>
              <a:rPr sz="1400" u="none" spc="30" dirty="0">
                <a:latin typeface="Arial"/>
                <a:cs typeface="Arial"/>
              </a:rPr>
              <a:t> </a:t>
            </a:r>
            <a:r>
              <a:rPr sz="1400" u="none" spc="-25" dirty="0">
                <a:latin typeface="Arial"/>
                <a:cs typeface="Arial"/>
              </a:rPr>
              <a:t>for </a:t>
            </a:r>
            <a:r>
              <a:rPr sz="1400" u="none" dirty="0">
                <a:latin typeface="Arial"/>
                <a:cs typeface="Arial"/>
              </a:rPr>
              <a:t>each</a:t>
            </a:r>
            <a:r>
              <a:rPr sz="1400" u="none" spc="-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element</a:t>
            </a:r>
            <a:r>
              <a:rPr sz="1400" u="none" spc="-5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of</a:t>
            </a:r>
            <a:r>
              <a:rPr sz="1400" u="none" spc="1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-10" dirty="0">
                <a:latin typeface="Arial"/>
                <a:cs typeface="Arial"/>
              </a:rPr>
              <a:t> vocabulary.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4101" y="1052575"/>
            <a:ext cx="1381125" cy="4000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505459" marR="212725" indent="-282575">
              <a:lnSpc>
                <a:spcPct val="105400"/>
              </a:lnSpc>
              <a:spcBef>
                <a:spcPts val="315"/>
              </a:spcBef>
            </a:pPr>
            <a:r>
              <a:rPr sz="950" dirty="0">
                <a:latin typeface="Arial"/>
                <a:cs typeface="Arial"/>
              </a:rPr>
              <a:t>Projection</a:t>
            </a:r>
            <a:r>
              <a:rPr sz="950" spc="20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Matrix </a:t>
            </a:r>
            <a:r>
              <a:rPr sz="950" dirty="0">
                <a:latin typeface="Arial"/>
                <a:cs typeface="Arial"/>
              </a:rPr>
              <a:t>[D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x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V]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55715" y="703516"/>
            <a:ext cx="11195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6225" algn="l"/>
                <a:tab pos="542925" algn="l"/>
              </a:tabLst>
            </a:pPr>
            <a:r>
              <a:rPr sz="900" spc="-25" dirty="0">
                <a:latin typeface="Arial"/>
                <a:cs typeface="Arial"/>
              </a:rPr>
              <a:t>is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all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1350" baseline="3086" dirty="0">
                <a:latin typeface="Arial"/>
                <a:cs typeface="Arial"/>
              </a:rPr>
              <a:t>you</a:t>
            </a:r>
            <a:r>
              <a:rPr sz="1350" spc="345" baseline="3086" dirty="0">
                <a:latin typeface="Arial"/>
                <a:cs typeface="Arial"/>
              </a:rPr>
              <a:t>  </a:t>
            </a:r>
            <a:r>
              <a:rPr sz="1350" spc="-30" baseline="3086" dirty="0">
                <a:latin typeface="Arial"/>
                <a:cs typeface="Arial"/>
              </a:rPr>
              <a:t>need</a:t>
            </a:r>
            <a:endParaRPr sz="1350" baseline="3086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75273" y="862075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80">
                <a:moveTo>
                  <a:pt x="31750" y="38100"/>
                </a:moveTo>
                <a:lnTo>
                  <a:pt x="19050" y="38100"/>
                </a:lnTo>
                <a:lnTo>
                  <a:pt x="19050" y="195325"/>
                </a:lnTo>
                <a:lnTo>
                  <a:pt x="31750" y="195325"/>
                </a:lnTo>
                <a:lnTo>
                  <a:pt x="31750" y="38100"/>
                </a:lnTo>
                <a:close/>
              </a:path>
              <a:path w="50800" h="195580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80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80073" y="862075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80">
                <a:moveTo>
                  <a:pt x="31876" y="38100"/>
                </a:moveTo>
                <a:lnTo>
                  <a:pt x="19050" y="38100"/>
                </a:lnTo>
                <a:lnTo>
                  <a:pt x="19050" y="195325"/>
                </a:lnTo>
                <a:lnTo>
                  <a:pt x="31750" y="195325"/>
                </a:lnTo>
                <a:lnTo>
                  <a:pt x="31876" y="38100"/>
                </a:lnTo>
                <a:close/>
              </a:path>
              <a:path w="50800" h="195580">
                <a:moveTo>
                  <a:pt x="25526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81" y="38100"/>
                </a:lnTo>
                <a:lnTo>
                  <a:pt x="25526" y="0"/>
                </a:lnTo>
                <a:close/>
              </a:path>
              <a:path w="50800" h="195580">
                <a:moveTo>
                  <a:pt x="44481" y="38100"/>
                </a:moveTo>
                <a:lnTo>
                  <a:pt x="31876" y="38100"/>
                </a:lnTo>
                <a:lnTo>
                  <a:pt x="31866" y="50800"/>
                </a:lnTo>
                <a:lnTo>
                  <a:pt x="50800" y="50800"/>
                </a:lnTo>
                <a:lnTo>
                  <a:pt x="444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65823" y="862075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80">
                <a:moveTo>
                  <a:pt x="31750" y="38100"/>
                </a:moveTo>
                <a:lnTo>
                  <a:pt x="19050" y="38100"/>
                </a:lnTo>
                <a:lnTo>
                  <a:pt x="19050" y="195325"/>
                </a:lnTo>
                <a:lnTo>
                  <a:pt x="31750" y="195325"/>
                </a:lnTo>
                <a:lnTo>
                  <a:pt x="31750" y="38100"/>
                </a:lnTo>
                <a:close/>
              </a:path>
              <a:path w="50800" h="195580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80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70623" y="862075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80">
                <a:moveTo>
                  <a:pt x="31750" y="38100"/>
                </a:moveTo>
                <a:lnTo>
                  <a:pt x="19050" y="38100"/>
                </a:lnTo>
                <a:lnTo>
                  <a:pt x="19050" y="195325"/>
                </a:lnTo>
                <a:lnTo>
                  <a:pt x="31750" y="195325"/>
                </a:lnTo>
                <a:lnTo>
                  <a:pt x="31750" y="38100"/>
                </a:lnTo>
                <a:close/>
              </a:path>
              <a:path w="50800" h="195580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80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519801" y="4545362"/>
            <a:ext cx="47942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Attention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61659" y="4545362"/>
            <a:ext cx="40132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276860" algn="l"/>
              </a:tabLst>
            </a:pPr>
            <a:r>
              <a:rPr sz="900" spc="-25" dirty="0">
                <a:latin typeface="Arial"/>
                <a:cs typeface="Arial"/>
              </a:rPr>
              <a:t>is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all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92900" y="4540947"/>
            <a:ext cx="21336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25" dirty="0">
                <a:latin typeface="Arial"/>
                <a:cs typeface="Arial"/>
              </a:rPr>
              <a:t>you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98</a:t>
            </a:fld>
            <a:endParaRPr spc="-25" dirty="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7487" y="193674"/>
            <a:ext cx="69215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Transformers</a:t>
            </a:r>
            <a:r>
              <a:rPr spc="195" dirty="0"/>
              <a:t> </a:t>
            </a:r>
            <a:r>
              <a:rPr dirty="0"/>
              <a:t>for</a:t>
            </a:r>
            <a:r>
              <a:rPr spc="215" dirty="0"/>
              <a:t> </a:t>
            </a:r>
            <a:r>
              <a:rPr dirty="0"/>
              <a:t>Language</a:t>
            </a:r>
            <a:r>
              <a:rPr spc="185" dirty="0"/>
              <a:t> </a:t>
            </a:r>
            <a:r>
              <a:rPr dirty="0"/>
              <a:t>Modeling</a:t>
            </a:r>
            <a:r>
              <a:rPr spc="190" dirty="0"/>
              <a:t> </a:t>
            </a:r>
            <a:r>
              <a:rPr spc="-10" dirty="0"/>
              <a:t>(LLM)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9275" y="1457328"/>
            <a:ext cx="1380849" cy="24762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34101" y="3948112"/>
            <a:ext cx="1381125" cy="4000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505459" marR="174625" indent="-320675">
              <a:lnSpc>
                <a:spcPct val="105500"/>
              </a:lnSpc>
              <a:spcBef>
                <a:spcPts val="335"/>
              </a:spcBef>
            </a:pPr>
            <a:r>
              <a:rPr sz="950" dirty="0">
                <a:latin typeface="Arial"/>
                <a:cs typeface="Arial"/>
              </a:rPr>
              <a:t>Embedding</a:t>
            </a:r>
            <a:r>
              <a:rPr sz="950" spc="229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Matrix </a:t>
            </a:r>
            <a:r>
              <a:rPr sz="950" dirty="0">
                <a:latin typeface="Arial"/>
                <a:cs typeface="Arial"/>
              </a:rPr>
              <a:t>[V x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D]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7527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8007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876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876" y="38100"/>
                </a:lnTo>
                <a:close/>
              </a:path>
              <a:path w="50800" h="195579">
                <a:moveTo>
                  <a:pt x="25526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81" y="38100"/>
                </a:lnTo>
                <a:lnTo>
                  <a:pt x="25526" y="0"/>
                </a:lnTo>
                <a:close/>
              </a:path>
              <a:path w="50800" h="195579">
                <a:moveTo>
                  <a:pt x="44481" y="38100"/>
                </a:moveTo>
                <a:lnTo>
                  <a:pt x="31876" y="38100"/>
                </a:lnTo>
                <a:lnTo>
                  <a:pt x="31866" y="50800"/>
                </a:lnTo>
                <a:lnTo>
                  <a:pt x="50800" y="50800"/>
                </a:lnTo>
                <a:lnTo>
                  <a:pt x="444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6582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0623" y="4357687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79">
                <a:moveTo>
                  <a:pt x="31750" y="38100"/>
                </a:moveTo>
                <a:lnTo>
                  <a:pt x="19050" y="38100"/>
                </a:lnTo>
                <a:lnTo>
                  <a:pt x="19050" y="195376"/>
                </a:lnTo>
                <a:lnTo>
                  <a:pt x="31750" y="195376"/>
                </a:lnTo>
                <a:lnTo>
                  <a:pt x="31750" y="38100"/>
                </a:lnTo>
                <a:close/>
              </a:path>
              <a:path w="50800" h="195579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79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1304" y="788352"/>
            <a:ext cx="326390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Learn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embedding</a:t>
            </a:r>
            <a:r>
              <a:rPr sz="14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matrix</a:t>
            </a:r>
            <a:r>
              <a:rPr sz="1400" u="none" spc="-7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at</a:t>
            </a:r>
            <a:r>
              <a:rPr sz="1400" u="none" spc="2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start</a:t>
            </a:r>
            <a:r>
              <a:rPr sz="1400" u="none" spc="-45" dirty="0">
                <a:latin typeface="Arial"/>
                <a:cs typeface="Arial"/>
              </a:rPr>
              <a:t> </a:t>
            </a:r>
            <a:r>
              <a:rPr sz="1400" u="none" spc="-25" dirty="0">
                <a:latin typeface="Arial"/>
                <a:cs typeface="Arial"/>
              </a:rPr>
              <a:t>of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-8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model</a:t>
            </a:r>
            <a:r>
              <a:rPr sz="1400" u="none" spc="-5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to</a:t>
            </a:r>
            <a:r>
              <a:rPr sz="1400" u="none" spc="-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convert</a:t>
            </a:r>
            <a:r>
              <a:rPr sz="1400" u="none" spc="1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words</a:t>
            </a:r>
            <a:r>
              <a:rPr sz="1400" u="none" spc="-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into</a:t>
            </a:r>
            <a:r>
              <a:rPr sz="1400" u="none" spc="-10" dirty="0">
                <a:latin typeface="Arial"/>
                <a:cs typeface="Arial"/>
              </a:rPr>
              <a:t> vectors.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304" y="1427797"/>
            <a:ext cx="3276600" cy="238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Given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vocab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size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dimension </a:t>
            </a:r>
            <a:r>
              <a:rPr sz="1400" dirty="0">
                <a:latin typeface="Arial"/>
                <a:cs typeface="Arial"/>
              </a:rPr>
              <a:t>D,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it’s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lookup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table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shape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[V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400">
              <a:latin typeface="Arial"/>
              <a:cs typeface="Arial"/>
            </a:endParaRPr>
          </a:p>
          <a:p>
            <a:pPr marL="12700" marR="2413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Use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masked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attention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inside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each </a:t>
            </a:r>
            <a:r>
              <a:rPr sz="1400" dirty="0">
                <a:latin typeface="Arial"/>
                <a:cs typeface="Arial"/>
              </a:rPr>
              <a:t>transformer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block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token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only </a:t>
            </a:r>
            <a:r>
              <a:rPr sz="1400" dirty="0">
                <a:latin typeface="Arial"/>
                <a:cs typeface="Arial"/>
              </a:rPr>
              <a:t>see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ones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before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Arial"/>
              <a:cs typeface="Arial"/>
            </a:endParaRPr>
          </a:p>
          <a:p>
            <a:pPr marL="12700" marR="260985">
              <a:lnSpc>
                <a:spcPct val="99900"/>
              </a:lnSpc>
            </a:pPr>
            <a:r>
              <a:rPr sz="1400" dirty="0">
                <a:latin typeface="Arial"/>
                <a:cs typeface="Arial"/>
              </a:rPr>
              <a:t>At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end,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learn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projection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matrix</a:t>
            </a:r>
            <a:r>
              <a:rPr sz="1400" u="none" spc="-10" dirty="0">
                <a:latin typeface="Arial"/>
                <a:cs typeface="Arial"/>
              </a:rPr>
              <a:t> </a:t>
            </a:r>
            <a:r>
              <a:rPr sz="1400" u="none" spc="-25" dirty="0">
                <a:latin typeface="Arial"/>
                <a:cs typeface="Arial"/>
              </a:rPr>
              <a:t>of </a:t>
            </a:r>
            <a:r>
              <a:rPr sz="1400" u="none" dirty="0">
                <a:latin typeface="Arial"/>
                <a:cs typeface="Arial"/>
              </a:rPr>
              <a:t>shape</a:t>
            </a:r>
            <a:r>
              <a:rPr sz="1400" u="none" spc="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[D</a:t>
            </a:r>
            <a:r>
              <a:rPr sz="1400" u="none" spc="-1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x</a:t>
            </a:r>
            <a:r>
              <a:rPr sz="1400" u="none" spc="-6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V]</a:t>
            </a:r>
            <a:r>
              <a:rPr sz="1400" u="none" spc="-4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to</a:t>
            </a:r>
            <a:r>
              <a:rPr sz="1400" u="none" spc="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project</a:t>
            </a:r>
            <a:r>
              <a:rPr sz="1400" u="none" spc="2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each</a:t>
            </a:r>
            <a:r>
              <a:rPr sz="1400" u="none" spc="-6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D-</a:t>
            </a:r>
            <a:r>
              <a:rPr sz="1400" u="none" spc="-25" dirty="0">
                <a:latin typeface="Arial"/>
                <a:cs typeface="Arial"/>
              </a:rPr>
              <a:t>dim </a:t>
            </a:r>
            <a:r>
              <a:rPr sz="1400" u="none" dirty="0">
                <a:latin typeface="Arial"/>
                <a:cs typeface="Arial"/>
              </a:rPr>
              <a:t>vector</a:t>
            </a:r>
            <a:r>
              <a:rPr sz="1400" u="none" spc="-4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to</a:t>
            </a:r>
            <a:r>
              <a:rPr sz="1400" u="none" spc="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a</a:t>
            </a:r>
            <a:r>
              <a:rPr sz="1400" u="none" spc="-55" dirty="0">
                <a:latin typeface="Arial"/>
                <a:cs typeface="Arial"/>
              </a:rPr>
              <a:t> </a:t>
            </a:r>
            <a:r>
              <a:rPr sz="1400" u="none" spc="-10" dirty="0">
                <a:latin typeface="Arial"/>
                <a:cs typeface="Arial"/>
              </a:rPr>
              <a:t>V-</a:t>
            </a:r>
            <a:r>
              <a:rPr sz="1400" u="none" dirty="0">
                <a:latin typeface="Arial"/>
                <a:cs typeface="Arial"/>
              </a:rPr>
              <a:t>dim</a:t>
            </a:r>
            <a:r>
              <a:rPr sz="1400" u="none" spc="-7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vector</a:t>
            </a:r>
            <a:r>
              <a:rPr sz="1400" u="none" spc="-3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of</a:t>
            </a:r>
            <a:r>
              <a:rPr sz="1400" u="none" spc="4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scores</a:t>
            </a:r>
            <a:r>
              <a:rPr sz="1400" u="none" spc="30" dirty="0">
                <a:latin typeface="Arial"/>
                <a:cs typeface="Arial"/>
              </a:rPr>
              <a:t> </a:t>
            </a:r>
            <a:r>
              <a:rPr sz="1400" u="none" spc="-25" dirty="0">
                <a:latin typeface="Arial"/>
                <a:cs typeface="Arial"/>
              </a:rPr>
              <a:t>for </a:t>
            </a:r>
            <a:r>
              <a:rPr sz="1400" u="none" dirty="0">
                <a:latin typeface="Arial"/>
                <a:cs typeface="Arial"/>
              </a:rPr>
              <a:t>each</a:t>
            </a:r>
            <a:r>
              <a:rPr sz="1400" u="none" spc="-15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element</a:t>
            </a:r>
            <a:r>
              <a:rPr sz="1400" u="none" spc="-5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of</a:t>
            </a:r>
            <a:r>
              <a:rPr sz="1400" u="none" spc="10" dirty="0">
                <a:latin typeface="Arial"/>
                <a:cs typeface="Arial"/>
              </a:rPr>
              <a:t> </a:t>
            </a:r>
            <a:r>
              <a:rPr sz="1400" u="none" dirty="0">
                <a:latin typeface="Arial"/>
                <a:cs typeface="Arial"/>
              </a:rPr>
              <a:t>the</a:t>
            </a:r>
            <a:r>
              <a:rPr sz="1400" u="none" spc="-10" dirty="0">
                <a:latin typeface="Arial"/>
                <a:cs typeface="Arial"/>
              </a:rPr>
              <a:t> vocabulary.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304" y="3994784"/>
            <a:ext cx="3223260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Train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predict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next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token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using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softmax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+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cross-</a:t>
            </a:r>
            <a:r>
              <a:rPr sz="1400" dirty="0">
                <a:latin typeface="Arial"/>
                <a:cs typeface="Arial"/>
              </a:rPr>
              <a:t>entropy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4101" y="1052575"/>
            <a:ext cx="1381125" cy="4000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505459" marR="212725" indent="-282575">
              <a:lnSpc>
                <a:spcPct val="105400"/>
              </a:lnSpc>
              <a:spcBef>
                <a:spcPts val="315"/>
              </a:spcBef>
            </a:pPr>
            <a:r>
              <a:rPr sz="950" dirty="0">
                <a:latin typeface="Arial"/>
                <a:cs typeface="Arial"/>
              </a:rPr>
              <a:t>Projection</a:t>
            </a:r>
            <a:r>
              <a:rPr sz="950" spc="20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Matrix </a:t>
            </a:r>
            <a:r>
              <a:rPr sz="950" dirty="0">
                <a:latin typeface="Arial"/>
                <a:cs typeface="Arial"/>
              </a:rPr>
              <a:t>[D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x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V]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55715" y="703516"/>
            <a:ext cx="11195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6225" algn="l"/>
                <a:tab pos="542925" algn="l"/>
              </a:tabLst>
            </a:pPr>
            <a:r>
              <a:rPr sz="900" spc="-25" dirty="0">
                <a:latin typeface="Arial"/>
                <a:cs typeface="Arial"/>
              </a:rPr>
              <a:t>is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all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1350" baseline="3086" dirty="0">
                <a:latin typeface="Arial"/>
                <a:cs typeface="Arial"/>
              </a:rPr>
              <a:t>you</a:t>
            </a:r>
            <a:r>
              <a:rPr sz="1350" spc="345" baseline="3086" dirty="0">
                <a:latin typeface="Arial"/>
                <a:cs typeface="Arial"/>
              </a:rPr>
              <a:t>  </a:t>
            </a:r>
            <a:r>
              <a:rPr sz="1350" spc="-30" baseline="3086" dirty="0">
                <a:latin typeface="Arial"/>
                <a:cs typeface="Arial"/>
              </a:rPr>
              <a:t>need</a:t>
            </a:r>
            <a:endParaRPr sz="1350" baseline="3086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75273" y="862075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80">
                <a:moveTo>
                  <a:pt x="31750" y="38100"/>
                </a:moveTo>
                <a:lnTo>
                  <a:pt x="19050" y="38100"/>
                </a:lnTo>
                <a:lnTo>
                  <a:pt x="19050" y="195325"/>
                </a:lnTo>
                <a:lnTo>
                  <a:pt x="31750" y="195325"/>
                </a:lnTo>
                <a:lnTo>
                  <a:pt x="31750" y="38100"/>
                </a:lnTo>
                <a:close/>
              </a:path>
              <a:path w="50800" h="195580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80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80073" y="862075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80">
                <a:moveTo>
                  <a:pt x="31876" y="38100"/>
                </a:moveTo>
                <a:lnTo>
                  <a:pt x="19050" y="38100"/>
                </a:lnTo>
                <a:lnTo>
                  <a:pt x="19050" y="195325"/>
                </a:lnTo>
                <a:lnTo>
                  <a:pt x="31750" y="195325"/>
                </a:lnTo>
                <a:lnTo>
                  <a:pt x="31876" y="38100"/>
                </a:lnTo>
                <a:close/>
              </a:path>
              <a:path w="50800" h="195580">
                <a:moveTo>
                  <a:pt x="25526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81" y="38100"/>
                </a:lnTo>
                <a:lnTo>
                  <a:pt x="25526" y="0"/>
                </a:lnTo>
                <a:close/>
              </a:path>
              <a:path w="50800" h="195580">
                <a:moveTo>
                  <a:pt x="44481" y="38100"/>
                </a:moveTo>
                <a:lnTo>
                  <a:pt x="31876" y="38100"/>
                </a:lnTo>
                <a:lnTo>
                  <a:pt x="31866" y="50800"/>
                </a:lnTo>
                <a:lnTo>
                  <a:pt x="50800" y="50800"/>
                </a:lnTo>
                <a:lnTo>
                  <a:pt x="444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65823" y="862075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80">
                <a:moveTo>
                  <a:pt x="31750" y="38100"/>
                </a:moveTo>
                <a:lnTo>
                  <a:pt x="19050" y="38100"/>
                </a:lnTo>
                <a:lnTo>
                  <a:pt x="19050" y="195325"/>
                </a:lnTo>
                <a:lnTo>
                  <a:pt x="31750" y="195325"/>
                </a:lnTo>
                <a:lnTo>
                  <a:pt x="31750" y="38100"/>
                </a:lnTo>
                <a:close/>
              </a:path>
              <a:path w="50800" h="195580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80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70623" y="862075"/>
            <a:ext cx="50800" cy="195580"/>
          </a:xfrm>
          <a:custGeom>
            <a:avLst/>
            <a:gdLst/>
            <a:ahLst/>
            <a:cxnLst/>
            <a:rect l="l" t="t" r="r" b="b"/>
            <a:pathLst>
              <a:path w="50800" h="195580">
                <a:moveTo>
                  <a:pt x="31750" y="38100"/>
                </a:moveTo>
                <a:lnTo>
                  <a:pt x="19050" y="38100"/>
                </a:lnTo>
                <a:lnTo>
                  <a:pt x="19050" y="195325"/>
                </a:lnTo>
                <a:lnTo>
                  <a:pt x="31750" y="195325"/>
                </a:lnTo>
                <a:lnTo>
                  <a:pt x="31750" y="38100"/>
                </a:lnTo>
                <a:close/>
              </a:path>
              <a:path w="50800" h="195580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95580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519801" y="4545362"/>
            <a:ext cx="47942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Attention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61659" y="4545362"/>
            <a:ext cx="40132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276860" algn="l"/>
              </a:tabLst>
            </a:pPr>
            <a:r>
              <a:rPr sz="900" spc="-25" dirty="0">
                <a:latin typeface="Arial"/>
                <a:cs typeface="Arial"/>
              </a:rPr>
              <a:t>is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all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92900" y="4540947"/>
            <a:ext cx="21336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25" dirty="0">
                <a:latin typeface="Arial"/>
                <a:cs typeface="Arial"/>
              </a:rPr>
              <a:t>you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99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117" y="4493155"/>
            <a:ext cx="1530350" cy="2266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7950" marR="5080" indent="-95250">
              <a:lnSpc>
                <a:spcPct val="106100"/>
              </a:lnSpc>
              <a:spcBef>
                <a:spcPts val="15"/>
              </a:spcBef>
            </a:pP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100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469" y="4380547"/>
            <a:ext cx="14814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pic>
        <p:nvPicPr>
          <p:cNvPr id="7" name="object 7" descr="Cat, Funny Cat, Cute Cat, Cute, Cat Compilation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90775" y="3857625"/>
            <a:ext cx="342900" cy="34290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390775" y="771525"/>
            <a:ext cx="352425" cy="3038475"/>
            <a:chOff x="2390775" y="771525"/>
            <a:chExt cx="352425" cy="3038475"/>
          </a:xfrm>
        </p:grpSpPr>
        <p:pic>
          <p:nvPicPr>
            <p:cNvPr id="9" name="object 9" descr="Cat, Funny Cat, Cute Cat, Cute, Cat Compilati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2695575"/>
              <a:ext cx="352425" cy="352425"/>
            </a:xfrm>
            <a:prstGeom prst="rect">
              <a:avLst/>
            </a:prstGeom>
          </p:spPr>
        </p:pic>
        <p:pic>
          <p:nvPicPr>
            <p:cNvPr id="10" name="object 10" descr="Cat, Funny Cat, Cute Cat, Cute, Cat Compilati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0775" y="1533525"/>
              <a:ext cx="352425" cy="352425"/>
            </a:xfrm>
            <a:prstGeom prst="rect">
              <a:avLst/>
            </a:prstGeom>
          </p:spPr>
        </p:pic>
        <p:pic>
          <p:nvPicPr>
            <p:cNvPr id="11" name="object 11" descr="Cat, Funny Cat, Cute Cat, Cute, Cat Compilati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3467100"/>
              <a:ext cx="342900" cy="342900"/>
            </a:xfrm>
            <a:prstGeom prst="rect">
              <a:avLst/>
            </a:prstGeom>
          </p:spPr>
        </p:pic>
        <p:pic>
          <p:nvPicPr>
            <p:cNvPr id="12" name="object 12" descr="Cat, Funny Cat, Cute Cat, Cute, Cat Compilati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0775" y="2314575"/>
              <a:ext cx="352425" cy="342900"/>
            </a:xfrm>
            <a:prstGeom prst="rect">
              <a:avLst/>
            </a:prstGeom>
          </p:spPr>
        </p:pic>
        <p:pic>
          <p:nvPicPr>
            <p:cNvPr id="13" name="object 13" descr="Cat, Funny Cat, Cute Cat, Cute, Cat Compi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0775" y="1152525"/>
              <a:ext cx="352425" cy="342900"/>
            </a:xfrm>
            <a:prstGeom prst="rect">
              <a:avLst/>
            </a:prstGeom>
          </p:spPr>
        </p:pic>
        <p:pic>
          <p:nvPicPr>
            <p:cNvPr id="14" name="object 14" descr="Cat, Funny Cat, Cute Cat, Cute, Cat Compilati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0775" y="3076575"/>
              <a:ext cx="342900" cy="352425"/>
            </a:xfrm>
            <a:prstGeom prst="rect">
              <a:avLst/>
            </a:prstGeom>
          </p:spPr>
        </p:pic>
        <p:pic>
          <p:nvPicPr>
            <p:cNvPr id="15" name="object 15" descr="Cat, Funny Cat, Cute Cat, Cute, Cat Compilati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0775" y="1924050"/>
              <a:ext cx="352425" cy="352425"/>
            </a:xfrm>
            <a:prstGeom prst="rect">
              <a:avLst/>
            </a:prstGeom>
          </p:spPr>
        </p:pic>
        <p:pic>
          <p:nvPicPr>
            <p:cNvPr id="16" name="object 16" descr="Cat, Funny Cat, Cute Cat, Cute, Cat Compilation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0775" y="771525"/>
              <a:ext cx="352425" cy="3429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44700" y="4481223"/>
            <a:ext cx="104330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16x16x3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117" y="4493155"/>
            <a:ext cx="1530350" cy="2266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7950" marR="5080" indent="-95250">
              <a:lnSpc>
                <a:spcPct val="106100"/>
              </a:lnSpc>
              <a:spcBef>
                <a:spcPts val="15"/>
              </a:spcBef>
            </a:pP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101</a:t>
            </a:fld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17370" y="4244657"/>
            <a:ext cx="14966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Break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469" y="4380547"/>
            <a:ext cx="14814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390775" y="3857625"/>
            <a:ext cx="1973580" cy="342900"/>
            <a:chOff x="2390775" y="3857625"/>
            <a:chExt cx="1973580" cy="342900"/>
          </a:xfrm>
        </p:grpSpPr>
        <p:pic>
          <p:nvPicPr>
            <p:cNvPr id="8" name="object 8" descr="Cat, Funny Cat, Cute Cat, Cute, Cat Compilati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0775" y="3857625"/>
              <a:ext cx="342900" cy="342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8500" y="4008437"/>
              <a:ext cx="788035" cy="50800"/>
            </a:xfrm>
            <a:custGeom>
              <a:avLst/>
              <a:gdLst/>
              <a:ahLst/>
              <a:cxnLst/>
              <a:rect l="l" t="t" r="r" b="b"/>
              <a:pathLst>
                <a:path w="788035" h="50800">
                  <a:moveTo>
                    <a:pt x="737108" y="0"/>
                  </a:moveTo>
                  <a:lnTo>
                    <a:pt x="737108" y="50800"/>
                  </a:lnTo>
                  <a:lnTo>
                    <a:pt x="775208" y="31750"/>
                  </a:lnTo>
                  <a:lnTo>
                    <a:pt x="749808" y="31750"/>
                  </a:lnTo>
                  <a:lnTo>
                    <a:pt x="749808" y="19050"/>
                  </a:lnTo>
                  <a:lnTo>
                    <a:pt x="775208" y="19050"/>
                  </a:lnTo>
                  <a:lnTo>
                    <a:pt x="737108" y="0"/>
                  </a:lnTo>
                  <a:close/>
                </a:path>
                <a:path w="788035" h="50800">
                  <a:moveTo>
                    <a:pt x="737108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737108" y="31750"/>
                  </a:lnTo>
                  <a:lnTo>
                    <a:pt x="737108" y="19050"/>
                  </a:lnTo>
                  <a:close/>
                </a:path>
                <a:path w="788035" h="50800">
                  <a:moveTo>
                    <a:pt x="775208" y="19050"/>
                  </a:moveTo>
                  <a:lnTo>
                    <a:pt x="749808" y="19050"/>
                  </a:lnTo>
                  <a:lnTo>
                    <a:pt x="749808" y="31750"/>
                  </a:lnTo>
                  <a:lnTo>
                    <a:pt x="775208" y="31750"/>
                  </a:lnTo>
                  <a:lnTo>
                    <a:pt x="787908" y="25400"/>
                  </a:lnTo>
                  <a:lnTo>
                    <a:pt x="775208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390775" y="771525"/>
            <a:ext cx="1983105" cy="3038475"/>
            <a:chOff x="2390775" y="771525"/>
            <a:chExt cx="1983105" cy="3038475"/>
          </a:xfrm>
        </p:grpSpPr>
        <p:pic>
          <p:nvPicPr>
            <p:cNvPr id="13" name="object 13" descr="Cat, Funny Cat, Cute Cat, Cute, Cat Compilati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2695575"/>
              <a:ext cx="352425" cy="352425"/>
            </a:xfrm>
            <a:prstGeom prst="rect">
              <a:avLst/>
            </a:prstGeom>
          </p:spPr>
        </p:pic>
        <p:pic>
          <p:nvPicPr>
            <p:cNvPr id="14" name="object 14" descr="Cat, Funny Cat, Cute Cat, Cute, Cat Compilati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0775" y="1533525"/>
              <a:ext cx="352425" cy="352425"/>
            </a:xfrm>
            <a:prstGeom prst="rect">
              <a:avLst/>
            </a:prstGeom>
          </p:spPr>
        </p:pic>
        <p:pic>
          <p:nvPicPr>
            <p:cNvPr id="15" name="object 15" descr="Cat, Funny Cat, Cute Cat, Cute, Cat Compilati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3467100"/>
              <a:ext cx="342900" cy="342900"/>
            </a:xfrm>
            <a:prstGeom prst="rect">
              <a:avLst/>
            </a:prstGeom>
          </p:spPr>
        </p:pic>
        <p:pic>
          <p:nvPicPr>
            <p:cNvPr id="16" name="object 16" descr="Cat, Funny Cat, Cute Cat, Cute, Cat Compilati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0775" y="2314575"/>
              <a:ext cx="352425" cy="342900"/>
            </a:xfrm>
            <a:prstGeom prst="rect">
              <a:avLst/>
            </a:prstGeom>
          </p:spPr>
        </p:pic>
        <p:pic>
          <p:nvPicPr>
            <p:cNvPr id="17" name="object 17" descr="Cat, Funny Cat, Cute Cat, Cute, Cat Compi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0775" y="1152525"/>
              <a:ext cx="352425" cy="342900"/>
            </a:xfrm>
            <a:prstGeom prst="rect">
              <a:avLst/>
            </a:prstGeom>
          </p:spPr>
        </p:pic>
        <p:pic>
          <p:nvPicPr>
            <p:cNvPr id="18" name="object 18" descr="Cat, Funny Cat, Cute Cat, Cute, Cat Compilati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0775" y="3076575"/>
              <a:ext cx="342900" cy="352425"/>
            </a:xfrm>
            <a:prstGeom prst="rect">
              <a:avLst/>
            </a:prstGeom>
          </p:spPr>
        </p:pic>
        <p:pic>
          <p:nvPicPr>
            <p:cNvPr id="19" name="object 19" descr="Cat, Funny Cat, Cute Cat, Cute, Cat Compilati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0775" y="1924050"/>
              <a:ext cx="352425" cy="352425"/>
            </a:xfrm>
            <a:prstGeom prst="rect">
              <a:avLst/>
            </a:prstGeom>
          </p:spPr>
        </p:pic>
        <p:pic>
          <p:nvPicPr>
            <p:cNvPr id="20" name="object 20" descr="Cat, Funny Cat, Cute Cat, Cute, Cat Compilation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0775" y="771525"/>
              <a:ext cx="352425" cy="3429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828675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828675" y="104775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0" y="104775"/>
                  </a:moveTo>
                  <a:lnTo>
                    <a:pt x="828675" y="104775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38501" y="922400"/>
              <a:ext cx="798830" cy="2746375"/>
            </a:xfrm>
            <a:custGeom>
              <a:avLst/>
              <a:gdLst/>
              <a:ahLst/>
              <a:cxnLst/>
              <a:rect l="l" t="t" r="r" b="b"/>
              <a:pathLst>
                <a:path w="798829" h="2746375">
                  <a:moveTo>
                    <a:pt x="787908" y="2720975"/>
                  </a:moveTo>
                  <a:lnTo>
                    <a:pt x="775208" y="2714625"/>
                  </a:lnTo>
                  <a:lnTo>
                    <a:pt x="737108" y="2695575"/>
                  </a:lnTo>
                  <a:lnTo>
                    <a:pt x="737108" y="2714625"/>
                  </a:lnTo>
                  <a:lnTo>
                    <a:pt x="0" y="2714625"/>
                  </a:lnTo>
                  <a:lnTo>
                    <a:pt x="0" y="2727325"/>
                  </a:lnTo>
                  <a:lnTo>
                    <a:pt x="737108" y="2727325"/>
                  </a:lnTo>
                  <a:lnTo>
                    <a:pt x="737108" y="2746375"/>
                  </a:lnTo>
                  <a:lnTo>
                    <a:pt x="775208" y="2727325"/>
                  </a:lnTo>
                  <a:lnTo>
                    <a:pt x="787908" y="2720975"/>
                  </a:lnTo>
                  <a:close/>
                </a:path>
                <a:path w="798829" h="2746375">
                  <a:moveTo>
                    <a:pt x="787908" y="2339975"/>
                  </a:moveTo>
                  <a:lnTo>
                    <a:pt x="775208" y="2333625"/>
                  </a:lnTo>
                  <a:lnTo>
                    <a:pt x="737108" y="2314575"/>
                  </a:lnTo>
                  <a:lnTo>
                    <a:pt x="737108" y="2333625"/>
                  </a:lnTo>
                  <a:lnTo>
                    <a:pt x="0" y="2333625"/>
                  </a:lnTo>
                  <a:lnTo>
                    <a:pt x="0" y="2346325"/>
                  </a:lnTo>
                  <a:lnTo>
                    <a:pt x="737108" y="2346325"/>
                  </a:lnTo>
                  <a:lnTo>
                    <a:pt x="737108" y="2365375"/>
                  </a:lnTo>
                  <a:lnTo>
                    <a:pt x="775208" y="2346325"/>
                  </a:lnTo>
                  <a:lnTo>
                    <a:pt x="787908" y="2339975"/>
                  </a:lnTo>
                  <a:close/>
                </a:path>
                <a:path w="798829" h="2746375">
                  <a:moveTo>
                    <a:pt x="794512" y="406400"/>
                  </a:moveTo>
                  <a:lnTo>
                    <a:pt x="781812" y="400050"/>
                  </a:lnTo>
                  <a:lnTo>
                    <a:pt x="743712" y="381000"/>
                  </a:lnTo>
                  <a:lnTo>
                    <a:pt x="743712" y="400050"/>
                  </a:lnTo>
                  <a:lnTo>
                    <a:pt x="9525" y="400050"/>
                  </a:lnTo>
                  <a:lnTo>
                    <a:pt x="9525" y="412750"/>
                  </a:lnTo>
                  <a:lnTo>
                    <a:pt x="743712" y="412750"/>
                  </a:lnTo>
                  <a:lnTo>
                    <a:pt x="743712" y="431800"/>
                  </a:lnTo>
                  <a:lnTo>
                    <a:pt x="781812" y="412750"/>
                  </a:lnTo>
                  <a:lnTo>
                    <a:pt x="794512" y="406400"/>
                  </a:lnTo>
                  <a:close/>
                </a:path>
                <a:path w="798829" h="2746375">
                  <a:moveTo>
                    <a:pt x="795782" y="1183513"/>
                  </a:moveTo>
                  <a:lnTo>
                    <a:pt x="782828" y="1176909"/>
                  </a:lnTo>
                  <a:lnTo>
                    <a:pt x="745236" y="1157732"/>
                  </a:lnTo>
                  <a:lnTo>
                    <a:pt x="745083" y="1176820"/>
                  </a:lnTo>
                  <a:lnTo>
                    <a:pt x="9525" y="1171575"/>
                  </a:lnTo>
                  <a:lnTo>
                    <a:pt x="9398" y="1184148"/>
                  </a:lnTo>
                  <a:lnTo>
                    <a:pt x="744994" y="1189520"/>
                  </a:lnTo>
                  <a:lnTo>
                    <a:pt x="757682" y="1189609"/>
                  </a:lnTo>
                  <a:lnTo>
                    <a:pt x="744994" y="1189609"/>
                  </a:lnTo>
                  <a:lnTo>
                    <a:pt x="744855" y="1208532"/>
                  </a:lnTo>
                  <a:lnTo>
                    <a:pt x="783361" y="1189609"/>
                  </a:lnTo>
                  <a:lnTo>
                    <a:pt x="795782" y="1183513"/>
                  </a:lnTo>
                  <a:close/>
                </a:path>
                <a:path w="798829" h="2746375">
                  <a:moveTo>
                    <a:pt x="795782" y="802005"/>
                  </a:moveTo>
                  <a:lnTo>
                    <a:pt x="782828" y="795401"/>
                  </a:lnTo>
                  <a:lnTo>
                    <a:pt x="745236" y="776224"/>
                  </a:lnTo>
                  <a:lnTo>
                    <a:pt x="745083" y="795324"/>
                  </a:lnTo>
                  <a:lnTo>
                    <a:pt x="9525" y="790448"/>
                  </a:lnTo>
                  <a:lnTo>
                    <a:pt x="9398" y="803148"/>
                  </a:lnTo>
                  <a:lnTo>
                    <a:pt x="744994" y="808024"/>
                  </a:lnTo>
                  <a:lnTo>
                    <a:pt x="757682" y="808101"/>
                  </a:lnTo>
                  <a:lnTo>
                    <a:pt x="744994" y="808101"/>
                  </a:lnTo>
                  <a:lnTo>
                    <a:pt x="744855" y="827024"/>
                  </a:lnTo>
                  <a:lnTo>
                    <a:pt x="783361" y="808101"/>
                  </a:lnTo>
                  <a:lnTo>
                    <a:pt x="795782" y="802005"/>
                  </a:lnTo>
                  <a:close/>
                </a:path>
                <a:path w="798829" h="2746375">
                  <a:moveTo>
                    <a:pt x="796671" y="1949450"/>
                  </a:moveTo>
                  <a:lnTo>
                    <a:pt x="783971" y="1943100"/>
                  </a:lnTo>
                  <a:lnTo>
                    <a:pt x="745871" y="1924050"/>
                  </a:lnTo>
                  <a:lnTo>
                    <a:pt x="745871" y="1943100"/>
                  </a:lnTo>
                  <a:lnTo>
                    <a:pt x="9525" y="1943100"/>
                  </a:lnTo>
                  <a:lnTo>
                    <a:pt x="9525" y="1955800"/>
                  </a:lnTo>
                  <a:lnTo>
                    <a:pt x="745871" y="1955800"/>
                  </a:lnTo>
                  <a:lnTo>
                    <a:pt x="745871" y="1974850"/>
                  </a:lnTo>
                  <a:lnTo>
                    <a:pt x="783971" y="1955800"/>
                  </a:lnTo>
                  <a:lnTo>
                    <a:pt x="796671" y="1949450"/>
                  </a:lnTo>
                  <a:close/>
                </a:path>
                <a:path w="798829" h="2746375">
                  <a:moveTo>
                    <a:pt x="796671" y="1571117"/>
                  </a:moveTo>
                  <a:lnTo>
                    <a:pt x="783780" y="1564640"/>
                  </a:lnTo>
                  <a:lnTo>
                    <a:pt x="745871" y="1545590"/>
                  </a:lnTo>
                  <a:lnTo>
                    <a:pt x="745820" y="1564601"/>
                  </a:lnTo>
                  <a:lnTo>
                    <a:pt x="9525" y="1562100"/>
                  </a:lnTo>
                  <a:lnTo>
                    <a:pt x="9398" y="1574673"/>
                  </a:lnTo>
                  <a:lnTo>
                    <a:pt x="745782" y="1577301"/>
                  </a:lnTo>
                  <a:lnTo>
                    <a:pt x="758571" y="1577340"/>
                  </a:lnTo>
                  <a:lnTo>
                    <a:pt x="745782" y="1577340"/>
                  </a:lnTo>
                  <a:lnTo>
                    <a:pt x="745744" y="1596390"/>
                  </a:lnTo>
                  <a:lnTo>
                    <a:pt x="784123" y="1577340"/>
                  </a:lnTo>
                  <a:lnTo>
                    <a:pt x="796671" y="1571117"/>
                  </a:lnTo>
                  <a:close/>
                </a:path>
                <a:path w="798829" h="2746375">
                  <a:moveTo>
                    <a:pt x="798449" y="25400"/>
                  </a:moveTo>
                  <a:lnTo>
                    <a:pt x="785749" y="19075"/>
                  </a:lnTo>
                  <a:lnTo>
                    <a:pt x="747522" y="0"/>
                  </a:lnTo>
                  <a:lnTo>
                    <a:pt x="747560" y="19075"/>
                  </a:lnTo>
                  <a:lnTo>
                    <a:pt x="9398" y="20320"/>
                  </a:lnTo>
                  <a:lnTo>
                    <a:pt x="9525" y="33020"/>
                  </a:lnTo>
                  <a:lnTo>
                    <a:pt x="747598" y="31775"/>
                  </a:lnTo>
                  <a:lnTo>
                    <a:pt x="747649" y="50800"/>
                  </a:lnTo>
                  <a:lnTo>
                    <a:pt x="785698" y="31775"/>
                  </a:lnTo>
                  <a:lnTo>
                    <a:pt x="79844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20821" y="4252623"/>
            <a:ext cx="2834640" cy="8705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44475" marR="815975" indent="-232410">
              <a:lnSpc>
                <a:spcPts val="173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Flatten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apply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 </a:t>
            </a:r>
            <a:r>
              <a:rPr sz="1400" dirty="0">
                <a:latin typeface="Arial"/>
                <a:cs typeface="Arial"/>
              </a:rPr>
              <a:t>transform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768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  <a:p>
            <a:pPr marL="1828164">
              <a:lnSpc>
                <a:spcPct val="100000"/>
              </a:lnSpc>
              <a:spcBef>
                <a:spcPts val="99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Lecture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8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17370" y="4261830"/>
            <a:ext cx="1496695" cy="447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Break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  <a:p>
            <a:pPr marL="240029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16x16x3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117" y="4388667"/>
            <a:ext cx="1530350" cy="3314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065" marR="5080" indent="3810" algn="ctr">
              <a:lnSpc>
                <a:spcPct val="105900"/>
              </a:lnSpc>
              <a:spcBef>
                <a:spcPts val="1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102</a:t>
            </a:fld>
            <a:endParaRPr spc="-25" dirty="0"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390775" y="3857625"/>
            <a:ext cx="1973580" cy="342900"/>
            <a:chOff x="2390775" y="3857625"/>
            <a:chExt cx="1973580" cy="342900"/>
          </a:xfrm>
        </p:grpSpPr>
        <p:pic>
          <p:nvPicPr>
            <p:cNvPr id="8" name="object 8" descr="Cat, Funny Cat, Cute Cat, Cute, Cat Compilati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0775" y="3857625"/>
              <a:ext cx="342900" cy="342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8500" y="4008437"/>
              <a:ext cx="788035" cy="50800"/>
            </a:xfrm>
            <a:custGeom>
              <a:avLst/>
              <a:gdLst/>
              <a:ahLst/>
              <a:cxnLst/>
              <a:rect l="l" t="t" r="r" b="b"/>
              <a:pathLst>
                <a:path w="788035" h="50800">
                  <a:moveTo>
                    <a:pt x="737108" y="0"/>
                  </a:moveTo>
                  <a:lnTo>
                    <a:pt x="737108" y="50800"/>
                  </a:lnTo>
                  <a:lnTo>
                    <a:pt x="775208" y="31750"/>
                  </a:lnTo>
                  <a:lnTo>
                    <a:pt x="749808" y="31750"/>
                  </a:lnTo>
                  <a:lnTo>
                    <a:pt x="749808" y="19050"/>
                  </a:lnTo>
                  <a:lnTo>
                    <a:pt x="775208" y="19050"/>
                  </a:lnTo>
                  <a:lnTo>
                    <a:pt x="737108" y="0"/>
                  </a:lnTo>
                  <a:close/>
                </a:path>
                <a:path w="788035" h="50800">
                  <a:moveTo>
                    <a:pt x="737108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737108" y="31750"/>
                  </a:lnTo>
                  <a:lnTo>
                    <a:pt x="737108" y="19050"/>
                  </a:lnTo>
                  <a:close/>
                </a:path>
                <a:path w="788035" h="50800">
                  <a:moveTo>
                    <a:pt x="775208" y="19050"/>
                  </a:moveTo>
                  <a:lnTo>
                    <a:pt x="749808" y="19050"/>
                  </a:lnTo>
                  <a:lnTo>
                    <a:pt x="749808" y="31750"/>
                  </a:lnTo>
                  <a:lnTo>
                    <a:pt x="775208" y="31750"/>
                  </a:lnTo>
                  <a:lnTo>
                    <a:pt x="787908" y="25400"/>
                  </a:lnTo>
                  <a:lnTo>
                    <a:pt x="775208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390775" y="771525"/>
            <a:ext cx="1983105" cy="3038475"/>
            <a:chOff x="2390775" y="771525"/>
            <a:chExt cx="1983105" cy="3038475"/>
          </a:xfrm>
        </p:grpSpPr>
        <p:pic>
          <p:nvPicPr>
            <p:cNvPr id="13" name="object 13" descr="Cat, Funny Cat, Cute Cat, Cute, Cat Compilati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2695575"/>
              <a:ext cx="352425" cy="352425"/>
            </a:xfrm>
            <a:prstGeom prst="rect">
              <a:avLst/>
            </a:prstGeom>
          </p:spPr>
        </p:pic>
        <p:pic>
          <p:nvPicPr>
            <p:cNvPr id="14" name="object 14" descr="Cat, Funny Cat, Cute Cat, Cute, Cat Compilati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0775" y="1533525"/>
              <a:ext cx="352425" cy="352425"/>
            </a:xfrm>
            <a:prstGeom prst="rect">
              <a:avLst/>
            </a:prstGeom>
          </p:spPr>
        </p:pic>
        <p:pic>
          <p:nvPicPr>
            <p:cNvPr id="15" name="object 15" descr="Cat, Funny Cat, Cute Cat, Cute, Cat Compilati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3467100"/>
              <a:ext cx="342900" cy="342900"/>
            </a:xfrm>
            <a:prstGeom prst="rect">
              <a:avLst/>
            </a:prstGeom>
          </p:spPr>
        </p:pic>
        <p:pic>
          <p:nvPicPr>
            <p:cNvPr id="16" name="object 16" descr="Cat, Funny Cat, Cute Cat, Cute, Cat Compilati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0775" y="2314575"/>
              <a:ext cx="352425" cy="342900"/>
            </a:xfrm>
            <a:prstGeom prst="rect">
              <a:avLst/>
            </a:prstGeom>
          </p:spPr>
        </p:pic>
        <p:pic>
          <p:nvPicPr>
            <p:cNvPr id="17" name="object 17" descr="Cat, Funny Cat, Cute Cat, Cute, Cat Compi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0775" y="1152525"/>
              <a:ext cx="352425" cy="342900"/>
            </a:xfrm>
            <a:prstGeom prst="rect">
              <a:avLst/>
            </a:prstGeom>
          </p:spPr>
        </p:pic>
        <p:pic>
          <p:nvPicPr>
            <p:cNvPr id="18" name="object 18" descr="Cat, Funny Cat, Cute Cat, Cute, Cat Compilati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0775" y="3076575"/>
              <a:ext cx="342900" cy="352425"/>
            </a:xfrm>
            <a:prstGeom prst="rect">
              <a:avLst/>
            </a:prstGeom>
          </p:spPr>
        </p:pic>
        <p:pic>
          <p:nvPicPr>
            <p:cNvPr id="19" name="object 19" descr="Cat, Funny Cat, Cute Cat, Cute, Cat Compilati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0775" y="1924050"/>
              <a:ext cx="352425" cy="352425"/>
            </a:xfrm>
            <a:prstGeom prst="rect">
              <a:avLst/>
            </a:prstGeom>
          </p:spPr>
        </p:pic>
        <p:pic>
          <p:nvPicPr>
            <p:cNvPr id="20" name="object 20" descr="Cat, Funny Cat, Cute Cat, Cute, Cat Compilation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0775" y="771525"/>
              <a:ext cx="352425" cy="3429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828675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828675" y="104775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0" y="104775"/>
                  </a:moveTo>
                  <a:lnTo>
                    <a:pt x="828675" y="104775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38501" y="922400"/>
              <a:ext cx="798830" cy="2746375"/>
            </a:xfrm>
            <a:custGeom>
              <a:avLst/>
              <a:gdLst/>
              <a:ahLst/>
              <a:cxnLst/>
              <a:rect l="l" t="t" r="r" b="b"/>
              <a:pathLst>
                <a:path w="798829" h="2746375">
                  <a:moveTo>
                    <a:pt x="787908" y="2720975"/>
                  </a:moveTo>
                  <a:lnTo>
                    <a:pt x="775208" y="2714625"/>
                  </a:lnTo>
                  <a:lnTo>
                    <a:pt x="737108" y="2695575"/>
                  </a:lnTo>
                  <a:lnTo>
                    <a:pt x="737108" y="2714625"/>
                  </a:lnTo>
                  <a:lnTo>
                    <a:pt x="0" y="2714625"/>
                  </a:lnTo>
                  <a:lnTo>
                    <a:pt x="0" y="2727325"/>
                  </a:lnTo>
                  <a:lnTo>
                    <a:pt x="737108" y="2727325"/>
                  </a:lnTo>
                  <a:lnTo>
                    <a:pt x="737108" y="2746375"/>
                  </a:lnTo>
                  <a:lnTo>
                    <a:pt x="775208" y="2727325"/>
                  </a:lnTo>
                  <a:lnTo>
                    <a:pt x="787908" y="2720975"/>
                  </a:lnTo>
                  <a:close/>
                </a:path>
                <a:path w="798829" h="2746375">
                  <a:moveTo>
                    <a:pt x="787908" y="2339975"/>
                  </a:moveTo>
                  <a:lnTo>
                    <a:pt x="775208" y="2333625"/>
                  </a:lnTo>
                  <a:lnTo>
                    <a:pt x="737108" y="2314575"/>
                  </a:lnTo>
                  <a:lnTo>
                    <a:pt x="737108" y="2333625"/>
                  </a:lnTo>
                  <a:lnTo>
                    <a:pt x="0" y="2333625"/>
                  </a:lnTo>
                  <a:lnTo>
                    <a:pt x="0" y="2346325"/>
                  </a:lnTo>
                  <a:lnTo>
                    <a:pt x="737108" y="2346325"/>
                  </a:lnTo>
                  <a:lnTo>
                    <a:pt x="737108" y="2365375"/>
                  </a:lnTo>
                  <a:lnTo>
                    <a:pt x="775208" y="2346325"/>
                  </a:lnTo>
                  <a:lnTo>
                    <a:pt x="787908" y="2339975"/>
                  </a:lnTo>
                  <a:close/>
                </a:path>
                <a:path w="798829" h="2746375">
                  <a:moveTo>
                    <a:pt x="794512" y="406400"/>
                  </a:moveTo>
                  <a:lnTo>
                    <a:pt x="781812" y="400050"/>
                  </a:lnTo>
                  <a:lnTo>
                    <a:pt x="743712" y="381000"/>
                  </a:lnTo>
                  <a:lnTo>
                    <a:pt x="743712" y="400050"/>
                  </a:lnTo>
                  <a:lnTo>
                    <a:pt x="9525" y="400050"/>
                  </a:lnTo>
                  <a:lnTo>
                    <a:pt x="9525" y="412750"/>
                  </a:lnTo>
                  <a:lnTo>
                    <a:pt x="743712" y="412750"/>
                  </a:lnTo>
                  <a:lnTo>
                    <a:pt x="743712" y="431800"/>
                  </a:lnTo>
                  <a:lnTo>
                    <a:pt x="781812" y="412750"/>
                  </a:lnTo>
                  <a:lnTo>
                    <a:pt x="794512" y="406400"/>
                  </a:lnTo>
                  <a:close/>
                </a:path>
                <a:path w="798829" h="2746375">
                  <a:moveTo>
                    <a:pt x="795782" y="1183513"/>
                  </a:moveTo>
                  <a:lnTo>
                    <a:pt x="782828" y="1176909"/>
                  </a:lnTo>
                  <a:lnTo>
                    <a:pt x="745236" y="1157732"/>
                  </a:lnTo>
                  <a:lnTo>
                    <a:pt x="745083" y="1176820"/>
                  </a:lnTo>
                  <a:lnTo>
                    <a:pt x="9525" y="1171575"/>
                  </a:lnTo>
                  <a:lnTo>
                    <a:pt x="9398" y="1184148"/>
                  </a:lnTo>
                  <a:lnTo>
                    <a:pt x="744994" y="1189520"/>
                  </a:lnTo>
                  <a:lnTo>
                    <a:pt x="757682" y="1189609"/>
                  </a:lnTo>
                  <a:lnTo>
                    <a:pt x="744994" y="1189609"/>
                  </a:lnTo>
                  <a:lnTo>
                    <a:pt x="744855" y="1208532"/>
                  </a:lnTo>
                  <a:lnTo>
                    <a:pt x="783361" y="1189609"/>
                  </a:lnTo>
                  <a:lnTo>
                    <a:pt x="795782" y="1183513"/>
                  </a:lnTo>
                  <a:close/>
                </a:path>
                <a:path w="798829" h="2746375">
                  <a:moveTo>
                    <a:pt x="795782" y="802005"/>
                  </a:moveTo>
                  <a:lnTo>
                    <a:pt x="782828" y="795401"/>
                  </a:lnTo>
                  <a:lnTo>
                    <a:pt x="745236" y="776224"/>
                  </a:lnTo>
                  <a:lnTo>
                    <a:pt x="745083" y="795324"/>
                  </a:lnTo>
                  <a:lnTo>
                    <a:pt x="9525" y="790448"/>
                  </a:lnTo>
                  <a:lnTo>
                    <a:pt x="9398" y="803148"/>
                  </a:lnTo>
                  <a:lnTo>
                    <a:pt x="744994" y="808024"/>
                  </a:lnTo>
                  <a:lnTo>
                    <a:pt x="757682" y="808101"/>
                  </a:lnTo>
                  <a:lnTo>
                    <a:pt x="744994" y="808101"/>
                  </a:lnTo>
                  <a:lnTo>
                    <a:pt x="744855" y="827024"/>
                  </a:lnTo>
                  <a:lnTo>
                    <a:pt x="783361" y="808101"/>
                  </a:lnTo>
                  <a:lnTo>
                    <a:pt x="795782" y="802005"/>
                  </a:lnTo>
                  <a:close/>
                </a:path>
                <a:path w="798829" h="2746375">
                  <a:moveTo>
                    <a:pt x="796671" y="1949450"/>
                  </a:moveTo>
                  <a:lnTo>
                    <a:pt x="783971" y="1943100"/>
                  </a:lnTo>
                  <a:lnTo>
                    <a:pt x="745871" y="1924050"/>
                  </a:lnTo>
                  <a:lnTo>
                    <a:pt x="745871" y="1943100"/>
                  </a:lnTo>
                  <a:lnTo>
                    <a:pt x="9525" y="1943100"/>
                  </a:lnTo>
                  <a:lnTo>
                    <a:pt x="9525" y="1955800"/>
                  </a:lnTo>
                  <a:lnTo>
                    <a:pt x="745871" y="1955800"/>
                  </a:lnTo>
                  <a:lnTo>
                    <a:pt x="745871" y="1974850"/>
                  </a:lnTo>
                  <a:lnTo>
                    <a:pt x="783971" y="1955800"/>
                  </a:lnTo>
                  <a:lnTo>
                    <a:pt x="796671" y="1949450"/>
                  </a:lnTo>
                  <a:close/>
                </a:path>
                <a:path w="798829" h="2746375">
                  <a:moveTo>
                    <a:pt x="796671" y="1571117"/>
                  </a:moveTo>
                  <a:lnTo>
                    <a:pt x="783780" y="1564640"/>
                  </a:lnTo>
                  <a:lnTo>
                    <a:pt x="745871" y="1545590"/>
                  </a:lnTo>
                  <a:lnTo>
                    <a:pt x="745820" y="1564601"/>
                  </a:lnTo>
                  <a:lnTo>
                    <a:pt x="9525" y="1562100"/>
                  </a:lnTo>
                  <a:lnTo>
                    <a:pt x="9398" y="1574673"/>
                  </a:lnTo>
                  <a:lnTo>
                    <a:pt x="745782" y="1577301"/>
                  </a:lnTo>
                  <a:lnTo>
                    <a:pt x="758571" y="1577340"/>
                  </a:lnTo>
                  <a:lnTo>
                    <a:pt x="745782" y="1577340"/>
                  </a:lnTo>
                  <a:lnTo>
                    <a:pt x="745744" y="1596390"/>
                  </a:lnTo>
                  <a:lnTo>
                    <a:pt x="784123" y="1577340"/>
                  </a:lnTo>
                  <a:lnTo>
                    <a:pt x="796671" y="1571117"/>
                  </a:lnTo>
                  <a:close/>
                </a:path>
                <a:path w="798829" h="2746375">
                  <a:moveTo>
                    <a:pt x="798449" y="25400"/>
                  </a:moveTo>
                  <a:lnTo>
                    <a:pt x="785749" y="19075"/>
                  </a:lnTo>
                  <a:lnTo>
                    <a:pt x="747522" y="0"/>
                  </a:lnTo>
                  <a:lnTo>
                    <a:pt x="747560" y="19075"/>
                  </a:lnTo>
                  <a:lnTo>
                    <a:pt x="9398" y="20320"/>
                  </a:lnTo>
                  <a:lnTo>
                    <a:pt x="9525" y="33020"/>
                  </a:lnTo>
                  <a:lnTo>
                    <a:pt x="747598" y="31775"/>
                  </a:lnTo>
                  <a:lnTo>
                    <a:pt x="747649" y="50800"/>
                  </a:lnTo>
                  <a:lnTo>
                    <a:pt x="785698" y="31775"/>
                  </a:lnTo>
                  <a:lnTo>
                    <a:pt x="79844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20821" y="4252623"/>
            <a:ext cx="2834640" cy="8705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44475" marR="815975" indent="-232410">
              <a:lnSpc>
                <a:spcPts val="173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Flatten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apply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 </a:t>
            </a:r>
            <a:r>
              <a:rPr sz="1400" dirty="0">
                <a:latin typeface="Arial"/>
                <a:cs typeface="Arial"/>
              </a:rPr>
              <a:t>transform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768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  <a:p>
            <a:pPr marL="1828164">
              <a:lnSpc>
                <a:spcPct val="100000"/>
              </a:lnSpc>
              <a:spcBef>
                <a:spcPts val="99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Lecture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8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17370" y="4261830"/>
            <a:ext cx="1496695" cy="447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Break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  <a:p>
            <a:pPr marL="240029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16x16x3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117" y="4388667"/>
            <a:ext cx="1530350" cy="3314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065" marR="5080" indent="3810" algn="ctr">
              <a:lnSpc>
                <a:spcPct val="105900"/>
              </a:lnSpc>
              <a:spcBef>
                <a:spcPts val="1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103</a:t>
            </a:fld>
            <a:endParaRPr spc="-25" dirty="0"/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100701" y="1580832"/>
            <a:ext cx="218186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105"/>
              </a:spcBef>
            </a:pPr>
            <a:r>
              <a:rPr sz="1550" b="1" dirty="0"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Any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other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way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to </a:t>
            </a:r>
            <a:r>
              <a:rPr sz="1550" dirty="0">
                <a:latin typeface="Arial"/>
                <a:cs typeface="Arial"/>
              </a:rPr>
              <a:t>describe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this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operation?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390775" y="3857625"/>
            <a:ext cx="1973580" cy="342900"/>
            <a:chOff x="2390775" y="3857625"/>
            <a:chExt cx="1973580" cy="342900"/>
          </a:xfrm>
        </p:grpSpPr>
        <p:pic>
          <p:nvPicPr>
            <p:cNvPr id="8" name="object 8" descr="Cat, Funny Cat, Cute Cat, Cute, Cat Compilati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0775" y="3857625"/>
              <a:ext cx="342900" cy="342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8500" y="4008437"/>
              <a:ext cx="788035" cy="50800"/>
            </a:xfrm>
            <a:custGeom>
              <a:avLst/>
              <a:gdLst/>
              <a:ahLst/>
              <a:cxnLst/>
              <a:rect l="l" t="t" r="r" b="b"/>
              <a:pathLst>
                <a:path w="788035" h="50800">
                  <a:moveTo>
                    <a:pt x="737108" y="0"/>
                  </a:moveTo>
                  <a:lnTo>
                    <a:pt x="737108" y="50800"/>
                  </a:lnTo>
                  <a:lnTo>
                    <a:pt x="775208" y="31750"/>
                  </a:lnTo>
                  <a:lnTo>
                    <a:pt x="749808" y="31750"/>
                  </a:lnTo>
                  <a:lnTo>
                    <a:pt x="749808" y="19050"/>
                  </a:lnTo>
                  <a:lnTo>
                    <a:pt x="775208" y="19050"/>
                  </a:lnTo>
                  <a:lnTo>
                    <a:pt x="737108" y="0"/>
                  </a:lnTo>
                  <a:close/>
                </a:path>
                <a:path w="788035" h="50800">
                  <a:moveTo>
                    <a:pt x="737108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737108" y="31750"/>
                  </a:lnTo>
                  <a:lnTo>
                    <a:pt x="737108" y="19050"/>
                  </a:lnTo>
                  <a:close/>
                </a:path>
                <a:path w="788035" h="50800">
                  <a:moveTo>
                    <a:pt x="775208" y="19050"/>
                  </a:moveTo>
                  <a:lnTo>
                    <a:pt x="749808" y="19050"/>
                  </a:lnTo>
                  <a:lnTo>
                    <a:pt x="749808" y="31750"/>
                  </a:lnTo>
                  <a:lnTo>
                    <a:pt x="775208" y="31750"/>
                  </a:lnTo>
                  <a:lnTo>
                    <a:pt x="787908" y="25400"/>
                  </a:lnTo>
                  <a:lnTo>
                    <a:pt x="775208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390775" y="771525"/>
            <a:ext cx="1983105" cy="3038475"/>
            <a:chOff x="2390775" y="771525"/>
            <a:chExt cx="1983105" cy="3038475"/>
          </a:xfrm>
        </p:grpSpPr>
        <p:pic>
          <p:nvPicPr>
            <p:cNvPr id="13" name="object 13" descr="Cat, Funny Cat, Cute Cat, Cute, Cat Compilati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2695575"/>
              <a:ext cx="352425" cy="352425"/>
            </a:xfrm>
            <a:prstGeom prst="rect">
              <a:avLst/>
            </a:prstGeom>
          </p:spPr>
        </p:pic>
        <p:pic>
          <p:nvPicPr>
            <p:cNvPr id="14" name="object 14" descr="Cat, Funny Cat, Cute Cat, Cute, Cat Compilati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0775" y="1533525"/>
              <a:ext cx="352425" cy="352425"/>
            </a:xfrm>
            <a:prstGeom prst="rect">
              <a:avLst/>
            </a:prstGeom>
          </p:spPr>
        </p:pic>
        <p:pic>
          <p:nvPicPr>
            <p:cNvPr id="15" name="object 15" descr="Cat, Funny Cat, Cute Cat, Cute, Cat Compilati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3467100"/>
              <a:ext cx="342900" cy="342900"/>
            </a:xfrm>
            <a:prstGeom prst="rect">
              <a:avLst/>
            </a:prstGeom>
          </p:spPr>
        </p:pic>
        <p:pic>
          <p:nvPicPr>
            <p:cNvPr id="16" name="object 16" descr="Cat, Funny Cat, Cute Cat, Cute, Cat Compilati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0775" y="2314575"/>
              <a:ext cx="352425" cy="342900"/>
            </a:xfrm>
            <a:prstGeom prst="rect">
              <a:avLst/>
            </a:prstGeom>
          </p:spPr>
        </p:pic>
        <p:pic>
          <p:nvPicPr>
            <p:cNvPr id="17" name="object 17" descr="Cat, Funny Cat, Cute Cat, Cute, Cat Compi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0775" y="1152525"/>
              <a:ext cx="352425" cy="342900"/>
            </a:xfrm>
            <a:prstGeom prst="rect">
              <a:avLst/>
            </a:prstGeom>
          </p:spPr>
        </p:pic>
        <p:pic>
          <p:nvPicPr>
            <p:cNvPr id="18" name="object 18" descr="Cat, Funny Cat, Cute Cat, Cute, Cat Compilati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0775" y="3076575"/>
              <a:ext cx="342900" cy="352425"/>
            </a:xfrm>
            <a:prstGeom prst="rect">
              <a:avLst/>
            </a:prstGeom>
          </p:spPr>
        </p:pic>
        <p:pic>
          <p:nvPicPr>
            <p:cNvPr id="19" name="object 19" descr="Cat, Funny Cat, Cute Cat, Cute, Cat Compilati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0775" y="1924050"/>
              <a:ext cx="352425" cy="352425"/>
            </a:xfrm>
            <a:prstGeom prst="rect">
              <a:avLst/>
            </a:prstGeom>
          </p:spPr>
        </p:pic>
        <p:pic>
          <p:nvPicPr>
            <p:cNvPr id="20" name="object 20" descr="Cat, Funny Cat, Cute Cat, Cute, Cat Compilation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0775" y="771525"/>
              <a:ext cx="352425" cy="3429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828675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828675" y="104775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0" y="104775"/>
                  </a:moveTo>
                  <a:lnTo>
                    <a:pt x="828675" y="104775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38501" y="922400"/>
              <a:ext cx="798830" cy="2746375"/>
            </a:xfrm>
            <a:custGeom>
              <a:avLst/>
              <a:gdLst/>
              <a:ahLst/>
              <a:cxnLst/>
              <a:rect l="l" t="t" r="r" b="b"/>
              <a:pathLst>
                <a:path w="798829" h="2746375">
                  <a:moveTo>
                    <a:pt x="787908" y="2720975"/>
                  </a:moveTo>
                  <a:lnTo>
                    <a:pt x="775208" y="2714625"/>
                  </a:lnTo>
                  <a:lnTo>
                    <a:pt x="737108" y="2695575"/>
                  </a:lnTo>
                  <a:lnTo>
                    <a:pt x="737108" y="2714625"/>
                  </a:lnTo>
                  <a:lnTo>
                    <a:pt x="0" y="2714625"/>
                  </a:lnTo>
                  <a:lnTo>
                    <a:pt x="0" y="2727325"/>
                  </a:lnTo>
                  <a:lnTo>
                    <a:pt x="737108" y="2727325"/>
                  </a:lnTo>
                  <a:lnTo>
                    <a:pt x="737108" y="2746375"/>
                  </a:lnTo>
                  <a:lnTo>
                    <a:pt x="775208" y="2727325"/>
                  </a:lnTo>
                  <a:lnTo>
                    <a:pt x="787908" y="2720975"/>
                  </a:lnTo>
                  <a:close/>
                </a:path>
                <a:path w="798829" h="2746375">
                  <a:moveTo>
                    <a:pt x="787908" y="2339975"/>
                  </a:moveTo>
                  <a:lnTo>
                    <a:pt x="775208" y="2333625"/>
                  </a:lnTo>
                  <a:lnTo>
                    <a:pt x="737108" y="2314575"/>
                  </a:lnTo>
                  <a:lnTo>
                    <a:pt x="737108" y="2333625"/>
                  </a:lnTo>
                  <a:lnTo>
                    <a:pt x="0" y="2333625"/>
                  </a:lnTo>
                  <a:lnTo>
                    <a:pt x="0" y="2346325"/>
                  </a:lnTo>
                  <a:lnTo>
                    <a:pt x="737108" y="2346325"/>
                  </a:lnTo>
                  <a:lnTo>
                    <a:pt x="737108" y="2365375"/>
                  </a:lnTo>
                  <a:lnTo>
                    <a:pt x="775208" y="2346325"/>
                  </a:lnTo>
                  <a:lnTo>
                    <a:pt x="787908" y="2339975"/>
                  </a:lnTo>
                  <a:close/>
                </a:path>
                <a:path w="798829" h="2746375">
                  <a:moveTo>
                    <a:pt x="794512" y="406400"/>
                  </a:moveTo>
                  <a:lnTo>
                    <a:pt x="781812" y="400050"/>
                  </a:lnTo>
                  <a:lnTo>
                    <a:pt x="743712" y="381000"/>
                  </a:lnTo>
                  <a:lnTo>
                    <a:pt x="743712" y="400050"/>
                  </a:lnTo>
                  <a:lnTo>
                    <a:pt x="9525" y="400050"/>
                  </a:lnTo>
                  <a:lnTo>
                    <a:pt x="9525" y="412750"/>
                  </a:lnTo>
                  <a:lnTo>
                    <a:pt x="743712" y="412750"/>
                  </a:lnTo>
                  <a:lnTo>
                    <a:pt x="743712" y="431800"/>
                  </a:lnTo>
                  <a:lnTo>
                    <a:pt x="781812" y="412750"/>
                  </a:lnTo>
                  <a:lnTo>
                    <a:pt x="794512" y="406400"/>
                  </a:lnTo>
                  <a:close/>
                </a:path>
                <a:path w="798829" h="2746375">
                  <a:moveTo>
                    <a:pt x="795782" y="1183513"/>
                  </a:moveTo>
                  <a:lnTo>
                    <a:pt x="782828" y="1176909"/>
                  </a:lnTo>
                  <a:lnTo>
                    <a:pt x="745236" y="1157732"/>
                  </a:lnTo>
                  <a:lnTo>
                    <a:pt x="745083" y="1176820"/>
                  </a:lnTo>
                  <a:lnTo>
                    <a:pt x="9525" y="1171575"/>
                  </a:lnTo>
                  <a:lnTo>
                    <a:pt x="9398" y="1184148"/>
                  </a:lnTo>
                  <a:lnTo>
                    <a:pt x="744994" y="1189520"/>
                  </a:lnTo>
                  <a:lnTo>
                    <a:pt x="757682" y="1189609"/>
                  </a:lnTo>
                  <a:lnTo>
                    <a:pt x="744994" y="1189609"/>
                  </a:lnTo>
                  <a:lnTo>
                    <a:pt x="744855" y="1208532"/>
                  </a:lnTo>
                  <a:lnTo>
                    <a:pt x="783361" y="1189609"/>
                  </a:lnTo>
                  <a:lnTo>
                    <a:pt x="795782" y="1183513"/>
                  </a:lnTo>
                  <a:close/>
                </a:path>
                <a:path w="798829" h="2746375">
                  <a:moveTo>
                    <a:pt x="795782" y="802005"/>
                  </a:moveTo>
                  <a:lnTo>
                    <a:pt x="782828" y="795401"/>
                  </a:lnTo>
                  <a:lnTo>
                    <a:pt x="745236" y="776224"/>
                  </a:lnTo>
                  <a:lnTo>
                    <a:pt x="745083" y="795324"/>
                  </a:lnTo>
                  <a:lnTo>
                    <a:pt x="9525" y="790448"/>
                  </a:lnTo>
                  <a:lnTo>
                    <a:pt x="9398" y="803148"/>
                  </a:lnTo>
                  <a:lnTo>
                    <a:pt x="744994" y="808024"/>
                  </a:lnTo>
                  <a:lnTo>
                    <a:pt x="757682" y="808101"/>
                  </a:lnTo>
                  <a:lnTo>
                    <a:pt x="744994" y="808101"/>
                  </a:lnTo>
                  <a:lnTo>
                    <a:pt x="744855" y="827024"/>
                  </a:lnTo>
                  <a:lnTo>
                    <a:pt x="783361" y="808101"/>
                  </a:lnTo>
                  <a:lnTo>
                    <a:pt x="795782" y="802005"/>
                  </a:lnTo>
                  <a:close/>
                </a:path>
                <a:path w="798829" h="2746375">
                  <a:moveTo>
                    <a:pt x="796671" y="1949450"/>
                  </a:moveTo>
                  <a:lnTo>
                    <a:pt x="783971" y="1943100"/>
                  </a:lnTo>
                  <a:lnTo>
                    <a:pt x="745871" y="1924050"/>
                  </a:lnTo>
                  <a:lnTo>
                    <a:pt x="745871" y="1943100"/>
                  </a:lnTo>
                  <a:lnTo>
                    <a:pt x="9525" y="1943100"/>
                  </a:lnTo>
                  <a:lnTo>
                    <a:pt x="9525" y="1955800"/>
                  </a:lnTo>
                  <a:lnTo>
                    <a:pt x="745871" y="1955800"/>
                  </a:lnTo>
                  <a:lnTo>
                    <a:pt x="745871" y="1974850"/>
                  </a:lnTo>
                  <a:lnTo>
                    <a:pt x="783971" y="1955800"/>
                  </a:lnTo>
                  <a:lnTo>
                    <a:pt x="796671" y="1949450"/>
                  </a:lnTo>
                  <a:close/>
                </a:path>
                <a:path w="798829" h="2746375">
                  <a:moveTo>
                    <a:pt x="796671" y="1571117"/>
                  </a:moveTo>
                  <a:lnTo>
                    <a:pt x="783780" y="1564640"/>
                  </a:lnTo>
                  <a:lnTo>
                    <a:pt x="745871" y="1545590"/>
                  </a:lnTo>
                  <a:lnTo>
                    <a:pt x="745820" y="1564601"/>
                  </a:lnTo>
                  <a:lnTo>
                    <a:pt x="9525" y="1562100"/>
                  </a:lnTo>
                  <a:lnTo>
                    <a:pt x="9398" y="1574673"/>
                  </a:lnTo>
                  <a:lnTo>
                    <a:pt x="745782" y="1577301"/>
                  </a:lnTo>
                  <a:lnTo>
                    <a:pt x="758571" y="1577340"/>
                  </a:lnTo>
                  <a:lnTo>
                    <a:pt x="745782" y="1577340"/>
                  </a:lnTo>
                  <a:lnTo>
                    <a:pt x="745744" y="1596390"/>
                  </a:lnTo>
                  <a:lnTo>
                    <a:pt x="784123" y="1577340"/>
                  </a:lnTo>
                  <a:lnTo>
                    <a:pt x="796671" y="1571117"/>
                  </a:lnTo>
                  <a:close/>
                </a:path>
                <a:path w="798829" h="2746375">
                  <a:moveTo>
                    <a:pt x="798449" y="25400"/>
                  </a:moveTo>
                  <a:lnTo>
                    <a:pt x="785749" y="19075"/>
                  </a:lnTo>
                  <a:lnTo>
                    <a:pt x="747522" y="0"/>
                  </a:lnTo>
                  <a:lnTo>
                    <a:pt x="747560" y="19075"/>
                  </a:lnTo>
                  <a:lnTo>
                    <a:pt x="9398" y="20320"/>
                  </a:lnTo>
                  <a:lnTo>
                    <a:pt x="9525" y="33020"/>
                  </a:lnTo>
                  <a:lnTo>
                    <a:pt x="747598" y="31775"/>
                  </a:lnTo>
                  <a:lnTo>
                    <a:pt x="747649" y="50800"/>
                  </a:lnTo>
                  <a:lnTo>
                    <a:pt x="785698" y="31775"/>
                  </a:lnTo>
                  <a:lnTo>
                    <a:pt x="79844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20821" y="4252623"/>
            <a:ext cx="2834640" cy="8705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44475" marR="815975" indent="-232410">
              <a:lnSpc>
                <a:spcPts val="173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Flatten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apply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 </a:t>
            </a:r>
            <a:r>
              <a:rPr sz="1400" dirty="0">
                <a:latin typeface="Arial"/>
                <a:cs typeface="Arial"/>
              </a:rPr>
              <a:t>transform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768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  <a:p>
            <a:pPr marL="1828164">
              <a:lnSpc>
                <a:spcPct val="100000"/>
              </a:lnSpc>
              <a:spcBef>
                <a:spcPts val="995"/>
              </a:spcBef>
            </a:pP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Lecture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8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17370" y="4261830"/>
            <a:ext cx="1496695" cy="447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Break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  <a:p>
            <a:pPr marL="240029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16x16x3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117" y="4388667"/>
            <a:ext cx="1530350" cy="3314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065" marR="5080" indent="3810" algn="ctr">
              <a:lnSpc>
                <a:spcPct val="105900"/>
              </a:lnSpc>
              <a:spcBef>
                <a:spcPts val="1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104</a:t>
            </a:fld>
            <a:endParaRPr spc="-25" dirty="0"/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100701" y="1580832"/>
            <a:ext cx="2291715" cy="1487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14300">
              <a:lnSpc>
                <a:spcPct val="101099"/>
              </a:lnSpc>
              <a:spcBef>
                <a:spcPts val="105"/>
              </a:spcBef>
            </a:pPr>
            <a:r>
              <a:rPr sz="1550" b="1" dirty="0">
                <a:latin typeface="Arial"/>
                <a:cs typeface="Arial"/>
              </a:rPr>
              <a:t>Q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Any</a:t>
            </a:r>
            <a:r>
              <a:rPr sz="1550" spc="114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other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way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to </a:t>
            </a:r>
            <a:r>
              <a:rPr sz="1550" dirty="0">
                <a:latin typeface="Arial"/>
                <a:cs typeface="Arial"/>
              </a:rPr>
              <a:t>describe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this</a:t>
            </a:r>
            <a:r>
              <a:rPr sz="1550" spc="11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operation?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03000"/>
              </a:lnSpc>
            </a:pPr>
            <a:r>
              <a:rPr sz="1550" b="1" dirty="0">
                <a:latin typeface="Arial"/>
                <a:cs typeface="Arial"/>
              </a:rPr>
              <a:t>A</a:t>
            </a:r>
            <a:r>
              <a:rPr sz="1550" dirty="0">
                <a:latin typeface="Arial"/>
                <a:cs typeface="Arial"/>
              </a:rPr>
              <a:t>: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16x16</a:t>
            </a:r>
            <a:r>
              <a:rPr sz="1550" spc="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conv</a:t>
            </a:r>
            <a:r>
              <a:rPr sz="1550" spc="10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with</a:t>
            </a:r>
            <a:r>
              <a:rPr sz="1550" spc="8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stride </a:t>
            </a:r>
            <a:r>
              <a:rPr sz="1550" dirty="0">
                <a:latin typeface="Arial"/>
                <a:cs typeface="Arial"/>
              </a:rPr>
              <a:t>16,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3</a:t>
            </a:r>
            <a:r>
              <a:rPr sz="1550" spc="8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input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channels,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D </a:t>
            </a:r>
            <a:r>
              <a:rPr sz="1550" dirty="0">
                <a:latin typeface="Arial"/>
                <a:cs typeface="Arial"/>
              </a:rPr>
              <a:t>output</a:t>
            </a:r>
            <a:r>
              <a:rPr sz="1550" spc="9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channels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59376" y="877950"/>
            <a:ext cx="2703195" cy="3292475"/>
            <a:chOff x="4659376" y="877950"/>
            <a:chExt cx="2703195" cy="3292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1700" y="1028703"/>
              <a:ext cx="1380849" cy="24762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72076" y="890650"/>
              <a:ext cx="276225" cy="3267075"/>
            </a:xfrm>
            <a:custGeom>
              <a:avLst/>
              <a:gdLst/>
              <a:ahLst/>
              <a:cxnLst/>
              <a:rect l="l" t="t" r="r" b="b"/>
              <a:pathLst>
                <a:path w="276225" h="3267075">
                  <a:moveTo>
                    <a:pt x="0" y="0"/>
                  </a:moveTo>
                  <a:lnTo>
                    <a:pt x="53717" y="8673"/>
                  </a:lnTo>
                  <a:lnTo>
                    <a:pt x="97599" y="32337"/>
                  </a:lnTo>
                  <a:lnTo>
                    <a:pt x="127194" y="67454"/>
                  </a:lnTo>
                  <a:lnTo>
                    <a:pt x="138049" y="110489"/>
                  </a:lnTo>
                  <a:lnTo>
                    <a:pt x="138049" y="1522857"/>
                  </a:lnTo>
                  <a:lnTo>
                    <a:pt x="148905" y="1565911"/>
                  </a:lnTo>
                  <a:lnTo>
                    <a:pt x="178514" y="1601073"/>
                  </a:lnTo>
                  <a:lnTo>
                    <a:pt x="222434" y="1624780"/>
                  </a:lnTo>
                  <a:lnTo>
                    <a:pt x="276225" y="1633474"/>
                  </a:lnTo>
                  <a:lnTo>
                    <a:pt x="222434" y="1642167"/>
                  </a:lnTo>
                  <a:lnTo>
                    <a:pt x="178514" y="1665874"/>
                  </a:lnTo>
                  <a:lnTo>
                    <a:pt x="148905" y="1701036"/>
                  </a:lnTo>
                  <a:lnTo>
                    <a:pt x="138049" y="1744091"/>
                  </a:lnTo>
                  <a:lnTo>
                    <a:pt x="138049" y="3156407"/>
                  </a:lnTo>
                  <a:lnTo>
                    <a:pt x="127194" y="3199460"/>
                  </a:lnTo>
                  <a:lnTo>
                    <a:pt x="97599" y="3234616"/>
                  </a:lnTo>
                  <a:lnTo>
                    <a:pt x="53717" y="3258319"/>
                  </a:lnTo>
                  <a:lnTo>
                    <a:pt x="0" y="326701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5324" y="2535300"/>
              <a:ext cx="1704339" cy="1214755"/>
            </a:xfrm>
            <a:custGeom>
              <a:avLst/>
              <a:gdLst/>
              <a:ahLst/>
              <a:cxnLst/>
              <a:rect l="l" t="t" r="r" b="b"/>
              <a:pathLst>
                <a:path w="1704340" h="1214754">
                  <a:moveTo>
                    <a:pt x="474852" y="12700"/>
                  </a:moveTo>
                  <a:lnTo>
                    <a:pt x="474852" y="1208913"/>
                  </a:lnTo>
                  <a:lnTo>
                    <a:pt x="480567" y="1214628"/>
                  </a:lnTo>
                  <a:lnTo>
                    <a:pt x="1672717" y="1214628"/>
                  </a:lnTo>
                  <a:lnTo>
                    <a:pt x="1678431" y="1208913"/>
                  </a:lnTo>
                  <a:lnTo>
                    <a:pt x="1678431" y="1201928"/>
                  </a:lnTo>
                  <a:lnTo>
                    <a:pt x="500252" y="1201928"/>
                  </a:lnTo>
                  <a:lnTo>
                    <a:pt x="487552" y="1189228"/>
                  </a:lnTo>
                  <a:lnTo>
                    <a:pt x="500252" y="1189228"/>
                  </a:lnTo>
                  <a:lnTo>
                    <a:pt x="500252" y="25400"/>
                  </a:lnTo>
                  <a:lnTo>
                    <a:pt x="487552" y="25400"/>
                  </a:lnTo>
                  <a:lnTo>
                    <a:pt x="474852" y="12700"/>
                  </a:lnTo>
                  <a:close/>
                </a:path>
                <a:path w="1704340" h="1214754">
                  <a:moveTo>
                    <a:pt x="500252" y="1189228"/>
                  </a:moveTo>
                  <a:lnTo>
                    <a:pt x="487552" y="1189228"/>
                  </a:lnTo>
                  <a:lnTo>
                    <a:pt x="500252" y="1201928"/>
                  </a:lnTo>
                  <a:lnTo>
                    <a:pt x="500252" y="1189228"/>
                  </a:lnTo>
                  <a:close/>
                </a:path>
                <a:path w="1704340" h="1214754">
                  <a:moveTo>
                    <a:pt x="1653031" y="1189228"/>
                  </a:moveTo>
                  <a:lnTo>
                    <a:pt x="500252" y="1189228"/>
                  </a:lnTo>
                  <a:lnTo>
                    <a:pt x="500252" y="1201928"/>
                  </a:lnTo>
                  <a:lnTo>
                    <a:pt x="1653031" y="1201928"/>
                  </a:lnTo>
                  <a:lnTo>
                    <a:pt x="1653031" y="1189228"/>
                  </a:lnTo>
                  <a:close/>
                </a:path>
                <a:path w="1704340" h="1214754">
                  <a:moveTo>
                    <a:pt x="1678431" y="1036828"/>
                  </a:moveTo>
                  <a:lnTo>
                    <a:pt x="1653031" y="1036828"/>
                  </a:lnTo>
                  <a:lnTo>
                    <a:pt x="1653031" y="1201928"/>
                  </a:lnTo>
                  <a:lnTo>
                    <a:pt x="1665731" y="1189228"/>
                  </a:lnTo>
                  <a:lnTo>
                    <a:pt x="1678431" y="1189228"/>
                  </a:lnTo>
                  <a:lnTo>
                    <a:pt x="1678431" y="1036828"/>
                  </a:lnTo>
                  <a:close/>
                </a:path>
                <a:path w="1704340" h="1214754">
                  <a:moveTo>
                    <a:pt x="1678431" y="1189228"/>
                  </a:moveTo>
                  <a:lnTo>
                    <a:pt x="1665731" y="1189228"/>
                  </a:lnTo>
                  <a:lnTo>
                    <a:pt x="1653031" y="1201928"/>
                  </a:lnTo>
                  <a:lnTo>
                    <a:pt x="1678431" y="1201928"/>
                  </a:lnTo>
                  <a:lnTo>
                    <a:pt x="1678431" y="1189228"/>
                  </a:lnTo>
                  <a:close/>
                </a:path>
                <a:path w="1704340" h="1214754">
                  <a:moveTo>
                    <a:pt x="1665731" y="973328"/>
                  </a:moveTo>
                  <a:lnTo>
                    <a:pt x="1627631" y="1049528"/>
                  </a:lnTo>
                  <a:lnTo>
                    <a:pt x="1653031" y="1049528"/>
                  </a:lnTo>
                  <a:lnTo>
                    <a:pt x="1653031" y="1036828"/>
                  </a:lnTo>
                  <a:lnTo>
                    <a:pt x="1697481" y="1036828"/>
                  </a:lnTo>
                  <a:lnTo>
                    <a:pt x="1665731" y="973328"/>
                  </a:lnTo>
                  <a:close/>
                </a:path>
                <a:path w="1704340" h="1214754">
                  <a:moveTo>
                    <a:pt x="1697481" y="1036828"/>
                  </a:moveTo>
                  <a:lnTo>
                    <a:pt x="1678431" y="1036828"/>
                  </a:lnTo>
                  <a:lnTo>
                    <a:pt x="1678431" y="1049528"/>
                  </a:lnTo>
                  <a:lnTo>
                    <a:pt x="1703831" y="1049528"/>
                  </a:lnTo>
                  <a:lnTo>
                    <a:pt x="1697481" y="1036828"/>
                  </a:lnTo>
                  <a:close/>
                </a:path>
                <a:path w="1704340" h="1214754">
                  <a:moveTo>
                    <a:pt x="494538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474852" y="25400"/>
                  </a:lnTo>
                  <a:lnTo>
                    <a:pt x="474852" y="12700"/>
                  </a:lnTo>
                  <a:lnTo>
                    <a:pt x="500252" y="12700"/>
                  </a:lnTo>
                  <a:lnTo>
                    <a:pt x="500252" y="5587"/>
                  </a:lnTo>
                  <a:lnTo>
                    <a:pt x="494538" y="0"/>
                  </a:lnTo>
                  <a:close/>
                </a:path>
                <a:path w="1704340" h="1214754">
                  <a:moveTo>
                    <a:pt x="500252" y="12700"/>
                  </a:moveTo>
                  <a:lnTo>
                    <a:pt x="474852" y="12700"/>
                  </a:lnTo>
                  <a:lnTo>
                    <a:pt x="487552" y="25400"/>
                  </a:lnTo>
                  <a:lnTo>
                    <a:pt x="500252" y="25400"/>
                  </a:lnTo>
                  <a:lnTo>
                    <a:pt x="500252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390775" y="3857625"/>
            <a:ext cx="1973580" cy="342900"/>
            <a:chOff x="2390775" y="3857625"/>
            <a:chExt cx="1973580" cy="342900"/>
          </a:xfrm>
        </p:grpSpPr>
        <p:pic>
          <p:nvPicPr>
            <p:cNvPr id="12" name="object 12" descr="Cat, Funny Cat, Cute Cat, Cute, Cat Compilati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3857625"/>
              <a:ext cx="342900" cy="342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8500" y="4008437"/>
              <a:ext cx="788035" cy="50800"/>
            </a:xfrm>
            <a:custGeom>
              <a:avLst/>
              <a:gdLst/>
              <a:ahLst/>
              <a:cxnLst/>
              <a:rect l="l" t="t" r="r" b="b"/>
              <a:pathLst>
                <a:path w="788035" h="50800">
                  <a:moveTo>
                    <a:pt x="737108" y="0"/>
                  </a:moveTo>
                  <a:lnTo>
                    <a:pt x="737108" y="50800"/>
                  </a:lnTo>
                  <a:lnTo>
                    <a:pt x="775208" y="31750"/>
                  </a:lnTo>
                  <a:lnTo>
                    <a:pt x="749808" y="31750"/>
                  </a:lnTo>
                  <a:lnTo>
                    <a:pt x="749808" y="19050"/>
                  </a:lnTo>
                  <a:lnTo>
                    <a:pt x="775208" y="19050"/>
                  </a:lnTo>
                  <a:lnTo>
                    <a:pt x="737108" y="0"/>
                  </a:lnTo>
                  <a:close/>
                </a:path>
                <a:path w="788035" h="50800">
                  <a:moveTo>
                    <a:pt x="737108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737108" y="31750"/>
                  </a:lnTo>
                  <a:lnTo>
                    <a:pt x="737108" y="19050"/>
                  </a:lnTo>
                  <a:close/>
                </a:path>
                <a:path w="788035" h="50800">
                  <a:moveTo>
                    <a:pt x="775208" y="19050"/>
                  </a:moveTo>
                  <a:lnTo>
                    <a:pt x="749808" y="19050"/>
                  </a:lnTo>
                  <a:lnTo>
                    <a:pt x="749808" y="31750"/>
                  </a:lnTo>
                  <a:lnTo>
                    <a:pt x="775208" y="31750"/>
                  </a:lnTo>
                  <a:lnTo>
                    <a:pt x="787908" y="25400"/>
                  </a:lnTo>
                  <a:lnTo>
                    <a:pt x="775208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390775" y="771525"/>
            <a:ext cx="1983105" cy="3038475"/>
            <a:chOff x="2390775" y="771525"/>
            <a:chExt cx="1983105" cy="3038475"/>
          </a:xfrm>
        </p:grpSpPr>
        <p:pic>
          <p:nvPicPr>
            <p:cNvPr id="17" name="object 17" descr="Cat, Funny Cat, Cute Cat, Cute, Cat Compilati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0775" y="2695575"/>
              <a:ext cx="352425" cy="352425"/>
            </a:xfrm>
            <a:prstGeom prst="rect">
              <a:avLst/>
            </a:prstGeom>
          </p:spPr>
        </p:pic>
        <p:pic>
          <p:nvPicPr>
            <p:cNvPr id="18" name="object 18" descr="Cat, Funny Cat, Cute Cat, Cute, Cat Compilati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1533525"/>
              <a:ext cx="352425" cy="352425"/>
            </a:xfrm>
            <a:prstGeom prst="rect">
              <a:avLst/>
            </a:prstGeom>
          </p:spPr>
        </p:pic>
        <p:pic>
          <p:nvPicPr>
            <p:cNvPr id="19" name="object 19" descr="Cat, Funny Cat, Cute Cat, Cute, Cat Compilati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0775" y="3467100"/>
              <a:ext cx="342900" cy="342900"/>
            </a:xfrm>
            <a:prstGeom prst="rect">
              <a:avLst/>
            </a:prstGeom>
          </p:spPr>
        </p:pic>
        <p:pic>
          <p:nvPicPr>
            <p:cNvPr id="20" name="object 20" descr="Cat, Funny Cat, Cute Cat, Cute, Cat Compi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0775" y="2314575"/>
              <a:ext cx="352425" cy="342900"/>
            </a:xfrm>
            <a:prstGeom prst="rect">
              <a:avLst/>
            </a:prstGeom>
          </p:spPr>
        </p:pic>
        <p:pic>
          <p:nvPicPr>
            <p:cNvPr id="21" name="object 21" descr="Cat, Funny Cat, Cute Cat, Cute, Cat Compilati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0775" y="1152525"/>
              <a:ext cx="352425" cy="342900"/>
            </a:xfrm>
            <a:prstGeom prst="rect">
              <a:avLst/>
            </a:prstGeom>
          </p:spPr>
        </p:pic>
        <p:pic>
          <p:nvPicPr>
            <p:cNvPr id="22" name="object 22" descr="Cat, Funny Cat, Cute Cat, Cute, Cat Compilati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0775" y="3076575"/>
              <a:ext cx="342900" cy="352425"/>
            </a:xfrm>
            <a:prstGeom prst="rect">
              <a:avLst/>
            </a:prstGeom>
          </p:spPr>
        </p:pic>
        <p:pic>
          <p:nvPicPr>
            <p:cNvPr id="23" name="object 23" descr="Cat, Funny Cat, Cute Cat, Cute, Cat Compilation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0775" y="1924050"/>
              <a:ext cx="352425" cy="352425"/>
            </a:xfrm>
            <a:prstGeom prst="rect">
              <a:avLst/>
            </a:prstGeom>
          </p:spPr>
        </p:pic>
        <p:pic>
          <p:nvPicPr>
            <p:cNvPr id="24" name="object 24" descr="Cat, Funny Cat, Cute Cat, Cute, Cat Compilation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90775" y="771525"/>
              <a:ext cx="352425" cy="3429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828675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828675" y="104775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0" y="104775"/>
                  </a:moveTo>
                  <a:lnTo>
                    <a:pt x="828675" y="104775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38501" y="922400"/>
              <a:ext cx="798830" cy="2746375"/>
            </a:xfrm>
            <a:custGeom>
              <a:avLst/>
              <a:gdLst/>
              <a:ahLst/>
              <a:cxnLst/>
              <a:rect l="l" t="t" r="r" b="b"/>
              <a:pathLst>
                <a:path w="798829" h="2746375">
                  <a:moveTo>
                    <a:pt x="787908" y="2720975"/>
                  </a:moveTo>
                  <a:lnTo>
                    <a:pt x="775208" y="2714625"/>
                  </a:lnTo>
                  <a:lnTo>
                    <a:pt x="737108" y="2695575"/>
                  </a:lnTo>
                  <a:lnTo>
                    <a:pt x="737108" y="2714625"/>
                  </a:lnTo>
                  <a:lnTo>
                    <a:pt x="0" y="2714625"/>
                  </a:lnTo>
                  <a:lnTo>
                    <a:pt x="0" y="2727325"/>
                  </a:lnTo>
                  <a:lnTo>
                    <a:pt x="737108" y="2727325"/>
                  </a:lnTo>
                  <a:lnTo>
                    <a:pt x="737108" y="2746375"/>
                  </a:lnTo>
                  <a:lnTo>
                    <a:pt x="775208" y="2727325"/>
                  </a:lnTo>
                  <a:lnTo>
                    <a:pt x="787908" y="2720975"/>
                  </a:lnTo>
                  <a:close/>
                </a:path>
                <a:path w="798829" h="2746375">
                  <a:moveTo>
                    <a:pt x="787908" y="2339975"/>
                  </a:moveTo>
                  <a:lnTo>
                    <a:pt x="775208" y="2333625"/>
                  </a:lnTo>
                  <a:lnTo>
                    <a:pt x="737108" y="2314575"/>
                  </a:lnTo>
                  <a:lnTo>
                    <a:pt x="737108" y="2333625"/>
                  </a:lnTo>
                  <a:lnTo>
                    <a:pt x="0" y="2333625"/>
                  </a:lnTo>
                  <a:lnTo>
                    <a:pt x="0" y="2346325"/>
                  </a:lnTo>
                  <a:lnTo>
                    <a:pt x="737108" y="2346325"/>
                  </a:lnTo>
                  <a:lnTo>
                    <a:pt x="737108" y="2365375"/>
                  </a:lnTo>
                  <a:lnTo>
                    <a:pt x="775208" y="2346325"/>
                  </a:lnTo>
                  <a:lnTo>
                    <a:pt x="787908" y="2339975"/>
                  </a:lnTo>
                  <a:close/>
                </a:path>
                <a:path w="798829" h="2746375">
                  <a:moveTo>
                    <a:pt x="794512" y="406400"/>
                  </a:moveTo>
                  <a:lnTo>
                    <a:pt x="781812" y="400050"/>
                  </a:lnTo>
                  <a:lnTo>
                    <a:pt x="743712" y="381000"/>
                  </a:lnTo>
                  <a:lnTo>
                    <a:pt x="743712" y="400050"/>
                  </a:lnTo>
                  <a:lnTo>
                    <a:pt x="9525" y="400050"/>
                  </a:lnTo>
                  <a:lnTo>
                    <a:pt x="9525" y="412750"/>
                  </a:lnTo>
                  <a:lnTo>
                    <a:pt x="743712" y="412750"/>
                  </a:lnTo>
                  <a:lnTo>
                    <a:pt x="743712" y="431800"/>
                  </a:lnTo>
                  <a:lnTo>
                    <a:pt x="781812" y="412750"/>
                  </a:lnTo>
                  <a:lnTo>
                    <a:pt x="794512" y="406400"/>
                  </a:lnTo>
                  <a:close/>
                </a:path>
                <a:path w="798829" h="2746375">
                  <a:moveTo>
                    <a:pt x="795782" y="1183513"/>
                  </a:moveTo>
                  <a:lnTo>
                    <a:pt x="782828" y="1176909"/>
                  </a:lnTo>
                  <a:lnTo>
                    <a:pt x="745236" y="1157732"/>
                  </a:lnTo>
                  <a:lnTo>
                    <a:pt x="745083" y="1176820"/>
                  </a:lnTo>
                  <a:lnTo>
                    <a:pt x="9525" y="1171575"/>
                  </a:lnTo>
                  <a:lnTo>
                    <a:pt x="9398" y="1184148"/>
                  </a:lnTo>
                  <a:lnTo>
                    <a:pt x="744994" y="1189520"/>
                  </a:lnTo>
                  <a:lnTo>
                    <a:pt x="757682" y="1189609"/>
                  </a:lnTo>
                  <a:lnTo>
                    <a:pt x="744994" y="1189609"/>
                  </a:lnTo>
                  <a:lnTo>
                    <a:pt x="744855" y="1208532"/>
                  </a:lnTo>
                  <a:lnTo>
                    <a:pt x="783361" y="1189609"/>
                  </a:lnTo>
                  <a:lnTo>
                    <a:pt x="795782" y="1183513"/>
                  </a:lnTo>
                  <a:close/>
                </a:path>
                <a:path w="798829" h="2746375">
                  <a:moveTo>
                    <a:pt x="795782" y="802005"/>
                  </a:moveTo>
                  <a:lnTo>
                    <a:pt x="782828" y="795401"/>
                  </a:lnTo>
                  <a:lnTo>
                    <a:pt x="745236" y="776224"/>
                  </a:lnTo>
                  <a:lnTo>
                    <a:pt x="745083" y="795324"/>
                  </a:lnTo>
                  <a:lnTo>
                    <a:pt x="9525" y="790448"/>
                  </a:lnTo>
                  <a:lnTo>
                    <a:pt x="9398" y="803148"/>
                  </a:lnTo>
                  <a:lnTo>
                    <a:pt x="744994" y="808024"/>
                  </a:lnTo>
                  <a:lnTo>
                    <a:pt x="757682" y="808101"/>
                  </a:lnTo>
                  <a:lnTo>
                    <a:pt x="744994" y="808101"/>
                  </a:lnTo>
                  <a:lnTo>
                    <a:pt x="744855" y="827024"/>
                  </a:lnTo>
                  <a:lnTo>
                    <a:pt x="783361" y="808101"/>
                  </a:lnTo>
                  <a:lnTo>
                    <a:pt x="795782" y="802005"/>
                  </a:lnTo>
                  <a:close/>
                </a:path>
                <a:path w="798829" h="2746375">
                  <a:moveTo>
                    <a:pt x="796671" y="1949450"/>
                  </a:moveTo>
                  <a:lnTo>
                    <a:pt x="783971" y="1943100"/>
                  </a:lnTo>
                  <a:lnTo>
                    <a:pt x="745871" y="1924050"/>
                  </a:lnTo>
                  <a:lnTo>
                    <a:pt x="745871" y="1943100"/>
                  </a:lnTo>
                  <a:lnTo>
                    <a:pt x="9525" y="1943100"/>
                  </a:lnTo>
                  <a:lnTo>
                    <a:pt x="9525" y="1955800"/>
                  </a:lnTo>
                  <a:lnTo>
                    <a:pt x="745871" y="1955800"/>
                  </a:lnTo>
                  <a:lnTo>
                    <a:pt x="745871" y="1974850"/>
                  </a:lnTo>
                  <a:lnTo>
                    <a:pt x="783971" y="1955800"/>
                  </a:lnTo>
                  <a:lnTo>
                    <a:pt x="796671" y="1949450"/>
                  </a:lnTo>
                  <a:close/>
                </a:path>
                <a:path w="798829" h="2746375">
                  <a:moveTo>
                    <a:pt x="796671" y="1571117"/>
                  </a:moveTo>
                  <a:lnTo>
                    <a:pt x="783780" y="1564640"/>
                  </a:lnTo>
                  <a:lnTo>
                    <a:pt x="745871" y="1545590"/>
                  </a:lnTo>
                  <a:lnTo>
                    <a:pt x="745820" y="1564601"/>
                  </a:lnTo>
                  <a:lnTo>
                    <a:pt x="9525" y="1562100"/>
                  </a:lnTo>
                  <a:lnTo>
                    <a:pt x="9398" y="1574673"/>
                  </a:lnTo>
                  <a:lnTo>
                    <a:pt x="745782" y="1577301"/>
                  </a:lnTo>
                  <a:lnTo>
                    <a:pt x="758571" y="1577340"/>
                  </a:lnTo>
                  <a:lnTo>
                    <a:pt x="745782" y="1577340"/>
                  </a:lnTo>
                  <a:lnTo>
                    <a:pt x="745744" y="1596390"/>
                  </a:lnTo>
                  <a:lnTo>
                    <a:pt x="784123" y="1577340"/>
                  </a:lnTo>
                  <a:lnTo>
                    <a:pt x="796671" y="1571117"/>
                  </a:lnTo>
                  <a:close/>
                </a:path>
                <a:path w="798829" h="2746375">
                  <a:moveTo>
                    <a:pt x="798449" y="25400"/>
                  </a:moveTo>
                  <a:lnTo>
                    <a:pt x="785749" y="19075"/>
                  </a:lnTo>
                  <a:lnTo>
                    <a:pt x="747522" y="0"/>
                  </a:lnTo>
                  <a:lnTo>
                    <a:pt x="747560" y="19075"/>
                  </a:lnTo>
                  <a:lnTo>
                    <a:pt x="9398" y="20320"/>
                  </a:lnTo>
                  <a:lnTo>
                    <a:pt x="9525" y="33020"/>
                  </a:lnTo>
                  <a:lnTo>
                    <a:pt x="747598" y="31775"/>
                  </a:lnTo>
                  <a:lnTo>
                    <a:pt x="747649" y="50800"/>
                  </a:lnTo>
                  <a:lnTo>
                    <a:pt x="785698" y="31775"/>
                  </a:lnTo>
                  <a:lnTo>
                    <a:pt x="79844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56045" y="4446963"/>
            <a:ext cx="128841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5"/>
              </a:lnSpc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Transformer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52850" y="4472015"/>
            <a:ext cx="15563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transform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768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44700" y="4481223"/>
            <a:ext cx="104330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16x16x3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117" y="4493155"/>
            <a:ext cx="1530350" cy="2266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7950" marR="5080" indent="-95250">
              <a:lnSpc>
                <a:spcPct val="106100"/>
              </a:lnSpc>
              <a:spcBef>
                <a:spcPts val="15"/>
              </a:spcBef>
            </a:pP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105</a:t>
            </a:fld>
            <a:endParaRPr spc="-25" dirty="0"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817370" y="4244657"/>
            <a:ext cx="14966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Break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20821" y="4235450"/>
            <a:ext cx="20237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Flatten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apply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84265" y="4000817"/>
            <a:ext cx="1835785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4445">
              <a:lnSpc>
                <a:spcPct val="102800"/>
              </a:lnSpc>
              <a:spcBef>
                <a:spcPts val="80"/>
              </a:spcBef>
            </a:pPr>
            <a:r>
              <a:rPr sz="1400" spc="-10" dirty="0">
                <a:latin typeface="Arial"/>
                <a:cs typeface="Arial"/>
              </a:rPr>
              <a:t>D-</a:t>
            </a:r>
            <a:r>
              <a:rPr sz="1400" dirty="0">
                <a:latin typeface="Arial"/>
                <a:cs typeface="Arial"/>
              </a:rPr>
              <a:t>dim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10" dirty="0">
                <a:latin typeface="Arial"/>
                <a:cs typeface="Arial"/>
              </a:rPr>
              <a:t> patch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input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469" y="4380547"/>
            <a:ext cx="14814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59376" y="877950"/>
            <a:ext cx="2703195" cy="3292475"/>
            <a:chOff x="4659376" y="877950"/>
            <a:chExt cx="2703195" cy="3292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1700" y="1028703"/>
              <a:ext cx="1380849" cy="24762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72076" y="890650"/>
              <a:ext cx="276225" cy="3267075"/>
            </a:xfrm>
            <a:custGeom>
              <a:avLst/>
              <a:gdLst/>
              <a:ahLst/>
              <a:cxnLst/>
              <a:rect l="l" t="t" r="r" b="b"/>
              <a:pathLst>
                <a:path w="276225" h="3267075">
                  <a:moveTo>
                    <a:pt x="0" y="0"/>
                  </a:moveTo>
                  <a:lnTo>
                    <a:pt x="53717" y="8673"/>
                  </a:lnTo>
                  <a:lnTo>
                    <a:pt x="97599" y="32337"/>
                  </a:lnTo>
                  <a:lnTo>
                    <a:pt x="127194" y="67454"/>
                  </a:lnTo>
                  <a:lnTo>
                    <a:pt x="138049" y="110489"/>
                  </a:lnTo>
                  <a:lnTo>
                    <a:pt x="138049" y="1522857"/>
                  </a:lnTo>
                  <a:lnTo>
                    <a:pt x="148905" y="1565911"/>
                  </a:lnTo>
                  <a:lnTo>
                    <a:pt x="178514" y="1601073"/>
                  </a:lnTo>
                  <a:lnTo>
                    <a:pt x="222434" y="1624780"/>
                  </a:lnTo>
                  <a:lnTo>
                    <a:pt x="276225" y="1633474"/>
                  </a:lnTo>
                  <a:lnTo>
                    <a:pt x="222434" y="1642167"/>
                  </a:lnTo>
                  <a:lnTo>
                    <a:pt x="178514" y="1665874"/>
                  </a:lnTo>
                  <a:lnTo>
                    <a:pt x="148905" y="1701036"/>
                  </a:lnTo>
                  <a:lnTo>
                    <a:pt x="138049" y="1744091"/>
                  </a:lnTo>
                  <a:lnTo>
                    <a:pt x="138049" y="3156407"/>
                  </a:lnTo>
                  <a:lnTo>
                    <a:pt x="127194" y="3199460"/>
                  </a:lnTo>
                  <a:lnTo>
                    <a:pt x="97599" y="3234616"/>
                  </a:lnTo>
                  <a:lnTo>
                    <a:pt x="53717" y="3258319"/>
                  </a:lnTo>
                  <a:lnTo>
                    <a:pt x="0" y="326701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5324" y="2535300"/>
              <a:ext cx="1704339" cy="1214755"/>
            </a:xfrm>
            <a:custGeom>
              <a:avLst/>
              <a:gdLst/>
              <a:ahLst/>
              <a:cxnLst/>
              <a:rect l="l" t="t" r="r" b="b"/>
              <a:pathLst>
                <a:path w="1704340" h="1214754">
                  <a:moveTo>
                    <a:pt x="474852" y="12700"/>
                  </a:moveTo>
                  <a:lnTo>
                    <a:pt x="474852" y="1208913"/>
                  </a:lnTo>
                  <a:lnTo>
                    <a:pt x="480567" y="1214628"/>
                  </a:lnTo>
                  <a:lnTo>
                    <a:pt x="1672717" y="1214628"/>
                  </a:lnTo>
                  <a:lnTo>
                    <a:pt x="1678431" y="1208913"/>
                  </a:lnTo>
                  <a:lnTo>
                    <a:pt x="1678431" y="1201928"/>
                  </a:lnTo>
                  <a:lnTo>
                    <a:pt x="500252" y="1201928"/>
                  </a:lnTo>
                  <a:lnTo>
                    <a:pt x="487552" y="1189228"/>
                  </a:lnTo>
                  <a:lnTo>
                    <a:pt x="500252" y="1189228"/>
                  </a:lnTo>
                  <a:lnTo>
                    <a:pt x="500252" y="25400"/>
                  </a:lnTo>
                  <a:lnTo>
                    <a:pt x="487552" y="25400"/>
                  </a:lnTo>
                  <a:lnTo>
                    <a:pt x="474852" y="12700"/>
                  </a:lnTo>
                  <a:close/>
                </a:path>
                <a:path w="1704340" h="1214754">
                  <a:moveTo>
                    <a:pt x="500252" y="1189228"/>
                  </a:moveTo>
                  <a:lnTo>
                    <a:pt x="487552" y="1189228"/>
                  </a:lnTo>
                  <a:lnTo>
                    <a:pt x="500252" y="1201928"/>
                  </a:lnTo>
                  <a:lnTo>
                    <a:pt x="500252" y="1189228"/>
                  </a:lnTo>
                  <a:close/>
                </a:path>
                <a:path w="1704340" h="1214754">
                  <a:moveTo>
                    <a:pt x="1653031" y="1189228"/>
                  </a:moveTo>
                  <a:lnTo>
                    <a:pt x="500252" y="1189228"/>
                  </a:lnTo>
                  <a:lnTo>
                    <a:pt x="500252" y="1201928"/>
                  </a:lnTo>
                  <a:lnTo>
                    <a:pt x="1653031" y="1201928"/>
                  </a:lnTo>
                  <a:lnTo>
                    <a:pt x="1653031" y="1189228"/>
                  </a:lnTo>
                  <a:close/>
                </a:path>
                <a:path w="1704340" h="1214754">
                  <a:moveTo>
                    <a:pt x="1678431" y="1036828"/>
                  </a:moveTo>
                  <a:lnTo>
                    <a:pt x="1653031" y="1036828"/>
                  </a:lnTo>
                  <a:lnTo>
                    <a:pt x="1653031" y="1201928"/>
                  </a:lnTo>
                  <a:lnTo>
                    <a:pt x="1665731" y="1189228"/>
                  </a:lnTo>
                  <a:lnTo>
                    <a:pt x="1678431" y="1189228"/>
                  </a:lnTo>
                  <a:lnTo>
                    <a:pt x="1678431" y="1036828"/>
                  </a:lnTo>
                  <a:close/>
                </a:path>
                <a:path w="1704340" h="1214754">
                  <a:moveTo>
                    <a:pt x="1678431" y="1189228"/>
                  </a:moveTo>
                  <a:lnTo>
                    <a:pt x="1665731" y="1189228"/>
                  </a:lnTo>
                  <a:lnTo>
                    <a:pt x="1653031" y="1201928"/>
                  </a:lnTo>
                  <a:lnTo>
                    <a:pt x="1678431" y="1201928"/>
                  </a:lnTo>
                  <a:lnTo>
                    <a:pt x="1678431" y="1189228"/>
                  </a:lnTo>
                  <a:close/>
                </a:path>
                <a:path w="1704340" h="1214754">
                  <a:moveTo>
                    <a:pt x="1665731" y="973328"/>
                  </a:moveTo>
                  <a:lnTo>
                    <a:pt x="1627631" y="1049528"/>
                  </a:lnTo>
                  <a:lnTo>
                    <a:pt x="1653031" y="1049528"/>
                  </a:lnTo>
                  <a:lnTo>
                    <a:pt x="1653031" y="1036828"/>
                  </a:lnTo>
                  <a:lnTo>
                    <a:pt x="1697481" y="1036828"/>
                  </a:lnTo>
                  <a:lnTo>
                    <a:pt x="1665731" y="973328"/>
                  </a:lnTo>
                  <a:close/>
                </a:path>
                <a:path w="1704340" h="1214754">
                  <a:moveTo>
                    <a:pt x="1697481" y="1036828"/>
                  </a:moveTo>
                  <a:lnTo>
                    <a:pt x="1678431" y="1036828"/>
                  </a:lnTo>
                  <a:lnTo>
                    <a:pt x="1678431" y="1049528"/>
                  </a:lnTo>
                  <a:lnTo>
                    <a:pt x="1703831" y="1049528"/>
                  </a:lnTo>
                  <a:lnTo>
                    <a:pt x="1697481" y="1036828"/>
                  </a:lnTo>
                  <a:close/>
                </a:path>
                <a:path w="1704340" h="1214754">
                  <a:moveTo>
                    <a:pt x="494538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474852" y="25400"/>
                  </a:lnTo>
                  <a:lnTo>
                    <a:pt x="474852" y="12700"/>
                  </a:lnTo>
                  <a:lnTo>
                    <a:pt x="500252" y="12700"/>
                  </a:lnTo>
                  <a:lnTo>
                    <a:pt x="500252" y="5587"/>
                  </a:lnTo>
                  <a:lnTo>
                    <a:pt x="494538" y="0"/>
                  </a:lnTo>
                  <a:close/>
                </a:path>
                <a:path w="1704340" h="1214754">
                  <a:moveTo>
                    <a:pt x="500252" y="12700"/>
                  </a:moveTo>
                  <a:lnTo>
                    <a:pt x="474852" y="12700"/>
                  </a:lnTo>
                  <a:lnTo>
                    <a:pt x="487552" y="25400"/>
                  </a:lnTo>
                  <a:lnTo>
                    <a:pt x="500252" y="25400"/>
                  </a:lnTo>
                  <a:lnTo>
                    <a:pt x="500252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390775" y="3857625"/>
            <a:ext cx="1973580" cy="342900"/>
            <a:chOff x="2390775" y="3857625"/>
            <a:chExt cx="1973580" cy="342900"/>
          </a:xfrm>
        </p:grpSpPr>
        <p:pic>
          <p:nvPicPr>
            <p:cNvPr id="12" name="object 12" descr="Cat, Funny Cat, Cute Cat, Cute, Cat Compilati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3857625"/>
              <a:ext cx="342900" cy="342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8500" y="4008437"/>
              <a:ext cx="788035" cy="50800"/>
            </a:xfrm>
            <a:custGeom>
              <a:avLst/>
              <a:gdLst/>
              <a:ahLst/>
              <a:cxnLst/>
              <a:rect l="l" t="t" r="r" b="b"/>
              <a:pathLst>
                <a:path w="788035" h="50800">
                  <a:moveTo>
                    <a:pt x="737108" y="0"/>
                  </a:moveTo>
                  <a:lnTo>
                    <a:pt x="737108" y="50800"/>
                  </a:lnTo>
                  <a:lnTo>
                    <a:pt x="775208" y="31750"/>
                  </a:lnTo>
                  <a:lnTo>
                    <a:pt x="749808" y="31750"/>
                  </a:lnTo>
                  <a:lnTo>
                    <a:pt x="749808" y="19050"/>
                  </a:lnTo>
                  <a:lnTo>
                    <a:pt x="775208" y="19050"/>
                  </a:lnTo>
                  <a:lnTo>
                    <a:pt x="737108" y="0"/>
                  </a:lnTo>
                  <a:close/>
                </a:path>
                <a:path w="788035" h="50800">
                  <a:moveTo>
                    <a:pt x="737108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737108" y="31750"/>
                  </a:lnTo>
                  <a:lnTo>
                    <a:pt x="737108" y="19050"/>
                  </a:lnTo>
                  <a:close/>
                </a:path>
                <a:path w="788035" h="50800">
                  <a:moveTo>
                    <a:pt x="775208" y="19050"/>
                  </a:moveTo>
                  <a:lnTo>
                    <a:pt x="749808" y="19050"/>
                  </a:lnTo>
                  <a:lnTo>
                    <a:pt x="749808" y="31750"/>
                  </a:lnTo>
                  <a:lnTo>
                    <a:pt x="775208" y="31750"/>
                  </a:lnTo>
                  <a:lnTo>
                    <a:pt x="787908" y="25400"/>
                  </a:lnTo>
                  <a:lnTo>
                    <a:pt x="775208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390775" y="771525"/>
            <a:ext cx="1983105" cy="3038475"/>
            <a:chOff x="2390775" y="771525"/>
            <a:chExt cx="1983105" cy="3038475"/>
          </a:xfrm>
        </p:grpSpPr>
        <p:pic>
          <p:nvPicPr>
            <p:cNvPr id="17" name="object 17" descr="Cat, Funny Cat, Cute Cat, Cute, Cat Compilati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0775" y="2695575"/>
              <a:ext cx="352425" cy="352425"/>
            </a:xfrm>
            <a:prstGeom prst="rect">
              <a:avLst/>
            </a:prstGeom>
          </p:spPr>
        </p:pic>
        <p:pic>
          <p:nvPicPr>
            <p:cNvPr id="18" name="object 18" descr="Cat, Funny Cat, Cute Cat, Cute, Cat Compilati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1533525"/>
              <a:ext cx="352425" cy="352425"/>
            </a:xfrm>
            <a:prstGeom prst="rect">
              <a:avLst/>
            </a:prstGeom>
          </p:spPr>
        </p:pic>
        <p:pic>
          <p:nvPicPr>
            <p:cNvPr id="19" name="object 19" descr="Cat, Funny Cat, Cute Cat, Cute, Cat Compilati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0775" y="3467100"/>
              <a:ext cx="342900" cy="342900"/>
            </a:xfrm>
            <a:prstGeom prst="rect">
              <a:avLst/>
            </a:prstGeom>
          </p:spPr>
        </p:pic>
        <p:pic>
          <p:nvPicPr>
            <p:cNvPr id="20" name="object 20" descr="Cat, Funny Cat, Cute Cat, Cute, Cat Compi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0775" y="2314575"/>
              <a:ext cx="352425" cy="342900"/>
            </a:xfrm>
            <a:prstGeom prst="rect">
              <a:avLst/>
            </a:prstGeom>
          </p:spPr>
        </p:pic>
        <p:pic>
          <p:nvPicPr>
            <p:cNvPr id="21" name="object 21" descr="Cat, Funny Cat, Cute Cat, Cute, Cat Compilati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0775" y="1152525"/>
              <a:ext cx="352425" cy="342900"/>
            </a:xfrm>
            <a:prstGeom prst="rect">
              <a:avLst/>
            </a:prstGeom>
          </p:spPr>
        </p:pic>
        <p:pic>
          <p:nvPicPr>
            <p:cNvPr id="22" name="object 22" descr="Cat, Funny Cat, Cute Cat, Cute, Cat Compilati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0775" y="3076575"/>
              <a:ext cx="342900" cy="352425"/>
            </a:xfrm>
            <a:prstGeom prst="rect">
              <a:avLst/>
            </a:prstGeom>
          </p:spPr>
        </p:pic>
        <p:pic>
          <p:nvPicPr>
            <p:cNvPr id="23" name="object 23" descr="Cat, Funny Cat, Cute Cat, Cute, Cat Compilation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0775" y="1924050"/>
              <a:ext cx="352425" cy="352425"/>
            </a:xfrm>
            <a:prstGeom prst="rect">
              <a:avLst/>
            </a:prstGeom>
          </p:spPr>
        </p:pic>
        <p:pic>
          <p:nvPicPr>
            <p:cNvPr id="24" name="object 24" descr="Cat, Funny Cat, Cute Cat, Cute, Cat Compilation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90775" y="771525"/>
              <a:ext cx="352425" cy="3429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828675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828675" y="104775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0" y="104775"/>
                  </a:moveTo>
                  <a:lnTo>
                    <a:pt x="828675" y="104775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38501" y="922400"/>
              <a:ext cx="798830" cy="2746375"/>
            </a:xfrm>
            <a:custGeom>
              <a:avLst/>
              <a:gdLst/>
              <a:ahLst/>
              <a:cxnLst/>
              <a:rect l="l" t="t" r="r" b="b"/>
              <a:pathLst>
                <a:path w="798829" h="2746375">
                  <a:moveTo>
                    <a:pt x="787908" y="2720975"/>
                  </a:moveTo>
                  <a:lnTo>
                    <a:pt x="775208" y="2714625"/>
                  </a:lnTo>
                  <a:lnTo>
                    <a:pt x="737108" y="2695575"/>
                  </a:lnTo>
                  <a:lnTo>
                    <a:pt x="737108" y="2714625"/>
                  </a:lnTo>
                  <a:lnTo>
                    <a:pt x="0" y="2714625"/>
                  </a:lnTo>
                  <a:lnTo>
                    <a:pt x="0" y="2727325"/>
                  </a:lnTo>
                  <a:lnTo>
                    <a:pt x="737108" y="2727325"/>
                  </a:lnTo>
                  <a:lnTo>
                    <a:pt x="737108" y="2746375"/>
                  </a:lnTo>
                  <a:lnTo>
                    <a:pt x="775208" y="2727325"/>
                  </a:lnTo>
                  <a:lnTo>
                    <a:pt x="787908" y="2720975"/>
                  </a:lnTo>
                  <a:close/>
                </a:path>
                <a:path w="798829" h="2746375">
                  <a:moveTo>
                    <a:pt x="787908" y="2339975"/>
                  </a:moveTo>
                  <a:lnTo>
                    <a:pt x="775208" y="2333625"/>
                  </a:lnTo>
                  <a:lnTo>
                    <a:pt x="737108" y="2314575"/>
                  </a:lnTo>
                  <a:lnTo>
                    <a:pt x="737108" y="2333625"/>
                  </a:lnTo>
                  <a:lnTo>
                    <a:pt x="0" y="2333625"/>
                  </a:lnTo>
                  <a:lnTo>
                    <a:pt x="0" y="2346325"/>
                  </a:lnTo>
                  <a:lnTo>
                    <a:pt x="737108" y="2346325"/>
                  </a:lnTo>
                  <a:lnTo>
                    <a:pt x="737108" y="2365375"/>
                  </a:lnTo>
                  <a:lnTo>
                    <a:pt x="775208" y="2346325"/>
                  </a:lnTo>
                  <a:lnTo>
                    <a:pt x="787908" y="2339975"/>
                  </a:lnTo>
                  <a:close/>
                </a:path>
                <a:path w="798829" h="2746375">
                  <a:moveTo>
                    <a:pt x="794512" y="406400"/>
                  </a:moveTo>
                  <a:lnTo>
                    <a:pt x="781812" y="400050"/>
                  </a:lnTo>
                  <a:lnTo>
                    <a:pt x="743712" y="381000"/>
                  </a:lnTo>
                  <a:lnTo>
                    <a:pt x="743712" y="400050"/>
                  </a:lnTo>
                  <a:lnTo>
                    <a:pt x="9525" y="400050"/>
                  </a:lnTo>
                  <a:lnTo>
                    <a:pt x="9525" y="412750"/>
                  </a:lnTo>
                  <a:lnTo>
                    <a:pt x="743712" y="412750"/>
                  </a:lnTo>
                  <a:lnTo>
                    <a:pt x="743712" y="431800"/>
                  </a:lnTo>
                  <a:lnTo>
                    <a:pt x="781812" y="412750"/>
                  </a:lnTo>
                  <a:lnTo>
                    <a:pt x="794512" y="406400"/>
                  </a:lnTo>
                  <a:close/>
                </a:path>
                <a:path w="798829" h="2746375">
                  <a:moveTo>
                    <a:pt x="795782" y="1183513"/>
                  </a:moveTo>
                  <a:lnTo>
                    <a:pt x="782828" y="1176909"/>
                  </a:lnTo>
                  <a:lnTo>
                    <a:pt x="745236" y="1157732"/>
                  </a:lnTo>
                  <a:lnTo>
                    <a:pt x="745083" y="1176820"/>
                  </a:lnTo>
                  <a:lnTo>
                    <a:pt x="9525" y="1171575"/>
                  </a:lnTo>
                  <a:lnTo>
                    <a:pt x="9398" y="1184148"/>
                  </a:lnTo>
                  <a:lnTo>
                    <a:pt x="744994" y="1189520"/>
                  </a:lnTo>
                  <a:lnTo>
                    <a:pt x="757682" y="1189609"/>
                  </a:lnTo>
                  <a:lnTo>
                    <a:pt x="744994" y="1189609"/>
                  </a:lnTo>
                  <a:lnTo>
                    <a:pt x="744855" y="1208532"/>
                  </a:lnTo>
                  <a:lnTo>
                    <a:pt x="783361" y="1189609"/>
                  </a:lnTo>
                  <a:lnTo>
                    <a:pt x="795782" y="1183513"/>
                  </a:lnTo>
                  <a:close/>
                </a:path>
                <a:path w="798829" h="2746375">
                  <a:moveTo>
                    <a:pt x="795782" y="802005"/>
                  </a:moveTo>
                  <a:lnTo>
                    <a:pt x="782828" y="795401"/>
                  </a:lnTo>
                  <a:lnTo>
                    <a:pt x="745236" y="776224"/>
                  </a:lnTo>
                  <a:lnTo>
                    <a:pt x="745083" y="795324"/>
                  </a:lnTo>
                  <a:lnTo>
                    <a:pt x="9525" y="790448"/>
                  </a:lnTo>
                  <a:lnTo>
                    <a:pt x="9398" y="803148"/>
                  </a:lnTo>
                  <a:lnTo>
                    <a:pt x="744994" y="808024"/>
                  </a:lnTo>
                  <a:lnTo>
                    <a:pt x="757682" y="808101"/>
                  </a:lnTo>
                  <a:lnTo>
                    <a:pt x="744994" y="808101"/>
                  </a:lnTo>
                  <a:lnTo>
                    <a:pt x="744855" y="827024"/>
                  </a:lnTo>
                  <a:lnTo>
                    <a:pt x="783361" y="808101"/>
                  </a:lnTo>
                  <a:lnTo>
                    <a:pt x="795782" y="802005"/>
                  </a:lnTo>
                  <a:close/>
                </a:path>
                <a:path w="798829" h="2746375">
                  <a:moveTo>
                    <a:pt x="796671" y="1949450"/>
                  </a:moveTo>
                  <a:lnTo>
                    <a:pt x="783971" y="1943100"/>
                  </a:lnTo>
                  <a:lnTo>
                    <a:pt x="745871" y="1924050"/>
                  </a:lnTo>
                  <a:lnTo>
                    <a:pt x="745871" y="1943100"/>
                  </a:lnTo>
                  <a:lnTo>
                    <a:pt x="9525" y="1943100"/>
                  </a:lnTo>
                  <a:lnTo>
                    <a:pt x="9525" y="1955800"/>
                  </a:lnTo>
                  <a:lnTo>
                    <a:pt x="745871" y="1955800"/>
                  </a:lnTo>
                  <a:lnTo>
                    <a:pt x="745871" y="1974850"/>
                  </a:lnTo>
                  <a:lnTo>
                    <a:pt x="783971" y="1955800"/>
                  </a:lnTo>
                  <a:lnTo>
                    <a:pt x="796671" y="1949450"/>
                  </a:lnTo>
                  <a:close/>
                </a:path>
                <a:path w="798829" h="2746375">
                  <a:moveTo>
                    <a:pt x="796671" y="1571117"/>
                  </a:moveTo>
                  <a:lnTo>
                    <a:pt x="783780" y="1564640"/>
                  </a:lnTo>
                  <a:lnTo>
                    <a:pt x="745871" y="1545590"/>
                  </a:lnTo>
                  <a:lnTo>
                    <a:pt x="745820" y="1564601"/>
                  </a:lnTo>
                  <a:lnTo>
                    <a:pt x="9525" y="1562100"/>
                  </a:lnTo>
                  <a:lnTo>
                    <a:pt x="9398" y="1574673"/>
                  </a:lnTo>
                  <a:lnTo>
                    <a:pt x="745782" y="1577301"/>
                  </a:lnTo>
                  <a:lnTo>
                    <a:pt x="758571" y="1577340"/>
                  </a:lnTo>
                  <a:lnTo>
                    <a:pt x="745782" y="1577340"/>
                  </a:lnTo>
                  <a:lnTo>
                    <a:pt x="745744" y="1596390"/>
                  </a:lnTo>
                  <a:lnTo>
                    <a:pt x="784123" y="1577340"/>
                  </a:lnTo>
                  <a:lnTo>
                    <a:pt x="796671" y="1571117"/>
                  </a:lnTo>
                  <a:close/>
                </a:path>
                <a:path w="798829" h="2746375">
                  <a:moveTo>
                    <a:pt x="798449" y="25400"/>
                  </a:moveTo>
                  <a:lnTo>
                    <a:pt x="785749" y="19075"/>
                  </a:lnTo>
                  <a:lnTo>
                    <a:pt x="747522" y="0"/>
                  </a:lnTo>
                  <a:lnTo>
                    <a:pt x="747560" y="19075"/>
                  </a:lnTo>
                  <a:lnTo>
                    <a:pt x="9398" y="20320"/>
                  </a:lnTo>
                  <a:lnTo>
                    <a:pt x="9525" y="33020"/>
                  </a:lnTo>
                  <a:lnTo>
                    <a:pt x="747598" y="31775"/>
                  </a:lnTo>
                  <a:lnTo>
                    <a:pt x="747649" y="50800"/>
                  </a:lnTo>
                  <a:lnTo>
                    <a:pt x="785698" y="31775"/>
                  </a:lnTo>
                  <a:lnTo>
                    <a:pt x="79844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6367" y="4598248"/>
            <a:ext cx="1348105" cy="1219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106</a:t>
            </a:fld>
            <a:endParaRPr spc="-2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817370" y="4244657"/>
            <a:ext cx="149669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Break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  <a:p>
            <a:pPr marL="240029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16x16x3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20821" y="4235450"/>
            <a:ext cx="2023745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4475" marR="5080" indent="-23241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Flatten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apply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 </a:t>
            </a:r>
            <a:r>
              <a:rPr sz="1400" dirty="0">
                <a:latin typeface="Arial"/>
                <a:cs typeface="Arial"/>
              </a:rPr>
              <a:t>transform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768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84265" y="4000817"/>
            <a:ext cx="1835785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8255" algn="ctr">
              <a:lnSpc>
                <a:spcPct val="100600"/>
              </a:lnSpc>
              <a:spcBef>
                <a:spcPts val="114"/>
              </a:spcBef>
            </a:pPr>
            <a:r>
              <a:rPr sz="1400" spc="-10" dirty="0">
                <a:latin typeface="Arial"/>
                <a:cs typeface="Arial"/>
              </a:rPr>
              <a:t>D-</a:t>
            </a:r>
            <a:r>
              <a:rPr sz="1400" dirty="0">
                <a:latin typeface="Arial"/>
                <a:cs typeface="Arial"/>
              </a:rPr>
              <a:t>dim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patch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input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Transformer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36509" y="2357691"/>
            <a:ext cx="1232535" cy="1102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43180" algn="just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Use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positional </a:t>
            </a:r>
            <a:r>
              <a:rPr sz="1400" dirty="0">
                <a:latin typeface="Arial"/>
                <a:cs typeface="Arial"/>
              </a:rPr>
              <a:t>encoding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tell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transformer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2D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position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patch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117" y="4380547"/>
            <a:ext cx="1530350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59376" y="877950"/>
            <a:ext cx="2703195" cy="3292475"/>
            <a:chOff x="4659376" y="877950"/>
            <a:chExt cx="2703195" cy="3292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1700" y="1028703"/>
              <a:ext cx="1380849" cy="24762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72076" y="890650"/>
              <a:ext cx="276225" cy="3267075"/>
            </a:xfrm>
            <a:custGeom>
              <a:avLst/>
              <a:gdLst/>
              <a:ahLst/>
              <a:cxnLst/>
              <a:rect l="l" t="t" r="r" b="b"/>
              <a:pathLst>
                <a:path w="276225" h="3267075">
                  <a:moveTo>
                    <a:pt x="0" y="0"/>
                  </a:moveTo>
                  <a:lnTo>
                    <a:pt x="53717" y="8673"/>
                  </a:lnTo>
                  <a:lnTo>
                    <a:pt x="97599" y="32337"/>
                  </a:lnTo>
                  <a:lnTo>
                    <a:pt x="127194" y="67454"/>
                  </a:lnTo>
                  <a:lnTo>
                    <a:pt x="138049" y="110489"/>
                  </a:lnTo>
                  <a:lnTo>
                    <a:pt x="138049" y="1522857"/>
                  </a:lnTo>
                  <a:lnTo>
                    <a:pt x="148905" y="1565911"/>
                  </a:lnTo>
                  <a:lnTo>
                    <a:pt x="178514" y="1601073"/>
                  </a:lnTo>
                  <a:lnTo>
                    <a:pt x="222434" y="1624780"/>
                  </a:lnTo>
                  <a:lnTo>
                    <a:pt x="276225" y="1633474"/>
                  </a:lnTo>
                  <a:lnTo>
                    <a:pt x="222434" y="1642167"/>
                  </a:lnTo>
                  <a:lnTo>
                    <a:pt x="178514" y="1665874"/>
                  </a:lnTo>
                  <a:lnTo>
                    <a:pt x="148905" y="1701036"/>
                  </a:lnTo>
                  <a:lnTo>
                    <a:pt x="138049" y="1744091"/>
                  </a:lnTo>
                  <a:lnTo>
                    <a:pt x="138049" y="3156407"/>
                  </a:lnTo>
                  <a:lnTo>
                    <a:pt x="127194" y="3199460"/>
                  </a:lnTo>
                  <a:lnTo>
                    <a:pt x="97599" y="3234616"/>
                  </a:lnTo>
                  <a:lnTo>
                    <a:pt x="53717" y="3258319"/>
                  </a:lnTo>
                  <a:lnTo>
                    <a:pt x="0" y="326701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5324" y="2535300"/>
              <a:ext cx="1704339" cy="1214755"/>
            </a:xfrm>
            <a:custGeom>
              <a:avLst/>
              <a:gdLst/>
              <a:ahLst/>
              <a:cxnLst/>
              <a:rect l="l" t="t" r="r" b="b"/>
              <a:pathLst>
                <a:path w="1704340" h="1214754">
                  <a:moveTo>
                    <a:pt x="474852" y="12700"/>
                  </a:moveTo>
                  <a:lnTo>
                    <a:pt x="474852" y="1208913"/>
                  </a:lnTo>
                  <a:lnTo>
                    <a:pt x="480567" y="1214628"/>
                  </a:lnTo>
                  <a:lnTo>
                    <a:pt x="1672717" y="1214628"/>
                  </a:lnTo>
                  <a:lnTo>
                    <a:pt x="1678431" y="1208913"/>
                  </a:lnTo>
                  <a:lnTo>
                    <a:pt x="1678431" y="1201928"/>
                  </a:lnTo>
                  <a:lnTo>
                    <a:pt x="500252" y="1201928"/>
                  </a:lnTo>
                  <a:lnTo>
                    <a:pt x="487552" y="1189228"/>
                  </a:lnTo>
                  <a:lnTo>
                    <a:pt x="500252" y="1189228"/>
                  </a:lnTo>
                  <a:lnTo>
                    <a:pt x="500252" y="25400"/>
                  </a:lnTo>
                  <a:lnTo>
                    <a:pt x="487552" y="25400"/>
                  </a:lnTo>
                  <a:lnTo>
                    <a:pt x="474852" y="12700"/>
                  </a:lnTo>
                  <a:close/>
                </a:path>
                <a:path w="1704340" h="1214754">
                  <a:moveTo>
                    <a:pt x="500252" y="1189228"/>
                  </a:moveTo>
                  <a:lnTo>
                    <a:pt x="487552" y="1189228"/>
                  </a:lnTo>
                  <a:lnTo>
                    <a:pt x="500252" y="1201928"/>
                  </a:lnTo>
                  <a:lnTo>
                    <a:pt x="500252" y="1189228"/>
                  </a:lnTo>
                  <a:close/>
                </a:path>
                <a:path w="1704340" h="1214754">
                  <a:moveTo>
                    <a:pt x="1653031" y="1189228"/>
                  </a:moveTo>
                  <a:lnTo>
                    <a:pt x="500252" y="1189228"/>
                  </a:lnTo>
                  <a:lnTo>
                    <a:pt x="500252" y="1201928"/>
                  </a:lnTo>
                  <a:lnTo>
                    <a:pt x="1653031" y="1201928"/>
                  </a:lnTo>
                  <a:lnTo>
                    <a:pt x="1653031" y="1189228"/>
                  </a:lnTo>
                  <a:close/>
                </a:path>
                <a:path w="1704340" h="1214754">
                  <a:moveTo>
                    <a:pt x="1678431" y="1036828"/>
                  </a:moveTo>
                  <a:lnTo>
                    <a:pt x="1653031" y="1036828"/>
                  </a:lnTo>
                  <a:lnTo>
                    <a:pt x="1653031" y="1201928"/>
                  </a:lnTo>
                  <a:lnTo>
                    <a:pt x="1665731" y="1189228"/>
                  </a:lnTo>
                  <a:lnTo>
                    <a:pt x="1678431" y="1189228"/>
                  </a:lnTo>
                  <a:lnTo>
                    <a:pt x="1678431" y="1036828"/>
                  </a:lnTo>
                  <a:close/>
                </a:path>
                <a:path w="1704340" h="1214754">
                  <a:moveTo>
                    <a:pt x="1678431" y="1189228"/>
                  </a:moveTo>
                  <a:lnTo>
                    <a:pt x="1665731" y="1189228"/>
                  </a:lnTo>
                  <a:lnTo>
                    <a:pt x="1653031" y="1201928"/>
                  </a:lnTo>
                  <a:lnTo>
                    <a:pt x="1678431" y="1201928"/>
                  </a:lnTo>
                  <a:lnTo>
                    <a:pt x="1678431" y="1189228"/>
                  </a:lnTo>
                  <a:close/>
                </a:path>
                <a:path w="1704340" h="1214754">
                  <a:moveTo>
                    <a:pt x="1665731" y="973328"/>
                  </a:moveTo>
                  <a:lnTo>
                    <a:pt x="1627631" y="1049528"/>
                  </a:lnTo>
                  <a:lnTo>
                    <a:pt x="1653031" y="1049528"/>
                  </a:lnTo>
                  <a:lnTo>
                    <a:pt x="1653031" y="1036828"/>
                  </a:lnTo>
                  <a:lnTo>
                    <a:pt x="1697481" y="1036828"/>
                  </a:lnTo>
                  <a:lnTo>
                    <a:pt x="1665731" y="973328"/>
                  </a:lnTo>
                  <a:close/>
                </a:path>
                <a:path w="1704340" h="1214754">
                  <a:moveTo>
                    <a:pt x="1697481" y="1036828"/>
                  </a:moveTo>
                  <a:lnTo>
                    <a:pt x="1678431" y="1036828"/>
                  </a:lnTo>
                  <a:lnTo>
                    <a:pt x="1678431" y="1049528"/>
                  </a:lnTo>
                  <a:lnTo>
                    <a:pt x="1703831" y="1049528"/>
                  </a:lnTo>
                  <a:lnTo>
                    <a:pt x="1697481" y="1036828"/>
                  </a:lnTo>
                  <a:close/>
                </a:path>
                <a:path w="1704340" h="1214754">
                  <a:moveTo>
                    <a:pt x="494538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474852" y="25400"/>
                  </a:lnTo>
                  <a:lnTo>
                    <a:pt x="474852" y="12700"/>
                  </a:lnTo>
                  <a:lnTo>
                    <a:pt x="500252" y="12700"/>
                  </a:lnTo>
                  <a:lnTo>
                    <a:pt x="500252" y="5587"/>
                  </a:lnTo>
                  <a:lnTo>
                    <a:pt x="494538" y="0"/>
                  </a:lnTo>
                  <a:close/>
                </a:path>
                <a:path w="1704340" h="1214754">
                  <a:moveTo>
                    <a:pt x="500252" y="12700"/>
                  </a:moveTo>
                  <a:lnTo>
                    <a:pt x="474852" y="12700"/>
                  </a:lnTo>
                  <a:lnTo>
                    <a:pt x="487552" y="25400"/>
                  </a:lnTo>
                  <a:lnTo>
                    <a:pt x="500252" y="25400"/>
                  </a:lnTo>
                  <a:lnTo>
                    <a:pt x="500252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390775" y="3857625"/>
            <a:ext cx="1973580" cy="342900"/>
            <a:chOff x="2390775" y="3857625"/>
            <a:chExt cx="1973580" cy="342900"/>
          </a:xfrm>
        </p:grpSpPr>
        <p:pic>
          <p:nvPicPr>
            <p:cNvPr id="12" name="object 12" descr="Cat, Funny Cat, Cute Cat, Cute, Cat Compilati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3857625"/>
              <a:ext cx="342900" cy="342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8500" y="4008437"/>
              <a:ext cx="788035" cy="50800"/>
            </a:xfrm>
            <a:custGeom>
              <a:avLst/>
              <a:gdLst/>
              <a:ahLst/>
              <a:cxnLst/>
              <a:rect l="l" t="t" r="r" b="b"/>
              <a:pathLst>
                <a:path w="788035" h="50800">
                  <a:moveTo>
                    <a:pt x="737108" y="0"/>
                  </a:moveTo>
                  <a:lnTo>
                    <a:pt x="737108" y="50800"/>
                  </a:lnTo>
                  <a:lnTo>
                    <a:pt x="775208" y="31750"/>
                  </a:lnTo>
                  <a:lnTo>
                    <a:pt x="749808" y="31750"/>
                  </a:lnTo>
                  <a:lnTo>
                    <a:pt x="749808" y="19050"/>
                  </a:lnTo>
                  <a:lnTo>
                    <a:pt x="775208" y="19050"/>
                  </a:lnTo>
                  <a:lnTo>
                    <a:pt x="737108" y="0"/>
                  </a:lnTo>
                  <a:close/>
                </a:path>
                <a:path w="788035" h="50800">
                  <a:moveTo>
                    <a:pt x="737108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737108" y="31750"/>
                  </a:lnTo>
                  <a:lnTo>
                    <a:pt x="737108" y="19050"/>
                  </a:lnTo>
                  <a:close/>
                </a:path>
                <a:path w="788035" h="50800">
                  <a:moveTo>
                    <a:pt x="775208" y="19050"/>
                  </a:moveTo>
                  <a:lnTo>
                    <a:pt x="749808" y="19050"/>
                  </a:lnTo>
                  <a:lnTo>
                    <a:pt x="749808" y="31750"/>
                  </a:lnTo>
                  <a:lnTo>
                    <a:pt x="775208" y="31750"/>
                  </a:lnTo>
                  <a:lnTo>
                    <a:pt x="787908" y="25400"/>
                  </a:lnTo>
                  <a:lnTo>
                    <a:pt x="775208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390775" y="771525"/>
            <a:ext cx="1983105" cy="3038475"/>
            <a:chOff x="2390775" y="771525"/>
            <a:chExt cx="1983105" cy="3038475"/>
          </a:xfrm>
        </p:grpSpPr>
        <p:pic>
          <p:nvPicPr>
            <p:cNvPr id="17" name="object 17" descr="Cat, Funny Cat, Cute Cat, Cute, Cat Compilati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0775" y="2695575"/>
              <a:ext cx="352425" cy="352425"/>
            </a:xfrm>
            <a:prstGeom prst="rect">
              <a:avLst/>
            </a:prstGeom>
          </p:spPr>
        </p:pic>
        <p:pic>
          <p:nvPicPr>
            <p:cNvPr id="18" name="object 18" descr="Cat, Funny Cat, Cute Cat, Cute, Cat Compilati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1533525"/>
              <a:ext cx="352425" cy="352425"/>
            </a:xfrm>
            <a:prstGeom prst="rect">
              <a:avLst/>
            </a:prstGeom>
          </p:spPr>
        </p:pic>
        <p:pic>
          <p:nvPicPr>
            <p:cNvPr id="19" name="object 19" descr="Cat, Funny Cat, Cute Cat, Cute, Cat Compilati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0775" y="3467100"/>
              <a:ext cx="342900" cy="342900"/>
            </a:xfrm>
            <a:prstGeom prst="rect">
              <a:avLst/>
            </a:prstGeom>
          </p:spPr>
        </p:pic>
        <p:pic>
          <p:nvPicPr>
            <p:cNvPr id="20" name="object 20" descr="Cat, Funny Cat, Cute Cat, Cute, Cat Compi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0775" y="2314575"/>
              <a:ext cx="352425" cy="342900"/>
            </a:xfrm>
            <a:prstGeom prst="rect">
              <a:avLst/>
            </a:prstGeom>
          </p:spPr>
        </p:pic>
        <p:pic>
          <p:nvPicPr>
            <p:cNvPr id="21" name="object 21" descr="Cat, Funny Cat, Cute Cat, Cute, Cat Compilati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0775" y="1152525"/>
              <a:ext cx="352425" cy="342900"/>
            </a:xfrm>
            <a:prstGeom prst="rect">
              <a:avLst/>
            </a:prstGeom>
          </p:spPr>
        </p:pic>
        <p:pic>
          <p:nvPicPr>
            <p:cNvPr id="22" name="object 22" descr="Cat, Funny Cat, Cute Cat, Cute, Cat Compilati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0775" y="3076575"/>
              <a:ext cx="342900" cy="352425"/>
            </a:xfrm>
            <a:prstGeom prst="rect">
              <a:avLst/>
            </a:prstGeom>
          </p:spPr>
        </p:pic>
        <p:pic>
          <p:nvPicPr>
            <p:cNvPr id="23" name="object 23" descr="Cat, Funny Cat, Cute Cat, Cute, Cat Compilation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0775" y="1924050"/>
              <a:ext cx="352425" cy="352425"/>
            </a:xfrm>
            <a:prstGeom prst="rect">
              <a:avLst/>
            </a:prstGeom>
          </p:spPr>
        </p:pic>
        <p:pic>
          <p:nvPicPr>
            <p:cNvPr id="24" name="object 24" descr="Cat, Funny Cat, Cute Cat, Cute, Cat Compilation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90775" y="771525"/>
              <a:ext cx="352425" cy="3429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828675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828675" y="104775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0" y="104775"/>
                  </a:moveTo>
                  <a:lnTo>
                    <a:pt x="828675" y="104775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38501" y="922400"/>
              <a:ext cx="798830" cy="2746375"/>
            </a:xfrm>
            <a:custGeom>
              <a:avLst/>
              <a:gdLst/>
              <a:ahLst/>
              <a:cxnLst/>
              <a:rect l="l" t="t" r="r" b="b"/>
              <a:pathLst>
                <a:path w="798829" h="2746375">
                  <a:moveTo>
                    <a:pt x="787908" y="2720975"/>
                  </a:moveTo>
                  <a:lnTo>
                    <a:pt x="775208" y="2714625"/>
                  </a:lnTo>
                  <a:lnTo>
                    <a:pt x="737108" y="2695575"/>
                  </a:lnTo>
                  <a:lnTo>
                    <a:pt x="737108" y="2714625"/>
                  </a:lnTo>
                  <a:lnTo>
                    <a:pt x="0" y="2714625"/>
                  </a:lnTo>
                  <a:lnTo>
                    <a:pt x="0" y="2727325"/>
                  </a:lnTo>
                  <a:lnTo>
                    <a:pt x="737108" y="2727325"/>
                  </a:lnTo>
                  <a:lnTo>
                    <a:pt x="737108" y="2746375"/>
                  </a:lnTo>
                  <a:lnTo>
                    <a:pt x="775208" y="2727325"/>
                  </a:lnTo>
                  <a:lnTo>
                    <a:pt x="787908" y="2720975"/>
                  </a:lnTo>
                  <a:close/>
                </a:path>
                <a:path w="798829" h="2746375">
                  <a:moveTo>
                    <a:pt x="787908" y="2339975"/>
                  </a:moveTo>
                  <a:lnTo>
                    <a:pt x="775208" y="2333625"/>
                  </a:lnTo>
                  <a:lnTo>
                    <a:pt x="737108" y="2314575"/>
                  </a:lnTo>
                  <a:lnTo>
                    <a:pt x="737108" y="2333625"/>
                  </a:lnTo>
                  <a:lnTo>
                    <a:pt x="0" y="2333625"/>
                  </a:lnTo>
                  <a:lnTo>
                    <a:pt x="0" y="2346325"/>
                  </a:lnTo>
                  <a:lnTo>
                    <a:pt x="737108" y="2346325"/>
                  </a:lnTo>
                  <a:lnTo>
                    <a:pt x="737108" y="2365375"/>
                  </a:lnTo>
                  <a:lnTo>
                    <a:pt x="775208" y="2346325"/>
                  </a:lnTo>
                  <a:lnTo>
                    <a:pt x="787908" y="2339975"/>
                  </a:lnTo>
                  <a:close/>
                </a:path>
                <a:path w="798829" h="2746375">
                  <a:moveTo>
                    <a:pt x="794512" y="406400"/>
                  </a:moveTo>
                  <a:lnTo>
                    <a:pt x="781812" y="400050"/>
                  </a:lnTo>
                  <a:lnTo>
                    <a:pt x="743712" y="381000"/>
                  </a:lnTo>
                  <a:lnTo>
                    <a:pt x="743712" y="400050"/>
                  </a:lnTo>
                  <a:lnTo>
                    <a:pt x="9525" y="400050"/>
                  </a:lnTo>
                  <a:lnTo>
                    <a:pt x="9525" y="412750"/>
                  </a:lnTo>
                  <a:lnTo>
                    <a:pt x="743712" y="412750"/>
                  </a:lnTo>
                  <a:lnTo>
                    <a:pt x="743712" y="431800"/>
                  </a:lnTo>
                  <a:lnTo>
                    <a:pt x="781812" y="412750"/>
                  </a:lnTo>
                  <a:lnTo>
                    <a:pt x="794512" y="406400"/>
                  </a:lnTo>
                  <a:close/>
                </a:path>
                <a:path w="798829" h="2746375">
                  <a:moveTo>
                    <a:pt x="795782" y="1183513"/>
                  </a:moveTo>
                  <a:lnTo>
                    <a:pt x="782828" y="1176909"/>
                  </a:lnTo>
                  <a:lnTo>
                    <a:pt x="745236" y="1157732"/>
                  </a:lnTo>
                  <a:lnTo>
                    <a:pt x="745083" y="1176820"/>
                  </a:lnTo>
                  <a:lnTo>
                    <a:pt x="9525" y="1171575"/>
                  </a:lnTo>
                  <a:lnTo>
                    <a:pt x="9398" y="1184148"/>
                  </a:lnTo>
                  <a:lnTo>
                    <a:pt x="744994" y="1189520"/>
                  </a:lnTo>
                  <a:lnTo>
                    <a:pt x="757682" y="1189609"/>
                  </a:lnTo>
                  <a:lnTo>
                    <a:pt x="744994" y="1189609"/>
                  </a:lnTo>
                  <a:lnTo>
                    <a:pt x="744855" y="1208532"/>
                  </a:lnTo>
                  <a:lnTo>
                    <a:pt x="783361" y="1189609"/>
                  </a:lnTo>
                  <a:lnTo>
                    <a:pt x="795782" y="1183513"/>
                  </a:lnTo>
                  <a:close/>
                </a:path>
                <a:path w="798829" h="2746375">
                  <a:moveTo>
                    <a:pt x="795782" y="802005"/>
                  </a:moveTo>
                  <a:lnTo>
                    <a:pt x="782828" y="795401"/>
                  </a:lnTo>
                  <a:lnTo>
                    <a:pt x="745236" y="776224"/>
                  </a:lnTo>
                  <a:lnTo>
                    <a:pt x="745083" y="795324"/>
                  </a:lnTo>
                  <a:lnTo>
                    <a:pt x="9525" y="790448"/>
                  </a:lnTo>
                  <a:lnTo>
                    <a:pt x="9398" y="803148"/>
                  </a:lnTo>
                  <a:lnTo>
                    <a:pt x="744994" y="808024"/>
                  </a:lnTo>
                  <a:lnTo>
                    <a:pt x="757682" y="808101"/>
                  </a:lnTo>
                  <a:lnTo>
                    <a:pt x="744994" y="808101"/>
                  </a:lnTo>
                  <a:lnTo>
                    <a:pt x="744855" y="827024"/>
                  </a:lnTo>
                  <a:lnTo>
                    <a:pt x="783361" y="808101"/>
                  </a:lnTo>
                  <a:lnTo>
                    <a:pt x="795782" y="802005"/>
                  </a:lnTo>
                  <a:close/>
                </a:path>
                <a:path w="798829" h="2746375">
                  <a:moveTo>
                    <a:pt x="796671" y="1949450"/>
                  </a:moveTo>
                  <a:lnTo>
                    <a:pt x="783971" y="1943100"/>
                  </a:lnTo>
                  <a:lnTo>
                    <a:pt x="745871" y="1924050"/>
                  </a:lnTo>
                  <a:lnTo>
                    <a:pt x="745871" y="1943100"/>
                  </a:lnTo>
                  <a:lnTo>
                    <a:pt x="9525" y="1943100"/>
                  </a:lnTo>
                  <a:lnTo>
                    <a:pt x="9525" y="1955800"/>
                  </a:lnTo>
                  <a:lnTo>
                    <a:pt x="745871" y="1955800"/>
                  </a:lnTo>
                  <a:lnTo>
                    <a:pt x="745871" y="1974850"/>
                  </a:lnTo>
                  <a:lnTo>
                    <a:pt x="783971" y="1955800"/>
                  </a:lnTo>
                  <a:lnTo>
                    <a:pt x="796671" y="1949450"/>
                  </a:lnTo>
                  <a:close/>
                </a:path>
                <a:path w="798829" h="2746375">
                  <a:moveTo>
                    <a:pt x="796671" y="1571117"/>
                  </a:moveTo>
                  <a:lnTo>
                    <a:pt x="783780" y="1564640"/>
                  </a:lnTo>
                  <a:lnTo>
                    <a:pt x="745871" y="1545590"/>
                  </a:lnTo>
                  <a:lnTo>
                    <a:pt x="745820" y="1564601"/>
                  </a:lnTo>
                  <a:lnTo>
                    <a:pt x="9525" y="1562100"/>
                  </a:lnTo>
                  <a:lnTo>
                    <a:pt x="9398" y="1574673"/>
                  </a:lnTo>
                  <a:lnTo>
                    <a:pt x="745782" y="1577301"/>
                  </a:lnTo>
                  <a:lnTo>
                    <a:pt x="758571" y="1577340"/>
                  </a:lnTo>
                  <a:lnTo>
                    <a:pt x="745782" y="1577340"/>
                  </a:lnTo>
                  <a:lnTo>
                    <a:pt x="745744" y="1596390"/>
                  </a:lnTo>
                  <a:lnTo>
                    <a:pt x="784123" y="1577340"/>
                  </a:lnTo>
                  <a:lnTo>
                    <a:pt x="796671" y="1571117"/>
                  </a:lnTo>
                  <a:close/>
                </a:path>
                <a:path w="798829" h="2746375">
                  <a:moveTo>
                    <a:pt x="798449" y="25400"/>
                  </a:moveTo>
                  <a:lnTo>
                    <a:pt x="785749" y="19075"/>
                  </a:lnTo>
                  <a:lnTo>
                    <a:pt x="747522" y="0"/>
                  </a:lnTo>
                  <a:lnTo>
                    <a:pt x="747560" y="19075"/>
                  </a:lnTo>
                  <a:lnTo>
                    <a:pt x="9398" y="20320"/>
                  </a:lnTo>
                  <a:lnTo>
                    <a:pt x="9525" y="33020"/>
                  </a:lnTo>
                  <a:lnTo>
                    <a:pt x="747598" y="31775"/>
                  </a:lnTo>
                  <a:lnTo>
                    <a:pt x="747649" y="50800"/>
                  </a:lnTo>
                  <a:lnTo>
                    <a:pt x="785698" y="31775"/>
                  </a:lnTo>
                  <a:lnTo>
                    <a:pt x="79844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6367" y="4598248"/>
            <a:ext cx="1348105" cy="1219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107</a:t>
            </a:fld>
            <a:endParaRPr spc="-25" dirty="0"/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817370" y="4244657"/>
            <a:ext cx="149669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Break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  <a:p>
            <a:pPr marL="240029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16x16x3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20821" y="4235450"/>
            <a:ext cx="2023745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4475" marR="5080" indent="-23241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Flatten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apply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 </a:t>
            </a:r>
            <a:r>
              <a:rPr sz="1400" dirty="0">
                <a:latin typeface="Arial"/>
                <a:cs typeface="Arial"/>
              </a:rPr>
              <a:t>transform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768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84265" y="4000817"/>
            <a:ext cx="1835785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8255" algn="ctr">
              <a:lnSpc>
                <a:spcPct val="100600"/>
              </a:lnSpc>
              <a:spcBef>
                <a:spcPts val="114"/>
              </a:spcBef>
            </a:pPr>
            <a:r>
              <a:rPr sz="1400" spc="-10" dirty="0">
                <a:latin typeface="Arial"/>
                <a:cs typeface="Arial"/>
              </a:rPr>
              <a:t>D-</a:t>
            </a:r>
            <a:r>
              <a:rPr sz="1400" dirty="0">
                <a:latin typeface="Arial"/>
                <a:cs typeface="Arial"/>
              </a:rPr>
              <a:t>dim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patch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input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Transformer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86726" y="1102042"/>
            <a:ext cx="1325880" cy="1101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270" algn="ctr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Don’t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any </a:t>
            </a:r>
            <a:r>
              <a:rPr sz="1400" dirty="0">
                <a:latin typeface="Arial"/>
                <a:cs typeface="Arial"/>
              </a:rPr>
              <a:t>masking;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each </a:t>
            </a:r>
            <a:r>
              <a:rPr sz="1400" dirty="0">
                <a:latin typeface="Arial"/>
                <a:cs typeface="Arial"/>
              </a:rPr>
              <a:t>image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patch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can </a:t>
            </a:r>
            <a:r>
              <a:rPr sz="1400" dirty="0">
                <a:latin typeface="Arial"/>
                <a:cs typeface="Arial"/>
              </a:rPr>
              <a:t>look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other </a:t>
            </a:r>
            <a:r>
              <a:rPr sz="1400" dirty="0">
                <a:latin typeface="Arial"/>
                <a:cs typeface="Arial"/>
              </a:rPr>
              <a:t>image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36509" y="2357691"/>
            <a:ext cx="1232535" cy="1102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43180" algn="just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Use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positional </a:t>
            </a:r>
            <a:r>
              <a:rPr sz="1400" dirty="0">
                <a:latin typeface="Arial"/>
                <a:cs typeface="Arial"/>
              </a:rPr>
              <a:t>encoding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tell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transformer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2D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position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patch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117" y="4380547"/>
            <a:ext cx="1530350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59376" y="877950"/>
            <a:ext cx="2703195" cy="3292475"/>
            <a:chOff x="4659376" y="877950"/>
            <a:chExt cx="2703195" cy="3292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1700" y="1028703"/>
              <a:ext cx="1380849" cy="24762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72076" y="890650"/>
              <a:ext cx="276225" cy="3267075"/>
            </a:xfrm>
            <a:custGeom>
              <a:avLst/>
              <a:gdLst/>
              <a:ahLst/>
              <a:cxnLst/>
              <a:rect l="l" t="t" r="r" b="b"/>
              <a:pathLst>
                <a:path w="276225" h="3267075">
                  <a:moveTo>
                    <a:pt x="0" y="0"/>
                  </a:moveTo>
                  <a:lnTo>
                    <a:pt x="53717" y="8673"/>
                  </a:lnTo>
                  <a:lnTo>
                    <a:pt x="97599" y="32337"/>
                  </a:lnTo>
                  <a:lnTo>
                    <a:pt x="127194" y="67454"/>
                  </a:lnTo>
                  <a:lnTo>
                    <a:pt x="138049" y="110489"/>
                  </a:lnTo>
                  <a:lnTo>
                    <a:pt x="138049" y="1522857"/>
                  </a:lnTo>
                  <a:lnTo>
                    <a:pt x="148905" y="1565911"/>
                  </a:lnTo>
                  <a:lnTo>
                    <a:pt x="178514" y="1601073"/>
                  </a:lnTo>
                  <a:lnTo>
                    <a:pt x="222434" y="1624780"/>
                  </a:lnTo>
                  <a:lnTo>
                    <a:pt x="276225" y="1633474"/>
                  </a:lnTo>
                  <a:lnTo>
                    <a:pt x="222434" y="1642167"/>
                  </a:lnTo>
                  <a:lnTo>
                    <a:pt x="178514" y="1665874"/>
                  </a:lnTo>
                  <a:lnTo>
                    <a:pt x="148905" y="1701036"/>
                  </a:lnTo>
                  <a:lnTo>
                    <a:pt x="138049" y="1744091"/>
                  </a:lnTo>
                  <a:lnTo>
                    <a:pt x="138049" y="3156407"/>
                  </a:lnTo>
                  <a:lnTo>
                    <a:pt x="127194" y="3199460"/>
                  </a:lnTo>
                  <a:lnTo>
                    <a:pt x="97599" y="3234616"/>
                  </a:lnTo>
                  <a:lnTo>
                    <a:pt x="53717" y="3258319"/>
                  </a:lnTo>
                  <a:lnTo>
                    <a:pt x="0" y="326701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5324" y="2535300"/>
              <a:ext cx="1704339" cy="1214755"/>
            </a:xfrm>
            <a:custGeom>
              <a:avLst/>
              <a:gdLst/>
              <a:ahLst/>
              <a:cxnLst/>
              <a:rect l="l" t="t" r="r" b="b"/>
              <a:pathLst>
                <a:path w="1704340" h="1214754">
                  <a:moveTo>
                    <a:pt x="474852" y="12700"/>
                  </a:moveTo>
                  <a:lnTo>
                    <a:pt x="474852" y="1208913"/>
                  </a:lnTo>
                  <a:lnTo>
                    <a:pt x="480567" y="1214628"/>
                  </a:lnTo>
                  <a:lnTo>
                    <a:pt x="1672717" y="1214628"/>
                  </a:lnTo>
                  <a:lnTo>
                    <a:pt x="1678431" y="1208913"/>
                  </a:lnTo>
                  <a:lnTo>
                    <a:pt x="1678431" y="1201928"/>
                  </a:lnTo>
                  <a:lnTo>
                    <a:pt x="500252" y="1201928"/>
                  </a:lnTo>
                  <a:lnTo>
                    <a:pt x="487552" y="1189228"/>
                  </a:lnTo>
                  <a:lnTo>
                    <a:pt x="500252" y="1189228"/>
                  </a:lnTo>
                  <a:lnTo>
                    <a:pt x="500252" y="25400"/>
                  </a:lnTo>
                  <a:lnTo>
                    <a:pt x="487552" y="25400"/>
                  </a:lnTo>
                  <a:lnTo>
                    <a:pt x="474852" y="12700"/>
                  </a:lnTo>
                  <a:close/>
                </a:path>
                <a:path w="1704340" h="1214754">
                  <a:moveTo>
                    <a:pt x="500252" y="1189228"/>
                  </a:moveTo>
                  <a:lnTo>
                    <a:pt x="487552" y="1189228"/>
                  </a:lnTo>
                  <a:lnTo>
                    <a:pt x="500252" y="1201928"/>
                  </a:lnTo>
                  <a:lnTo>
                    <a:pt x="500252" y="1189228"/>
                  </a:lnTo>
                  <a:close/>
                </a:path>
                <a:path w="1704340" h="1214754">
                  <a:moveTo>
                    <a:pt x="1653031" y="1189228"/>
                  </a:moveTo>
                  <a:lnTo>
                    <a:pt x="500252" y="1189228"/>
                  </a:lnTo>
                  <a:lnTo>
                    <a:pt x="500252" y="1201928"/>
                  </a:lnTo>
                  <a:lnTo>
                    <a:pt x="1653031" y="1201928"/>
                  </a:lnTo>
                  <a:lnTo>
                    <a:pt x="1653031" y="1189228"/>
                  </a:lnTo>
                  <a:close/>
                </a:path>
                <a:path w="1704340" h="1214754">
                  <a:moveTo>
                    <a:pt x="1678431" y="1036828"/>
                  </a:moveTo>
                  <a:lnTo>
                    <a:pt x="1653031" y="1036828"/>
                  </a:lnTo>
                  <a:lnTo>
                    <a:pt x="1653031" y="1201928"/>
                  </a:lnTo>
                  <a:lnTo>
                    <a:pt x="1665731" y="1189228"/>
                  </a:lnTo>
                  <a:lnTo>
                    <a:pt x="1678431" y="1189228"/>
                  </a:lnTo>
                  <a:lnTo>
                    <a:pt x="1678431" y="1036828"/>
                  </a:lnTo>
                  <a:close/>
                </a:path>
                <a:path w="1704340" h="1214754">
                  <a:moveTo>
                    <a:pt x="1678431" y="1189228"/>
                  </a:moveTo>
                  <a:lnTo>
                    <a:pt x="1665731" y="1189228"/>
                  </a:lnTo>
                  <a:lnTo>
                    <a:pt x="1653031" y="1201928"/>
                  </a:lnTo>
                  <a:lnTo>
                    <a:pt x="1678431" y="1201928"/>
                  </a:lnTo>
                  <a:lnTo>
                    <a:pt x="1678431" y="1189228"/>
                  </a:lnTo>
                  <a:close/>
                </a:path>
                <a:path w="1704340" h="1214754">
                  <a:moveTo>
                    <a:pt x="1665731" y="973328"/>
                  </a:moveTo>
                  <a:lnTo>
                    <a:pt x="1627631" y="1049528"/>
                  </a:lnTo>
                  <a:lnTo>
                    <a:pt x="1653031" y="1049528"/>
                  </a:lnTo>
                  <a:lnTo>
                    <a:pt x="1653031" y="1036828"/>
                  </a:lnTo>
                  <a:lnTo>
                    <a:pt x="1697481" y="1036828"/>
                  </a:lnTo>
                  <a:lnTo>
                    <a:pt x="1665731" y="973328"/>
                  </a:lnTo>
                  <a:close/>
                </a:path>
                <a:path w="1704340" h="1214754">
                  <a:moveTo>
                    <a:pt x="1697481" y="1036828"/>
                  </a:moveTo>
                  <a:lnTo>
                    <a:pt x="1678431" y="1036828"/>
                  </a:lnTo>
                  <a:lnTo>
                    <a:pt x="1678431" y="1049528"/>
                  </a:lnTo>
                  <a:lnTo>
                    <a:pt x="1703831" y="1049528"/>
                  </a:lnTo>
                  <a:lnTo>
                    <a:pt x="1697481" y="1036828"/>
                  </a:lnTo>
                  <a:close/>
                </a:path>
                <a:path w="1704340" h="1214754">
                  <a:moveTo>
                    <a:pt x="494538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474852" y="25400"/>
                  </a:lnTo>
                  <a:lnTo>
                    <a:pt x="474852" y="12700"/>
                  </a:lnTo>
                  <a:lnTo>
                    <a:pt x="500252" y="12700"/>
                  </a:lnTo>
                  <a:lnTo>
                    <a:pt x="500252" y="5587"/>
                  </a:lnTo>
                  <a:lnTo>
                    <a:pt x="494538" y="0"/>
                  </a:lnTo>
                  <a:close/>
                </a:path>
                <a:path w="1704340" h="1214754">
                  <a:moveTo>
                    <a:pt x="500252" y="12700"/>
                  </a:moveTo>
                  <a:lnTo>
                    <a:pt x="474852" y="12700"/>
                  </a:lnTo>
                  <a:lnTo>
                    <a:pt x="487552" y="25400"/>
                  </a:lnTo>
                  <a:lnTo>
                    <a:pt x="500252" y="25400"/>
                  </a:lnTo>
                  <a:lnTo>
                    <a:pt x="500252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390775" y="3857625"/>
            <a:ext cx="1973580" cy="342900"/>
            <a:chOff x="2390775" y="3857625"/>
            <a:chExt cx="1973580" cy="342900"/>
          </a:xfrm>
        </p:grpSpPr>
        <p:pic>
          <p:nvPicPr>
            <p:cNvPr id="12" name="object 12" descr="Cat, Funny Cat, Cute Cat, Cute, Cat Compilati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3857625"/>
              <a:ext cx="342900" cy="342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8500" y="4008437"/>
              <a:ext cx="788035" cy="50800"/>
            </a:xfrm>
            <a:custGeom>
              <a:avLst/>
              <a:gdLst/>
              <a:ahLst/>
              <a:cxnLst/>
              <a:rect l="l" t="t" r="r" b="b"/>
              <a:pathLst>
                <a:path w="788035" h="50800">
                  <a:moveTo>
                    <a:pt x="737108" y="0"/>
                  </a:moveTo>
                  <a:lnTo>
                    <a:pt x="737108" y="50800"/>
                  </a:lnTo>
                  <a:lnTo>
                    <a:pt x="775208" y="31750"/>
                  </a:lnTo>
                  <a:lnTo>
                    <a:pt x="749808" y="31750"/>
                  </a:lnTo>
                  <a:lnTo>
                    <a:pt x="749808" y="19050"/>
                  </a:lnTo>
                  <a:lnTo>
                    <a:pt x="775208" y="19050"/>
                  </a:lnTo>
                  <a:lnTo>
                    <a:pt x="737108" y="0"/>
                  </a:lnTo>
                  <a:close/>
                </a:path>
                <a:path w="788035" h="50800">
                  <a:moveTo>
                    <a:pt x="737108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737108" y="31750"/>
                  </a:lnTo>
                  <a:lnTo>
                    <a:pt x="737108" y="19050"/>
                  </a:lnTo>
                  <a:close/>
                </a:path>
                <a:path w="788035" h="50800">
                  <a:moveTo>
                    <a:pt x="775208" y="19050"/>
                  </a:moveTo>
                  <a:lnTo>
                    <a:pt x="749808" y="19050"/>
                  </a:lnTo>
                  <a:lnTo>
                    <a:pt x="749808" y="31750"/>
                  </a:lnTo>
                  <a:lnTo>
                    <a:pt x="775208" y="31750"/>
                  </a:lnTo>
                  <a:lnTo>
                    <a:pt x="787908" y="25400"/>
                  </a:lnTo>
                  <a:lnTo>
                    <a:pt x="775208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390775" y="771525"/>
            <a:ext cx="1983105" cy="3038475"/>
            <a:chOff x="2390775" y="771525"/>
            <a:chExt cx="1983105" cy="3038475"/>
          </a:xfrm>
        </p:grpSpPr>
        <p:pic>
          <p:nvPicPr>
            <p:cNvPr id="17" name="object 17" descr="Cat, Funny Cat, Cute Cat, Cute, Cat Compilati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0775" y="2695575"/>
              <a:ext cx="352425" cy="352425"/>
            </a:xfrm>
            <a:prstGeom prst="rect">
              <a:avLst/>
            </a:prstGeom>
          </p:spPr>
        </p:pic>
        <p:pic>
          <p:nvPicPr>
            <p:cNvPr id="18" name="object 18" descr="Cat, Funny Cat, Cute Cat, Cute, Cat Compilati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1533525"/>
              <a:ext cx="352425" cy="352425"/>
            </a:xfrm>
            <a:prstGeom prst="rect">
              <a:avLst/>
            </a:prstGeom>
          </p:spPr>
        </p:pic>
        <p:pic>
          <p:nvPicPr>
            <p:cNvPr id="19" name="object 19" descr="Cat, Funny Cat, Cute Cat, Cute, Cat Compilati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0775" y="3467100"/>
              <a:ext cx="342900" cy="342900"/>
            </a:xfrm>
            <a:prstGeom prst="rect">
              <a:avLst/>
            </a:prstGeom>
          </p:spPr>
        </p:pic>
        <p:pic>
          <p:nvPicPr>
            <p:cNvPr id="20" name="object 20" descr="Cat, Funny Cat, Cute Cat, Cute, Cat Compi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0775" y="2314575"/>
              <a:ext cx="352425" cy="342900"/>
            </a:xfrm>
            <a:prstGeom prst="rect">
              <a:avLst/>
            </a:prstGeom>
          </p:spPr>
        </p:pic>
        <p:pic>
          <p:nvPicPr>
            <p:cNvPr id="21" name="object 21" descr="Cat, Funny Cat, Cute Cat, Cute, Cat Compilati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0775" y="1152525"/>
              <a:ext cx="352425" cy="342900"/>
            </a:xfrm>
            <a:prstGeom prst="rect">
              <a:avLst/>
            </a:prstGeom>
          </p:spPr>
        </p:pic>
        <p:pic>
          <p:nvPicPr>
            <p:cNvPr id="22" name="object 22" descr="Cat, Funny Cat, Cute Cat, Cute, Cat Compilati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0775" y="3076575"/>
              <a:ext cx="342900" cy="352425"/>
            </a:xfrm>
            <a:prstGeom prst="rect">
              <a:avLst/>
            </a:prstGeom>
          </p:spPr>
        </p:pic>
        <p:pic>
          <p:nvPicPr>
            <p:cNvPr id="23" name="object 23" descr="Cat, Funny Cat, Cute Cat, Cute, Cat Compilation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0775" y="1924050"/>
              <a:ext cx="352425" cy="352425"/>
            </a:xfrm>
            <a:prstGeom prst="rect">
              <a:avLst/>
            </a:prstGeom>
          </p:spPr>
        </p:pic>
        <p:pic>
          <p:nvPicPr>
            <p:cNvPr id="24" name="object 24" descr="Cat, Funny Cat, Cute Cat, Cute, Cat Compilation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90775" y="771525"/>
              <a:ext cx="352425" cy="3429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828675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828675" y="104775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0" y="104775"/>
                  </a:moveTo>
                  <a:lnTo>
                    <a:pt x="828675" y="104775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38501" y="922400"/>
              <a:ext cx="798830" cy="2746375"/>
            </a:xfrm>
            <a:custGeom>
              <a:avLst/>
              <a:gdLst/>
              <a:ahLst/>
              <a:cxnLst/>
              <a:rect l="l" t="t" r="r" b="b"/>
              <a:pathLst>
                <a:path w="798829" h="2746375">
                  <a:moveTo>
                    <a:pt x="787908" y="2720975"/>
                  </a:moveTo>
                  <a:lnTo>
                    <a:pt x="775208" y="2714625"/>
                  </a:lnTo>
                  <a:lnTo>
                    <a:pt x="737108" y="2695575"/>
                  </a:lnTo>
                  <a:lnTo>
                    <a:pt x="737108" y="2714625"/>
                  </a:lnTo>
                  <a:lnTo>
                    <a:pt x="0" y="2714625"/>
                  </a:lnTo>
                  <a:lnTo>
                    <a:pt x="0" y="2727325"/>
                  </a:lnTo>
                  <a:lnTo>
                    <a:pt x="737108" y="2727325"/>
                  </a:lnTo>
                  <a:lnTo>
                    <a:pt x="737108" y="2746375"/>
                  </a:lnTo>
                  <a:lnTo>
                    <a:pt x="775208" y="2727325"/>
                  </a:lnTo>
                  <a:lnTo>
                    <a:pt x="787908" y="2720975"/>
                  </a:lnTo>
                  <a:close/>
                </a:path>
                <a:path w="798829" h="2746375">
                  <a:moveTo>
                    <a:pt x="787908" y="2339975"/>
                  </a:moveTo>
                  <a:lnTo>
                    <a:pt x="775208" y="2333625"/>
                  </a:lnTo>
                  <a:lnTo>
                    <a:pt x="737108" y="2314575"/>
                  </a:lnTo>
                  <a:lnTo>
                    <a:pt x="737108" y="2333625"/>
                  </a:lnTo>
                  <a:lnTo>
                    <a:pt x="0" y="2333625"/>
                  </a:lnTo>
                  <a:lnTo>
                    <a:pt x="0" y="2346325"/>
                  </a:lnTo>
                  <a:lnTo>
                    <a:pt x="737108" y="2346325"/>
                  </a:lnTo>
                  <a:lnTo>
                    <a:pt x="737108" y="2365375"/>
                  </a:lnTo>
                  <a:lnTo>
                    <a:pt x="775208" y="2346325"/>
                  </a:lnTo>
                  <a:lnTo>
                    <a:pt x="787908" y="2339975"/>
                  </a:lnTo>
                  <a:close/>
                </a:path>
                <a:path w="798829" h="2746375">
                  <a:moveTo>
                    <a:pt x="794512" y="406400"/>
                  </a:moveTo>
                  <a:lnTo>
                    <a:pt x="781812" y="400050"/>
                  </a:lnTo>
                  <a:lnTo>
                    <a:pt x="743712" y="381000"/>
                  </a:lnTo>
                  <a:lnTo>
                    <a:pt x="743712" y="400050"/>
                  </a:lnTo>
                  <a:lnTo>
                    <a:pt x="9525" y="400050"/>
                  </a:lnTo>
                  <a:lnTo>
                    <a:pt x="9525" y="412750"/>
                  </a:lnTo>
                  <a:lnTo>
                    <a:pt x="743712" y="412750"/>
                  </a:lnTo>
                  <a:lnTo>
                    <a:pt x="743712" y="431800"/>
                  </a:lnTo>
                  <a:lnTo>
                    <a:pt x="781812" y="412750"/>
                  </a:lnTo>
                  <a:lnTo>
                    <a:pt x="794512" y="406400"/>
                  </a:lnTo>
                  <a:close/>
                </a:path>
                <a:path w="798829" h="2746375">
                  <a:moveTo>
                    <a:pt x="795782" y="1183513"/>
                  </a:moveTo>
                  <a:lnTo>
                    <a:pt x="782828" y="1176909"/>
                  </a:lnTo>
                  <a:lnTo>
                    <a:pt x="745236" y="1157732"/>
                  </a:lnTo>
                  <a:lnTo>
                    <a:pt x="745083" y="1176820"/>
                  </a:lnTo>
                  <a:lnTo>
                    <a:pt x="9525" y="1171575"/>
                  </a:lnTo>
                  <a:lnTo>
                    <a:pt x="9398" y="1184148"/>
                  </a:lnTo>
                  <a:lnTo>
                    <a:pt x="744994" y="1189520"/>
                  </a:lnTo>
                  <a:lnTo>
                    <a:pt x="757682" y="1189609"/>
                  </a:lnTo>
                  <a:lnTo>
                    <a:pt x="744994" y="1189609"/>
                  </a:lnTo>
                  <a:lnTo>
                    <a:pt x="744855" y="1208532"/>
                  </a:lnTo>
                  <a:lnTo>
                    <a:pt x="783361" y="1189609"/>
                  </a:lnTo>
                  <a:lnTo>
                    <a:pt x="795782" y="1183513"/>
                  </a:lnTo>
                  <a:close/>
                </a:path>
                <a:path w="798829" h="2746375">
                  <a:moveTo>
                    <a:pt x="795782" y="802005"/>
                  </a:moveTo>
                  <a:lnTo>
                    <a:pt x="782828" y="795401"/>
                  </a:lnTo>
                  <a:lnTo>
                    <a:pt x="745236" y="776224"/>
                  </a:lnTo>
                  <a:lnTo>
                    <a:pt x="745083" y="795324"/>
                  </a:lnTo>
                  <a:lnTo>
                    <a:pt x="9525" y="790448"/>
                  </a:lnTo>
                  <a:lnTo>
                    <a:pt x="9398" y="803148"/>
                  </a:lnTo>
                  <a:lnTo>
                    <a:pt x="744994" y="808024"/>
                  </a:lnTo>
                  <a:lnTo>
                    <a:pt x="757682" y="808101"/>
                  </a:lnTo>
                  <a:lnTo>
                    <a:pt x="744994" y="808101"/>
                  </a:lnTo>
                  <a:lnTo>
                    <a:pt x="744855" y="827024"/>
                  </a:lnTo>
                  <a:lnTo>
                    <a:pt x="783361" y="808101"/>
                  </a:lnTo>
                  <a:lnTo>
                    <a:pt x="795782" y="802005"/>
                  </a:lnTo>
                  <a:close/>
                </a:path>
                <a:path w="798829" h="2746375">
                  <a:moveTo>
                    <a:pt x="796671" y="1949450"/>
                  </a:moveTo>
                  <a:lnTo>
                    <a:pt x="783971" y="1943100"/>
                  </a:lnTo>
                  <a:lnTo>
                    <a:pt x="745871" y="1924050"/>
                  </a:lnTo>
                  <a:lnTo>
                    <a:pt x="745871" y="1943100"/>
                  </a:lnTo>
                  <a:lnTo>
                    <a:pt x="9525" y="1943100"/>
                  </a:lnTo>
                  <a:lnTo>
                    <a:pt x="9525" y="1955800"/>
                  </a:lnTo>
                  <a:lnTo>
                    <a:pt x="745871" y="1955800"/>
                  </a:lnTo>
                  <a:lnTo>
                    <a:pt x="745871" y="1974850"/>
                  </a:lnTo>
                  <a:lnTo>
                    <a:pt x="783971" y="1955800"/>
                  </a:lnTo>
                  <a:lnTo>
                    <a:pt x="796671" y="1949450"/>
                  </a:lnTo>
                  <a:close/>
                </a:path>
                <a:path w="798829" h="2746375">
                  <a:moveTo>
                    <a:pt x="796671" y="1571117"/>
                  </a:moveTo>
                  <a:lnTo>
                    <a:pt x="783780" y="1564640"/>
                  </a:lnTo>
                  <a:lnTo>
                    <a:pt x="745871" y="1545590"/>
                  </a:lnTo>
                  <a:lnTo>
                    <a:pt x="745820" y="1564601"/>
                  </a:lnTo>
                  <a:lnTo>
                    <a:pt x="9525" y="1562100"/>
                  </a:lnTo>
                  <a:lnTo>
                    <a:pt x="9398" y="1574673"/>
                  </a:lnTo>
                  <a:lnTo>
                    <a:pt x="745782" y="1577301"/>
                  </a:lnTo>
                  <a:lnTo>
                    <a:pt x="758571" y="1577340"/>
                  </a:lnTo>
                  <a:lnTo>
                    <a:pt x="745782" y="1577340"/>
                  </a:lnTo>
                  <a:lnTo>
                    <a:pt x="745744" y="1596390"/>
                  </a:lnTo>
                  <a:lnTo>
                    <a:pt x="784123" y="1577340"/>
                  </a:lnTo>
                  <a:lnTo>
                    <a:pt x="796671" y="1571117"/>
                  </a:lnTo>
                  <a:close/>
                </a:path>
                <a:path w="798829" h="2746375">
                  <a:moveTo>
                    <a:pt x="798449" y="25400"/>
                  </a:moveTo>
                  <a:lnTo>
                    <a:pt x="785749" y="19075"/>
                  </a:lnTo>
                  <a:lnTo>
                    <a:pt x="747522" y="0"/>
                  </a:lnTo>
                  <a:lnTo>
                    <a:pt x="747560" y="19075"/>
                  </a:lnTo>
                  <a:lnTo>
                    <a:pt x="9398" y="20320"/>
                  </a:lnTo>
                  <a:lnTo>
                    <a:pt x="9525" y="33020"/>
                  </a:lnTo>
                  <a:lnTo>
                    <a:pt x="747598" y="31775"/>
                  </a:lnTo>
                  <a:lnTo>
                    <a:pt x="747649" y="50800"/>
                  </a:lnTo>
                  <a:lnTo>
                    <a:pt x="785698" y="31775"/>
                  </a:lnTo>
                  <a:lnTo>
                    <a:pt x="79844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6367" y="4598248"/>
            <a:ext cx="1348105" cy="1219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108</a:t>
            </a:fld>
            <a:endParaRPr spc="-25" dirty="0"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817370" y="4244657"/>
            <a:ext cx="149669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Break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  <a:p>
            <a:pPr marL="240029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16x16x3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20821" y="4235450"/>
            <a:ext cx="2023745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4475" marR="5080" indent="-23241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Flatten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apply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 </a:t>
            </a:r>
            <a:r>
              <a:rPr sz="1400" dirty="0">
                <a:latin typeface="Arial"/>
                <a:cs typeface="Arial"/>
              </a:rPr>
              <a:t>transform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768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84265" y="4000817"/>
            <a:ext cx="1835785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8255" algn="ctr">
              <a:lnSpc>
                <a:spcPct val="100600"/>
              </a:lnSpc>
              <a:spcBef>
                <a:spcPts val="114"/>
              </a:spcBef>
            </a:pPr>
            <a:r>
              <a:rPr sz="1400" spc="-10" dirty="0">
                <a:latin typeface="Arial"/>
                <a:cs typeface="Arial"/>
              </a:rPr>
              <a:t>D-</a:t>
            </a:r>
            <a:r>
              <a:rPr sz="1400" dirty="0">
                <a:latin typeface="Arial"/>
                <a:cs typeface="Arial"/>
              </a:rPr>
              <a:t>dim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patch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input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Transformer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86726" y="1102042"/>
            <a:ext cx="1325880" cy="1101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270" algn="ctr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Don’t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any </a:t>
            </a:r>
            <a:r>
              <a:rPr sz="1400" dirty="0">
                <a:latin typeface="Arial"/>
                <a:cs typeface="Arial"/>
              </a:rPr>
              <a:t>masking;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each </a:t>
            </a:r>
            <a:r>
              <a:rPr sz="1400" dirty="0">
                <a:latin typeface="Arial"/>
                <a:cs typeface="Arial"/>
              </a:rPr>
              <a:t>image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patch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can </a:t>
            </a:r>
            <a:r>
              <a:rPr sz="1400" dirty="0">
                <a:latin typeface="Arial"/>
                <a:cs typeface="Arial"/>
              </a:rPr>
              <a:t>look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other </a:t>
            </a:r>
            <a:r>
              <a:rPr sz="1400" dirty="0">
                <a:latin typeface="Arial"/>
                <a:cs typeface="Arial"/>
              </a:rPr>
              <a:t>image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36509" y="2357691"/>
            <a:ext cx="1232535" cy="1102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43180" algn="just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Use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positional </a:t>
            </a:r>
            <a:r>
              <a:rPr sz="1400" dirty="0">
                <a:latin typeface="Arial"/>
                <a:cs typeface="Arial"/>
              </a:rPr>
              <a:t>encoding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tell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transformer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2D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position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patch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01584" y="272478"/>
            <a:ext cx="1300480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1905" algn="ctr">
              <a:lnSpc>
                <a:spcPct val="100600"/>
              </a:lnSpc>
              <a:spcBef>
                <a:spcPts val="114"/>
              </a:spcBef>
            </a:pPr>
            <a:r>
              <a:rPr sz="1400" spc="-10" dirty="0">
                <a:latin typeface="Arial"/>
                <a:cs typeface="Arial"/>
              </a:rPr>
              <a:t>Transformer </a:t>
            </a:r>
            <a:r>
              <a:rPr sz="1400" dirty="0">
                <a:latin typeface="Arial"/>
                <a:cs typeface="Arial"/>
              </a:rPr>
              <a:t>gives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10" dirty="0">
                <a:latin typeface="Arial"/>
                <a:cs typeface="Arial"/>
              </a:rPr>
              <a:t> output </a:t>
            </a:r>
            <a:r>
              <a:rPr sz="1400" dirty="0">
                <a:latin typeface="Arial"/>
                <a:cs typeface="Arial"/>
              </a:rPr>
              <a:t>vector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20" dirty="0">
                <a:latin typeface="Arial"/>
                <a:cs typeface="Arial"/>
              </a:rPr>
              <a:t> patch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117" y="4380547"/>
            <a:ext cx="1530350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Vision</a:t>
            </a:r>
            <a:r>
              <a:rPr spc="195" dirty="0"/>
              <a:t> </a:t>
            </a:r>
            <a:r>
              <a:rPr dirty="0"/>
              <a:t>Transformers</a:t>
            </a:r>
            <a:r>
              <a:rPr spc="195" dirty="0"/>
              <a:t> </a:t>
            </a:r>
            <a:r>
              <a:rPr spc="-10" dirty="0"/>
              <a:t>(ViT)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59376" y="877950"/>
            <a:ext cx="2703195" cy="3292475"/>
            <a:chOff x="4659376" y="877950"/>
            <a:chExt cx="2703195" cy="3292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1700" y="1028703"/>
              <a:ext cx="1380849" cy="24762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72076" y="890650"/>
              <a:ext cx="276225" cy="3267075"/>
            </a:xfrm>
            <a:custGeom>
              <a:avLst/>
              <a:gdLst/>
              <a:ahLst/>
              <a:cxnLst/>
              <a:rect l="l" t="t" r="r" b="b"/>
              <a:pathLst>
                <a:path w="276225" h="3267075">
                  <a:moveTo>
                    <a:pt x="0" y="0"/>
                  </a:moveTo>
                  <a:lnTo>
                    <a:pt x="53717" y="8673"/>
                  </a:lnTo>
                  <a:lnTo>
                    <a:pt x="97599" y="32337"/>
                  </a:lnTo>
                  <a:lnTo>
                    <a:pt x="127194" y="67454"/>
                  </a:lnTo>
                  <a:lnTo>
                    <a:pt x="138049" y="110489"/>
                  </a:lnTo>
                  <a:lnTo>
                    <a:pt x="138049" y="1522857"/>
                  </a:lnTo>
                  <a:lnTo>
                    <a:pt x="148905" y="1565911"/>
                  </a:lnTo>
                  <a:lnTo>
                    <a:pt x="178514" y="1601073"/>
                  </a:lnTo>
                  <a:lnTo>
                    <a:pt x="222434" y="1624780"/>
                  </a:lnTo>
                  <a:lnTo>
                    <a:pt x="276225" y="1633474"/>
                  </a:lnTo>
                  <a:lnTo>
                    <a:pt x="222434" y="1642167"/>
                  </a:lnTo>
                  <a:lnTo>
                    <a:pt x="178514" y="1665874"/>
                  </a:lnTo>
                  <a:lnTo>
                    <a:pt x="148905" y="1701036"/>
                  </a:lnTo>
                  <a:lnTo>
                    <a:pt x="138049" y="1744091"/>
                  </a:lnTo>
                  <a:lnTo>
                    <a:pt x="138049" y="3156407"/>
                  </a:lnTo>
                  <a:lnTo>
                    <a:pt x="127194" y="3199460"/>
                  </a:lnTo>
                  <a:lnTo>
                    <a:pt x="97599" y="3234616"/>
                  </a:lnTo>
                  <a:lnTo>
                    <a:pt x="53717" y="3258319"/>
                  </a:lnTo>
                  <a:lnTo>
                    <a:pt x="0" y="326701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5324" y="2535300"/>
              <a:ext cx="1704339" cy="1214755"/>
            </a:xfrm>
            <a:custGeom>
              <a:avLst/>
              <a:gdLst/>
              <a:ahLst/>
              <a:cxnLst/>
              <a:rect l="l" t="t" r="r" b="b"/>
              <a:pathLst>
                <a:path w="1704340" h="1214754">
                  <a:moveTo>
                    <a:pt x="474852" y="12700"/>
                  </a:moveTo>
                  <a:lnTo>
                    <a:pt x="474852" y="1208913"/>
                  </a:lnTo>
                  <a:lnTo>
                    <a:pt x="480567" y="1214628"/>
                  </a:lnTo>
                  <a:lnTo>
                    <a:pt x="1672717" y="1214628"/>
                  </a:lnTo>
                  <a:lnTo>
                    <a:pt x="1678431" y="1208913"/>
                  </a:lnTo>
                  <a:lnTo>
                    <a:pt x="1678431" y="1201928"/>
                  </a:lnTo>
                  <a:lnTo>
                    <a:pt x="500252" y="1201928"/>
                  </a:lnTo>
                  <a:lnTo>
                    <a:pt x="487552" y="1189228"/>
                  </a:lnTo>
                  <a:lnTo>
                    <a:pt x="500252" y="1189228"/>
                  </a:lnTo>
                  <a:lnTo>
                    <a:pt x="500252" y="25400"/>
                  </a:lnTo>
                  <a:lnTo>
                    <a:pt x="487552" y="25400"/>
                  </a:lnTo>
                  <a:lnTo>
                    <a:pt x="474852" y="12700"/>
                  </a:lnTo>
                  <a:close/>
                </a:path>
                <a:path w="1704340" h="1214754">
                  <a:moveTo>
                    <a:pt x="500252" y="1189228"/>
                  </a:moveTo>
                  <a:lnTo>
                    <a:pt x="487552" y="1189228"/>
                  </a:lnTo>
                  <a:lnTo>
                    <a:pt x="500252" y="1201928"/>
                  </a:lnTo>
                  <a:lnTo>
                    <a:pt x="500252" y="1189228"/>
                  </a:lnTo>
                  <a:close/>
                </a:path>
                <a:path w="1704340" h="1214754">
                  <a:moveTo>
                    <a:pt x="1653031" y="1189228"/>
                  </a:moveTo>
                  <a:lnTo>
                    <a:pt x="500252" y="1189228"/>
                  </a:lnTo>
                  <a:lnTo>
                    <a:pt x="500252" y="1201928"/>
                  </a:lnTo>
                  <a:lnTo>
                    <a:pt x="1653031" y="1201928"/>
                  </a:lnTo>
                  <a:lnTo>
                    <a:pt x="1653031" y="1189228"/>
                  </a:lnTo>
                  <a:close/>
                </a:path>
                <a:path w="1704340" h="1214754">
                  <a:moveTo>
                    <a:pt x="1678431" y="1036828"/>
                  </a:moveTo>
                  <a:lnTo>
                    <a:pt x="1653031" y="1036828"/>
                  </a:lnTo>
                  <a:lnTo>
                    <a:pt x="1653031" y="1201928"/>
                  </a:lnTo>
                  <a:lnTo>
                    <a:pt x="1665731" y="1189228"/>
                  </a:lnTo>
                  <a:lnTo>
                    <a:pt x="1678431" y="1189228"/>
                  </a:lnTo>
                  <a:lnTo>
                    <a:pt x="1678431" y="1036828"/>
                  </a:lnTo>
                  <a:close/>
                </a:path>
                <a:path w="1704340" h="1214754">
                  <a:moveTo>
                    <a:pt x="1678431" y="1189228"/>
                  </a:moveTo>
                  <a:lnTo>
                    <a:pt x="1665731" y="1189228"/>
                  </a:lnTo>
                  <a:lnTo>
                    <a:pt x="1653031" y="1201928"/>
                  </a:lnTo>
                  <a:lnTo>
                    <a:pt x="1678431" y="1201928"/>
                  </a:lnTo>
                  <a:lnTo>
                    <a:pt x="1678431" y="1189228"/>
                  </a:lnTo>
                  <a:close/>
                </a:path>
                <a:path w="1704340" h="1214754">
                  <a:moveTo>
                    <a:pt x="1665731" y="973328"/>
                  </a:moveTo>
                  <a:lnTo>
                    <a:pt x="1627631" y="1049528"/>
                  </a:lnTo>
                  <a:lnTo>
                    <a:pt x="1653031" y="1049528"/>
                  </a:lnTo>
                  <a:lnTo>
                    <a:pt x="1653031" y="1036828"/>
                  </a:lnTo>
                  <a:lnTo>
                    <a:pt x="1697481" y="1036828"/>
                  </a:lnTo>
                  <a:lnTo>
                    <a:pt x="1665731" y="973328"/>
                  </a:lnTo>
                  <a:close/>
                </a:path>
                <a:path w="1704340" h="1214754">
                  <a:moveTo>
                    <a:pt x="1697481" y="1036828"/>
                  </a:moveTo>
                  <a:lnTo>
                    <a:pt x="1678431" y="1036828"/>
                  </a:lnTo>
                  <a:lnTo>
                    <a:pt x="1678431" y="1049528"/>
                  </a:lnTo>
                  <a:lnTo>
                    <a:pt x="1703831" y="1049528"/>
                  </a:lnTo>
                  <a:lnTo>
                    <a:pt x="1697481" y="1036828"/>
                  </a:lnTo>
                  <a:close/>
                </a:path>
                <a:path w="1704340" h="1214754">
                  <a:moveTo>
                    <a:pt x="494538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474852" y="25400"/>
                  </a:lnTo>
                  <a:lnTo>
                    <a:pt x="474852" y="12700"/>
                  </a:lnTo>
                  <a:lnTo>
                    <a:pt x="500252" y="12700"/>
                  </a:lnTo>
                  <a:lnTo>
                    <a:pt x="500252" y="5587"/>
                  </a:lnTo>
                  <a:lnTo>
                    <a:pt x="494538" y="0"/>
                  </a:lnTo>
                  <a:close/>
                </a:path>
                <a:path w="1704340" h="1214754">
                  <a:moveTo>
                    <a:pt x="500252" y="12700"/>
                  </a:moveTo>
                  <a:lnTo>
                    <a:pt x="474852" y="12700"/>
                  </a:lnTo>
                  <a:lnTo>
                    <a:pt x="487552" y="25400"/>
                  </a:lnTo>
                  <a:lnTo>
                    <a:pt x="500252" y="25400"/>
                  </a:lnTo>
                  <a:lnTo>
                    <a:pt x="500252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47650" y="1457325"/>
            <a:ext cx="1743075" cy="1743075"/>
            <a:chOff x="247650" y="1457325"/>
            <a:chExt cx="1743075" cy="17430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700" y="1457325"/>
              <a:ext cx="581025" cy="17430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675" y="1457325"/>
              <a:ext cx="581025" cy="17430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" y="1457325"/>
              <a:ext cx="581025" cy="17430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390775" y="3857625"/>
            <a:ext cx="1973580" cy="342900"/>
            <a:chOff x="2390775" y="3857625"/>
            <a:chExt cx="1973580" cy="342900"/>
          </a:xfrm>
        </p:grpSpPr>
        <p:pic>
          <p:nvPicPr>
            <p:cNvPr id="12" name="object 12" descr="Cat, Funny Cat, Cute Cat, Cute, Cat Compilati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0775" y="3857625"/>
              <a:ext cx="342900" cy="342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29075" y="3976687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8500" y="4008437"/>
              <a:ext cx="788035" cy="50800"/>
            </a:xfrm>
            <a:custGeom>
              <a:avLst/>
              <a:gdLst/>
              <a:ahLst/>
              <a:cxnLst/>
              <a:rect l="l" t="t" r="r" b="b"/>
              <a:pathLst>
                <a:path w="788035" h="50800">
                  <a:moveTo>
                    <a:pt x="737108" y="0"/>
                  </a:moveTo>
                  <a:lnTo>
                    <a:pt x="737108" y="50800"/>
                  </a:lnTo>
                  <a:lnTo>
                    <a:pt x="775208" y="31750"/>
                  </a:lnTo>
                  <a:lnTo>
                    <a:pt x="749808" y="31750"/>
                  </a:lnTo>
                  <a:lnTo>
                    <a:pt x="749808" y="19050"/>
                  </a:lnTo>
                  <a:lnTo>
                    <a:pt x="775208" y="19050"/>
                  </a:lnTo>
                  <a:lnTo>
                    <a:pt x="737108" y="0"/>
                  </a:lnTo>
                  <a:close/>
                </a:path>
                <a:path w="788035" h="50800">
                  <a:moveTo>
                    <a:pt x="737108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737108" y="31750"/>
                  </a:lnTo>
                  <a:lnTo>
                    <a:pt x="737108" y="19050"/>
                  </a:lnTo>
                  <a:close/>
                </a:path>
                <a:path w="788035" h="50800">
                  <a:moveTo>
                    <a:pt x="775208" y="19050"/>
                  </a:moveTo>
                  <a:lnTo>
                    <a:pt x="749808" y="19050"/>
                  </a:lnTo>
                  <a:lnTo>
                    <a:pt x="749808" y="31750"/>
                  </a:lnTo>
                  <a:lnTo>
                    <a:pt x="775208" y="31750"/>
                  </a:lnTo>
                  <a:lnTo>
                    <a:pt x="787908" y="25400"/>
                  </a:lnTo>
                  <a:lnTo>
                    <a:pt x="775208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390775" y="771525"/>
            <a:ext cx="1983105" cy="3038475"/>
            <a:chOff x="2390775" y="771525"/>
            <a:chExt cx="1983105" cy="3038475"/>
          </a:xfrm>
        </p:grpSpPr>
        <p:pic>
          <p:nvPicPr>
            <p:cNvPr id="17" name="object 17" descr="Cat, Funny Cat, Cute Cat, Cute, Cat Compilati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0775" y="2695575"/>
              <a:ext cx="352425" cy="352425"/>
            </a:xfrm>
            <a:prstGeom prst="rect">
              <a:avLst/>
            </a:prstGeom>
          </p:spPr>
        </p:pic>
        <p:pic>
          <p:nvPicPr>
            <p:cNvPr id="18" name="object 18" descr="Cat, Funny Cat, Cute Cat, Cute, Cat Compilati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0775" y="1533525"/>
              <a:ext cx="352425" cy="352425"/>
            </a:xfrm>
            <a:prstGeom prst="rect">
              <a:avLst/>
            </a:prstGeom>
          </p:spPr>
        </p:pic>
        <p:pic>
          <p:nvPicPr>
            <p:cNvPr id="19" name="object 19" descr="Cat, Funny Cat, Cute Cat, Cute, Cat Compilati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0775" y="3467100"/>
              <a:ext cx="342900" cy="342900"/>
            </a:xfrm>
            <a:prstGeom prst="rect">
              <a:avLst/>
            </a:prstGeom>
          </p:spPr>
        </p:pic>
        <p:pic>
          <p:nvPicPr>
            <p:cNvPr id="20" name="object 20" descr="Cat, Funny Cat, Cute Cat, Cute, Cat Compi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0775" y="2314575"/>
              <a:ext cx="352425" cy="342900"/>
            </a:xfrm>
            <a:prstGeom prst="rect">
              <a:avLst/>
            </a:prstGeom>
          </p:spPr>
        </p:pic>
        <p:pic>
          <p:nvPicPr>
            <p:cNvPr id="21" name="object 21" descr="Cat, Funny Cat, Cute Cat, Cute, Cat Compilati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0775" y="1152525"/>
              <a:ext cx="352425" cy="342900"/>
            </a:xfrm>
            <a:prstGeom prst="rect">
              <a:avLst/>
            </a:prstGeom>
          </p:spPr>
        </p:pic>
        <p:pic>
          <p:nvPicPr>
            <p:cNvPr id="22" name="object 22" descr="Cat, Funny Cat, Cute Cat, Cute, Cat Compilation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90775" y="3076575"/>
              <a:ext cx="342900" cy="352425"/>
            </a:xfrm>
            <a:prstGeom prst="rect">
              <a:avLst/>
            </a:prstGeom>
          </p:spPr>
        </p:pic>
        <p:pic>
          <p:nvPicPr>
            <p:cNvPr id="23" name="object 23" descr="Cat, Funny Cat, Cute Cat, Cute, Cat Compilation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0775" y="1924050"/>
              <a:ext cx="352425" cy="352425"/>
            </a:xfrm>
            <a:prstGeom prst="rect">
              <a:avLst/>
            </a:prstGeom>
          </p:spPr>
        </p:pic>
        <p:pic>
          <p:nvPicPr>
            <p:cNvPr id="24" name="object 24" descr="Cat, Funny Cat, Cute Cat, Cute, Cat Compilation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90775" y="771525"/>
              <a:ext cx="352425" cy="3429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9075" y="3586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29075" y="3205226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828675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828675" y="104775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29075" y="2824226"/>
              <a:ext cx="828675" cy="104775"/>
            </a:xfrm>
            <a:custGeom>
              <a:avLst/>
              <a:gdLst/>
              <a:ahLst/>
              <a:cxnLst/>
              <a:rect l="l" t="t" r="r" b="b"/>
              <a:pathLst>
                <a:path w="828675" h="104775">
                  <a:moveTo>
                    <a:pt x="0" y="104775"/>
                  </a:moveTo>
                  <a:lnTo>
                    <a:pt x="828675" y="104775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04775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29075" y="243370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29075" y="2052700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29075" y="1662175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29075" y="1271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8286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28675" y="114300"/>
                  </a:lnTo>
                  <a:lnTo>
                    <a:pt x="8286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38600" y="890651"/>
              <a:ext cx="828675" cy="114300"/>
            </a:xfrm>
            <a:custGeom>
              <a:avLst/>
              <a:gdLst/>
              <a:ahLst/>
              <a:cxnLst/>
              <a:rect l="l" t="t" r="r" b="b"/>
              <a:pathLst>
                <a:path w="828675" h="114300">
                  <a:moveTo>
                    <a:pt x="0" y="114300"/>
                  </a:moveTo>
                  <a:lnTo>
                    <a:pt x="828675" y="114300"/>
                  </a:lnTo>
                  <a:lnTo>
                    <a:pt x="8286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38501" y="922400"/>
              <a:ext cx="798830" cy="2746375"/>
            </a:xfrm>
            <a:custGeom>
              <a:avLst/>
              <a:gdLst/>
              <a:ahLst/>
              <a:cxnLst/>
              <a:rect l="l" t="t" r="r" b="b"/>
              <a:pathLst>
                <a:path w="798829" h="2746375">
                  <a:moveTo>
                    <a:pt x="787908" y="2720975"/>
                  </a:moveTo>
                  <a:lnTo>
                    <a:pt x="775208" y="2714625"/>
                  </a:lnTo>
                  <a:lnTo>
                    <a:pt x="737108" y="2695575"/>
                  </a:lnTo>
                  <a:lnTo>
                    <a:pt x="737108" y="2714625"/>
                  </a:lnTo>
                  <a:lnTo>
                    <a:pt x="0" y="2714625"/>
                  </a:lnTo>
                  <a:lnTo>
                    <a:pt x="0" y="2727325"/>
                  </a:lnTo>
                  <a:lnTo>
                    <a:pt x="737108" y="2727325"/>
                  </a:lnTo>
                  <a:lnTo>
                    <a:pt x="737108" y="2746375"/>
                  </a:lnTo>
                  <a:lnTo>
                    <a:pt x="775208" y="2727325"/>
                  </a:lnTo>
                  <a:lnTo>
                    <a:pt x="787908" y="2720975"/>
                  </a:lnTo>
                  <a:close/>
                </a:path>
                <a:path w="798829" h="2746375">
                  <a:moveTo>
                    <a:pt x="787908" y="2339975"/>
                  </a:moveTo>
                  <a:lnTo>
                    <a:pt x="775208" y="2333625"/>
                  </a:lnTo>
                  <a:lnTo>
                    <a:pt x="737108" y="2314575"/>
                  </a:lnTo>
                  <a:lnTo>
                    <a:pt x="737108" y="2333625"/>
                  </a:lnTo>
                  <a:lnTo>
                    <a:pt x="0" y="2333625"/>
                  </a:lnTo>
                  <a:lnTo>
                    <a:pt x="0" y="2346325"/>
                  </a:lnTo>
                  <a:lnTo>
                    <a:pt x="737108" y="2346325"/>
                  </a:lnTo>
                  <a:lnTo>
                    <a:pt x="737108" y="2365375"/>
                  </a:lnTo>
                  <a:lnTo>
                    <a:pt x="775208" y="2346325"/>
                  </a:lnTo>
                  <a:lnTo>
                    <a:pt x="787908" y="2339975"/>
                  </a:lnTo>
                  <a:close/>
                </a:path>
                <a:path w="798829" h="2746375">
                  <a:moveTo>
                    <a:pt x="794512" y="406400"/>
                  </a:moveTo>
                  <a:lnTo>
                    <a:pt x="781812" y="400050"/>
                  </a:lnTo>
                  <a:lnTo>
                    <a:pt x="743712" y="381000"/>
                  </a:lnTo>
                  <a:lnTo>
                    <a:pt x="743712" y="400050"/>
                  </a:lnTo>
                  <a:lnTo>
                    <a:pt x="9525" y="400050"/>
                  </a:lnTo>
                  <a:lnTo>
                    <a:pt x="9525" y="412750"/>
                  </a:lnTo>
                  <a:lnTo>
                    <a:pt x="743712" y="412750"/>
                  </a:lnTo>
                  <a:lnTo>
                    <a:pt x="743712" y="431800"/>
                  </a:lnTo>
                  <a:lnTo>
                    <a:pt x="781812" y="412750"/>
                  </a:lnTo>
                  <a:lnTo>
                    <a:pt x="794512" y="406400"/>
                  </a:lnTo>
                  <a:close/>
                </a:path>
                <a:path w="798829" h="2746375">
                  <a:moveTo>
                    <a:pt x="795782" y="1183513"/>
                  </a:moveTo>
                  <a:lnTo>
                    <a:pt x="782828" y="1176909"/>
                  </a:lnTo>
                  <a:lnTo>
                    <a:pt x="745236" y="1157732"/>
                  </a:lnTo>
                  <a:lnTo>
                    <a:pt x="745083" y="1176820"/>
                  </a:lnTo>
                  <a:lnTo>
                    <a:pt x="9525" y="1171575"/>
                  </a:lnTo>
                  <a:lnTo>
                    <a:pt x="9398" y="1184148"/>
                  </a:lnTo>
                  <a:lnTo>
                    <a:pt x="744994" y="1189520"/>
                  </a:lnTo>
                  <a:lnTo>
                    <a:pt x="757682" y="1189609"/>
                  </a:lnTo>
                  <a:lnTo>
                    <a:pt x="744994" y="1189609"/>
                  </a:lnTo>
                  <a:lnTo>
                    <a:pt x="744855" y="1208532"/>
                  </a:lnTo>
                  <a:lnTo>
                    <a:pt x="783361" y="1189609"/>
                  </a:lnTo>
                  <a:lnTo>
                    <a:pt x="795782" y="1183513"/>
                  </a:lnTo>
                  <a:close/>
                </a:path>
                <a:path w="798829" h="2746375">
                  <a:moveTo>
                    <a:pt x="795782" y="802005"/>
                  </a:moveTo>
                  <a:lnTo>
                    <a:pt x="782828" y="795401"/>
                  </a:lnTo>
                  <a:lnTo>
                    <a:pt x="745236" y="776224"/>
                  </a:lnTo>
                  <a:lnTo>
                    <a:pt x="745083" y="795324"/>
                  </a:lnTo>
                  <a:lnTo>
                    <a:pt x="9525" y="790448"/>
                  </a:lnTo>
                  <a:lnTo>
                    <a:pt x="9398" y="803148"/>
                  </a:lnTo>
                  <a:lnTo>
                    <a:pt x="744994" y="808024"/>
                  </a:lnTo>
                  <a:lnTo>
                    <a:pt x="757682" y="808101"/>
                  </a:lnTo>
                  <a:lnTo>
                    <a:pt x="744994" y="808101"/>
                  </a:lnTo>
                  <a:lnTo>
                    <a:pt x="744855" y="827024"/>
                  </a:lnTo>
                  <a:lnTo>
                    <a:pt x="783361" y="808101"/>
                  </a:lnTo>
                  <a:lnTo>
                    <a:pt x="795782" y="802005"/>
                  </a:lnTo>
                  <a:close/>
                </a:path>
                <a:path w="798829" h="2746375">
                  <a:moveTo>
                    <a:pt x="796671" y="1949450"/>
                  </a:moveTo>
                  <a:lnTo>
                    <a:pt x="783971" y="1943100"/>
                  </a:lnTo>
                  <a:lnTo>
                    <a:pt x="745871" y="1924050"/>
                  </a:lnTo>
                  <a:lnTo>
                    <a:pt x="745871" y="1943100"/>
                  </a:lnTo>
                  <a:lnTo>
                    <a:pt x="9525" y="1943100"/>
                  </a:lnTo>
                  <a:lnTo>
                    <a:pt x="9525" y="1955800"/>
                  </a:lnTo>
                  <a:lnTo>
                    <a:pt x="745871" y="1955800"/>
                  </a:lnTo>
                  <a:lnTo>
                    <a:pt x="745871" y="1974850"/>
                  </a:lnTo>
                  <a:lnTo>
                    <a:pt x="783971" y="1955800"/>
                  </a:lnTo>
                  <a:lnTo>
                    <a:pt x="796671" y="1949450"/>
                  </a:lnTo>
                  <a:close/>
                </a:path>
                <a:path w="798829" h="2746375">
                  <a:moveTo>
                    <a:pt x="796671" y="1571117"/>
                  </a:moveTo>
                  <a:lnTo>
                    <a:pt x="783780" y="1564640"/>
                  </a:lnTo>
                  <a:lnTo>
                    <a:pt x="745871" y="1545590"/>
                  </a:lnTo>
                  <a:lnTo>
                    <a:pt x="745820" y="1564601"/>
                  </a:lnTo>
                  <a:lnTo>
                    <a:pt x="9525" y="1562100"/>
                  </a:lnTo>
                  <a:lnTo>
                    <a:pt x="9398" y="1574673"/>
                  </a:lnTo>
                  <a:lnTo>
                    <a:pt x="745782" y="1577301"/>
                  </a:lnTo>
                  <a:lnTo>
                    <a:pt x="758571" y="1577340"/>
                  </a:lnTo>
                  <a:lnTo>
                    <a:pt x="745782" y="1577340"/>
                  </a:lnTo>
                  <a:lnTo>
                    <a:pt x="745744" y="1596390"/>
                  </a:lnTo>
                  <a:lnTo>
                    <a:pt x="784123" y="1577340"/>
                  </a:lnTo>
                  <a:lnTo>
                    <a:pt x="796671" y="1571117"/>
                  </a:lnTo>
                  <a:close/>
                </a:path>
                <a:path w="798829" h="2746375">
                  <a:moveTo>
                    <a:pt x="798449" y="25400"/>
                  </a:moveTo>
                  <a:lnTo>
                    <a:pt x="785749" y="19075"/>
                  </a:lnTo>
                  <a:lnTo>
                    <a:pt x="747522" y="0"/>
                  </a:lnTo>
                  <a:lnTo>
                    <a:pt x="747560" y="19075"/>
                  </a:lnTo>
                  <a:lnTo>
                    <a:pt x="9398" y="20320"/>
                  </a:lnTo>
                  <a:lnTo>
                    <a:pt x="9525" y="33020"/>
                  </a:lnTo>
                  <a:lnTo>
                    <a:pt x="747598" y="31775"/>
                  </a:lnTo>
                  <a:lnTo>
                    <a:pt x="747649" y="50800"/>
                  </a:lnTo>
                  <a:lnTo>
                    <a:pt x="785698" y="31775"/>
                  </a:lnTo>
                  <a:lnTo>
                    <a:pt x="79844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5617" y="3336607"/>
            <a:ext cx="124015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Input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</a:t>
            </a:r>
            <a:r>
              <a:rPr sz="1400" b="1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224x224x3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17370" y="4244657"/>
            <a:ext cx="149669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Break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  <a:p>
            <a:pPr marL="240029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e.g.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16x16x3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20821" y="4235450"/>
            <a:ext cx="2023745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4475" marR="5080" indent="-23241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Flatten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apply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linear </a:t>
            </a:r>
            <a:r>
              <a:rPr sz="1400" dirty="0">
                <a:latin typeface="Arial"/>
                <a:cs typeface="Arial"/>
              </a:rPr>
              <a:t>transform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768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84265" y="4000817"/>
            <a:ext cx="1835785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8255" algn="ctr">
              <a:lnSpc>
                <a:spcPct val="100600"/>
              </a:lnSpc>
              <a:spcBef>
                <a:spcPts val="114"/>
              </a:spcBef>
            </a:pPr>
            <a:r>
              <a:rPr sz="1400" spc="-10" dirty="0">
                <a:latin typeface="Arial"/>
                <a:cs typeface="Arial"/>
              </a:rPr>
              <a:t>D-</a:t>
            </a:r>
            <a:r>
              <a:rPr sz="1400" dirty="0">
                <a:latin typeface="Arial"/>
                <a:cs typeface="Arial"/>
              </a:rPr>
              <a:t>dim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patch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input</a:t>
            </a:r>
            <a:r>
              <a:rPr sz="1400" spc="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Transformer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86726" y="1102042"/>
            <a:ext cx="1325880" cy="1101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1270" algn="ctr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Don’t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any </a:t>
            </a:r>
            <a:r>
              <a:rPr sz="1400" dirty="0">
                <a:latin typeface="Arial"/>
                <a:cs typeface="Arial"/>
              </a:rPr>
              <a:t>masking;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each </a:t>
            </a:r>
            <a:r>
              <a:rPr sz="1400" dirty="0">
                <a:latin typeface="Arial"/>
                <a:cs typeface="Arial"/>
              </a:rPr>
              <a:t>image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patch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can </a:t>
            </a:r>
            <a:r>
              <a:rPr sz="1400" dirty="0">
                <a:latin typeface="Arial"/>
                <a:cs typeface="Arial"/>
              </a:rPr>
              <a:t>look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other </a:t>
            </a:r>
            <a:r>
              <a:rPr sz="1400" dirty="0">
                <a:latin typeface="Arial"/>
                <a:cs typeface="Arial"/>
              </a:rPr>
              <a:t>image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patches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36509" y="2357691"/>
            <a:ext cx="1232535" cy="1102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43180" algn="just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Use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positional </a:t>
            </a:r>
            <a:r>
              <a:rPr sz="1400" dirty="0">
                <a:latin typeface="Arial"/>
                <a:cs typeface="Arial"/>
              </a:rPr>
              <a:t>encoding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tell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transformer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2D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position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patch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01584" y="272478"/>
            <a:ext cx="1300480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1905" algn="ctr">
              <a:lnSpc>
                <a:spcPct val="100600"/>
              </a:lnSpc>
              <a:spcBef>
                <a:spcPts val="114"/>
              </a:spcBef>
            </a:pPr>
            <a:r>
              <a:rPr sz="1400" spc="-10" dirty="0">
                <a:latin typeface="Arial"/>
                <a:cs typeface="Arial"/>
              </a:rPr>
              <a:t>Transformer </a:t>
            </a:r>
            <a:r>
              <a:rPr sz="1400" dirty="0">
                <a:latin typeface="Arial"/>
                <a:cs typeface="Arial"/>
              </a:rPr>
              <a:t>gives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10" dirty="0">
                <a:latin typeface="Arial"/>
                <a:cs typeface="Arial"/>
              </a:rPr>
              <a:t> output </a:t>
            </a:r>
            <a:r>
              <a:rPr sz="1400" dirty="0">
                <a:latin typeface="Arial"/>
                <a:cs typeface="Arial"/>
              </a:rPr>
              <a:t>vector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20" dirty="0">
                <a:latin typeface="Arial"/>
                <a:cs typeface="Arial"/>
              </a:rPr>
              <a:t> patch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77001" y="852550"/>
            <a:ext cx="1381125" cy="161925"/>
          </a:xfrm>
          <a:prstGeom prst="rect">
            <a:avLst/>
          </a:prstGeom>
          <a:solidFill>
            <a:srgbClr val="EED1D1"/>
          </a:solidFill>
          <a:ln w="12700">
            <a:solidFill>
              <a:srgbClr val="95333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2595">
              <a:lnSpc>
                <a:spcPts val="1275"/>
              </a:lnSpc>
            </a:pPr>
            <a:r>
              <a:rPr sz="1200" spc="-10" dirty="0">
                <a:latin typeface="Arial"/>
                <a:cs typeface="Arial"/>
              </a:rPr>
              <a:t>Pooling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656323" y="690626"/>
            <a:ext cx="50800" cy="161925"/>
          </a:xfrm>
          <a:custGeom>
            <a:avLst/>
            <a:gdLst/>
            <a:ahLst/>
            <a:cxnLst/>
            <a:rect l="l" t="t" r="r" b="b"/>
            <a:pathLst>
              <a:path w="50800" h="161925">
                <a:moveTo>
                  <a:pt x="31750" y="38100"/>
                </a:moveTo>
                <a:lnTo>
                  <a:pt x="19050" y="38100"/>
                </a:lnTo>
                <a:lnTo>
                  <a:pt x="19050" y="161671"/>
                </a:lnTo>
                <a:lnTo>
                  <a:pt x="31750" y="161671"/>
                </a:lnTo>
                <a:lnTo>
                  <a:pt x="31750" y="38100"/>
                </a:lnTo>
                <a:close/>
              </a:path>
              <a:path w="50800" h="161925">
                <a:moveTo>
                  <a:pt x="25400" y="0"/>
                </a:moveTo>
                <a:lnTo>
                  <a:pt x="0" y="50800"/>
                </a:lnTo>
                <a:lnTo>
                  <a:pt x="19050" y="50800"/>
                </a:lnTo>
                <a:lnTo>
                  <a:pt x="19050" y="38100"/>
                </a:lnTo>
                <a:lnTo>
                  <a:pt x="44450" y="38100"/>
                </a:lnTo>
                <a:lnTo>
                  <a:pt x="25400" y="0"/>
                </a:lnTo>
                <a:close/>
              </a:path>
              <a:path w="50800" h="161925">
                <a:moveTo>
                  <a:pt x="44450" y="38100"/>
                </a:moveTo>
                <a:lnTo>
                  <a:pt x="31750" y="38100"/>
                </a:lnTo>
                <a:lnTo>
                  <a:pt x="31750" y="50800"/>
                </a:lnTo>
                <a:lnTo>
                  <a:pt x="50800" y="50800"/>
                </a:lnTo>
                <a:lnTo>
                  <a:pt x="444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151754" y="15557"/>
            <a:ext cx="2299970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6985" algn="ctr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Average pool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NxD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vectors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1xD,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apply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linear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layer </a:t>
            </a:r>
            <a:r>
              <a:rPr sz="1400" dirty="0">
                <a:latin typeface="Arial"/>
                <a:cs typeface="Arial"/>
              </a:rPr>
              <a:t>D=&gt;C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predict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scores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6367" y="4598248"/>
            <a:ext cx="1348105" cy="1219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50" dirty="0">
                <a:latin typeface="Arial"/>
                <a:cs typeface="Arial"/>
              </a:rPr>
              <a:t>Recognition</a:t>
            </a:r>
            <a:r>
              <a:rPr sz="650" spc="1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at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Scale”,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ICLR</a:t>
            </a:r>
            <a:r>
              <a:rPr sz="650" spc="13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202</a:t>
            </a:r>
            <a:r>
              <a:rPr sz="650" spc="-75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109</a:t>
            </a:fld>
            <a:endParaRPr spc="-25" dirty="0"/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1117" y="4380547"/>
            <a:ext cx="1530350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Arial"/>
                <a:cs typeface="Arial"/>
              </a:rPr>
              <a:t>Dosovitskiy</a:t>
            </a:r>
            <a:r>
              <a:rPr sz="650" spc="12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et</a:t>
            </a:r>
            <a:r>
              <a:rPr sz="650" spc="15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al,</a:t>
            </a:r>
            <a:r>
              <a:rPr sz="650" spc="6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“An</a:t>
            </a:r>
            <a:r>
              <a:rPr sz="650" spc="100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Image</a:t>
            </a:r>
            <a:r>
              <a:rPr sz="650" spc="105" dirty="0">
                <a:latin typeface="Arial"/>
                <a:cs typeface="Arial"/>
              </a:rPr>
              <a:t> </a:t>
            </a:r>
            <a:r>
              <a:rPr sz="650" dirty="0">
                <a:latin typeface="Arial"/>
                <a:cs typeface="Arial"/>
              </a:rPr>
              <a:t>is</a:t>
            </a:r>
            <a:r>
              <a:rPr sz="650" spc="5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Worth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50" spc="10" dirty="0">
                <a:latin typeface="Arial"/>
                <a:cs typeface="Arial"/>
              </a:rPr>
              <a:t>16x16</a:t>
            </a:r>
            <a:r>
              <a:rPr sz="650" spc="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Words:</a:t>
            </a:r>
            <a:r>
              <a:rPr sz="650" spc="5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Tran</a:t>
            </a:r>
            <a:r>
              <a:rPr sz="650" spc="-95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sformers</a:t>
            </a:r>
            <a:r>
              <a:rPr sz="650" spc="140" dirty="0">
                <a:latin typeface="Arial"/>
                <a:cs typeface="Arial"/>
              </a:rPr>
              <a:t> </a:t>
            </a:r>
            <a:r>
              <a:rPr sz="650" spc="10" dirty="0">
                <a:latin typeface="Arial"/>
                <a:cs typeface="Arial"/>
              </a:rPr>
              <a:t>for</a:t>
            </a:r>
            <a:r>
              <a:rPr sz="650" spc="5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Image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Tweaking</a:t>
            </a:r>
            <a:r>
              <a:rPr spc="254" dirty="0"/>
              <a:t> </a:t>
            </a:r>
            <a:r>
              <a:rPr spc="-10" dirty="0"/>
              <a:t>Transformers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95951" y="814387"/>
            <a:ext cx="3829050" cy="3749675"/>
            <a:chOff x="5195951" y="814387"/>
            <a:chExt cx="3829050" cy="3749675"/>
          </a:xfrm>
        </p:grpSpPr>
        <p:sp>
          <p:nvSpPr>
            <p:cNvPr id="4" name="object 4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97803" y="4166870"/>
            <a:ext cx="27565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30"/>
              </a:spcBef>
              <a:tabLst>
                <a:tab pos="877569" algn="l"/>
                <a:tab pos="1680210" algn="l"/>
                <a:tab pos="2481580" algn="l"/>
              </a:tabLst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80151" y="246125"/>
            <a:ext cx="422275" cy="460375"/>
            <a:chOff x="5780151" y="246125"/>
            <a:chExt cx="422275" cy="460375"/>
          </a:xfrm>
        </p:grpSpPr>
        <p:sp>
          <p:nvSpPr>
            <p:cNvPr id="15" name="object 15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40729" y="295592"/>
            <a:ext cx="299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70726" y="246125"/>
            <a:ext cx="422275" cy="460375"/>
            <a:chOff x="6570726" y="246125"/>
            <a:chExt cx="422275" cy="460375"/>
          </a:xfrm>
        </p:grpSpPr>
        <p:sp>
          <p:nvSpPr>
            <p:cNvPr id="19" name="object 19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637908" y="295592"/>
            <a:ext cx="299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370826" y="246125"/>
            <a:ext cx="422275" cy="460375"/>
            <a:chOff x="7370826" y="246125"/>
            <a:chExt cx="422275" cy="460375"/>
          </a:xfrm>
        </p:grpSpPr>
        <p:sp>
          <p:nvSpPr>
            <p:cNvPr id="23" name="object 23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35215" y="295592"/>
            <a:ext cx="299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170926" y="246125"/>
            <a:ext cx="431800" cy="460375"/>
            <a:chOff x="8170926" y="246125"/>
            <a:chExt cx="431800" cy="460375"/>
          </a:xfrm>
        </p:grpSpPr>
        <p:sp>
          <p:nvSpPr>
            <p:cNvPr id="27" name="object 27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41918" y="295592"/>
            <a:ext cx="299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608701" y="1741551"/>
            <a:ext cx="746125" cy="307975"/>
            <a:chOff x="5608701" y="1741551"/>
            <a:chExt cx="746125" cy="307975"/>
          </a:xfrm>
        </p:grpSpPr>
        <p:sp>
          <p:nvSpPr>
            <p:cNvPr id="31" name="object 31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6150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408801" y="1741551"/>
            <a:ext cx="746125" cy="307975"/>
            <a:chOff x="6408801" y="1741551"/>
            <a:chExt cx="746125" cy="307975"/>
          </a:xfrm>
        </p:grpSpPr>
        <p:sp>
          <p:nvSpPr>
            <p:cNvPr id="35" name="object 35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4151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15251" y="1747901"/>
            <a:ext cx="733425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24876" y="1747901"/>
            <a:ext cx="723900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542026" y="3275076"/>
            <a:ext cx="3289300" cy="307975"/>
            <a:chOff x="5542026" y="3275076"/>
            <a:chExt cx="3289300" cy="307975"/>
          </a:xfrm>
        </p:grpSpPr>
        <p:sp>
          <p:nvSpPr>
            <p:cNvPr id="41" name="object 41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557901" y="2548001"/>
            <a:ext cx="3267075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2284">
              <a:lnSpc>
                <a:spcPts val="232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307076" y="2954401"/>
            <a:ext cx="3514725" cy="1160780"/>
            <a:chOff x="5307076" y="2954401"/>
            <a:chExt cx="3514725" cy="116078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954401"/>
              <a:ext cx="206375" cy="20637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307076" y="3014726"/>
              <a:ext cx="1794510" cy="858519"/>
            </a:xfrm>
            <a:custGeom>
              <a:avLst/>
              <a:gdLst/>
              <a:ahLst/>
              <a:cxnLst/>
              <a:rect l="l" t="t" r="r" b="b"/>
              <a:pathLst>
                <a:path w="1794509" h="858520">
                  <a:moveTo>
                    <a:pt x="1717928" y="25400"/>
                  </a:moveTo>
                  <a:lnTo>
                    <a:pt x="5587" y="25400"/>
                  </a:lnTo>
                  <a:lnTo>
                    <a:pt x="0" y="30987"/>
                  </a:lnTo>
                  <a:lnTo>
                    <a:pt x="0" y="852805"/>
                  </a:lnTo>
                  <a:lnTo>
                    <a:pt x="5587" y="858520"/>
                  </a:lnTo>
                  <a:lnTo>
                    <a:pt x="241173" y="858520"/>
                  </a:lnTo>
                  <a:lnTo>
                    <a:pt x="241173" y="845820"/>
                  </a:lnTo>
                  <a:lnTo>
                    <a:pt x="25400" y="845820"/>
                  </a:lnTo>
                  <a:lnTo>
                    <a:pt x="12700" y="833120"/>
                  </a:lnTo>
                  <a:lnTo>
                    <a:pt x="25400" y="833120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400"/>
                  </a:lnTo>
                  <a:close/>
                </a:path>
                <a:path w="1794509" h="858520">
                  <a:moveTo>
                    <a:pt x="25400" y="833120"/>
                  </a:moveTo>
                  <a:lnTo>
                    <a:pt x="12700" y="833120"/>
                  </a:lnTo>
                  <a:lnTo>
                    <a:pt x="25400" y="845820"/>
                  </a:lnTo>
                  <a:lnTo>
                    <a:pt x="25400" y="833120"/>
                  </a:lnTo>
                  <a:close/>
                </a:path>
                <a:path w="1794509" h="858520">
                  <a:moveTo>
                    <a:pt x="241173" y="833120"/>
                  </a:moveTo>
                  <a:lnTo>
                    <a:pt x="25400" y="833120"/>
                  </a:lnTo>
                  <a:lnTo>
                    <a:pt x="25400" y="845820"/>
                  </a:lnTo>
                  <a:lnTo>
                    <a:pt x="241173" y="845820"/>
                  </a:lnTo>
                  <a:lnTo>
                    <a:pt x="241173" y="833120"/>
                  </a:lnTo>
                  <a:close/>
                </a:path>
                <a:path w="1794509" h="858520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400"/>
                  </a:lnTo>
                  <a:lnTo>
                    <a:pt x="1768728" y="25400"/>
                  </a:lnTo>
                  <a:lnTo>
                    <a:pt x="1717928" y="0"/>
                  </a:lnTo>
                  <a:close/>
                </a:path>
                <a:path w="1794509" h="858520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858520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858520">
                  <a:moveTo>
                    <a:pt x="1768728" y="25400"/>
                  </a:moveTo>
                  <a:lnTo>
                    <a:pt x="1730628" y="25400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728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548376" y="900175"/>
            <a:ext cx="3276600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1175">
              <a:lnSpc>
                <a:spcPts val="228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8251" y="1306575"/>
            <a:ext cx="206375" cy="206375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 sz="2400">
              <a:latin typeface="Times New Roman"/>
              <a:cs typeface="Times New Roman"/>
            </a:endParaRPr>
          </a:p>
          <a:p>
            <a:pPr marL="160655" algn="ctr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4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345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330063" y="700151"/>
            <a:ext cx="3094990" cy="3081655"/>
            <a:chOff x="5330063" y="700151"/>
            <a:chExt cx="3094990" cy="3081655"/>
          </a:xfrm>
        </p:grpSpPr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100" y="3148076"/>
              <a:ext cx="76073" cy="138811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8511" y="2843276"/>
              <a:ext cx="76264" cy="12026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8299" y="3586226"/>
              <a:ext cx="76200" cy="19532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48399" y="3586226"/>
              <a:ext cx="76200" cy="19532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48498" y="3586226"/>
              <a:ext cx="76200" cy="19532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48598" y="3586226"/>
              <a:ext cx="76200" cy="195326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948299" y="1500123"/>
              <a:ext cx="2474595" cy="1052830"/>
            </a:xfrm>
            <a:custGeom>
              <a:avLst/>
              <a:gdLst/>
              <a:ahLst/>
              <a:cxnLst/>
              <a:rect l="l" t="t" r="r" b="b"/>
              <a:pathLst>
                <a:path w="2474595" h="1052830">
                  <a:moveTo>
                    <a:pt x="2449449" y="116205"/>
                  </a:moveTo>
                  <a:lnTo>
                    <a:pt x="2443734" y="110617"/>
                  </a:lnTo>
                  <a:lnTo>
                    <a:pt x="1637665" y="110617"/>
                  </a:lnTo>
                  <a:lnTo>
                    <a:pt x="1256157" y="110617"/>
                  </a:lnTo>
                  <a:lnTo>
                    <a:pt x="1256157" y="76327"/>
                  </a:lnTo>
                  <a:lnTo>
                    <a:pt x="1276350" y="76327"/>
                  </a:lnTo>
                  <a:lnTo>
                    <a:pt x="1280414" y="76327"/>
                  </a:lnTo>
                  <a:lnTo>
                    <a:pt x="1281557" y="76327"/>
                  </a:lnTo>
                  <a:lnTo>
                    <a:pt x="1275207" y="63627"/>
                  </a:lnTo>
                  <a:lnTo>
                    <a:pt x="1243457" y="127"/>
                  </a:lnTo>
                  <a:lnTo>
                    <a:pt x="1242885" y="1270"/>
                  </a:lnTo>
                  <a:lnTo>
                    <a:pt x="1242314" y="127"/>
                  </a:lnTo>
                  <a:lnTo>
                    <a:pt x="1240307" y="4127"/>
                  </a:lnTo>
                  <a:lnTo>
                    <a:pt x="1238250" y="0"/>
                  </a:lnTo>
                  <a:lnTo>
                    <a:pt x="1200150" y="76200"/>
                  </a:lnTo>
                  <a:lnTo>
                    <a:pt x="1200150" y="76327"/>
                  </a:lnTo>
                  <a:lnTo>
                    <a:pt x="1204214" y="76327"/>
                  </a:lnTo>
                  <a:lnTo>
                    <a:pt x="1205357" y="76327"/>
                  </a:lnTo>
                  <a:lnTo>
                    <a:pt x="1225550" y="76327"/>
                  </a:lnTo>
                  <a:lnTo>
                    <a:pt x="1225550" y="110617"/>
                  </a:lnTo>
                  <a:lnTo>
                    <a:pt x="831215" y="110617"/>
                  </a:lnTo>
                  <a:lnTo>
                    <a:pt x="31115" y="110617"/>
                  </a:lnTo>
                  <a:lnTo>
                    <a:pt x="25400" y="116205"/>
                  </a:lnTo>
                  <a:lnTo>
                    <a:pt x="25400" y="246507"/>
                  </a:lnTo>
                  <a:lnTo>
                    <a:pt x="50800" y="246507"/>
                  </a:lnTo>
                  <a:lnTo>
                    <a:pt x="50800" y="136017"/>
                  </a:lnTo>
                  <a:lnTo>
                    <a:pt x="825500" y="136017"/>
                  </a:lnTo>
                  <a:lnTo>
                    <a:pt x="825500" y="246507"/>
                  </a:lnTo>
                  <a:lnTo>
                    <a:pt x="850900" y="246507"/>
                  </a:lnTo>
                  <a:lnTo>
                    <a:pt x="850900" y="136017"/>
                  </a:lnTo>
                  <a:lnTo>
                    <a:pt x="1231265" y="136017"/>
                  </a:lnTo>
                  <a:lnTo>
                    <a:pt x="1249299" y="136017"/>
                  </a:lnTo>
                  <a:lnTo>
                    <a:pt x="1250442" y="136017"/>
                  </a:lnTo>
                  <a:lnTo>
                    <a:pt x="1617980" y="136017"/>
                  </a:lnTo>
                  <a:lnTo>
                    <a:pt x="1617980" y="246507"/>
                  </a:lnTo>
                  <a:lnTo>
                    <a:pt x="1643380" y="246507"/>
                  </a:lnTo>
                  <a:lnTo>
                    <a:pt x="1643380" y="136017"/>
                  </a:lnTo>
                  <a:lnTo>
                    <a:pt x="2424049" y="136017"/>
                  </a:lnTo>
                  <a:lnTo>
                    <a:pt x="2424049" y="246507"/>
                  </a:lnTo>
                  <a:lnTo>
                    <a:pt x="2449449" y="246507"/>
                  </a:lnTo>
                  <a:lnTo>
                    <a:pt x="2449449" y="136017"/>
                  </a:lnTo>
                  <a:lnTo>
                    <a:pt x="2449449" y="116205"/>
                  </a:lnTo>
                  <a:close/>
                </a:path>
                <a:path w="2474595" h="1052830">
                  <a:moveTo>
                    <a:pt x="2474595" y="619252"/>
                  </a:moveTo>
                  <a:lnTo>
                    <a:pt x="2468245" y="606552"/>
                  </a:lnTo>
                  <a:lnTo>
                    <a:pt x="2436495" y="543052"/>
                  </a:lnTo>
                  <a:lnTo>
                    <a:pt x="2398395" y="619252"/>
                  </a:lnTo>
                  <a:lnTo>
                    <a:pt x="2423795" y="619252"/>
                  </a:lnTo>
                  <a:lnTo>
                    <a:pt x="2423795" y="784987"/>
                  </a:lnTo>
                  <a:lnTo>
                    <a:pt x="1643126" y="784987"/>
                  </a:lnTo>
                  <a:lnTo>
                    <a:pt x="1643126" y="619252"/>
                  </a:lnTo>
                  <a:lnTo>
                    <a:pt x="1668526" y="619252"/>
                  </a:lnTo>
                  <a:lnTo>
                    <a:pt x="1662176" y="606552"/>
                  </a:lnTo>
                  <a:lnTo>
                    <a:pt x="1630426" y="543052"/>
                  </a:lnTo>
                  <a:lnTo>
                    <a:pt x="1592326" y="619252"/>
                  </a:lnTo>
                  <a:lnTo>
                    <a:pt x="1617726" y="619252"/>
                  </a:lnTo>
                  <a:lnTo>
                    <a:pt x="1617726" y="784987"/>
                  </a:lnTo>
                  <a:lnTo>
                    <a:pt x="1250823" y="784987"/>
                  </a:lnTo>
                  <a:lnTo>
                    <a:pt x="1249553" y="784987"/>
                  </a:lnTo>
                  <a:lnTo>
                    <a:pt x="1231265" y="784987"/>
                  </a:lnTo>
                  <a:lnTo>
                    <a:pt x="851027" y="784987"/>
                  </a:lnTo>
                  <a:lnTo>
                    <a:pt x="851027" y="619125"/>
                  </a:lnTo>
                  <a:lnTo>
                    <a:pt x="876300" y="619125"/>
                  </a:lnTo>
                  <a:lnTo>
                    <a:pt x="869950" y="606425"/>
                  </a:lnTo>
                  <a:lnTo>
                    <a:pt x="838200" y="542925"/>
                  </a:lnTo>
                  <a:lnTo>
                    <a:pt x="800100" y="619125"/>
                  </a:lnTo>
                  <a:lnTo>
                    <a:pt x="825500" y="619125"/>
                  </a:lnTo>
                  <a:lnTo>
                    <a:pt x="825500" y="784987"/>
                  </a:lnTo>
                  <a:lnTo>
                    <a:pt x="50800" y="784987"/>
                  </a:lnTo>
                  <a:lnTo>
                    <a:pt x="50800" y="619252"/>
                  </a:lnTo>
                  <a:lnTo>
                    <a:pt x="76200" y="619252"/>
                  </a:lnTo>
                  <a:lnTo>
                    <a:pt x="69850" y="606552"/>
                  </a:lnTo>
                  <a:lnTo>
                    <a:pt x="38100" y="543052"/>
                  </a:lnTo>
                  <a:lnTo>
                    <a:pt x="0" y="619252"/>
                  </a:lnTo>
                  <a:lnTo>
                    <a:pt x="25400" y="619252"/>
                  </a:lnTo>
                  <a:lnTo>
                    <a:pt x="25400" y="804672"/>
                  </a:lnTo>
                  <a:lnTo>
                    <a:pt x="31115" y="810387"/>
                  </a:lnTo>
                  <a:lnTo>
                    <a:pt x="831215" y="810387"/>
                  </a:lnTo>
                  <a:lnTo>
                    <a:pt x="1225550" y="810387"/>
                  </a:lnTo>
                  <a:lnTo>
                    <a:pt x="1225550" y="1052322"/>
                  </a:lnTo>
                  <a:lnTo>
                    <a:pt x="1229868" y="1052322"/>
                  </a:lnTo>
                  <a:lnTo>
                    <a:pt x="1231011" y="1052322"/>
                  </a:lnTo>
                  <a:lnTo>
                    <a:pt x="1250950" y="1052322"/>
                  </a:lnTo>
                  <a:lnTo>
                    <a:pt x="1255268" y="1052322"/>
                  </a:lnTo>
                  <a:lnTo>
                    <a:pt x="1256411" y="1052322"/>
                  </a:lnTo>
                  <a:lnTo>
                    <a:pt x="1256411" y="810387"/>
                  </a:lnTo>
                  <a:lnTo>
                    <a:pt x="1637411" y="810387"/>
                  </a:lnTo>
                  <a:lnTo>
                    <a:pt x="2443480" y="810387"/>
                  </a:lnTo>
                  <a:lnTo>
                    <a:pt x="2449195" y="804672"/>
                  </a:lnTo>
                  <a:lnTo>
                    <a:pt x="2449195" y="784987"/>
                  </a:lnTo>
                  <a:lnTo>
                    <a:pt x="2449195" y="619252"/>
                  </a:lnTo>
                  <a:lnTo>
                    <a:pt x="2474595" y="6192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48385" y="1195451"/>
              <a:ext cx="76263" cy="12903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29249" y="700151"/>
              <a:ext cx="76200" cy="19532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29349" y="700151"/>
              <a:ext cx="76200" cy="19532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9448" y="700151"/>
              <a:ext cx="76200" cy="19532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29548" y="700151"/>
              <a:ext cx="76200" cy="19532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330063" y="1376426"/>
              <a:ext cx="1854835" cy="1069975"/>
            </a:xfrm>
            <a:custGeom>
              <a:avLst/>
              <a:gdLst/>
              <a:ahLst/>
              <a:cxnLst/>
              <a:rect l="l" t="t" r="r" b="b"/>
              <a:pathLst>
                <a:path w="1854834" h="1069975">
                  <a:moveTo>
                    <a:pt x="1694561" y="25400"/>
                  </a:moveTo>
                  <a:lnTo>
                    <a:pt x="5714" y="25400"/>
                  </a:lnTo>
                  <a:lnTo>
                    <a:pt x="0" y="30987"/>
                  </a:lnTo>
                  <a:lnTo>
                    <a:pt x="0" y="1064006"/>
                  </a:lnTo>
                  <a:lnTo>
                    <a:pt x="5714" y="1069721"/>
                  </a:lnTo>
                  <a:lnTo>
                    <a:pt x="1854835" y="1069721"/>
                  </a:lnTo>
                  <a:lnTo>
                    <a:pt x="1854835" y="1057021"/>
                  </a:lnTo>
                  <a:lnTo>
                    <a:pt x="25400" y="1057021"/>
                  </a:lnTo>
                  <a:lnTo>
                    <a:pt x="12700" y="1044321"/>
                  </a:lnTo>
                  <a:lnTo>
                    <a:pt x="25400" y="1044321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694561" y="38100"/>
                  </a:lnTo>
                  <a:lnTo>
                    <a:pt x="1694561" y="25400"/>
                  </a:lnTo>
                  <a:close/>
                </a:path>
                <a:path w="1854834" h="1069975">
                  <a:moveTo>
                    <a:pt x="25400" y="1044321"/>
                  </a:moveTo>
                  <a:lnTo>
                    <a:pt x="12700" y="1044321"/>
                  </a:lnTo>
                  <a:lnTo>
                    <a:pt x="25400" y="1057021"/>
                  </a:lnTo>
                  <a:lnTo>
                    <a:pt x="25400" y="1044321"/>
                  </a:lnTo>
                  <a:close/>
                </a:path>
                <a:path w="1854834" h="1069975">
                  <a:moveTo>
                    <a:pt x="1854835" y="1044321"/>
                  </a:moveTo>
                  <a:lnTo>
                    <a:pt x="25400" y="1044321"/>
                  </a:lnTo>
                  <a:lnTo>
                    <a:pt x="25400" y="1057021"/>
                  </a:lnTo>
                  <a:lnTo>
                    <a:pt x="1854835" y="1057021"/>
                  </a:lnTo>
                  <a:lnTo>
                    <a:pt x="1854835" y="1044321"/>
                  </a:lnTo>
                  <a:close/>
                </a:path>
                <a:path w="1854834" h="1069975">
                  <a:moveTo>
                    <a:pt x="1694561" y="0"/>
                  </a:moveTo>
                  <a:lnTo>
                    <a:pt x="1694561" y="76200"/>
                  </a:lnTo>
                  <a:lnTo>
                    <a:pt x="1745361" y="50800"/>
                  </a:lnTo>
                  <a:lnTo>
                    <a:pt x="1707388" y="50800"/>
                  </a:lnTo>
                  <a:lnTo>
                    <a:pt x="1707388" y="25400"/>
                  </a:lnTo>
                  <a:lnTo>
                    <a:pt x="1745361" y="25400"/>
                  </a:lnTo>
                  <a:lnTo>
                    <a:pt x="1694561" y="0"/>
                  </a:lnTo>
                  <a:close/>
                </a:path>
                <a:path w="1854834" h="106997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854834" h="1069975">
                  <a:moveTo>
                    <a:pt x="1694561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694561" y="50800"/>
                  </a:lnTo>
                  <a:lnTo>
                    <a:pt x="1694561" y="38100"/>
                  </a:lnTo>
                  <a:close/>
                </a:path>
                <a:path w="1854834" h="1069975">
                  <a:moveTo>
                    <a:pt x="1745361" y="25400"/>
                  </a:moveTo>
                  <a:lnTo>
                    <a:pt x="1707388" y="25400"/>
                  </a:lnTo>
                  <a:lnTo>
                    <a:pt x="1707388" y="50800"/>
                  </a:lnTo>
                  <a:lnTo>
                    <a:pt x="1745361" y="50800"/>
                  </a:lnTo>
                  <a:lnTo>
                    <a:pt x="1770761" y="38100"/>
                  </a:lnTo>
                  <a:lnTo>
                    <a:pt x="1745361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262890" y="801306"/>
            <a:ext cx="295021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Transformer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architecture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not </a:t>
            </a:r>
            <a:r>
              <a:rPr sz="1400" dirty="0">
                <a:latin typeface="Arial"/>
                <a:cs typeface="Arial"/>
              </a:rPr>
              <a:t>changed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since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2017.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110</a:t>
            </a:fld>
            <a:endParaRPr spc="-25" dirty="0"/>
          </a:p>
        </p:txBody>
      </p:sp>
      <p:sp>
        <p:nvSpPr>
          <p:cNvPr id="75" name="object 7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262890" y="1440878"/>
            <a:ext cx="33788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But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few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changes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become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common: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246125"/>
            <a:ext cx="3829050" cy="4318000"/>
            <a:chOff x="5195951" y="246125"/>
            <a:chExt cx="3829050" cy="4318000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40729" y="295592"/>
            <a:ext cx="299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70726" y="246125"/>
            <a:ext cx="422275" cy="460375"/>
            <a:chOff x="6570726" y="246125"/>
            <a:chExt cx="422275" cy="460375"/>
          </a:xfrm>
        </p:grpSpPr>
        <p:sp>
          <p:nvSpPr>
            <p:cNvPr id="16" name="object 16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37908" y="295592"/>
            <a:ext cx="299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70826" y="246125"/>
            <a:ext cx="422275" cy="460375"/>
            <a:chOff x="7370826" y="246125"/>
            <a:chExt cx="422275" cy="460375"/>
          </a:xfrm>
        </p:grpSpPr>
        <p:sp>
          <p:nvSpPr>
            <p:cNvPr id="20" name="object 20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35215" y="295592"/>
            <a:ext cx="299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70926" y="246125"/>
            <a:ext cx="431800" cy="460375"/>
            <a:chOff x="8170926" y="246125"/>
            <a:chExt cx="431800" cy="460375"/>
          </a:xfrm>
        </p:grpSpPr>
        <p:sp>
          <p:nvSpPr>
            <p:cNvPr id="24" name="object 24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241918" y="295592"/>
            <a:ext cx="299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08701" y="1741551"/>
            <a:ext cx="746125" cy="307975"/>
            <a:chOff x="5608701" y="1741551"/>
            <a:chExt cx="746125" cy="307975"/>
          </a:xfrm>
        </p:grpSpPr>
        <p:sp>
          <p:nvSpPr>
            <p:cNvPr id="28" name="object 28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150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6150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408801" y="1741551"/>
            <a:ext cx="746125" cy="307975"/>
            <a:chOff x="6408801" y="1741551"/>
            <a:chExt cx="746125" cy="307975"/>
          </a:xfrm>
        </p:grpSpPr>
        <p:sp>
          <p:nvSpPr>
            <p:cNvPr id="32" name="object 32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7334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733425" y="2952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15151" y="1747901"/>
              <a:ext cx="733425" cy="295275"/>
            </a:xfrm>
            <a:custGeom>
              <a:avLst/>
              <a:gdLst/>
              <a:ahLst/>
              <a:cxnLst/>
              <a:rect l="l" t="t" r="r" b="b"/>
              <a:pathLst>
                <a:path w="733425" h="295275">
                  <a:moveTo>
                    <a:pt x="0" y="295275"/>
                  </a:moveTo>
                  <a:lnTo>
                    <a:pt x="733425" y="295275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15151" y="1747901"/>
            <a:ext cx="7334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15251" y="1747901"/>
            <a:ext cx="733425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24876" y="1747901"/>
            <a:ext cx="723900" cy="295275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30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542026" y="3275076"/>
            <a:ext cx="3289300" cy="307975"/>
            <a:chOff x="5542026" y="3275076"/>
            <a:chExt cx="3289300" cy="307975"/>
          </a:xfrm>
        </p:grpSpPr>
        <p:sp>
          <p:nvSpPr>
            <p:cNvPr id="38" name="object 38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48376" y="3281426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557901" y="2548001"/>
            <a:ext cx="3267075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2284">
              <a:lnSpc>
                <a:spcPts val="232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307076" y="2954401"/>
            <a:ext cx="3514725" cy="1160780"/>
            <a:chOff x="5307076" y="2954401"/>
            <a:chExt cx="3514725" cy="1160780"/>
          </a:xfrm>
        </p:grpSpPr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954401"/>
              <a:ext cx="206375" cy="20637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307076" y="3014726"/>
              <a:ext cx="1794510" cy="858519"/>
            </a:xfrm>
            <a:custGeom>
              <a:avLst/>
              <a:gdLst/>
              <a:ahLst/>
              <a:cxnLst/>
              <a:rect l="l" t="t" r="r" b="b"/>
              <a:pathLst>
                <a:path w="1794509" h="858520">
                  <a:moveTo>
                    <a:pt x="1717928" y="25400"/>
                  </a:moveTo>
                  <a:lnTo>
                    <a:pt x="5587" y="25400"/>
                  </a:lnTo>
                  <a:lnTo>
                    <a:pt x="0" y="30987"/>
                  </a:lnTo>
                  <a:lnTo>
                    <a:pt x="0" y="852805"/>
                  </a:lnTo>
                  <a:lnTo>
                    <a:pt x="5587" y="858520"/>
                  </a:lnTo>
                  <a:lnTo>
                    <a:pt x="241173" y="858520"/>
                  </a:lnTo>
                  <a:lnTo>
                    <a:pt x="241173" y="845820"/>
                  </a:lnTo>
                  <a:lnTo>
                    <a:pt x="25400" y="845820"/>
                  </a:lnTo>
                  <a:lnTo>
                    <a:pt x="12700" y="833120"/>
                  </a:lnTo>
                  <a:lnTo>
                    <a:pt x="25400" y="833120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400"/>
                  </a:lnTo>
                  <a:close/>
                </a:path>
                <a:path w="1794509" h="858520">
                  <a:moveTo>
                    <a:pt x="25400" y="833120"/>
                  </a:moveTo>
                  <a:lnTo>
                    <a:pt x="12700" y="833120"/>
                  </a:lnTo>
                  <a:lnTo>
                    <a:pt x="25400" y="845820"/>
                  </a:lnTo>
                  <a:lnTo>
                    <a:pt x="25400" y="833120"/>
                  </a:lnTo>
                  <a:close/>
                </a:path>
                <a:path w="1794509" h="858520">
                  <a:moveTo>
                    <a:pt x="241173" y="833120"/>
                  </a:moveTo>
                  <a:lnTo>
                    <a:pt x="25400" y="833120"/>
                  </a:lnTo>
                  <a:lnTo>
                    <a:pt x="25400" y="845820"/>
                  </a:lnTo>
                  <a:lnTo>
                    <a:pt x="241173" y="845820"/>
                  </a:lnTo>
                  <a:lnTo>
                    <a:pt x="241173" y="833120"/>
                  </a:lnTo>
                  <a:close/>
                </a:path>
                <a:path w="1794509" h="858520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400"/>
                  </a:lnTo>
                  <a:lnTo>
                    <a:pt x="1768728" y="25400"/>
                  </a:lnTo>
                  <a:lnTo>
                    <a:pt x="1717928" y="0"/>
                  </a:lnTo>
                  <a:close/>
                </a:path>
                <a:path w="1794509" h="858520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858520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858520">
                  <a:moveTo>
                    <a:pt x="1768728" y="25400"/>
                  </a:moveTo>
                  <a:lnTo>
                    <a:pt x="1730628" y="25400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728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548376" y="900175"/>
            <a:ext cx="3276600" cy="295275"/>
          </a:xfrm>
          <a:prstGeom prst="rect">
            <a:avLst/>
          </a:prstGeom>
          <a:solidFill>
            <a:srgbClr val="FAE6D6"/>
          </a:solidFill>
          <a:ln w="12700">
            <a:solidFill>
              <a:srgbClr val="FF92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1175">
              <a:lnSpc>
                <a:spcPts val="2285"/>
              </a:lnSpc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1" name="object 5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8251" y="1306575"/>
            <a:ext cx="206375" cy="206375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 sz="2400">
              <a:latin typeface="Times New Roman"/>
              <a:cs typeface="Times New Roman"/>
            </a:endParaRPr>
          </a:p>
          <a:p>
            <a:pPr marL="160655" algn="ctr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4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345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330063" y="700151"/>
            <a:ext cx="3094990" cy="3081655"/>
            <a:chOff x="5330063" y="700151"/>
            <a:chExt cx="3094990" cy="3081655"/>
          </a:xfrm>
        </p:grpSpPr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100" y="3148076"/>
              <a:ext cx="76073" cy="13881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8511" y="2843276"/>
              <a:ext cx="76264" cy="12026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8299" y="3586226"/>
              <a:ext cx="76200" cy="19532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48399" y="3586226"/>
              <a:ext cx="76200" cy="19532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48498" y="3586226"/>
              <a:ext cx="76200" cy="19532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48598" y="3586226"/>
              <a:ext cx="76200" cy="19532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948299" y="1500123"/>
              <a:ext cx="2474595" cy="1052830"/>
            </a:xfrm>
            <a:custGeom>
              <a:avLst/>
              <a:gdLst/>
              <a:ahLst/>
              <a:cxnLst/>
              <a:rect l="l" t="t" r="r" b="b"/>
              <a:pathLst>
                <a:path w="2474595" h="1052830">
                  <a:moveTo>
                    <a:pt x="2449449" y="116205"/>
                  </a:moveTo>
                  <a:lnTo>
                    <a:pt x="2443734" y="110617"/>
                  </a:lnTo>
                  <a:lnTo>
                    <a:pt x="1637665" y="110617"/>
                  </a:lnTo>
                  <a:lnTo>
                    <a:pt x="1256157" y="110617"/>
                  </a:lnTo>
                  <a:lnTo>
                    <a:pt x="1256157" y="76327"/>
                  </a:lnTo>
                  <a:lnTo>
                    <a:pt x="1276350" y="76327"/>
                  </a:lnTo>
                  <a:lnTo>
                    <a:pt x="1280414" y="76327"/>
                  </a:lnTo>
                  <a:lnTo>
                    <a:pt x="1281557" y="76327"/>
                  </a:lnTo>
                  <a:lnTo>
                    <a:pt x="1275207" y="63627"/>
                  </a:lnTo>
                  <a:lnTo>
                    <a:pt x="1243457" y="127"/>
                  </a:lnTo>
                  <a:lnTo>
                    <a:pt x="1242885" y="1270"/>
                  </a:lnTo>
                  <a:lnTo>
                    <a:pt x="1242314" y="127"/>
                  </a:lnTo>
                  <a:lnTo>
                    <a:pt x="1240307" y="4127"/>
                  </a:lnTo>
                  <a:lnTo>
                    <a:pt x="1238250" y="0"/>
                  </a:lnTo>
                  <a:lnTo>
                    <a:pt x="1200150" y="76200"/>
                  </a:lnTo>
                  <a:lnTo>
                    <a:pt x="1200150" y="76327"/>
                  </a:lnTo>
                  <a:lnTo>
                    <a:pt x="1204214" y="76327"/>
                  </a:lnTo>
                  <a:lnTo>
                    <a:pt x="1205357" y="76327"/>
                  </a:lnTo>
                  <a:lnTo>
                    <a:pt x="1225550" y="76327"/>
                  </a:lnTo>
                  <a:lnTo>
                    <a:pt x="1225550" y="110617"/>
                  </a:lnTo>
                  <a:lnTo>
                    <a:pt x="831215" y="110617"/>
                  </a:lnTo>
                  <a:lnTo>
                    <a:pt x="31115" y="110617"/>
                  </a:lnTo>
                  <a:lnTo>
                    <a:pt x="25400" y="116205"/>
                  </a:lnTo>
                  <a:lnTo>
                    <a:pt x="25400" y="246507"/>
                  </a:lnTo>
                  <a:lnTo>
                    <a:pt x="50800" y="246507"/>
                  </a:lnTo>
                  <a:lnTo>
                    <a:pt x="50800" y="136017"/>
                  </a:lnTo>
                  <a:lnTo>
                    <a:pt x="825500" y="136017"/>
                  </a:lnTo>
                  <a:lnTo>
                    <a:pt x="825500" y="246507"/>
                  </a:lnTo>
                  <a:lnTo>
                    <a:pt x="850900" y="246507"/>
                  </a:lnTo>
                  <a:lnTo>
                    <a:pt x="850900" y="136017"/>
                  </a:lnTo>
                  <a:lnTo>
                    <a:pt x="1231265" y="136017"/>
                  </a:lnTo>
                  <a:lnTo>
                    <a:pt x="1249299" y="136017"/>
                  </a:lnTo>
                  <a:lnTo>
                    <a:pt x="1250442" y="136017"/>
                  </a:lnTo>
                  <a:lnTo>
                    <a:pt x="1617980" y="136017"/>
                  </a:lnTo>
                  <a:lnTo>
                    <a:pt x="1617980" y="246507"/>
                  </a:lnTo>
                  <a:lnTo>
                    <a:pt x="1643380" y="246507"/>
                  </a:lnTo>
                  <a:lnTo>
                    <a:pt x="1643380" y="136017"/>
                  </a:lnTo>
                  <a:lnTo>
                    <a:pt x="2424049" y="136017"/>
                  </a:lnTo>
                  <a:lnTo>
                    <a:pt x="2424049" y="246507"/>
                  </a:lnTo>
                  <a:lnTo>
                    <a:pt x="2449449" y="246507"/>
                  </a:lnTo>
                  <a:lnTo>
                    <a:pt x="2449449" y="136017"/>
                  </a:lnTo>
                  <a:lnTo>
                    <a:pt x="2449449" y="116205"/>
                  </a:lnTo>
                  <a:close/>
                </a:path>
                <a:path w="2474595" h="1052830">
                  <a:moveTo>
                    <a:pt x="2474595" y="619252"/>
                  </a:moveTo>
                  <a:lnTo>
                    <a:pt x="2468245" y="606552"/>
                  </a:lnTo>
                  <a:lnTo>
                    <a:pt x="2436495" y="543052"/>
                  </a:lnTo>
                  <a:lnTo>
                    <a:pt x="2398395" y="619252"/>
                  </a:lnTo>
                  <a:lnTo>
                    <a:pt x="2423795" y="619252"/>
                  </a:lnTo>
                  <a:lnTo>
                    <a:pt x="2423795" y="784987"/>
                  </a:lnTo>
                  <a:lnTo>
                    <a:pt x="1643126" y="784987"/>
                  </a:lnTo>
                  <a:lnTo>
                    <a:pt x="1643126" y="619252"/>
                  </a:lnTo>
                  <a:lnTo>
                    <a:pt x="1668526" y="619252"/>
                  </a:lnTo>
                  <a:lnTo>
                    <a:pt x="1662176" y="606552"/>
                  </a:lnTo>
                  <a:lnTo>
                    <a:pt x="1630426" y="543052"/>
                  </a:lnTo>
                  <a:lnTo>
                    <a:pt x="1592326" y="619252"/>
                  </a:lnTo>
                  <a:lnTo>
                    <a:pt x="1617726" y="619252"/>
                  </a:lnTo>
                  <a:lnTo>
                    <a:pt x="1617726" y="784987"/>
                  </a:lnTo>
                  <a:lnTo>
                    <a:pt x="1250823" y="784987"/>
                  </a:lnTo>
                  <a:lnTo>
                    <a:pt x="1249553" y="784987"/>
                  </a:lnTo>
                  <a:lnTo>
                    <a:pt x="1231265" y="784987"/>
                  </a:lnTo>
                  <a:lnTo>
                    <a:pt x="851027" y="784987"/>
                  </a:lnTo>
                  <a:lnTo>
                    <a:pt x="851027" y="619125"/>
                  </a:lnTo>
                  <a:lnTo>
                    <a:pt x="876300" y="619125"/>
                  </a:lnTo>
                  <a:lnTo>
                    <a:pt x="869950" y="606425"/>
                  </a:lnTo>
                  <a:lnTo>
                    <a:pt x="838200" y="542925"/>
                  </a:lnTo>
                  <a:lnTo>
                    <a:pt x="800100" y="619125"/>
                  </a:lnTo>
                  <a:lnTo>
                    <a:pt x="825500" y="619125"/>
                  </a:lnTo>
                  <a:lnTo>
                    <a:pt x="825500" y="784987"/>
                  </a:lnTo>
                  <a:lnTo>
                    <a:pt x="50800" y="784987"/>
                  </a:lnTo>
                  <a:lnTo>
                    <a:pt x="50800" y="619252"/>
                  </a:lnTo>
                  <a:lnTo>
                    <a:pt x="76200" y="619252"/>
                  </a:lnTo>
                  <a:lnTo>
                    <a:pt x="69850" y="606552"/>
                  </a:lnTo>
                  <a:lnTo>
                    <a:pt x="38100" y="543052"/>
                  </a:lnTo>
                  <a:lnTo>
                    <a:pt x="0" y="619252"/>
                  </a:lnTo>
                  <a:lnTo>
                    <a:pt x="25400" y="619252"/>
                  </a:lnTo>
                  <a:lnTo>
                    <a:pt x="25400" y="804672"/>
                  </a:lnTo>
                  <a:lnTo>
                    <a:pt x="31115" y="810387"/>
                  </a:lnTo>
                  <a:lnTo>
                    <a:pt x="831215" y="810387"/>
                  </a:lnTo>
                  <a:lnTo>
                    <a:pt x="1225550" y="810387"/>
                  </a:lnTo>
                  <a:lnTo>
                    <a:pt x="1225550" y="1052322"/>
                  </a:lnTo>
                  <a:lnTo>
                    <a:pt x="1229868" y="1052322"/>
                  </a:lnTo>
                  <a:lnTo>
                    <a:pt x="1231011" y="1052322"/>
                  </a:lnTo>
                  <a:lnTo>
                    <a:pt x="1250950" y="1052322"/>
                  </a:lnTo>
                  <a:lnTo>
                    <a:pt x="1255268" y="1052322"/>
                  </a:lnTo>
                  <a:lnTo>
                    <a:pt x="1256411" y="1052322"/>
                  </a:lnTo>
                  <a:lnTo>
                    <a:pt x="1256411" y="810387"/>
                  </a:lnTo>
                  <a:lnTo>
                    <a:pt x="1637411" y="810387"/>
                  </a:lnTo>
                  <a:lnTo>
                    <a:pt x="2443480" y="810387"/>
                  </a:lnTo>
                  <a:lnTo>
                    <a:pt x="2449195" y="804672"/>
                  </a:lnTo>
                  <a:lnTo>
                    <a:pt x="2449195" y="784987"/>
                  </a:lnTo>
                  <a:lnTo>
                    <a:pt x="2449195" y="619252"/>
                  </a:lnTo>
                  <a:lnTo>
                    <a:pt x="2474595" y="6192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48385" y="1195451"/>
              <a:ext cx="76263" cy="12903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29249" y="700151"/>
              <a:ext cx="76200" cy="19532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29349" y="700151"/>
              <a:ext cx="76200" cy="19532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9448" y="700151"/>
              <a:ext cx="76200" cy="19532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29548" y="700151"/>
              <a:ext cx="76200" cy="19532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330063" y="1376426"/>
              <a:ext cx="1854835" cy="1069975"/>
            </a:xfrm>
            <a:custGeom>
              <a:avLst/>
              <a:gdLst/>
              <a:ahLst/>
              <a:cxnLst/>
              <a:rect l="l" t="t" r="r" b="b"/>
              <a:pathLst>
                <a:path w="1854834" h="1069975">
                  <a:moveTo>
                    <a:pt x="1694561" y="25400"/>
                  </a:moveTo>
                  <a:lnTo>
                    <a:pt x="5714" y="25400"/>
                  </a:lnTo>
                  <a:lnTo>
                    <a:pt x="0" y="30987"/>
                  </a:lnTo>
                  <a:lnTo>
                    <a:pt x="0" y="1064006"/>
                  </a:lnTo>
                  <a:lnTo>
                    <a:pt x="5714" y="1069721"/>
                  </a:lnTo>
                  <a:lnTo>
                    <a:pt x="1854835" y="1069721"/>
                  </a:lnTo>
                  <a:lnTo>
                    <a:pt x="1854835" y="1057021"/>
                  </a:lnTo>
                  <a:lnTo>
                    <a:pt x="25400" y="1057021"/>
                  </a:lnTo>
                  <a:lnTo>
                    <a:pt x="12700" y="1044321"/>
                  </a:lnTo>
                  <a:lnTo>
                    <a:pt x="25400" y="1044321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694561" y="38100"/>
                  </a:lnTo>
                  <a:lnTo>
                    <a:pt x="1694561" y="25400"/>
                  </a:lnTo>
                  <a:close/>
                </a:path>
                <a:path w="1854834" h="1069975">
                  <a:moveTo>
                    <a:pt x="25400" y="1044321"/>
                  </a:moveTo>
                  <a:lnTo>
                    <a:pt x="12700" y="1044321"/>
                  </a:lnTo>
                  <a:lnTo>
                    <a:pt x="25400" y="1057021"/>
                  </a:lnTo>
                  <a:lnTo>
                    <a:pt x="25400" y="1044321"/>
                  </a:lnTo>
                  <a:close/>
                </a:path>
                <a:path w="1854834" h="1069975">
                  <a:moveTo>
                    <a:pt x="1854835" y="1044321"/>
                  </a:moveTo>
                  <a:lnTo>
                    <a:pt x="25400" y="1044321"/>
                  </a:lnTo>
                  <a:lnTo>
                    <a:pt x="25400" y="1057021"/>
                  </a:lnTo>
                  <a:lnTo>
                    <a:pt x="1854835" y="1057021"/>
                  </a:lnTo>
                  <a:lnTo>
                    <a:pt x="1854835" y="1044321"/>
                  </a:lnTo>
                  <a:close/>
                </a:path>
                <a:path w="1854834" h="1069975">
                  <a:moveTo>
                    <a:pt x="1694561" y="0"/>
                  </a:moveTo>
                  <a:lnTo>
                    <a:pt x="1694561" y="76200"/>
                  </a:lnTo>
                  <a:lnTo>
                    <a:pt x="1745361" y="50800"/>
                  </a:lnTo>
                  <a:lnTo>
                    <a:pt x="1707388" y="50800"/>
                  </a:lnTo>
                  <a:lnTo>
                    <a:pt x="1707388" y="25400"/>
                  </a:lnTo>
                  <a:lnTo>
                    <a:pt x="1745361" y="25400"/>
                  </a:lnTo>
                  <a:lnTo>
                    <a:pt x="1694561" y="0"/>
                  </a:lnTo>
                  <a:close/>
                </a:path>
                <a:path w="1854834" h="106997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854834" h="1069975">
                  <a:moveTo>
                    <a:pt x="1694561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694561" y="50800"/>
                  </a:lnTo>
                  <a:lnTo>
                    <a:pt x="1694561" y="38100"/>
                  </a:lnTo>
                  <a:close/>
                </a:path>
                <a:path w="1854834" h="1069975">
                  <a:moveTo>
                    <a:pt x="1745361" y="25400"/>
                  </a:moveTo>
                  <a:lnTo>
                    <a:pt x="1707388" y="25400"/>
                  </a:lnTo>
                  <a:lnTo>
                    <a:pt x="1707388" y="50800"/>
                  </a:lnTo>
                  <a:lnTo>
                    <a:pt x="1745361" y="50800"/>
                  </a:lnTo>
                  <a:lnTo>
                    <a:pt x="1770761" y="38100"/>
                  </a:lnTo>
                  <a:lnTo>
                    <a:pt x="1745361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Pre-Norm</a:t>
            </a:r>
            <a:r>
              <a:rPr spc="229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8739" y="4590815"/>
            <a:ext cx="41859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Baevski &amp;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Auli, “Adaptive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Input </a:t>
            </a:r>
            <a:r>
              <a:rPr sz="800" spc="-10" dirty="0">
                <a:latin typeface="Arial"/>
                <a:cs typeface="Arial"/>
              </a:rPr>
              <a:t>Representations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for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Neural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Language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Modeling”,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arXiv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2018</a:t>
            </a:r>
            <a:endParaRPr sz="8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111</a:t>
            </a:fld>
            <a:endParaRPr spc="-25" dirty="0"/>
          </a:p>
        </p:txBody>
      </p: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883285" y="1343977"/>
            <a:ext cx="249936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Layer</a:t>
            </a:r>
            <a:r>
              <a:rPr sz="1400" b="1" spc="-1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normalization</a:t>
            </a:r>
            <a:r>
              <a:rPr sz="1400" b="1" spc="-7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0" dirty="0">
                <a:latin typeface="Arial"/>
                <a:cs typeface="Arial"/>
              </a:rPr>
              <a:t> outside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residual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83285" y="1983041"/>
            <a:ext cx="264858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Kind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weird,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can’t </a:t>
            </a:r>
            <a:r>
              <a:rPr sz="1400" dirty="0">
                <a:latin typeface="Arial"/>
                <a:cs typeface="Arial"/>
              </a:rPr>
              <a:t>actually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learn 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identify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246125"/>
            <a:ext cx="3829050" cy="4318000"/>
            <a:chOff x="5195951" y="246125"/>
            <a:chExt cx="3829050" cy="4318000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50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51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08901" y="1598675"/>
            <a:ext cx="1546225" cy="298450"/>
            <a:chOff x="7208901" y="1598675"/>
            <a:chExt cx="1546225" cy="298450"/>
          </a:xfrm>
        </p:grpSpPr>
        <p:sp>
          <p:nvSpPr>
            <p:cNvPr id="24" name="object 24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733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33425" y="285750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0" y="285750"/>
                  </a:moveTo>
                  <a:lnTo>
                    <a:pt x="733425" y="285750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7239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23900" y="28575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285750"/>
                  </a:moveTo>
                  <a:lnTo>
                    <a:pt x="723900" y="2857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24876" y="1605025"/>
            <a:ext cx="72390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07076" y="1116075"/>
            <a:ext cx="3524250" cy="2999105"/>
            <a:chOff x="5307076" y="1116075"/>
            <a:chExt cx="3524250" cy="2999105"/>
          </a:xfrm>
        </p:grpSpPr>
        <p:sp>
          <p:nvSpPr>
            <p:cNvPr id="30" name="object 30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32670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67075" y="295275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0" y="295275"/>
                  </a:moveTo>
                  <a:lnTo>
                    <a:pt x="3267075" y="29527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563875"/>
              <a:ext cx="206375" cy="1968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07076" y="2624200"/>
              <a:ext cx="1794510" cy="1251585"/>
            </a:xfrm>
            <a:custGeom>
              <a:avLst/>
              <a:gdLst/>
              <a:ahLst/>
              <a:cxnLst/>
              <a:rect l="l" t="t" r="r" b="b"/>
              <a:pathLst>
                <a:path w="1794509" h="1251585">
                  <a:moveTo>
                    <a:pt x="1717928" y="25273"/>
                  </a:moveTo>
                  <a:lnTo>
                    <a:pt x="5587" y="25273"/>
                  </a:lnTo>
                  <a:lnTo>
                    <a:pt x="0" y="30987"/>
                  </a:lnTo>
                  <a:lnTo>
                    <a:pt x="0" y="1245362"/>
                  </a:lnTo>
                  <a:lnTo>
                    <a:pt x="5587" y="1251077"/>
                  </a:lnTo>
                  <a:lnTo>
                    <a:pt x="241173" y="1251077"/>
                  </a:lnTo>
                  <a:lnTo>
                    <a:pt x="241173" y="1238377"/>
                  </a:lnTo>
                  <a:lnTo>
                    <a:pt x="25400" y="1238377"/>
                  </a:lnTo>
                  <a:lnTo>
                    <a:pt x="12700" y="1225677"/>
                  </a:lnTo>
                  <a:lnTo>
                    <a:pt x="25400" y="1225677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273"/>
                  </a:lnTo>
                  <a:close/>
                </a:path>
                <a:path w="1794509" h="1251585">
                  <a:moveTo>
                    <a:pt x="25400" y="1225677"/>
                  </a:moveTo>
                  <a:lnTo>
                    <a:pt x="12700" y="1225677"/>
                  </a:lnTo>
                  <a:lnTo>
                    <a:pt x="25400" y="1238377"/>
                  </a:lnTo>
                  <a:lnTo>
                    <a:pt x="25400" y="1225677"/>
                  </a:lnTo>
                  <a:close/>
                </a:path>
                <a:path w="1794509" h="1251585">
                  <a:moveTo>
                    <a:pt x="241173" y="1225677"/>
                  </a:moveTo>
                  <a:lnTo>
                    <a:pt x="25400" y="1225677"/>
                  </a:lnTo>
                  <a:lnTo>
                    <a:pt x="25400" y="1238377"/>
                  </a:lnTo>
                  <a:lnTo>
                    <a:pt x="241173" y="1238377"/>
                  </a:lnTo>
                  <a:lnTo>
                    <a:pt x="241173" y="1225677"/>
                  </a:lnTo>
                  <a:close/>
                </a:path>
                <a:path w="1794509" h="1251585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273"/>
                  </a:lnTo>
                  <a:lnTo>
                    <a:pt x="1768475" y="25273"/>
                  </a:lnTo>
                  <a:lnTo>
                    <a:pt x="1717928" y="0"/>
                  </a:lnTo>
                  <a:close/>
                </a:path>
                <a:path w="1794509" h="125158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1251585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1251585">
                  <a:moveTo>
                    <a:pt x="1768475" y="25273"/>
                  </a:moveTo>
                  <a:lnTo>
                    <a:pt x="1730628" y="25273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475" y="25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251" y="1116075"/>
              <a:ext cx="206375" cy="20637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630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2125980">
              <a:lnSpc>
                <a:spcPct val="100000"/>
              </a:lnSpc>
              <a:spcBef>
                <a:spcPts val="1570"/>
              </a:spcBef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  <a:p>
            <a:pPr marL="162560" algn="ctr">
              <a:lnSpc>
                <a:spcPct val="100000"/>
              </a:lnSpc>
              <a:spcBef>
                <a:spcPts val="2010"/>
              </a:spcBef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42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  <a:p>
            <a:pPr marL="162560" algn="ctr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latin typeface="Arial"/>
                <a:cs typeface="Arial"/>
              </a:rPr>
              <a:t>Layer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Normalization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948298" y="700023"/>
            <a:ext cx="2987675" cy="3081655"/>
            <a:chOff x="5948298" y="700023"/>
            <a:chExt cx="2987675" cy="3081655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099" y="2748025"/>
              <a:ext cx="76073" cy="13881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8" y="3586225"/>
              <a:ext cx="76200" cy="19532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8" y="3586225"/>
              <a:ext cx="76200" cy="19532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8" y="3586225"/>
              <a:ext cx="76200" cy="19532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8" y="3586225"/>
              <a:ext cx="76200" cy="19532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973699" y="1309750"/>
              <a:ext cx="2424430" cy="294640"/>
            </a:xfrm>
            <a:custGeom>
              <a:avLst/>
              <a:gdLst/>
              <a:ahLst/>
              <a:cxnLst/>
              <a:rect l="l" t="t" r="r" b="b"/>
              <a:pathLst>
                <a:path w="2424429" h="294640">
                  <a:moveTo>
                    <a:pt x="2424049" y="140081"/>
                  </a:moveTo>
                  <a:lnTo>
                    <a:pt x="2418334" y="134366"/>
                  </a:lnTo>
                  <a:lnTo>
                    <a:pt x="1612265" y="134366"/>
                  </a:lnTo>
                  <a:lnTo>
                    <a:pt x="1230757" y="134366"/>
                  </a:lnTo>
                  <a:lnTo>
                    <a:pt x="1230757" y="76200"/>
                  </a:lnTo>
                  <a:lnTo>
                    <a:pt x="1250950" y="76200"/>
                  </a:lnTo>
                  <a:lnTo>
                    <a:pt x="1255014" y="76200"/>
                  </a:lnTo>
                  <a:lnTo>
                    <a:pt x="1256157" y="76200"/>
                  </a:lnTo>
                  <a:lnTo>
                    <a:pt x="1249807" y="63500"/>
                  </a:lnTo>
                  <a:lnTo>
                    <a:pt x="1218057" y="0"/>
                  </a:lnTo>
                  <a:lnTo>
                    <a:pt x="1217485" y="1143"/>
                  </a:lnTo>
                  <a:lnTo>
                    <a:pt x="1216914" y="0"/>
                  </a:lnTo>
                  <a:lnTo>
                    <a:pt x="1214882" y="4064"/>
                  </a:lnTo>
                  <a:lnTo>
                    <a:pt x="1212850" y="0"/>
                  </a:lnTo>
                  <a:lnTo>
                    <a:pt x="1174750" y="76200"/>
                  </a:lnTo>
                  <a:lnTo>
                    <a:pt x="1178814" y="76200"/>
                  </a:lnTo>
                  <a:lnTo>
                    <a:pt x="1179957" y="76200"/>
                  </a:lnTo>
                  <a:lnTo>
                    <a:pt x="1200150" y="76200"/>
                  </a:lnTo>
                  <a:lnTo>
                    <a:pt x="1200150" y="134366"/>
                  </a:lnTo>
                  <a:lnTo>
                    <a:pt x="805815" y="134366"/>
                  </a:lnTo>
                  <a:lnTo>
                    <a:pt x="5715" y="134366"/>
                  </a:lnTo>
                  <a:lnTo>
                    <a:pt x="0" y="140081"/>
                  </a:lnTo>
                  <a:lnTo>
                    <a:pt x="0" y="294132"/>
                  </a:lnTo>
                  <a:lnTo>
                    <a:pt x="25400" y="294132"/>
                  </a:lnTo>
                  <a:lnTo>
                    <a:pt x="25400" y="159766"/>
                  </a:lnTo>
                  <a:lnTo>
                    <a:pt x="800100" y="159766"/>
                  </a:lnTo>
                  <a:lnTo>
                    <a:pt x="800100" y="294132"/>
                  </a:lnTo>
                  <a:lnTo>
                    <a:pt x="825500" y="294132"/>
                  </a:lnTo>
                  <a:lnTo>
                    <a:pt x="825500" y="159766"/>
                  </a:lnTo>
                  <a:lnTo>
                    <a:pt x="1205865" y="159766"/>
                  </a:lnTo>
                  <a:lnTo>
                    <a:pt x="1223899" y="159766"/>
                  </a:lnTo>
                  <a:lnTo>
                    <a:pt x="1225042" y="159766"/>
                  </a:lnTo>
                  <a:lnTo>
                    <a:pt x="1592580" y="159766"/>
                  </a:lnTo>
                  <a:lnTo>
                    <a:pt x="1592580" y="294132"/>
                  </a:lnTo>
                  <a:lnTo>
                    <a:pt x="1617980" y="294132"/>
                  </a:lnTo>
                  <a:lnTo>
                    <a:pt x="1617980" y="159766"/>
                  </a:lnTo>
                  <a:lnTo>
                    <a:pt x="2398649" y="159766"/>
                  </a:lnTo>
                  <a:lnTo>
                    <a:pt x="2398649" y="294132"/>
                  </a:lnTo>
                  <a:lnTo>
                    <a:pt x="2424049" y="294132"/>
                  </a:lnTo>
                  <a:lnTo>
                    <a:pt x="2424049" y="159766"/>
                  </a:lnTo>
                  <a:lnTo>
                    <a:pt x="2424049" y="14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8448" y="2452750"/>
              <a:ext cx="76200" cy="11925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48299" y="700023"/>
              <a:ext cx="2987675" cy="1972945"/>
            </a:xfrm>
            <a:custGeom>
              <a:avLst/>
              <a:gdLst/>
              <a:ahLst/>
              <a:cxnLst/>
              <a:rect l="l" t="t" r="r" b="b"/>
              <a:pathLst>
                <a:path w="2987675" h="1972945">
                  <a:moveTo>
                    <a:pt x="2474849" y="1266952"/>
                  </a:moveTo>
                  <a:lnTo>
                    <a:pt x="2468499" y="1254252"/>
                  </a:lnTo>
                  <a:lnTo>
                    <a:pt x="2436749" y="1190752"/>
                  </a:lnTo>
                  <a:lnTo>
                    <a:pt x="2398649" y="1266952"/>
                  </a:lnTo>
                  <a:lnTo>
                    <a:pt x="2424049" y="1266952"/>
                  </a:lnTo>
                  <a:lnTo>
                    <a:pt x="2424049" y="1311021"/>
                  </a:lnTo>
                  <a:lnTo>
                    <a:pt x="1643380" y="1311021"/>
                  </a:lnTo>
                  <a:lnTo>
                    <a:pt x="1643380" y="1266952"/>
                  </a:lnTo>
                  <a:lnTo>
                    <a:pt x="1668780" y="1266952"/>
                  </a:lnTo>
                  <a:lnTo>
                    <a:pt x="1662430" y="1254252"/>
                  </a:lnTo>
                  <a:lnTo>
                    <a:pt x="1630680" y="1190752"/>
                  </a:lnTo>
                  <a:lnTo>
                    <a:pt x="1592580" y="1266952"/>
                  </a:lnTo>
                  <a:lnTo>
                    <a:pt x="1617980" y="1266952"/>
                  </a:lnTo>
                  <a:lnTo>
                    <a:pt x="1617980" y="1311021"/>
                  </a:lnTo>
                  <a:lnTo>
                    <a:pt x="1250442" y="1311021"/>
                  </a:lnTo>
                  <a:lnTo>
                    <a:pt x="1249299" y="1311021"/>
                  </a:lnTo>
                  <a:lnTo>
                    <a:pt x="1231265" y="1311021"/>
                  </a:lnTo>
                  <a:lnTo>
                    <a:pt x="851027" y="1311021"/>
                  </a:lnTo>
                  <a:lnTo>
                    <a:pt x="851027" y="1266825"/>
                  </a:lnTo>
                  <a:lnTo>
                    <a:pt x="876300" y="1266825"/>
                  </a:lnTo>
                  <a:lnTo>
                    <a:pt x="869950" y="1254125"/>
                  </a:lnTo>
                  <a:lnTo>
                    <a:pt x="838200" y="1190625"/>
                  </a:lnTo>
                  <a:lnTo>
                    <a:pt x="800100" y="1266825"/>
                  </a:lnTo>
                  <a:lnTo>
                    <a:pt x="825500" y="1266825"/>
                  </a:lnTo>
                  <a:lnTo>
                    <a:pt x="825500" y="1311021"/>
                  </a:lnTo>
                  <a:lnTo>
                    <a:pt x="50800" y="1311021"/>
                  </a:lnTo>
                  <a:lnTo>
                    <a:pt x="50800" y="1266825"/>
                  </a:lnTo>
                  <a:lnTo>
                    <a:pt x="76200" y="1266825"/>
                  </a:lnTo>
                  <a:lnTo>
                    <a:pt x="69850" y="1254125"/>
                  </a:lnTo>
                  <a:lnTo>
                    <a:pt x="38100" y="1190625"/>
                  </a:lnTo>
                  <a:lnTo>
                    <a:pt x="0" y="1266825"/>
                  </a:lnTo>
                  <a:lnTo>
                    <a:pt x="25400" y="1266825"/>
                  </a:lnTo>
                  <a:lnTo>
                    <a:pt x="25400" y="1330706"/>
                  </a:lnTo>
                  <a:lnTo>
                    <a:pt x="31115" y="1336421"/>
                  </a:lnTo>
                  <a:lnTo>
                    <a:pt x="831215" y="1336421"/>
                  </a:lnTo>
                  <a:lnTo>
                    <a:pt x="1225550" y="1336421"/>
                  </a:lnTo>
                  <a:lnTo>
                    <a:pt x="1225550" y="1456817"/>
                  </a:lnTo>
                  <a:lnTo>
                    <a:pt x="1229614" y="1456817"/>
                  </a:lnTo>
                  <a:lnTo>
                    <a:pt x="1230757" y="1456817"/>
                  </a:lnTo>
                  <a:lnTo>
                    <a:pt x="1250950" y="1456817"/>
                  </a:lnTo>
                  <a:lnTo>
                    <a:pt x="1255014" y="1456817"/>
                  </a:lnTo>
                  <a:lnTo>
                    <a:pt x="1256157" y="1456817"/>
                  </a:lnTo>
                  <a:lnTo>
                    <a:pt x="1256157" y="1336421"/>
                  </a:lnTo>
                  <a:lnTo>
                    <a:pt x="1637665" y="1336421"/>
                  </a:lnTo>
                  <a:lnTo>
                    <a:pt x="2443734" y="1336421"/>
                  </a:lnTo>
                  <a:lnTo>
                    <a:pt x="2449449" y="1330706"/>
                  </a:lnTo>
                  <a:lnTo>
                    <a:pt x="2449449" y="1311021"/>
                  </a:lnTo>
                  <a:lnTo>
                    <a:pt x="2449449" y="1266952"/>
                  </a:lnTo>
                  <a:lnTo>
                    <a:pt x="2474849" y="1266952"/>
                  </a:lnTo>
                  <a:close/>
                </a:path>
                <a:path w="2987675" h="1972945">
                  <a:moveTo>
                    <a:pt x="2474849" y="76327"/>
                  </a:moveTo>
                  <a:lnTo>
                    <a:pt x="2468499" y="63627"/>
                  </a:lnTo>
                  <a:lnTo>
                    <a:pt x="2436749" y="127"/>
                  </a:lnTo>
                  <a:lnTo>
                    <a:pt x="2398649" y="76327"/>
                  </a:lnTo>
                  <a:lnTo>
                    <a:pt x="2424049" y="76327"/>
                  </a:lnTo>
                  <a:lnTo>
                    <a:pt x="2424049" y="292608"/>
                  </a:lnTo>
                  <a:lnTo>
                    <a:pt x="1643380" y="292608"/>
                  </a:lnTo>
                  <a:lnTo>
                    <a:pt x="1643380" y="76327"/>
                  </a:lnTo>
                  <a:lnTo>
                    <a:pt x="1668780" y="76327"/>
                  </a:lnTo>
                  <a:lnTo>
                    <a:pt x="1662430" y="63627"/>
                  </a:lnTo>
                  <a:lnTo>
                    <a:pt x="1630680" y="127"/>
                  </a:lnTo>
                  <a:lnTo>
                    <a:pt x="1592580" y="76327"/>
                  </a:lnTo>
                  <a:lnTo>
                    <a:pt x="1617980" y="76327"/>
                  </a:lnTo>
                  <a:lnTo>
                    <a:pt x="1617980" y="292608"/>
                  </a:lnTo>
                  <a:lnTo>
                    <a:pt x="1249299" y="292608"/>
                  </a:lnTo>
                  <a:lnTo>
                    <a:pt x="1245616" y="292608"/>
                  </a:lnTo>
                  <a:lnTo>
                    <a:pt x="1231265" y="292608"/>
                  </a:lnTo>
                  <a:lnTo>
                    <a:pt x="851027" y="292608"/>
                  </a:lnTo>
                  <a:lnTo>
                    <a:pt x="851027" y="76200"/>
                  </a:lnTo>
                  <a:lnTo>
                    <a:pt x="876300" y="76200"/>
                  </a:lnTo>
                  <a:lnTo>
                    <a:pt x="869950" y="63500"/>
                  </a:lnTo>
                  <a:lnTo>
                    <a:pt x="838200" y="0"/>
                  </a:lnTo>
                  <a:lnTo>
                    <a:pt x="800100" y="76200"/>
                  </a:lnTo>
                  <a:lnTo>
                    <a:pt x="825500" y="76200"/>
                  </a:lnTo>
                  <a:lnTo>
                    <a:pt x="825500" y="292608"/>
                  </a:lnTo>
                  <a:lnTo>
                    <a:pt x="50800" y="292608"/>
                  </a:lnTo>
                  <a:lnTo>
                    <a:pt x="50800" y="76327"/>
                  </a:lnTo>
                  <a:lnTo>
                    <a:pt x="76200" y="76327"/>
                  </a:lnTo>
                  <a:lnTo>
                    <a:pt x="69850" y="63627"/>
                  </a:lnTo>
                  <a:lnTo>
                    <a:pt x="38100" y="127"/>
                  </a:lnTo>
                  <a:lnTo>
                    <a:pt x="0" y="76327"/>
                  </a:lnTo>
                  <a:lnTo>
                    <a:pt x="25400" y="76327"/>
                  </a:lnTo>
                  <a:lnTo>
                    <a:pt x="25400" y="312420"/>
                  </a:lnTo>
                  <a:lnTo>
                    <a:pt x="31115" y="318008"/>
                  </a:lnTo>
                  <a:lnTo>
                    <a:pt x="831215" y="318008"/>
                  </a:lnTo>
                  <a:lnTo>
                    <a:pt x="1225550" y="318008"/>
                  </a:lnTo>
                  <a:lnTo>
                    <a:pt x="1225550" y="428752"/>
                  </a:lnTo>
                  <a:lnTo>
                    <a:pt x="1225931" y="428752"/>
                  </a:lnTo>
                  <a:lnTo>
                    <a:pt x="1229614" y="428752"/>
                  </a:lnTo>
                  <a:lnTo>
                    <a:pt x="1250950" y="428752"/>
                  </a:lnTo>
                  <a:lnTo>
                    <a:pt x="1251331" y="428752"/>
                  </a:lnTo>
                  <a:lnTo>
                    <a:pt x="1255014" y="428752"/>
                  </a:lnTo>
                  <a:lnTo>
                    <a:pt x="1255014" y="318008"/>
                  </a:lnTo>
                  <a:lnTo>
                    <a:pt x="1637665" y="318008"/>
                  </a:lnTo>
                  <a:lnTo>
                    <a:pt x="2443734" y="318008"/>
                  </a:lnTo>
                  <a:lnTo>
                    <a:pt x="2449449" y="312420"/>
                  </a:lnTo>
                  <a:lnTo>
                    <a:pt x="2449449" y="292608"/>
                  </a:lnTo>
                  <a:lnTo>
                    <a:pt x="2449449" y="76327"/>
                  </a:lnTo>
                  <a:lnTo>
                    <a:pt x="2474849" y="76327"/>
                  </a:lnTo>
                  <a:close/>
                </a:path>
                <a:path w="2987675" h="1972945">
                  <a:moveTo>
                    <a:pt x="2987167" y="507365"/>
                  </a:moveTo>
                  <a:lnTo>
                    <a:pt x="2981452" y="501777"/>
                  </a:lnTo>
                  <a:lnTo>
                    <a:pt x="1422400" y="501777"/>
                  </a:lnTo>
                  <a:lnTo>
                    <a:pt x="1422400" y="476377"/>
                  </a:lnTo>
                  <a:lnTo>
                    <a:pt x="1346200" y="514477"/>
                  </a:lnTo>
                  <a:lnTo>
                    <a:pt x="1422400" y="552577"/>
                  </a:lnTo>
                  <a:lnTo>
                    <a:pt x="1422400" y="527177"/>
                  </a:lnTo>
                  <a:lnTo>
                    <a:pt x="2961767" y="527177"/>
                  </a:lnTo>
                  <a:lnTo>
                    <a:pt x="2961767" y="1947291"/>
                  </a:lnTo>
                  <a:lnTo>
                    <a:pt x="1333500" y="1947291"/>
                  </a:lnTo>
                  <a:lnTo>
                    <a:pt x="1333500" y="1972691"/>
                  </a:lnTo>
                  <a:lnTo>
                    <a:pt x="2981452" y="1972691"/>
                  </a:lnTo>
                  <a:lnTo>
                    <a:pt x="2987167" y="1966976"/>
                  </a:lnTo>
                  <a:lnTo>
                    <a:pt x="2987167" y="1959991"/>
                  </a:lnTo>
                  <a:lnTo>
                    <a:pt x="2987167" y="1947291"/>
                  </a:lnTo>
                  <a:lnTo>
                    <a:pt x="2987167" y="527177"/>
                  </a:lnTo>
                  <a:lnTo>
                    <a:pt x="2987167" y="514477"/>
                  </a:lnTo>
                  <a:lnTo>
                    <a:pt x="2987167" y="50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Pre-Norm</a:t>
            </a:r>
            <a:r>
              <a:rPr spc="229" dirty="0"/>
              <a:t> </a:t>
            </a:r>
            <a:r>
              <a:rPr spc="-10" dirty="0"/>
              <a:t>Transformer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8739" y="4590815"/>
            <a:ext cx="418592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Baevski &amp;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Auli, “Adaptive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Input </a:t>
            </a:r>
            <a:r>
              <a:rPr sz="800" spc="-10" dirty="0">
                <a:latin typeface="Arial"/>
                <a:cs typeface="Arial"/>
              </a:rPr>
              <a:t>Representations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for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Neural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Language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Modeling”,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arXiv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2018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112</a:t>
            </a:fld>
            <a:endParaRPr spc="-25" dirty="0"/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883285" y="1343977"/>
            <a:ext cx="249936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Layer</a:t>
            </a:r>
            <a:r>
              <a:rPr sz="1400" b="1" spc="-10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9200"/>
                </a:solidFill>
                <a:latin typeface="Arial"/>
                <a:cs typeface="Arial"/>
              </a:rPr>
              <a:t>normalization</a:t>
            </a:r>
            <a:r>
              <a:rPr sz="1400" b="1" spc="-75" dirty="0">
                <a:solidFill>
                  <a:srgbClr val="FF9200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0" dirty="0">
                <a:latin typeface="Arial"/>
                <a:cs typeface="Arial"/>
              </a:rPr>
              <a:t> outside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residual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83285" y="1983041"/>
            <a:ext cx="264858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Kind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weird,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can’t </a:t>
            </a:r>
            <a:r>
              <a:rPr sz="1400" dirty="0">
                <a:latin typeface="Arial"/>
                <a:cs typeface="Arial"/>
              </a:rPr>
              <a:t>actually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learn 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identify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83285" y="2632138"/>
            <a:ext cx="2562225" cy="1092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35"/>
              </a:spcBef>
            </a:pPr>
            <a:r>
              <a:rPr sz="1400" b="1" dirty="0">
                <a:solidFill>
                  <a:srgbClr val="8AAB42"/>
                </a:solidFill>
                <a:latin typeface="Arial"/>
                <a:cs typeface="Arial"/>
              </a:rPr>
              <a:t>Solution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: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Move</a:t>
            </a:r>
            <a:r>
              <a:rPr sz="14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layer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normalization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before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the</a:t>
            </a:r>
            <a:r>
              <a:rPr sz="14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8AAB42"/>
                </a:solidFill>
                <a:latin typeface="Arial"/>
                <a:cs typeface="Arial"/>
              </a:rPr>
              <a:t>Self-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Attention</a:t>
            </a:r>
            <a:r>
              <a:rPr sz="14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and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MLP,</a:t>
            </a:r>
            <a:r>
              <a:rPr sz="1400" spc="-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inside</a:t>
            </a:r>
            <a:r>
              <a:rPr sz="1400" spc="-9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residual</a:t>
            </a:r>
            <a:r>
              <a:rPr sz="1400" spc="-6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connections.</a:t>
            </a:r>
            <a:r>
              <a:rPr sz="1400" spc="-6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Training</a:t>
            </a:r>
            <a:r>
              <a:rPr sz="1400" spc="-8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8AAB42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8AAB42"/>
                </a:solidFill>
                <a:latin typeface="Arial"/>
                <a:cs typeface="Arial"/>
              </a:rPr>
              <a:t>more</a:t>
            </a:r>
            <a:r>
              <a:rPr sz="1400" spc="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8AAB42"/>
                </a:solidFill>
                <a:latin typeface="Arial"/>
                <a:cs typeface="Arial"/>
              </a:rPr>
              <a:t>stable.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246125"/>
            <a:ext cx="3829050" cy="4318000"/>
            <a:chOff x="5195951" y="246125"/>
            <a:chExt cx="3829050" cy="4318000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50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51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08901" y="1598675"/>
            <a:ext cx="1546225" cy="298450"/>
            <a:chOff x="7208901" y="1598675"/>
            <a:chExt cx="1546225" cy="298450"/>
          </a:xfrm>
        </p:grpSpPr>
        <p:sp>
          <p:nvSpPr>
            <p:cNvPr id="24" name="object 24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733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33425" y="285750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0" y="285750"/>
                  </a:moveTo>
                  <a:lnTo>
                    <a:pt x="733425" y="285750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7239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23900" y="28575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285750"/>
                  </a:moveTo>
                  <a:lnTo>
                    <a:pt x="723900" y="2857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24876" y="1605025"/>
            <a:ext cx="72390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07076" y="1116075"/>
            <a:ext cx="3524250" cy="2999105"/>
            <a:chOff x="5307076" y="1116075"/>
            <a:chExt cx="3524250" cy="2999105"/>
          </a:xfrm>
        </p:grpSpPr>
        <p:sp>
          <p:nvSpPr>
            <p:cNvPr id="30" name="object 30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32670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67075" y="295275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0" y="295275"/>
                  </a:moveTo>
                  <a:lnTo>
                    <a:pt x="3267075" y="29527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563875"/>
              <a:ext cx="206375" cy="1968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07076" y="2624200"/>
              <a:ext cx="1794510" cy="1251585"/>
            </a:xfrm>
            <a:custGeom>
              <a:avLst/>
              <a:gdLst/>
              <a:ahLst/>
              <a:cxnLst/>
              <a:rect l="l" t="t" r="r" b="b"/>
              <a:pathLst>
                <a:path w="1794509" h="1251585">
                  <a:moveTo>
                    <a:pt x="1717928" y="25273"/>
                  </a:moveTo>
                  <a:lnTo>
                    <a:pt x="5587" y="25273"/>
                  </a:lnTo>
                  <a:lnTo>
                    <a:pt x="0" y="30987"/>
                  </a:lnTo>
                  <a:lnTo>
                    <a:pt x="0" y="1245362"/>
                  </a:lnTo>
                  <a:lnTo>
                    <a:pt x="5587" y="1251077"/>
                  </a:lnTo>
                  <a:lnTo>
                    <a:pt x="241173" y="1251077"/>
                  </a:lnTo>
                  <a:lnTo>
                    <a:pt x="241173" y="1238377"/>
                  </a:lnTo>
                  <a:lnTo>
                    <a:pt x="25400" y="1238377"/>
                  </a:lnTo>
                  <a:lnTo>
                    <a:pt x="12700" y="1225677"/>
                  </a:lnTo>
                  <a:lnTo>
                    <a:pt x="25400" y="1225677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273"/>
                  </a:lnTo>
                  <a:close/>
                </a:path>
                <a:path w="1794509" h="1251585">
                  <a:moveTo>
                    <a:pt x="25400" y="1225677"/>
                  </a:moveTo>
                  <a:lnTo>
                    <a:pt x="12700" y="1225677"/>
                  </a:lnTo>
                  <a:lnTo>
                    <a:pt x="25400" y="1238377"/>
                  </a:lnTo>
                  <a:lnTo>
                    <a:pt x="25400" y="1225677"/>
                  </a:lnTo>
                  <a:close/>
                </a:path>
                <a:path w="1794509" h="1251585">
                  <a:moveTo>
                    <a:pt x="241173" y="1225677"/>
                  </a:moveTo>
                  <a:lnTo>
                    <a:pt x="25400" y="1225677"/>
                  </a:lnTo>
                  <a:lnTo>
                    <a:pt x="25400" y="1238377"/>
                  </a:lnTo>
                  <a:lnTo>
                    <a:pt x="241173" y="1238377"/>
                  </a:lnTo>
                  <a:lnTo>
                    <a:pt x="241173" y="1225677"/>
                  </a:lnTo>
                  <a:close/>
                </a:path>
                <a:path w="1794509" h="1251585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273"/>
                  </a:lnTo>
                  <a:lnTo>
                    <a:pt x="1768475" y="25273"/>
                  </a:lnTo>
                  <a:lnTo>
                    <a:pt x="1717928" y="0"/>
                  </a:lnTo>
                  <a:close/>
                </a:path>
                <a:path w="1794509" h="125158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1251585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1251585">
                  <a:moveTo>
                    <a:pt x="1768475" y="25273"/>
                  </a:moveTo>
                  <a:lnTo>
                    <a:pt x="1730628" y="25273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475" y="25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251" y="1116075"/>
              <a:ext cx="206375" cy="20637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630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R="1169670" algn="r">
              <a:lnSpc>
                <a:spcPct val="100000"/>
              </a:lnSpc>
              <a:spcBef>
                <a:spcPts val="1570"/>
              </a:spcBef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201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42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70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948298" y="700023"/>
            <a:ext cx="2987675" cy="3081655"/>
            <a:chOff x="5948298" y="700023"/>
            <a:chExt cx="2987675" cy="3081655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099" y="2748025"/>
              <a:ext cx="76073" cy="13881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8" y="3586225"/>
              <a:ext cx="76200" cy="19532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8" y="3586225"/>
              <a:ext cx="76200" cy="19532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8" y="3586225"/>
              <a:ext cx="76200" cy="19532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8" y="3586225"/>
              <a:ext cx="76200" cy="19532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973699" y="1309750"/>
              <a:ext cx="2424430" cy="294640"/>
            </a:xfrm>
            <a:custGeom>
              <a:avLst/>
              <a:gdLst/>
              <a:ahLst/>
              <a:cxnLst/>
              <a:rect l="l" t="t" r="r" b="b"/>
              <a:pathLst>
                <a:path w="2424429" h="294640">
                  <a:moveTo>
                    <a:pt x="2424049" y="140081"/>
                  </a:moveTo>
                  <a:lnTo>
                    <a:pt x="2418334" y="134366"/>
                  </a:lnTo>
                  <a:lnTo>
                    <a:pt x="1612265" y="134366"/>
                  </a:lnTo>
                  <a:lnTo>
                    <a:pt x="1230757" y="134366"/>
                  </a:lnTo>
                  <a:lnTo>
                    <a:pt x="1230757" y="76200"/>
                  </a:lnTo>
                  <a:lnTo>
                    <a:pt x="1250950" y="76200"/>
                  </a:lnTo>
                  <a:lnTo>
                    <a:pt x="1255014" y="76200"/>
                  </a:lnTo>
                  <a:lnTo>
                    <a:pt x="1256157" y="76200"/>
                  </a:lnTo>
                  <a:lnTo>
                    <a:pt x="1249807" y="63500"/>
                  </a:lnTo>
                  <a:lnTo>
                    <a:pt x="1218057" y="0"/>
                  </a:lnTo>
                  <a:lnTo>
                    <a:pt x="1217485" y="1143"/>
                  </a:lnTo>
                  <a:lnTo>
                    <a:pt x="1216914" y="0"/>
                  </a:lnTo>
                  <a:lnTo>
                    <a:pt x="1214882" y="4064"/>
                  </a:lnTo>
                  <a:lnTo>
                    <a:pt x="1212850" y="0"/>
                  </a:lnTo>
                  <a:lnTo>
                    <a:pt x="1174750" y="76200"/>
                  </a:lnTo>
                  <a:lnTo>
                    <a:pt x="1178814" y="76200"/>
                  </a:lnTo>
                  <a:lnTo>
                    <a:pt x="1179957" y="76200"/>
                  </a:lnTo>
                  <a:lnTo>
                    <a:pt x="1200150" y="76200"/>
                  </a:lnTo>
                  <a:lnTo>
                    <a:pt x="1200150" y="134366"/>
                  </a:lnTo>
                  <a:lnTo>
                    <a:pt x="805815" y="134366"/>
                  </a:lnTo>
                  <a:lnTo>
                    <a:pt x="5715" y="134366"/>
                  </a:lnTo>
                  <a:lnTo>
                    <a:pt x="0" y="140081"/>
                  </a:lnTo>
                  <a:lnTo>
                    <a:pt x="0" y="294132"/>
                  </a:lnTo>
                  <a:lnTo>
                    <a:pt x="25400" y="294132"/>
                  </a:lnTo>
                  <a:lnTo>
                    <a:pt x="25400" y="159766"/>
                  </a:lnTo>
                  <a:lnTo>
                    <a:pt x="800100" y="159766"/>
                  </a:lnTo>
                  <a:lnTo>
                    <a:pt x="800100" y="294132"/>
                  </a:lnTo>
                  <a:lnTo>
                    <a:pt x="825500" y="294132"/>
                  </a:lnTo>
                  <a:lnTo>
                    <a:pt x="825500" y="159766"/>
                  </a:lnTo>
                  <a:lnTo>
                    <a:pt x="1205865" y="159766"/>
                  </a:lnTo>
                  <a:lnTo>
                    <a:pt x="1223899" y="159766"/>
                  </a:lnTo>
                  <a:lnTo>
                    <a:pt x="1225042" y="159766"/>
                  </a:lnTo>
                  <a:lnTo>
                    <a:pt x="1592580" y="159766"/>
                  </a:lnTo>
                  <a:lnTo>
                    <a:pt x="1592580" y="294132"/>
                  </a:lnTo>
                  <a:lnTo>
                    <a:pt x="1617980" y="294132"/>
                  </a:lnTo>
                  <a:lnTo>
                    <a:pt x="1617980" y="159766"/>
                  </a:lnTo>
                  <a:lnTo>
                    <a:pt x="2398649" y="159766"/>
                  </a:lnTo>
                  <a:lnTo>
                    <a:pt x="2398649" y="294132"/>
                  </a:lnTo>
                  <a:lnTo>
                    <a:pt x="2424049" y="294132"/>
                  </a:lnTo>
                  <a:lnTo>
                    <a:pt x="2424049" y="159766"/>
                  </a:lnTo>
                  <a:lnTo>
                    <a:pt x="2424049" y="14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8448" y="2452750"/>
              <a:ext cx="76200" cy="11925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48299" y="700023"/>
              <a:ext cx="2987675" cy="1972945"/>
            </a:xfrm>
            <a:custGeom>
              <a:avLst/>
              <a:gdLst/>
              <a:ahLst/>
              <a:cxnLst/>
              <a:rect l="l" t="t" r="r" b="b"/>
              <a:pathLst>
                <a:path w="2987675" h="1972945">
                  <a:moveTo>
                    <a:pt x="2474849" y="1266952"/>
                  </a:moveTo>
                  <a:lnTo>
                    <a:pt x="2468499" y="1254252"/>
                  </a:lnTo>
                  <a:lnTo>
                    <a:pt x="2436749" y="1190752"/>
                  </a:lnTo>
                  <a:lnTo>
                    <a:pt x="2398649" y="1266952"/>
                  </a:lnTo>
                  <a:lnTo>
                    <a:pt x="2424049" y="1266952"/>
                  </a:lnTo>
                  <a:lnTo>
                    <a:pt x="2424049" y="1311021"/>
                  </a:lnTo>
                  <a:lnTo>
                    <a:pt x="1643380" y="1311021"/>
                  </a:lnTo>
                  <a:lnTo>
                    <a:pt x="1643380" y="1266952"/>
                  </a:lnTo>
                  <a:lnTo>
                    <a:pt x="1668780" y="1266952"/>
                  </a:lnTo>
                  <a:lnTo>
                    <a:pt x="1662430" y="1254252"/>
                  </a:lnTo>
                  <a:lnTo>
                    <a:pt x="1630680" y="1190752"/>
                  </a:lnTo>
                  <a:lnTo>
                    <a:pt x="1592580" y="1266952"/>
                  </a:lnTo>
                  <a:lnTo>
                    <a:pt x="1617980" y="1266952"/>
                  </a:lnTo>
                  <a:lnTo>
                    <a:pt x="1617980" y="1311021"/>
                  </a:lnTo>
                  <a:lnTo>
                    <a:pt x="1250442" y="1311021"/>
                  </a:lnTo>
                  <a:lnTo>
                    <a:pt x="1249299" y="1311021"/>
                  </a:lnTo>
                  <a:lnTo>
                    <a:pt x="1231265" y="1311021"/>
                  </a:lnTo>
                  <a:lnTo>
                    <a:pt x="851027" y="1311021"/>
                  </a:lnTo>
                  <a:lnTo>
                    <a:pt x="851027" y="1266825"/>
                  </a:lnTo>
                  <a:lnTo>
                    <a:pt x="876300" y="1266825"/>
                  </a:lnTo>
                  <a:lnTo>
                    <a:pt x="869950" y="1254125"/>
                  </a:lnTo>
                  <a:lnTo>
                    <a:pt x="838200" y="1190625"/>
                  </a:lnTo>
                  <a:lnTo>
                    <a:pt x="800100" y="1266825"/>
                  </a:lnTo>
                  <a:lnTo>
                    <a:pt x="825500" y="1266825"/>
                  </a:lnTo>
                  <a:lnTo>
                    <a:pt x="825500" y="1311021"/>
                  </a:lnTo>
                  <a:lnTo>
                    <a:pt x="50800" y="1311021"/>
                  </a:lnTo>
                  <a:lnTo>
                    <a:pt x="50800" y="1266825"/>
                  </a:lnTo>
                  <a:lnTo>
                    <a:pt x="76200" y="1266825"/>
                  </a:lnTo>
                  <a:lnTo>
                    <a:pt x="69850" y="1254125"/>
                  </a:lnTo>
                  <a:lnTo>
                    <a:pt x="38100" y="1190625"/>
                  </a:lnTo>
                  <a:lnTo>
                    <a:pt x="0" y="1266825"/>
                  </a:lnTo>
                  <a:lnTo>
                    <a:pt x="25400" y="1266825"/>
                  </a:lnTo>
                  <a:lnTo>
                    <a:pt x="25400" y="1330706"/>
                  </a:lnTo>
                  <a:lnTo>
                    <a:pt x="31115" y="1336421"/>
                  </a:lnTo>
                  <a:lnTo>
                    <a:pt x="831215" y="1336421"/>
                  </a:lnTo>
                  <a:lnTo>
                    <a:pt x="1225550" y="1336421"/>
                  </a:lnTo>
                  <a:lnTo>
                    <a:pt x="1225550" y="1456817"/>
                  </a:lnTo>
                  <a:lnTo>
                    <a:pt x="1229614" y="1456817"/>
                  </a:lnTo>
                  <a:lnTo>
                    <a:pt x="1230757" y="1456817"/>
                  </a:lnTo>
                  <a:lnTo>
                    <a:pt x="1250950" y="1456817"/>
                  </a:lnTo>
                  <a:lnTo>
                    <a:pt x="1255014" y="1456817"/>
                  </a:lnTo>
                  <a:lnTo>
                    <a:pt x="1256157" y="1456817"/>
                  </a:lnTo>
                  <a:lnTo>
                    <a:pt x="1256157" y="1336421"/>
                  </a:lnTo>
                  <a:lnTo>
                    <a:pt x="1637665" y="1336421"/>
                  </a:lnTo>
                  <a:lnTo>
                    <a:pt x="2443734" y="1336421"/>
                  </a:lnTo>
                  <a:lnTo>
                    <a:pt x="2449449" y="1330706"/>
                  </a:lnTo>
                  <a:lnTo>
                    <a:pt x="2449449" y="1311021"/>
                  </a:lnTo>
                  <a:lnTo>
                    <a:pt x="2449449" y="1266952"/>
                  </a:lnTo>
                  <a:lnTo>
                    <a:pt x="2474849" y="1266952"/>
                  </a:lnTo>
                  <a:close/>
                </a:path>
                <a:path w="2987675" h="1972945">
                  <a:moveTo>
                    <a:pt x="2474849" y="76327"/>
                  </a:moveTo>
                  <a:lnTo>
                    <a:pt x="2468499" y="63627"/>
                  </a:lnTo>
                  <a:lnTo>
                    <a:pt x="2436749" y="127"/>
                  </a:lnTo>
                  <a:lnTo>
                    <a:pt x="2398649" y="76327"/>
                  </a:lnTo>
                  <a:lnTo>
                    <a:pt x="2424049" y="76327"/>
                  </a:lnTo>
                  <a:lnTo>
                    <a:pt x="2424049" y="292608"/>
                  </a:lnTo>
                  <a:lnTo>
                    <a:pt x="1643380" y="292608"/>
                  </a:lnTo>
                  <a:lnTo>
                    <a:pt x="1643380" y="76327"/>
                  </a:lnTo>
                  <a:lnTo>
                    <a:pt x="1668780" y="76327"/>
                  </a:lnTo>
                  <a:lnTo>
                    <a:pt x="1662430" y="63627"/>
                  </a:lnTo>
                  <a:lnTo>
                    <a:pt x="1630680" y="127"/>
                  </a:lnTo>
                  <a:lnTo>
                    <a:pt x="1592580" y="76327"/>
                  </a:lnTo>
                  <a:lnTo>
                    <a:pt x="1617980" y="76327"/>
                  </a:lnTo>
                  <a:lnTo>
                    <a:pt x="1617980" y="292608"/>
                  </a:lnTo>
                  <a:lnTo>
                    <a:pt x="1249299" y="292608"/>
                  </a:lnTo>
                  <a:lnTo>
                    <a:pt x="1245616" y="292608"/>
                  </a:lnTo>
                  <a:lnTo>
                    <a:pt x="1231265" y="292608"/>
                  </a:lnTo>
                  <a:lnTo>
                    <a:pt x="851027" y="292608"/>
                  </a:lnTo>
                  <a:lnTo>
                    <a:pt x="851027" y="76200"/>
                  </a:lnTo>
                  <a:lnTo>
                    <a:pt x="876300" y="76200"/>
                  </a:lnTo>
                  <a:lnTo>
                    <a:pt x="869950" y="63500"/>
                  </a:lnTo>
                  <a:lnTo>
                    <a:pt x="838200" y="0"/>
                  </a:lnTo>
                  <a:lnTo>
                    <a:pt x="800100" y="76200"/>
                  </a:lnTo>
                  <a:lnTo>
                    <a:pt x="825500" y="76200"/>
                  </a:lnTo>
                  <a:lnTo>
                    <a:pt x="825500" y="292608"/>
                  </a:lnTo>
                  <a:lnTo>
                    <a:pt x="50800" y="292608"/>
                  </a:lnTo>
                  <a:lnTo>
                    <a:pt x="50800" y="76327"/>
                  </a:lnTo>
                  <a:lnTo>
                    <a:pt x="76200" y="76327"/>
                  </a:lnTo>
                  <a:lnTo>
                    <a:pt x="69850" y="63627"/>
                  </a:lnTo>
                  <a:lnTo>
                    <a:pt x="38100" y="127"/>
                  </a:lnTo>
                  <a:lnTo>
                    <a:pt x="0" y="76327"/>
                  </a:lnTo>
                  <a:lnTo>
                    <a:pt x="25400" y="76327"/>
                  </a:lnTo>
                  <a:lnTo>
                    <a:pt x="25400" y="312420"/>
                  </a:lnTo>
                  <a:lnTo>
                    <a:pt x="31115" y="318008"/>
                  </a:lnTo>
                  <a:lnTo>
                    <a:pt x="831215" y="318008"/>
                  </a:lnTo>
                  <a:lnTo>
                    <a:pt x="1225550" y="318008"/>
                  </a:lnTo>
                  <a:lnTo>
                    <a:pt x="1225550" y="428752"/>
                  </a:lnTo>
                  <a:lnTo>
                    <a:pt x="1225931" y="428752"/>
                  </a:lnTo>
                  <a:lnTo>
                    <a:pt x="1229614" y="428752"/>
                  </a:lnTo>
                  <a:lnTo>
                    <a:pt x="1250950" y="428752"/>
                  </a:lnTo>
                  <a:lnTo>
                    <a:pt x="1251331" y="428752"/>
                  </a:lnTo>
                  <a:lnTo>
                    <a:pt x="1255014" y="428752"/>
                  </a:lnTo>
                  <a:lnTo>
                    <a:pt x="1255014" y="318008"/>
                  </a:lnTo>
                  <a:lnTo>
                    <a:pt x="1637665" y="318008"/>
                  </a:lnTo>
                  <a:lnTo>
                    <a:pt x="2443734" y="318008"/>
                  </a:lnTo>
                  <a:lnTo>
                    <a:pt x="2449449" y="312420"/>
                  </a:lnTo>
                  <a:lnTo>
                    <a:pt x="2449449" y="292608"/>
                  </a:lnTo>
                  <a:lnTo>
                    <a:pt x="2449449" y="76327"/>
                  </a:lnTo>
                  <a:lnTo>
                    <a:pt x="2474849" y="76327"/>
                  </a:lnTo>
                  <a:close/>
                </a:path>
                <a:path w="2987675" h="1972945">
                  <a:moveTo>
                    <a:pt x="2987167" y="507365"/>
                  </a:moveTo>
                  <a:lnTo>
                    <a:pt x="2981452" y="501777"/>
                  </a:lnTo>
                  <a:lnTo>
                    <a:pt x="1422400" y="501777"/>
                  </a:lnTo>
                  <a:lnTo>
                    <a:pt x="1422400" y="476377"/>
                  </a:lnTo>
                  <a:lnTo>
                    <a:pt x="1346200" y="514477"/>
                  </a:lnTo>
                  <a:lnTo>
                    <a:pt x="1422400" y="552577"/>
                  </a:lnTo>
                  <a:lnTo>
                    <a:pt x="1422400" y="527177"/>
                  </a:lnTo>
                  <a:lnTo>
                    <a:pt x="2961767" y="527177"/>
                  </a:lnTo>
                  <a:lnTo>
                    <a:pt x="2961767" y="1947291"/>
                  </a:lnTo>
                  <a:lnTo>
                    <a:pt x="1333500" y="1947291"/>
                  </a:lnTo>
                  <a:lnTo>
                    <a:pt x="1333500" y="1972691"/>
                  </a:lnTo>
                  <a:lnTo>
                    <a:pt x="2981452" y="1972691"/>
                  </a:lnTo>
                  <a:lnTo>
                    <a:pt x="2987167" y="1966976"/>
                  </a:lnTo>
                  <a:lnTo>
                    <a:pt x="2987167" y="1959991"/>
                  </a:lnTo>
                  <a:lnTo>
                    <a:pt x="2987167" y="1947291"/>
                  </a:lnTo>
                  <a:lnTo>
                    <a:pt x="2987167" y="527177"/>
                  </a:lnTo>
                  <a:lnTo>
                    <a:pt x="2987167" y="514477"/>
                  </a:lnTo>
                  <a:lnTo>
                    <a:pt x="2987167" y="50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RMSNorm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12115" y="833437"/>
            <a:ext cx="2305685" cy="673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Replace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Layer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Normalization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Root-Mean-Square </a:t>
            </a:r>
            <a:r>
              <a:rPr sz="1400" dirty="0">
                <a:latin typeface="Arial"/>
                <a:cs typeface="Arial"/>
              </a:rPr>
              <a:t>Normalization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(RMSNorm)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2115" y="1692211"/>
            <a:ext cx="1628775" cy="673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14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[shape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 </a:t>
            </a:r>
            <a:r>
              <a:rPr sz="1400" b="1" dirty="0"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[shape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 </a:t>
            </a:r>
            <a:r>
              <a:rPr sz="1400" b="1" dirty="0">
                <a:latin typeface="Arial"/>
                <a:cs typeface="Arial"/>
              </a:rPr>
              <a:t>Weight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Cambria Math"/>
                <a:cs typeface="Cambria Math"/>
              </a:rPr>
              <a:t>𝛾</a:t>
            </a:r>
            <a:r>
              <a:rPr sz="1400" spc="95" dirty="0">
                <a:latin typeface="Cambria Math"/>
                <a:cs typeface="Cambria Math"/>
              </a:rPr>
              <a:t> </a:t>
            </a:r>
            <a:r>
              <a:rPr sz="1400" dirty="0">
                <a:latin typeface="Arial"/>
                <a:cs typeface="Arial"/>
              </a:rPr>
              <a:t>[shape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37882" y="2740977"/>
            <a:ext cx="8572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16280" y="2637091"/>
            <a:ext cx="455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780" algn="l"/>
              </a:tabLst>
            </a:pP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224318" y="2797301"/>
            <a:ext cx="790575" cy="19050"/>
          </a:xfrm>
          <a:custGeom>
            <a:avLst/>
            <a:gdLst/>
            <a:ahLst/>
            <a:cxnLst/>
            <a:rect l="l" t="t" r="r" b="b"/>
            <a:pathLst>
              <a:path w="790575" h="19050">
                <a:moveTo>
                  <a:pt x="790536" y="0"/>
                </a:moveTo>
                <a:lnTo>
                  <a:pt x="0" y="0"/>
                </a:lnTo>
                <a:lnTo>
                  <a:pt x="0" y="19050"/>
                </a:lnTo>
                <a:lnTo>
                  <a:pt x="790536" y="19050"/>
                </a:lnTo>
                <a:lnTo>
                  <a:pt x="7905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481836" y="2463863"/>
            <a:ext cx="256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2025" spc="-37" baseline="-14403" dirty="0">
                <a:latin typeface="Cambria Math"/>
                <a:cs typeface="Cambria Math"/>
              </a:rPr>
              <a:t>𝑖</a:t>
            </a:r>
            <a:endParaRPr sz="2025" baseline="-14403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10627" y="2790507"/>
            <a:ext cx="812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𝑅𝑀𝑆(𝑥)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48510" y="2637091"/>
            <a:ext cx="307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∗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𝛾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323845" y="2740977"/>
            <a:ext cx="8572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65" name="object 6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3808" y="3347720"/>
            <a:ext cx="217728" cy="167640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1371346" y="3111372"/>
            <a:ext cx="1234440" cy="603885"/>
          </a:xfrm>
          <a:custGeom>
            <a:avLst/>
            <a:gdLst/>
            <a:ahLst/>
            <a:cxnLst/>
            <a:rect l="l" t="t" r="r" b="b"/>
            <a:pathLst>
              <a:path w="1234439" h="603885">
                <a:moveTo>
                  <a:pt x="567309" y="314579"/>
                </a:moveTo>
                <a:lnTo>
                  <a:pt x="433959" y="314579"/>
                </a:lnTo>
                <a:lnTo>
                  <a:pt x="433959" y="324104"/>
                </a:lnTo>
                <a:lnTo>
                  <a:pt x="567309" y="324104"/>
                </a:lnTo>
                <a:lnTo>
                  <a:pt x="567309" y="314579"/>
                </a:lnTo>
                <a:close/>
              </a:path>
              <a:path w="1234439" h="603885">
                <a:moveTo>
                  <a:pt x="1234059" y="9779"/>
                </a:moveTo>
                <a:lnTo>
                  <a:pt x="141986" y="9779"/>
                </a:lnTo>
                <a:lnTo>
                  <a:pt x="141986" y="0"/>
                </a:lnTo>
                <a:lnTo>
                  <a:pt x="114427" y="0"/>
                </a:lnTo>
                <a:lnTo>
                  <a:pt x="76962" y="568706"/>
                </a:lnTo>
                <a:lnTo>
                  <a:pt x="31877" y="485267"/>
                </a:lnTo>
                <a:lnTo>
                  <a:pt x="0" y="502158"/>
                </a:lnTo>
                <a:lnTo>
                  <a:pt x="3429" y="508508"/>
                </a:lnTo>
                <a:lnTo>
                  <a:pt x="20193" y="499491"/>
                </a:lnTo>
                <a:lnTo>
                  <a:pt x="76581" y="603377"/>
                </a:lnTo>
                <a:lnTo>
                  <a:pt x="84709" y="603377"/>
                </a:lnTo>
                <a:lnTo>
                  <a:pt x="124206" y="11684"/>
                </a:lnTo>
                <a:lnTo>
                  <a:pt x="129159" y="11684"/>
                </a:lnTo>
                <a:lnTo>
                  <a:pt x="129159" y="19304"/>
                </a:lnTo>
                <a:lnTo>
                  <a:pt x="1234059" y="19304"/>
                </a:lnTo>
                <a:lnTo>
                  <a:pt x="1234059" y="9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810385" y="3160712"/>
            <a:ext cx="126364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8739" y="4590815"/>
            <a:ext cx="3569335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Zhang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and</a:t>
            </a:r>
            <a:r>
              <a:rPr sz="800" spc="-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Sennrich,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“Root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Mean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Square </a:t>
            </a:r>
            <a:r>
              <a:rPr sz="800" dirty="0">
                <a:latin typeface="Arial"/>
                <a:cs typeface="Arial"/>
              </a:rPr>
              <a:t>Layer</a:t>
            </a:r>
            <a:r>
              <a:rPr sz="800" spc="-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Normalization”,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NeurIPS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2019</a:t>
            </a:r>
            <a:endParaRPr sz="8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81" name="object 8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113</a:t>
            </a:fld>
            <a:endParaRPr spc="-25" dirty="0"/>
          </a:p>
        </p:txBody>
      </p:sp>
      <p:sp>
        <p:nvSpPr>
          <p:cNvPr id="82" name="object 8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489584" y="3295586"/>
            <a:ext cx="17716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696595" algn="l"/>
                <a:tab pos="1016000" algn="l"/>
              </a:tabLst>
            </a:pPr>
            <a:r>
              <a:rPr sz="1400" dirty="0">
                <a:latin typeface="Cambria Math"/>
                <a:cs typeface="Cambria Math"/>
              </a:rPr>
              <a:t>𝑅𝑀𝑆</a:t>
            </a:r>
            <a:r>
              <a:rPr sz="1400" spc="28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𝑥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=</a:t>
            </a:r>
            <a:r>
              <a:rPr sz="1400" dirty="0">
                <a:latin typeface="Cambria Math"/>
                <a:cs typeface="Cambria Math"/>
              </a:rPr>
              <a:t>	𝜀</a:t>
            </a:r>
            <a:r>
              <a:rPr sz="1400" spc="4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 </a:t>
            </a:r>
            <a:r>
              <a:rPr sz="2100" baseline="-37698" dirty="0">
                <a:latin typeface="Cambria Math"/>
                <a:cs typeface="Cambria Math"/>
              </a:rPr>
              <a:t>𝑁</a:t>
            </a:r>
            <a:r>
              <a:rPr sz="2100" spc="-75" baseline="-37698" dirty="0">
                <a:latin typeface="Cambria Math"/>
                <a:cs typeface="Cambria Math"/>
              </a:rPr>
              <a:t> </a:t>
            </a:r>
            <a:r>
              <a:rPr sz="1400" spc="780" dirty="0">
                <a:latin typeface="Cambria Math"/>
                <a:cs typeface="Cambria Math"/>
              </a:rPr>
              <a:t>෍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192654" y="3490277"/>
            <a:ext cx="2470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latin typeface="Cambria Math"/>
                <a:cs typeface="Cambria Math"/>
              </a:rPr>
              <a:t>𝑖=1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192654" y="3162236"/>
            <a:ext cx="12700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Cambria Math"/>
                <a:cs typeface="Cambria Math"/>
              </a:rPr>
              <a:t>𝑁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386329" y="3295586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ambria Math"/>
                <a:cs typeface="Cambria Math"/>
              </a:rPr>
              <a:t>𝑥</a:t>
            </a:r>
            <a:r>
              <a:rPr sz="1575" spc="-37" baseline="-21164" dirty="0">
                <a:latin typeface="Cambria Math"/>
                <a:cs typeface="Cambria Math"/>
              </a:rPr>
              <a:t>𝑖</a:t>
            </a:r>
            <a:endParaRPr sz="1575" baseline="-21164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516885" y="3276536"/>
            <a:ext cx="10287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12115" y="3906202"/>
            <a:ext cx="22015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Training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bit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stable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246125"/>
            <a:ext cx="3829050" cy="4318000"/>
            <a:chOff x="5195951" y="246125"/>
            <a:chExt cx="3829050" cy="4318000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50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51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08901" y="1598675"/>
            <a:ext cx="1546225" cy="298450"/>
            <a:chOff x="7208901" y="1598675"/>
            <a:chExt cx="1546225" cy="298450"/>
          </a:xfrm>
        </p:grpSpPr>
        <p:sp>
          <p:nvSpPr>
            <p:cNvPr id="24" name="object 24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733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33425" y="285750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0" y="285750"/>
                  </a:moveTo>
                  <a:lnTo>
                    <a:pt x="733425" y="285750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7239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23900" y="28575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285750"/>
                  </a:moveTo>
                  <a:lnTo>
                    <a:pt x="723900" y="2857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24876" y="1605025"/>
            <a:ext cx="72390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07076" y="1116075"/>
            <a:ext cx="3524250" cy="2999105"/>
            <a:chOff x="5307076" y="1116075"/>
            <a:chExt cx="3524250" cy="2999105"/>
          </a:xfrm>
        </p:grpSpPr>
        <p:sp>
          <p:nvSpPr>
            <p:cNvPr id="30" name="object 30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32670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67075" y="295275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0" y="295275"/>
                  </a:moveTo>
                  <a:lnTo>
                    <a:pt x="3267075" y="29527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563875"/>
              <a:ext cx="206375" cy="1968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07076" y="2624200"/>
              <a:ext cx="1794510" cy="1251585"/>
            </a:xfrm>
            <a:custGeom>
              <a:avLst/>
              <a:gdLst/>
              <a:ahLst/>
              <a:cxnLst/>
              <a:rect l="l" t="t" r="r" b="b"/>
              <a:pathLst>
                <a:path w="1794509" h="1251585">
                  <a:moveTo>
                    <a:pt x="1717928" y="25273"/>
                  </a:moveTo>
                  <a:lnTo>
                    <a:pt x="5587" y="25273"/>
                  </a:lnTo>
                  <a:lnTo>
                    <a:pt x="0" y="30987"/>
                  </a:lnTo>
                  <a:lnTo>
                    <a:pt x="0" y="1245362"/>
                  </a:lnTo>
                  <a:lnTo>
                    <a:pt x="5587" y="1251077"/>
                  </a:lnTo>
                  <a:lnTo>
                    <a:pt x="241173" y="1251077"/>
                  </a:lnTo>
                  <a:lnTo>
                    <a:pt x="241173" y="1238377"/>
                  </a:lnTo>
                  <a:lnTo>
                    <a:pt x="25400" y="1238377"/>
                  </a:lnTo>
                  <a:lnTo>
                    <a:pt x="12700" y="1225677"/>
                  </a:lnTo>
                  <a:lnTo>
                    <a:pt x="25400" y="1225677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273"/>
                  </a:lnTo>
                  <a:close/>
                </a:path>
                <a:path w="1794509" h="1251585">
                  <a:moveTo>
                    <a:pt x="25400" y="1225677"/>
                  </a:moveTo>
                  <a:lnTo>
                    <a:pt x="12700" y="1225677"/>
                  </a:lnTo>
                  <a:lnTo>
                    <a:pt x="25400" y="1238377"/>
                  </a:lnTo>
                  <a:lnTo>
                    <a:pt x="25400" y="1225677"/>
                  </a:lnTo>
                  <a:close/>
                </a:path>
                <a:path w="1794509" h="1251585">
                  <a:moveTo>
                    <a:pt x="241173" y="1225677"/>
                  </a:moveTo>
                  <a:lnTo>
                    <a:pt x="25400" y="1225677"/>
                  </a:lnTo>
                  <a:lnTo>
                    <a:pt x="25400" y="1238377"/>
                  </a:lnTo>
                  <a:lnTo>
                    <a:pt x="241173" y="1238377"/>
                  </a:lnTo>
                  <a:lnTo>
                    <a:pt x="241173" y="1225677"/>
                  </a:lnTo>
                  <a:close/>
                </a:path>
                <a:path w="1794509" h="1251585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273"/>
                  </a:lnTo>
                  <a:lnTo>
                    <a:pt x="1768475" y="25273"/>
                  </a:lnTo>
                  <a:lnTo>
                    <a:pt x="1717928" y="0"/>
                  </a:lnTo>
                  <a:close/>
                </a:path>
                <a:path w="1794509" h="125158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1251585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1251585">
                  <a:moveTo>
                    <a:pt x="1768475" y="25273"/>
                  </a:moveTo>
                  <a:lnTo>
                    <a:pt x="1730628" y="25273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475" y="25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251" y="1116075"/>
              <a:ext cx="206375" cy="20637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630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R="1169670" algn="r">
              <a:lnSpc>
                <a:spcPct val="100000"/>
              </a:lnSpc>
              <a:spcBef>
                <a:spcPts val="1570"/>
              </a:spcBef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201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42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70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948298" y="700023"/>
            <a:ext cx="2987675" cy="3081655"/>
            <a:chOff x="5948298" y="700023"/>
            <a:chExt cx="2987675" cy="3081655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099" y="2748025"/>
              <a:ext cx="76073" cy="13881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8" y="3586225"/>
              <a:ext cx="76200" cy="19532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8" y="3586225"/>
              <a:ext cx="76200" cy="19532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8" y="3586225"/>
              <a:ext cx="76200" cy="19532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8" y="3586225"/>
              <a:ext cx="76200" cy="19532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973699" y="1309750"/>
              <a:ext cx="2424430" cy="294640"/>
            </a:xfrm>
            <a:custGeom>
              <a:avLst/>
              <a:gdLst/>
              <a:ahLst/>
              <a:cxnLst/>
              <a:rect l="l" t="t" r="r" b="b"/>
              <a:pathLst>
                <a:path w="2424429" h="294640">
                  <a:moveTo>
                    <a:pt x="2424049" y="140081"/>
                  </a:moveTo>
                  <a:lnTo>
                    <a:pt x="2418334" y="134366"/>
                  </a:lnTo>
                  <a:lnTo>
                    <a:pt x="1612265" y="134366"/>
                  </a:lnTo>
                  <a:lnTo>
                    <a:pt x="1230757" y="134366"/>
                  </a:lnTo>
                  <a:lnTo>
                    <a:pt x="1230757" y="76200"/>
                  </a:lnTo>
                  <a:lnTo>
                    <a:pt x="1250950" y="76200"/>
                  </a:lnTo>
                  <a:lnTo>
                    <a:pt x="1255014" y="76200"/>
                  </a:lnTo>
                  <a:lnTo>
                    <a:pt x="1256157" y="76200"/>
                  </a:lnTo>
                  <a:lnTo>
                    <a:pt x="1249807" y="63500"/>
                  </a:lnTo>
                  <a:lnTo>
                    <a:pt x="1218057" y="0"/>
                  </a:lnTo>
                  <a:lnTo>
                    <a:pt x="1217485" y="1143"/>
                  </a:lnTo>
                  <a:lnTo>
                    <a:pt x="1216914" y="0"/>
                  </a:lnTo>
                  <a:lnTo>
                    <a:pt x="1214882" y="4064"/>
                  </a:lnTo>
                  <a:lnTo>
                    <a:pt x="1212850" y="0"/>
                  </a:lnTo>
                  <a:lnTo>
                    <a:pt x="1174750" y="76200"/>
                  </a:lnTo>
                  <a:lnTo>
                    <a:pt x="1178814" y="76200"/>
                  </a:lnTo>
                  <a:lnTo>
                    <a:pt x="1179957" y="76200"/>
                  </a:lnTo>
                  <a:lnTo>
                    <a:pt x="1200150" y="76200"/>
                  </a:lnTo>
                  <a:lnTo>
                    <a:pt x="1200150" y="134366"/>
                  </a:lnTo>
                  <a:lnTo>
                    <a:pt x="805815" y="134366"/>
                  </a:lnTo>
                  <a:lnTo>
                    <a:pt x="5715" y="134366"/>
                  </a:lnTo>
                  <a:lnTo>
                    <a:pt x="0" y="140081"/>
                  </a:lnTo>
                  <a:lnTo>
                    <a:pt x="0" y="294132"/>
                  </a:lnTo>
                  <a:lnTo>
                    <a:pt x="25400" y="294132"/>
                  </a:lnTo>
                  <a:lnTo>
                    <a:pt x="25400" y="159766"/>
                  </a:lnTo>
                  <a:lnTo>
                    <a:pt x="800100" y="159766"/>
                  </a:lnTo>
                  <a:lnTo>
                    <a:pt x="800100" y="294132"/>
                  </a:lnTo>
                  <a:lnTo>
                    <a:pt x="825500" y="294132"/>
                  </a:lnTo>
                  <a:lnTo>
                    <a:pt x="825500" y="159766"/>
                  </a:lnTo>
                  <a:lnTo>
                    <a:pt x="1205865" y="159766"/>
                  </a:lnTo>
                  <a:lnTo>
                    <a:pt x="1223899" y="159766"/>
                  </a:lnTo>
                  <a:lnTo>
                    <a:pt x="1225042" y="159766"/>
                  </a:lnTo>
                  <a:lnTo>
                    <a:pt x="1592580" y="159766"/>
                  </a:lnTo>
                  <a:lnTo>
                    <a:pt x="1592580" y="294132"/>
                  </a:lnTo>
                  <a:lnTo>
                    <a:pt x="1617980" y="294132"/>
                  </a:lnTo>
                  <a:lnTo>
                    <a:pt x="1617980" y="159766"/>
                  </a:lnTo>
                  <a:lnTo>
                    <a:pt x="2398649" y="159766"/>
                  </a:lnTo>
                  <a:lnTo>
                    <a:pt x="2398649" y="294132"/>
                  </a:lnTo>
                  <a:lnTo>
                    <a:pt x="2424049" y="294132"/>
                  </a:lnTo>
                  <a:lnTo>
                    <a:pt x="2424049" y="159766"/>
                  </a:lnTo>
                  <a:lnTo>
                    <a:pt x="2424049" y="14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8448" y="2452750"/>
              <a:ext cx="76200" cy="11925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48299" y="700023"/>
              <a:ext cx="2987675" cy="1972945"/>
            </a:xfrm>
            <a:custGeom>
              <a:avLst/>
              <a:gdLst/>
              <a:ahLst/>
              <a:cxnLst/>
              <a:rect l="l" t="t" r="r" b="b"/>
              <a:pathLst>
                <a:path w="2987675" h="1972945">
                  <a:moveTo>
                    <a:pt x="2474849" y="1266952"/>
                  </a:moveTo>
                  <a:lnTo>
                    <a:pt x="2468499" y="1254252"/>
                  </a:lnTo>
                  <a:lnTo>
                    <a:pt x="2436749" y="1190752"/>
                  </a:lnTo>
                  <a:lnTo>
                    <a:pt x="2398649" y="1266952"/>
                  </a:lnTo>
                  <a:lnTo>
                    <a:pt x="2424049" y="1266952"/>
                  </a:lnTo>
                  <a:lnTo>
                    <a:pt x="2424049" y="1311021"/>
                  </a:lnTo>
                  <a:lnTo>
                    <a:pt x="1643380" y="1311021"/>
                  </a:lnTo>
                  <a:lnTo>
                    <a:pt x="1643380" y="1266952"/>
                  </a:lnTo>
                  <a:lnTo>
                    <a:pt x="1668780" y="1266952"/>
                  </a:lnTo>
                  <a:lnTo>
                    <a:pt x="1662430" y="1254252"/>
                  </a:lnTo>
                  <a:lnTo>
                    <a:pt x="1630680" y="1190752"/>
                  </a:lnTo>
                  <a:lnTo>
                    <a:pt x="1592580" y="1266952"/>
                  </a:lnTo>
                  <a:lnTo>
                    <a:pt x="1617980" y="1266952"/>
                  </a:lnTo>
                  <a:lnTo>
                    <a:pt x="1617980" y="1311021"/>
                  </a:lnTo>
                  <a:lnTo>
                    <a:pt x="1250442" y="1311021"/>
                  </a:lnTo>
                  <a:lnTo>
                    <a:pt x="1249299" y="1311021"/>
                  </a:lnTo>
                  <a:lnTo>
                    <a:pt x="1231265" y="1311021"/>
                  </a:lnTo>
                  <a:lnTo>
                    <a:pt x="851027" y="1311021"/>
                  </a:lnTo>
                  <a:lnTo>
                    <a:pt x="851027" y="1266825"/>
                  </a:lnTo>
                  <a:lnTo>
                    <a:pt x="876300" y="1266825"/>
                  </a:lnTo>
                  <a:lnTo>
                    <a:pt x="869950" y="1254125"/>
                  </a:lnTo>
                  <a:lnTo>
                    <a:pt x="838200" y="1190625"/>
                  </a:lnTo>
                  <a:lnTo>
                    <a:pt x="800100" y="1266825"/>
                  </a:lnTo>
                  <a:lnTo>
                    <a:pt x="825500" y="1266825"/>
                  </a:lnTo>
                  <a:lnTo>
                    <a:pt x="825500" y="1311021"/>
                  </a:lnTo>
                  <a:lnTo>
                    <a:pt x="50800" y="1311021"/>
                  </a:lnTo>
                  <a:lnTo>
                    <a:pt x="50800" y="1266825"/>
                  </a:lnTo>
                  <a:lnTo>
                    <a:pt x="76200" y="1266825"/>
                  </a:lnTo>
                  <a:lnTo>
                    <a:pt x="69850" y="1254125"/>
                  </a:lnTo>
                  <a:lnTo>
                    <a:pt x="38100" y="1190625"/>
                  </a:lnTo>
                  <a:lnTo>
                    <a:pt x="0" y="1266825"/>
                  </a:lnTo>
                  <a:lnTo>
                    <a:pt x="25400" y="1266825"/>
                  </a:lnTo>
                  <a:lnTo>
                    <a:pt x="25400" y="1330706"/>
                  </a:lnTo>
                  <a:lnTo>
                    <a:pt x="31115" y="1336421"/>
                  </a:lnTo>
                  <a:lnTo>
                    <a:pt x="831215" y="1336421"/>
                  </a:lnTo>
                  <a:lnTo>
                    <a:pt x="1225550" y="1336421"/>
                  </a:lnTo>
                  <a:lnTo>
                    <a:pt x="1225550" y="1456817"/>
                  </a:lnTo>
                  <a:lnTo>
                    <a:pt x="1229614" y="1456817"/>
                  </a:lnTo>
                  <a:lnTo>
                    <a:pt x="1230757" y="1456817"/>
                  </a:lnTo>
                  <a:lnTo>
                    <a:pt x="1250950" y="1456817"/>
                  </a:lnTo>
                  <a:lnTo>
                    <a:pt x="1255014" y="1456817"/>
                  </a:lnTo>
                  <a:lnTo>
                    <a:pt x="1256157" y="1456817"/>
                  </a:lnTo>
                  <a:lnTo>
                    <a:pt x="1256157" y="1336421"/>
                  </a:lnTo>
                  <a:lnTo>
                    <a:pt x="1637665" y="1336421"/>
                  </a:lnTo>
                  <a:lnTo>
                    <a:pt x="2443734" y="1336421"/>
                  </a:lnTo>
                  <a:lnTo>
                    <a:pt x="2449449" y="1330706"/>
                  </a:lnTo>
                  <a:lnTo>
                    <a:pt x="2449449" y="1311021"/>
                  </a:lnTo>
                  <a:lnTo>
                    <a:pt x="2449449" y="1266952"/>
                  </a:lnTo>
                  <a:lnTo>
                    <a:pt x="2474849" y="1266952"/>
                  </a:lnTo>
                  <a:close/>
                </a:path>
                <a:path w="2987675" h="1972945">
                  <a:moveTo>
                    <a:pt x="2474849" y="76327"/>
                  </a:moveTo>
                  <a:lnTo>
                    <a:pt x="2468499" y="63627"/>
                  </a:lnTo>
                  <a:lnTo>
                    <a:pt x="2436749" y="127"/>
                  </a:lnTo>
                  <a:lnTo>
                    <a:pt x="2398649" y="76327"/>
                  </a:lnTo>
                  <a:lnTo>
                    <a:pt x="2424049" y="76327"/>
                  </a:lnTo>
                  <a:lnTo>
                    <a:pt x="2424049" y="292608"/>
                  </a:lnTo>
                  <a:lnTo>
                    <a:pt x="1643380" y="292608"/>
                  </a:lnTo>
                  <a:lnTo>
                    <a:pt x="1643380" y="76327"/>
                  </a:lnTo>
                  <a:lnTo>
                    <a:pt x="1668780" y="76327"/>
                  </a:lnTo>
                  <a:lnTo>
                    <a:pt x="1662430" y="63627"/>
                  </a:lnTo>
                  <a:lnTo>
                    <a:pt x="1630680" y="127"/>
                  </a:lnTo>
                  <a:lnTo>
                    <a:pt x="1592580" y="76327"/>
                  </a:lnTo>
                  <a:lnTo>
                    <a:pt x="1617980" y="76327"/>
                  </a:lnTo>
                  <a:lnTo>
                    <a:pt x="1617980" y="292608"/>
                  </a:lnTo>
                  <a:lnTo>
                    <a:pt x="1249299" y="292608"/>
                  </a:lnTo>
                  <a:lnTo>
                    <a:pt x="1245616" y="292608"/>
                  </a:lnTo>
                  <a:lnTo>
                    <a:pt x="1231265" y="292608"/>
                  </a:lnTo>
                  <a:lnTo>
                    <a:pt x="851027" y="292608"/>
                  </a:lnTo>
                  <a:lnTo>
                    <a:pt x="851027" y="76200"/>
                  </a:lnTo>
                  <a:lnTo>
                    <a:pt x="876300" y="76200"/>
                  </a:lnTo>
                  <a:lnTo>
                    <a:pt x="869950" y="63500"/>
                  </a:lnTo>
                  <a:lnTo>
                    <a:pt x="838200" y="0"/>
                  </a:lnTo>
                  <a:lnTo>
                    <a:pt x="800100" y="76200"/>
                  </a:lnTo>
                  <a:lnTo>
                    <a:pt x="825500" y="76200"/>
                  </a:lnTo>
                  <a:lnTo>
                    <a:pt x="825500" y="292608"/>
                  </a:lnTo>
                  <a:lnTo>
                    <a:pt x="50800" y="292608"/>
                  </a:lnTo>
                  <a:lnTo>
                    <a:pt x="50800" y="76327"/>
                  </a:lnTo>
                  <a:lnTo>
                    <a:pt x="76200" y="76327"/>
                  </a:lnTo>
                  <a:lnTo>
                    <a:pt x="69850" y="63627"/>
                  </a:lnTo>
                  <a:lnTo>
                    <a:pt x="38100" y="127"/>
                  </a:lnTo>
                  <a:lnTo>
                    <a:pt x="0" y="76327"/>
                  </a:lnTo>
                  <a:lnTo>
                    <a:pt x="25400" y="76327"/>
                  </a:lnTo>
                  <a:lnTo>
                    <a:pt x="25400" y="312420"/>
                  </a:lnTo>
                  <a:lnTo>
                    <a:pt x="31115" y="318008"/>
                  </a:lnTo>
                  <a:lnTo>
                    <a:pt x="831215" y="318008"/>
                  </a:lnTo>
                  <a:lnTo>
                    <a:pt x="1225550" y="318008"/>
                  </a:lnTo>
                  <a:lnTo>
                    <a:pt x="1225550" y="428752"/>
                  </a:lnTo>
                  <a:lnTo>
                    <a:pt x="1225931" y="428752"/>
                  </a:lnTo>
                  <a:lnTo>
                    <a:pt x="1229614" y="428752"/>
                  </a:lnTo>
                  <a:lnTo>
                    <a:pt x="1250950" y="428752"/>
                  </a:lnTo>
                  <a:lnTo>
                    <a:pt x="1251331" y="428752"/>
                  </a:lnTo>
                  <a:lnTo>
                    <a:pt x="1255014" y="428752"/>
                  </a:lnTo>
                  <a:lnTo>
                    <a:pt x="1255014" y="318008"/>
                  </a:lnTo>
                  <a:lnTo>
                    <a:pt x="1637665" y="318008"/>
                  </a:lnTo>
                  <a:lnTo>
                    <a:pt x="2443734" y="318008"/>
                  </a:lnTo>
                  <a:lnTo>
                    <a:pt x="2449449" y="312420"/>
                  </a:lnTo>
                  <a:lnTo>
                    <a:pt x="2449449" y="292608"/>
                  </a:lnTo>
                  <a:lnTo>
                    <a:pt x="2449449" y="76327"/>
                  </a:lnTo>
                  <a:lnTo>
                    <a:pt x="2474849" y="76327"/>
                  </a:lnTo>
                  <a:close/>
                </a:path>
                <a:path w="2987675" h="1972945">
                  <a:moveTo>
                    <a:pt x="2987167" y="507365"/>
                  </a:moveTo>
                  <a:lnTo>
                    <a:pt x="2981452" y="501777"/>
                  </a:lnTo>
                  <a:lnTo>
                    <a:pt x="1422400" y="501777"/>
                  </a:lnTo>
                  <a:lnTo>
                    <a:pt x="1422400" y="476377"/>
                  </a:lnTo>
                  <a:lnTo>
                    <a:pt x="1346200" y="514477"/>
                  </a:lnTo>
                  <a:lnTo>
                    <a:pt x="1422400" y="552577"/>
                  </a:lnTo>
                  <a:lnTo>
                    <a:pt x="1422400" y="527177"/>
                  </a:lnTo>
                  <a:lnTo>
                    <a:pt x="2961767" y="527177"/>
                  </a:lnTo>
                  <a:lnTo>
                    <a:pt x="2961767" y="1947291"/>
                  </a:lnTo>
                  <a:lnTo>
                    <a:pt x="1333500" y="1947291"/>
                  </a:lnTo>
                  <a:lnTo>
                    <a:pt x="1333500" y="1972691"/>
                  </a:lnTo>
                  <a:lnTo>
                    <a:pt x="2981452" y="1972691"/>
                  </a:lnTo>
                  <a:lnTo>
                    <a:pt x="2987167" y="1966976"/>
                  </a:lnTo>
                  <a:lnTo>
                    <a:pt x="2987167" y="1959991"/>
                  </a:lnTo>
                  <a:lnTo>
                    <a:pt x="2987167" y="1947291"/>
                  </a:lnTo>
                  <a:lnTo>
                    <a:pt x="2987167" y="527177"/>
                  </a:lnTo>
                  <a:lnTo>
                    <a:pt x="2987167" y="514477"/>
                  </a:lnTo>
                  <a:lnTo>
                    <a:pt x="2987167" y="50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SwiGLU</a:t>
            </a:r>
            <a:r>
              <a:rPr spc="165" dirty="0"/>
              <a:t> </a:t>
            </a:r>
            <a:r>
              <a:rPr spc="-25" dirty="0"/>
              <a:t>MLP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8739" y="4590815"/>
            <a:ext cx="2461895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Shazeer,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“GLU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Variants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Improve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Transformers”,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2020</a:t>
            </a:r>
            <a:endParaRPr sz="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114</a:t>
            </a:fld>
            <a:endParaRPr spc="-25" dirty="0"/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12115" y="833437"/>
            <a:ext cx="11214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Classic</a:t>
            </a:r>
            <a:r>
              <a:rPr sz="14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MLP</a:t>
            </a:r>
            <a:r>
              <a:rPr sz="1400" u="none" spc="-2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6715" y="1263078"/>
            <a:ext cx="2468880" cy="882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 [N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dirty="0">
                <a:latin typeface="Arial"/>
                <a:cs typeface="Arial"/>
              </a:rPr>
              <a:t>Weights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350" spc="225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4D]</a:t>
            </a:r>
            <a:endParaRPr sz="1400">
              <a:latin typeface="Arial"/>
              <a:cs typeface="Arial"/>
            </a:endParaRPr>
          </a:p>
          <a:p>
            <a:pPr marL="826135">
              <a:lnSpc>
                <a:spcPts val="167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350" spc="232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[4D 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70"/>
              </a:lnSpc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40C28"/>
                </a:solidFill>
                <a:latin typeface="Calibri"/>
                <a:cs typeface="Calibri"/>
              </a:rPr>
              <a:t>σ(</a:t>
            </a:r>
            <a:r>
              <a:rPr sz="1400" dirty="0">
                <a:latin typeface="Arial"/>
                <a:cs typeface="Arial"/>
              </a:rPr>
              <a:t>XW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400" dirty="0">
                <a:latin typeface="Arial"/>
                <a:cs typeface="Arial"/>
              </a:rPr>
              <a:t>)W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350" spc="232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246125"/>
            <a:ext cx="3829050" cy="4318000"/>
            <a:chOff x="5195951" y="246125"/>
            <a:chExt cx="3829050" cy="4318000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50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51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08901" y="1598675"/>
            <a:ext cx="1546225" cy="298450"/>
            <a:chOff x="7208901" y="1598675"/>
            <a:chExt cx="1546225" cy="298450"/>
          </a:xfrm>
        </p:grpSpPr>
        <p:sp>
          <p:nvSpPr>
            <p:cNvPr id="24" name="object 24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733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33425" y="285750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0" y="285750"/>
                  </a:moveTo>
                  <a:lnTo>
                    <a:pt x="733425" y="285750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7239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23900" y="28575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285750"/>
                  </a:moveTo>
                  <a:lnTo>
                    <a:pt x="723900" y="2857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24876" y="1605025"/>
            <a:ext cx="72390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07076" y="1116075"/>
            <a:ext cx="3524250" cy="2999105"/>
            <a:chOff x="5307076" y="1116075"/>
            <a:chExt cx="3524250" cy="2999105"/>
          </a:xfrm>
        </p:grpSpPr>
        <p:sp>
          <p:nvSpPr>
            <p:cNvPr id="30" name="object 30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32670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67075" y="295275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0" y="295275"/>
                  </a:moveTo>
                  <a:lnTo>
                    <a:pt x="3267075" y="29527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563875"/>
              <a:ext cx="206375" cy="1968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07076" y="2624200"/>
              <a:ext cx="1794510" cy="1251585"/>
            </a:xfrm>
            <a:custGeom>
              <a:avLst/>
              <a:gdLst/>
              <a:ahLst/>
              <a:cxnLst/>
              <a:rect l="l" t="t" r="r" b="b"/>
              <a:pathLst>
                <a:path w="1794509" h="1251585">
                  <a:moveTo>
                    <a:pt x="1717928" y="25273"/>
                  </a:moveTo>
                  <a:lnTo>
                    <a:pt x="5587" y="25273"/>
                  </a:lnTo>
                  <a:lnTo>
                    <a:pt x="0" y="30987"/>
                  </a:lnTo>
                  <a:lnTo>
                    <a:pt x="0" y="1245362"/>
                  </a:lnTo>
                  <a:lnTo>
                    <a:pt x="5587" y="1251077"/>
                  </a:lnTo>
                  <a:lnTo>
                    <a:pt x="241173" y="1251077"/>
                  </a:lnTo>
                  <a:lnTo>
                    <a:pt x="241173" y="1238377"/>
                  </a:lnTo>
                  <a:lnTo>
                    <a:pt x="25400" y="1238377"/>
                  </a:lnTo>
                  <a:lnTo>
                    <a:pt x="12700" y="1225677"/>
                  </a:lnTo>
                  <a:lnTo>
                    <a:pt x="25400" y="1225677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273"/>
                  </a:lnTo>
                  <a:close/>
                </a:path>
                <a:path w="1794509" h="1251585">
                  <a:moveTo>
                    <a:pt x="25400" y="1225677"/>
                  </a:moveTo>
                  <a:lnTo>
                    <a:pt x="12700" y="1225677"/>
                  </a:lnTo>
                  <a:lnTo>
                    <a:pt x="25400" y="1238377"/>
                  </a:lnTo>
                  <a:lnTo>
                    <a:pt x="25400" y="1225677"/>
                  </a:lnTo>
                  <a:close/>
                </a:path>
                <a:path w="1794509" h="1251585">
                  <a:moveTo>
                    <a:pt x="241173" y="1225677"/>
                  </a:moveTo>
                  <a:lnTo>
                    <a:pt x="25400" y="1225677"/>
                  </a:lnTo>
                  <a:lnTo>
                    <a:pt x="25400" y="1238377"/>
                  </a:lnTo>
                  <a:lnTo>
                    <a:pt x="241173" y="1238377"/>
                  </a:lnTo>
                  <a:lnTo>
                    <a:pt x="241173" y="1225677"/>
                  </a:lnTo>
                  <a:close/>
                </a:path>
                <a:path w="1794509" h="1251585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273"/>
                  </a:lnTo>
                  <a:lnTo>
                    <a:pt x="1768475" y="25273"/>
                  </a:lnTo>
                  <a:lnTo>
                    <a:pt x="1717928" y="0"/>
                  </a:lnTo>
                  <a:close/>
                </a:path>
                <a:path w="1794509" h="125158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1251585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1251585">
                  <a:moveTo>
                    <a:pt x="1768475" y="25273"/>
                  </a:moveTo>
                  <a:lnTo>
                    <a:pt x="1730628" y="25273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475" y="25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251" y="1116075"/>
              <a:ext cx="206375" cy="20637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630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R="1169670" algn="r">
              <a:lnSpc>
                <a:spcPct val="100000"/>
              </a:lnSpc>
              <a:spcBef>
                <a:spcPts val="1570"/>
              </a:spcBef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201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42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70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948298" y="700023"/>
            <a:ext cx="2987675" cy="3081655"/>
            <a:chOff x="5948298" y="700023"/>
            <a:chExt cx="2987675" cy="3081655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099" y="2748025"/>
              <a:ext cx="76073" cy="13881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8" y="3586225"/>
              <a:ext cx="76200" cy="19532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8" y="3586225"/>
              <a:ext cx="76200" cy="19532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8" y="3586225"/>
              <a:ext cx="76200" cy="19532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8" y="3586225"/>
              <a:ext cx="76200" cy="19532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973699" y="1309750"/>
              <a:ext cx="2424430" cy="294640"/>
            </a:xfrm>
            <a:custGeom>
              <a:avLst/>
              <a:gdLst/>
              <a:ahLst/>
              <a:cxnLst/>
              <a:rect l="l" t="t" r="r" b="b"/>
              <a:pathLst>
                <a:path w="2424429" h="294640">
                  <a:moveTo>
                    <a:pt x="2424049" y="140081"/>
                  </a:moveTo>
                  <a:lnTo>
                    <a:pt x="2418334" y="134366"/>
                  </a:lnTo>
                  <a:lnTo>
                    <a:pt x="1612265" y="134366"/>
                  </a:lnTo>
                  <a:lnTo>
                    <a:pt x="1230757" y="134366"/>
                  </a:lnTo>
                  <a:lnTo>
                    <a:pt x="1230757" y="76200"/>
                  </a:lnTo>
                  <a:lnTo>
                    <a:pt x="1250950" y="76200"/>
                  </a:lnTo>
                  <a:lnTo>
                    <a:pt x="1255014" y="76200"/>
                  </a:lnTo>
                  <a:lnTo>
                    <a:pt x="1256157" y="76200"/>
                  </a:lnTo>
                  <a:lnTo>
                    <a:pt x="1249807" y="63500"/>
                  </a:lnTo>
                  <a:lnTo>
                    <a:pt x="1218057" y="0"/>
                  </a:lnTo>
                  <a:lnTo>
                    <a:pt x="1217485" y="1143"/>
                  </a:lnTo>
                  <a:lnTo>
                    <a:pt x="1216914" y="0"/>
                  </a:lnTo>
                  <a:lnTo>
                    <a:pt x="1214882" y="4064"/>
                  </a:lnTo>
                  <a:lnTo>
                    <a:pt x="1212850" y="0"/>
                  </a:lnTo>
                  <a:lnTo>
                    <a:pt x="1174750" y="76200"/>
                  </a:lnTo>
                  <a:lnTo>
                    <a:pt x="1178814" y="76200"/>
                  </a:lnTo>
                  <a:lnTo>
                    <a:pt x="1179957" y="76200"/>
                  </a:lnTo>
                  <a:lnTo>
                    <a:pt x="1200150" y="76200"/>
                  </a:lnTo>
                  <a:lnTo>
                    <a:pt x="1200150" y="134366"/>
                  </a:lnTo>
                  <a:lnTo>
                    <a:pt x="805815" y="134366"/>
                  </a:lnTo>
                  <a:lnTo>
                    <a:pt x="5715" y="134366"/>
                  </a:lnTo>
                  <a:lnTo>
                    <a:pt x="0" y="140081"/>
                  </a:lnTo>
                  <a:lnTo>
                    <a:pt x="0" y="294132"/>
                  </a:lnTo>
                  <a:lnTo>
                    <a:pt x="25400" y="294132"/>
                  </a:lnTo>
                  <a:lnTo>
                    <a:pt x="25400" y="159766"/>
                  </a:lnTo>
                  <a:lnTo>
                    <a:pt x="800100" y="159766"/>
                  </a:lnTo>
                  <a:lnTo>
                    <a:pt x="800100" y="294132"/>
                  </a:lnTo>
                  <a:lnTo>
                    <a:pt x="825500" y="294132"/>
                  </a:lnTo>
                  <a:lnTo>
                    <a:pt x="825500" y="159766"/>
                  </a:lnTo>
                  <a:lnTo>
                    <a:pt x="1205865" y="159766"/>
                  </a:lnTo>
                  <a:lnTo>
                    <a:pt x="1223899" y="159766"/>
                  </a:lnTo>
                  <a:lnTo>
                    <a:pt x="1225042" y="159766"/>
                  </a:lnTo>
                  <a:lnTo>
                    <a:pt x="1592580" y="159766"/>
                  </a:lnTo>
                  <a:lnTo>
                    <a:pt x="1592580" y="294132"/>
                  </a:lnTo>
                  <a:lnTo>
                    <a:pt x="1617980" y="294132"/>
                  </a:lnTo>
                  <a:lnTo>
                    <a:pt x="1617980" y="159766"/>
                  </a:lnTo>
                  <a:lnTo>
                    <a:pt x="2398649" y="159766"/>
                  </a:lnTo>
                  <a:lnTo>
                    <a:pt x="2398649" y="294132"/>
                  </a:lnTo>
                  <a:lnTo>
                    <a:pt x="2424049" y="294132"/>
                  </a:lnTo>
                  <a:lnTo>
                    <a:pt x="2424049" y="159766"/>
                  </a:lnTo>
                  <a:lnTo>
                    <a:pt x="2424049" y="14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8448" y="2452750"/>
              <a:ext cx="76200" cy="11925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48299" y="700023"/>
              <a:ext cx="2987675" cy="1972945"/>
            </a:xfrm>
            <a:custGeom>
              <a:avLst/>
              <a:gdLst/>
              <a:ahLst/>
              <a:cxnLst/>
              <a:rect l="l" t="t" r="r" b="b"/>
              <a:pathLst>
                <a:path w="2987675" h="1972945">
                  <a:moveTo>
                    <a:pt x="2474849" y="1266952"/>
                  </a:moveTo>
                  <a:lnTo>
                    <a:pt x="2468499" y="1254252"/>
                  </a:lnTo>
                  <a:lnTo>
                    <a:pt x="2436749" y="1190752"/>
                  </a:lnTo>
                  <a:lnTo>
                    <a:pt x="2398649" y="1266952"/>
                  </a:lnTo>
                  <a:lnTo>
                    <a:pt x="2424049" y="1266952"/>
                  </a:lnTo>
                  <a:lnTo>
                    <a:pt x="2424049" y="1311021"/>
                  </a:lnTo>
                  <a:lnTo>
                    <a:pt x="1643380" y="1311021"/>
                  </a:lnTo>
                  <a:lnTo>
                    <a:pt x="1643380" y="1266952"/>
                  </a:lnTo>
                  <a:lnTo>
                    <a:pt x="1668780" y="1266952"/>
                  </a:lnTo>
                  <a:lnTo>
                    <a:pt x="1662430" y="1254252"/>
                  </a:lnTo>
                  <a:lnTo>
                    <a:pt x="1630680" y="1190752"/>
                  </a:lnTo>
                  <a:lnTo>
                    <a:pt x="1592580" y="1266952"/>
                  </a:lnTo>
                  <a:lnTo>
                    <a:pt x="1617980" y="1266952"/>
                  </a:lnTo>
                  <a:lnTo>
                    <a:pt x="1617980" y="1311021"/>
                  </a:lnTo>
                  <a:lnTo>
                    <a:pt x="1250442" y="1311021"/>
                  </a:lnTo>
                  <a:lnTo>
                    <a:pt x="1249299" y="1311021"/>
                  </a:lnTo>
                  <a:lnTo>
                    <a:pt x="1231265" y="1311021"/>
                  </a:lnTo>
                  <a:lnTo>
                    <a:pt x="851027" y="1311021"/>
                  </a:lnTo>
                  <a:lnTo>
                    <a:pt x="851027" y="1266825"/>
                  </a:lnTo>
                  <a:lnTo>
                    <a:pt x="876300" y="1266825"/>
                  </a:lnTo>
                  <a:lnTo>
                    <a:pt x="869950" y="1254125"/>
                  </a:lnTo>
                  <a:lnTo>
                    <a:pt x="838200" y="1190625"/>
                  </a:lnTo>
                  <a:lnTo>
                    <a:pt x="800100" y="1266825"/>
                  </a:lnTo>
                  <a:lnTo>
                    <a:pt x="825500" y="1266825"/>
                  </a:lnTo>
                  <a:lnTo>
                    <a:pt x="825500" y="1311021"/>
                  </a:lnTo>
                  <a:lnTo>
                    <a:pt x="50800" y="1311021"/>
                  </a:lnTo>
                  <a:lnTo>
                    <a:pt x="50800" y="1266825"/>
                  </a:lnTo>
                  <a:lnTo>
                    <a:pt x="76200" y="1266825"/>
                  </a:lnTo>
                  <a:lnTo>
                    <a:pt x="69850" y="1254125"/>
                  </a:lnTo>
                  <a:lnTo>
                    <a:pt x="38100" y="1190625"/>
                  </a:lnTo>
                  <a:lnTo>
                    <a:pt x="0" y="1266825"/>
                  </a:lnTo>
                  <a:lnTo>
                    <a:pt x="25400" y="1266825"/>
                  </a:lnTo>
                  <a:lnTo>
                    <a:pt x="25400" y="1330706"/>
                  </a:lnTo>
                  <a:lnTo>
                    <a:pt x="31115" y="1336421"/>
                  </a:lnTo>
                  <a:lnTo>
                    <a:pt x="831215" y="1336421"/>
                  </a:lnTo>
                  <a:lnTo>
                    <a:pt x="1225550" y="1336421"/>
                  </a:lnTo>
                  <a:lnTo>
                    <a:pt x="1225550" y="1456817"/>
                  </a:lnTo>
                  <a:lnTo>
                    <a:pt x="1229614" y="1456817"/>
                  </a:lnTo>
                  <a:lnTo>
                    <a:pt x="1230757" y="1456817"/>
                  </a:lnTo>
                  <a:lnTo>
                    <a:pt x="1250950" y="1456817"/>
                  </a:lnTo>
                  <a:lnTo>
                    <a:pt x="1255014" y="1456817"/>
                  </a:lnTo>
                  <a:lnTo>
                    <a:pt x="1256157" y="1456817"/>
                  </a:lnTo>
                  <a:lnTo>
                    <a:pt x="1256157" y="1336421"/>
                  </a:lnTo>
                  <a:lnTo>
                    <a:pt x="1637665" y="1336421"/>
                  </a:lnTo>
                  <a:lnTo>
                    <a:pt x="2443734" y="1336421"/>
                  </a:lnTo>
                  <a:lnTo>
                    <a:pt x="2449449" y="1330706"/>
                  </a:lnTo>
                  <a:lnTo>
                    <a:pt x="2449449" y="1311021"/>
                  </a:lnTo>
                  <a:lnTo>
                    <a:pt x="2449449" y="1266952"/>
                  </a:lnTo>
                  <a:lnTo>
                    <a:pt x="2474849" y="1266952"/>
                  </a:lnTo>
                  <a:close/>
                </a:path>
                <a:path w="2987675" h="1972945">
                  <a:moveTo>
                    <a:pt x="2474849" y="76327"/>
                  </a:moveTo>
                  <a:lnTo>
                    <a:pt x="2468499" y="63627"/>
                  </a:lnTo>
                  <a:lnTo>
                    <a:pt x="2436749" y="127"/>
                  </a:lnTo>
                  <a:lnTo>
                    <a:pt x="2398649" y="76327"/>
                  </a:lnTo>
                  <a:lnTo>
                    <a:pt x="2424049" y="76327"/>
                  </a:lnTo>
                  <a:lnTo>
                    <a:pt x="2424049" y="292608"/>
                  </a:lnTo>
                  <a:lnTo>
                    <a:pt x="1643380" y="292608"/>
                  </a:lnTo>
                  <a:lnTo>
                    <a:pt x="1643380" y="76327"/>
                  </a:lnTo>
                  <a:lnTo>
                    <a:pt x="1668780" y="76327"/>
                  </a:lnTo>
                  <a:lnTo>
                    <a:pt x="1662430" y="63627"/>
                  </a:lnTo>
                  <a:lnTo>
                    <a:pt x="1630680" y="127"/>
                  </a:lnTo>
                  <a:lnTo>
                    <a:pt x="1592580" y="76327"/>
                  </a:lnTo>
                  <a:lnTo>
                    <a:pt x="1617980" y="76327"/>
                  </a:lnTo>
                  <a:lnTo>
                    <a:pt x="1617980" y="292608"/>
                  </a:lnTo>
                  <a:lnTo>
                    <a:pt x="1249299" y="292608"/>
                  </a:lnTo>
                  <a:lnTo>
                    <a:pt x="1245616" y="292608"/>
                  </a:lnTo>
                  <a:lnTo>
                    <a:pt x="1231265" y="292608"/>
                  </a:lnTo>
                  <a:lnTo>
                    <a:pt x="851027" y="292608"/>
                  </a:lnTo>
                  <a:lnTo>
                    <a:pt x="851027" y="76200"/>
                  </a:lnTo>
                  <a:lnTo>
                    <a:pt x="876300" y="76200"/>
                  </a:lnTo>
                  <a:lnTo>
                    <a:pt x="869950" y="63500"/>
                  </a:lnTo>
                  <a:lnTo>
                    <a:pt x="838200" y="0"/>
                  </a:lnTo>
                  <a:lnTo>
                    <a:pt x="800100" y="76200"/>
                  </a:lnTo>
                  <a:lnTo>
                    <a:pt x="825500" y="76200"/>
                  </a:lnTo>
                  <a:lnTo>
                    <a:pt x="825500" y="292608"/>
                  </a:lnTo>
                  <a:lnTo>
                    <a:pt x="50800" y="292608"/>
                  </a:lnTo>
                  <a:lnTo>
                    <a:pt x="50800" y="76327"/>
                  </a:lnTo>
                  <a:lnTo>
                    <a:pt x="76200" y="76327"/>
                  </a:lnTo>
                  <a:lnTo>
                    <a:pt x="69850" y="63627"/>
                  </a:lnTo>
                  <a:lnTo>
                    <a:pt x="38100" y="127"/>
                  </a:lnTo>
                  <a:lnTo>
                    <a:pt x="0" y="76327"/>
                  </a:lnTo>
                  <a:lnTo>
                    <a:pt x="25400" y="76327"/>
                  </a:lnTo>
                  <a:lnTo>
                    <a:pt x="25400" y="312420"/>
                  </a:lnTo>
                  <a:lnTo>
                    <a:pt x="31115" y="318008"/>
                  </a:lnTo>
                  <a:lnTo>
                    <a:pt x="831215" y="318008"/>
                  </a:lnTo>
                  <a:lnTo>
                    <a:pt x="1225550" y="318008"/>
                  </a:lnTo>
                  <a:lnTo>
                    <a:pt x="1225550" y="428752"/>
                  </a:lnTo>
                  <a:lnTo>
                    <a:pt x="1225931" y="428752"/>
                  </a:lnTo>
                  <a:lnTo>
                    <a:pt x="1229614" y="428752"/>
                  </a:lnTo>
                  <a:lnTo>
                    <a:pt x="1250950" y="428752"/>
                  </a:lnTo>
                  <a:lnTo>
                    <a:pt x="1251331" y="428752"/>
                  </a:lnTo>
                  <a:lnTo>
                    <a:pt x="1255014" y="428752"/>
                  </a:lnTo>
                  <a:lnTo>
                    <a:pt x="1255014" y="318008"/>
                  </a:lnTo>
                  <a:lnTo>
                    <a:pt x="1637665" y="318008"/>
                  </a:lnTo>
                  <a:lnTo>
                    <a:pt x="2443734" y="318008"/>
                  </a:lnTo>
                  <a:lnTo>
                    <a:pt x="2449449" y="312420"/>
                  </a:lnTo>
                  <a:lnTo>
                    <a:pt x="2449449" y="292608"/>
                  </a:lnTo>
                  <a:lnTo>
                    <a:pt x="2449449" y="76327"/>
                  </a:lnTo>
                  <a:lnTo>
                    <a:pt x="2474849" y="76327"/>
                  </a:lnTo>
                  <a:close/>
                </a:path>
                <a:path w="2987675" h="1972945">
                  <a:moveTo>
                    <a:pt x="2987167" y="507365"/>
                  </a:moveTo>
                  <a:lnTo>
                    <a:pt x="2981452" y="501777"/>
                  </a:lnTo>
                  <a:lnTo>
                    <a:pt x="1422400" y="501777"/>
                  </a:lnTo>
                  <a:lnTo>
                    <a:pt x="1422400" y="476377"/>
                  </a:lnTo>
                  <a:lnTo>
                    <a:pt x="1346200" y="514477"/>
                  </a:lnTo>
                  <a:lnTo>
                    <a:pt x="1422400" y="552577"/>
                  </a:lnTo>
                  <a:lnTo>
                    <a:pt x="1422400" y="527177"/>
                  </a:lnTo>
                  <a:lnTo>
                    <a:pt x="2961767" y="527177"/>
                  </a:lnTo>
                  <a:lnTo>
                    <a:pt x="2961767" y="1947291"/>
                  </a:lnTo>
                  <a:lnTo>
                    <a:pt x="1333500" y="1947291"/>
                  </a:lnTo>
                  <a:lnTo>
                    <a:pt x="1333500" y="1972691"/>
                  </a:lnTo>
                  <a:lnTo>
                    <a:pt x="2981452" y="1972691"/>
                  </a:lnTo>
                  <a:lnTo>
                    <a:pt x="2987167" y="1966976"/>
                  </a:lnTo>
                  <a:lnTo>
                    <a:pt x="2987167" y="1959991"/>
                  </a:lnTo>
                  <a:lnTo>
                    <a:pt x="2987167" y="1947291"/>
                  </a:lnTo>
                  <a:lnTo>
                    <a:pt x="2987167" y="527177"/>
                  </a:lnTo>
                  <a:lnTo>
                    <a:pt x="2987167" y="514477"/>
                  </a:lnTo>
                  <a:lnTo>
                    <a:pt x="2987167" y="50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SwiGLU</a:t>
            </a:r>
            <a:r>
              <a:rPr spc="165" dirty="0"/>
              <a:t> </a:t>
            </a:r>
            <a:r>
              <a:rPr spc="-25" dirty="0"/>
              <a:t>MLP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12115" y="833437"/>
            <a:ext cx="11214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Classic</a:t>
            </a:r>
            <a:r>
              <a:rPr sz="14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MLP</a:t>
            </a:r>
            <a:r>
              <a:rPr sz="1400" u="none" spc="-2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6715" y="1263078"/>
            <a:ext cx="2468880" cy="882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 [N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dirty="0">
                <a:latin typeface="Arial"/>
                <a:cs typeface="Arial"/>
              </a:rPr>
              <a:t>Weights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350" spc="225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4D]</a:t>
            </a:r>
            <a:endParaRPr sz="1400">
              <a:latin typeface="Arial"/>
              <a:cs typeface="Arial"/>
            </a:endParaRPr>
          </a:p>
          <a:p>
            <a:pPr marL="826135">
              <a:lnSpc>
                <a:spcPts val="167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350" spc="232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[4D 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70"/>
              </a:lnSpc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40C28"/>
                </a:solidFill>
                <a:latin typeface="Calibri"/>
                <a:cs typeface="Calibri"/>
              </a:rPr>
              <a:t>σ(</a:t>
            </a:r>
            <a:r>
              <a:rPr sz="1400" dirty="0">
                <a:latin typeface="Arial"/>
                <a:cs typeface="Arial"/>
              </a:rPr>
              <a:t>XW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400" dirty="0">
                <a:latin typeface="Arial"/>
                <a:cs typeface="Arial"/>
              </a:rPr>
              <a:t>)W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350" spc="232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2115" y="2377122"/>
            <a:ext cx="11817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SwiGLU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MLP</a:t>
            </a:r>
            <a:r>
              <a:rPr sz="1400" u="none" spc="-2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042936" y="3716908"/>
            <a:ext cx="1315720" cy="167640"/>
          </a:xfrm>
          <a:custGeom>
            <a:avLst/>
            <a:gdLst/>
            <a:ahLst/>
            <a:cxnLst/>
            <a:rect l="l" t="t" r="r" b="b"/>
            <a:pathLst>
              <a:path w="1315720" h="167639">
                <a:moveTo>
                  <a:pt x="55841" y="6731"/>
                </a:moveTo>
                <a:lnTo>
                  <a:pt x="53454" y="0"/>
                </a:lnTo>
                <a:lnTo>
                  <a:pt x="41300" y="4356"/>
                </a:lnTo>
                <a:lnTo>
                  <a:pt x="30645" y="10718"/>
                </a:lnTo>
                <a:lnTo>
                  <a:pt x="7772" y="41249"/>
                </a:lnTo>
                <a:lnTo>
                  <a:pt x="38" y="82931"/>
                </a:lnTo>
                <a:lnTo>
                  <a:pt x="0" y="83820"/>
                </a:lnTo>
                <a:lnTo>
                  <a:pt x="774" y="97701"/>
                </a:lnTo>
                <a:lnTo>
                  <a:pt x="850" y="99237"/>
                </a:lnTo>
                <a:lnTo>
                  <a:pt x="13779" y="138303"/>
                </a:lnTo>
                <a:lnTo>
                  <a:pt x="53454" y="167601"/>
                </a:lnTo>
                <a:lnTo>
                  <a:pt x="55575" y="160794"/>
                </a:lnTo>
                <a:lnTo>
                  <a:pt x="46024" y="156552"/>
                </a:lnTo>
                <a:lnTo>
                  <a:pt x="37782" y="150672"/>
                </a:lnTo>
                <a:lnTo>
                  <a:pt x="17767" y="111125"/>
                </a:lnTo>
                <a:lnTo>
                  <a:pt x="15290" y="82931"/>
                </a:lnTo>
                <a:lnTo>
                  <a:pt x="15900" y="68618"/>
                </a:lnTo>
                <a:lnTo>
                  <a:pt x="30861" y="24257"/>
                </a:lnTo>
                <a:lnTo>
                  <a:pt x="46164" y="10972"/>
                </a:lnTo>
                <a:lnTo>
                  <a:pt x="55841" y="6731"/>
                </a:lnTo>
                <a:close/>
              </a:path>
              <a:path w="1315720" h="167639">
                <a:moveTo>
                  <a:pt x="238747" y="6731"/>
                </a:moveTo>
                <a:lnTo>
                  <a:pt x="236334" y="0"/>
                </a:lnTo>
                <a:lnTo>
                  <a:pt x="224180" y="4356"/>
                </a:lnTo>
                <a:lnTo>
                  <a:pt x="213525" y="10718"/>
                </a:lnTo>
                <a:lnTo>
                  <a:pt x="190652" y="41249"/>
                </a:lnTo>
                <a:lnTo>
                  <a:pt x="182918" y="82931"/>
                </a:lnTo>
                <a:lnTo>
                  <a:pt x="182880" y="83820"/>
                </a:lnTo>
                <a:lnTo>
                  <a:pt x="183654" y="97701"/>
                </a:lnTo>
                <a:lnTo>
                  <a:pt x="183730" y="99237"/>
                </a:lnTo>
                <a:lnTo>
                  <a:pt x="196659" y="138303"/>
                </a:lnTo>
                <a:lnTo>
                  <a:pt x="236334" y="167601"/>
                </a:lnTo>
                <a:lnTo>
                  <a:pt x="238493" y="160794"/>
                </a:lnTo>
                <a:lnTo>
                  <a:pt x="228917" y="156552"/>
                </a:lnTo>
                <a:lnTo>
                  <a:pt x="220662" y="150672"/>
                </a:lnTo>
                <a:lnTo>
                  <a:pt x="200647" y="111125"/>
                </a:lnTo>
                <a:lnTo>
                  <a:pt x="198170" y="82931"/>
                </a:lnTo>
                <a:lnTo>
                  <a:pt x="198780" y="68618"/>
                </a:lnTo>
                <a:lnTo>
                  <a:pt x="213741" y="24257"/>
                </a:lnTo>
                <a:lnTo>
                  <a:pt x="229057" y="10972"/>
                </a:lnTo>
                <a:lnTo>
                  <a:pt x="238747" y="6731"/>
                </a:lnTo>
                <a:close/>
              </a:path>
              <a:path w="1315720" h="167639">
                <a:moveTo>
                  <a:pt x="641083" y="83820"/>
                </a:moveTo>
                <a:lnTo>
                  <a:pt x="640219" y="68618"/>
                </a:lnTo>
                <a:lnTo>
                  <a:pt x="640219" y="68491"/>
                </a:lnTo>
                <a:lnTo>
                  <a:pt x="637628" y="54305"/>
                </a:lnTo>
                <a:lnTo>
                  <a:pt x="619620" y="19062"/>
                </a:lnTo>
                <a:lnTo>
                  <a:pt x="587603" y="0"/>
                </a:lnTo>
                <a:lnTo>
                  <a:pt x="585190" y="6731"/>
                </a:lnTo>
                <a:lnTo>
                  <a:pt x="594906" y="10972"/>
                </a:lnTo>
                <a:lnTo>
                  <a:pt x="603275" y="16814"/>
                </a:lnTo>
                <a:lnTo>
                  <a:pt x="623354" y="55587"/>
                </a:lnTo>
                <a:lnTo>
                  <a:pt x="625195" y="68491"/>
                </a:lnTo>
                <a:lnTo>
                  <a:pt x="625221" y="68618"/>
                </a:lnTo>
                <a:lnTo>
                  <a:pt x="625843" y="82931"/>
                </a:lnTo>
                <a:lnTo>
                  <a:pt x="625221" y="97701"/>
                </a:lnTo>
                <a:lnTo>
                  <a:pt x="623341" y="111125"/>
                </a:lnTo>
                <a:lnTo>
                  <a:pt x="603300" y="150672"/>
                </a:lnTo>
                <a:lnTo>
                  <a:pt x="585457" y="160794"/>
                </a:lnTo>
                <a:lnTo>
                  <a:pt x="587603" y="167601"/>
                </a:lnTo>
                <a:lnTo>
                  <a:pt x="627240" y="138303"/>
                </a:lnTo>
                <a:lnTo>
                  <a:pt x="640219" y="99237"/>
                </a:lnTo>
                <a:lnTo>
                  <a:pt x="641083" y="83820"/>
                </a:lnTo>
                <a:close/>
              </a:path>
              <a:path w="1315720" h="167639">
                <a:moveTo>
                  <a:pt x="1315326" y="83820"/>
                </a:moveTo>
                <a:lnTo>
                  <a:pt x="1314462" y="68618"/>
                </a:lnTo>
                <a:lnTo>
                  <a:pt x="1314462" y="68491"/>
                </a:lnTo>
                <a:lnTo>
                  <a:pt x="1311871" y="54305"/>
                </a:lnTo>
                <a:lnTo>
                  <a:pt x="1293863" y="19062"/>
                </a:lnTo>
                <a:lnTo>
                  <a:pt x="1261859" y="0"/>
                </a:lnTo>
                <a:lnTo>
                  <a:pt x="1259446" y="6731"/>
                </a:lnTo>
                <a:lnTo>
                  <a:pt x="1269149" y="10972"/>
                </a:lnTo>
                <a:lnTo>
                  <a:pt x="1277518" y="16814"/>
                </a:lnTo>
                <a:lnTo>
                  <a:pt x="1297609" y="55587"/>
                </a:lnTo>
                <a:lnTo>
                  <a:pt x="1299438" y="68491"/>
                </a:lnTo>
                <a:lnTo>
                  <a:pt x="1299464" y="68618"/>
                </a:lnTo>
                <a:lnTo>
                  <a:pt x="1300086" y="82931"/>
                </a:lnTo>
                <a:lnTo>
                  <a:pt x="1299464" y="97701"/>
                </a:lnTo>
                <a:lnTo>
                  <a:pt x="1297584" y="111125"/>
                </a:lnTo>
                <a:lnTo>
                  <a:pt x="1277543" y="150672"/>
                </a:lnTo>
                <a:lnTo>
                  <a:pt x="1259700" y="160794"/>
                </a:lnTo>
                <a:lnTo>
                  <a:pt x="1261859" y="167601"/>
                </a:lnTo>
                <a:lnTo>
                  <a:pt x="1301483" y="138303"/>
                </a:lnTo>
                <a:lnTo>
                  <a:pt x="1314462" y="99237"/>
                </a:lnTo>
                <a:lnTo>
                  <a:pt x="1315326" y="83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86715" y="2806636"/>
            <a:ext cx="2249170" cy="1102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 [N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dirty="0">
                <a:latin typeface="Arial"/>
                <a:cs typeface="Arial"/>
              </a:rPr>
              <a:t>Weights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350" spc="240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350" spc="240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[D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H]</a:t>
            </a:r>
            <a:endParaRPr sz="1400">
              <a:latin typeface="Arial"/>
              <a:cs typeface="Arial"/>
            </a:endParaRPr>
          </a:p>
          <a:p>
            <a:pPr marL="233045" algn="ctr">
              <a:lnSpc>
                <a:spcPts val="1664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3</a:t>
            </a:r>
            <a:r>
              <a:rPr sz="1350" spc="232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[H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spc="-10" dirty="0">
                <a:latin typeface="Arial"/>
                <a:cs typeface="Arial"/>
              </a:rPr>
              <a:t>Output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259715" algn="ctr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Cambria Math"/>
                <a:cs typeface="Cambria Math"/>
              </a:rPr>
              <a:t>𝑌</a:t>
            </a:r>
            <a:r>
              <a:rPr sz="1400" spc="6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135" dirty="0">
                <a:latin typeface="Cambria Math"/>
                <a:cs typeface="Cambria Math"/>
              </a:rPr>
              <a:t>  </a:t>
            </a:r>
            <a:r>
              <a:rPr sz="1400" dirty="0">
                <a:latin typeface="Cambria Math"/>
                <a:cs typeface="Cambria Math"/>
              </a:rPr>
              <a:t>𝜎</a:t>
            </a:r>
            <a:r>
              <a:rPr sz="1400" spc="25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𝑋𝑊</a:t>
            </a:r>
            <a:r>
              <a:rPr sz="1575" baseline="-15873" dirty="0">
                <a:latin typeface="Cambria Math"/>
                <a:cs typeface="Cambria Math"/>
              </a:rPr>
              <a:t>1</a:t>
            </a:r>
            <a:r>
              <a:rPr sz="1575" spc="292" baseline="-15873" dirty="0">
                <a:latin typeface="Cambria Math"/>
                <a:cs typeface="Cambria Math"/>
              </a:rPr>
              <a:t>  </a:t>
            </a:r>
            <a:r>
              <a:rPr sz="1400" dirty="0">
                <a:latin typeface="Cambria Math"/>
                <a:cs typeface="Cambria Math"/>
              </a:rPr>
              <a:t>⊙</a:t>
            </a:r>
            <a:r>
              <a:rPr sz="1400" spc="-4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𝑋𝑊</a:t>
            </a:r>
            <a:r>
              <a:rPr sz="1575" baseline="-15873" dirty="0">
                <a:latin typeface="Cambria Math"/>
                <a:cs typeface="Cambria Math"/>
              </a:rPr>
              <a:t>2</a:t>
            </a:r>
            <a:r>
              <a:rPr sz="1575" spc="494" baseline="-15873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𝑊</a:t>
            </a:r>
            <a:r>
              <a:rPr sz="1575" spc="-37" baseline="-15873" dirty="0">
                <a:latin typeface="Cambria Math"/>
                <a:cs typeface="Cambria Math"/>
              </a:rPr>
              <a:t>3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8739" y="4061170"/>
            <a:ext cx="2461895" cy="6724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54965" marR="269875">
              <a:lnSpc>
                <a:spcPts val="173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Setting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8D/3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keeps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total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params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800" dirty="0">
                <a:latin typeface="Arial"/>
                <a:cs typeface="Arial"/>
              </a:rPr>
              <a:t>Shazeer,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“GLU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Variants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Improve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Transformers”,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2020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115</a:t>
            </a:fld>
            <a:endParaRPr spc="-25" dirty="0"/>
          </a:p>
        </p:txBody>
      </p:sp>
      <p:sp>
        <p:nvSpPr>
          <p:cNvPr id="69" name="object 6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246125"/>
            <a:ext cx="3829050" cy="4318000"/>
            <a:chOff x="5195951" y="246125"/>
            <a:chExt cx="3829050" cy="4318000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50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51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08901" y="1598675"/>
            <a:ext cx="1546225" cy="298450"/>
            <a:chOff x="7208901" y="1598675"/>
            <a:chExt cx="1546225" cy="298450"/>
          </a:xfrm>
        </p:grpSpPr>
        <p:sp>
          <p:nvSpPr>
            <p:cNvPr id="24" name="object 24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733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33425" y="285750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0" y="285750"/>
                  </a:moveTo>
                  <a:lnTo>
                    <a:pt x="733425" y="285750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7239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23900" y="28575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285750"/>
                  </a:moveTo>
                  <a:lnTo>
                    <a:pt x="723900" y="2857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24876" y="1605025"/>
            <a:ext cx="72390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07076" y="1116075"/>
            <a:ext cx="3524250" cy="2999105"/>
            <a:chOff x="5307076" y="1116075"/>
            <a:chExt cx="3524250" cy="2999105"/>
          </a:xfrm>
        </p:grpSpPr>
        <p:sp>
          <p:nvSpPr>
            <p:cNvPr id="30" name="object 30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32670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67075" y="295275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0" y="295275"/>
                  </a:moveTo>
                  <a:lnTo>
                    <a:pt x="3267075" y="29527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563875"/>
              <a:ext cx="206375" cy="1968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07076" y="2624200"/>
              <a:ext cx="1794510" cy="1251585"/>
            </a:xfrm>
            <a:custGeom>
              <a:avLst/>
              <a:gdLst/>
              <a:ahLst/>
              <a:cxnLst/>
              <a:rect l="l" t="t" r="r" b="b"/>
              <a:pathLst>
                <a:path w="1794509" h="1251585">
                  <a:moveTo>
                    <a:pt x="1717928" y="25273"/>
                  </a:moveTo>
                  <a:lnTo>
                    <a:pt x="5587" y="25273"/>
                  </a:lnTo>
                  <a:lnTo>
                    <a:pt x="0" y="30987"/>
                  </a:lnTo>
                  <a:lnTo>
                    <a:pt x="0" y="1245362"/>
                  </a:lnTo>
                  <a:lnTo>
                    <a:pt x="5587" y="1251077"/>
                  </a:lnTo>
                  <a:lnTo>
                    <a:pt x="241173" y="1251077"/>
                  </a:lnTo>
                  <a:lnTo>
                    <a:pt x="241173" y="1238377"/>
                  </a:lnTo>
                  <a:lnTo>
                    <a:pt x="25400" y="1238377"/>
                  </a:lnTo>
                  <a:lnTo>
                    <a:pt x="12700" y="1225677"/>
                  </a:lnTo>
                  <a:lnTo>
                    <a:pt x="25400" y="1225677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273"/>
                  </a:lnTo>
                  <a:close/>
                </a:path>
                <a:path w="1794509" h="1251585">
                  <a:moveTo>
                    <a:pt x="25400" y="1225677"/>
                  </a:moveTo>
                  <a:lnTo>
                    <a:pt x="12700" y="1225677"/>
                  </a:lnTo>
                  <a:lnTo>
                    <a:pt x="25400" y="1238377"/>
                  </a:lnTo>
                  <a:lnTo>
                    <a:pt x="25400" y="1225677"/>
                  </a:lnTo>
                  <a:close/>
                </a:path>
                <a:path w="1794509" h="1251585">
                  <a:moveTo>
                    <a:pt x="241173" y="1225677"/>
                  </a:moveTo>
                  <a:lnTo>
                    <a:pt x="25400" y="1225677"/>
                  </a:lnTo>
                  <a:lnTo>
                    <a:pt x="25400" y="1238377"/>
                  </a:lnTo>
                  <a:lnTo>
                    <a:pt x="241173" y="1238377"/>
                  </a:lnTo>
                  <a:lnTo>
                    <a:pt x="241173" y="1225677"/>
                  </a:lnTo>
                  <a:close/>
                </a:path>
                <a:path w="1794509" h="1251585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273"/>
                  </a:lnTo>
                  <a:lnTo>
                    <a:pt x="1768475" y="25273"/>
                  </a:lnTo>
                  <a:lnTo>
                    <a:pt x="1717928" y="0"/>
                  </a:lnTo>
                  <a:close/>
                </a:path>
                <a:path w="1794509" h="125158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1251585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1251585">
                  <a:moveTo>
                    <a:pt x="1768475" y="25273"/>
                  </a:moveTo>
                  <a:lnTo>
                    <a:pt x="1730628" y="25273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475" y="25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251" y="1116075"/>
              <a:ext cx="206375" cy="20637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630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R="1169670" algn="r">
              <a:lnSpc>
                <a:spcPct val="100000"/>
              </a:lnSpc>
              <a:spcBef>
                <a:spcPts val="1570"/>
              </a:spcBef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201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42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70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948298" y="700023"/>
            <a:ext cx="2987675" cy="3081655"/>
            <a:chOff x="5948298" y="700023"/>
            <a:chExt cx="2987675" cy="3081655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099" y="2748025"/>
              <a:ext cx="76073" cy="13881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8" y="3586225"/>
              <a:ext cx="76200" cy="19532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8" y="3586225"/>
              <a:ext cx="76200" cy="19532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8" y="3586225"/>
              <a:ext cx="76200" cy="19532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8" y="3586225"/>
              <a:ext cx="76200" cy="19532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973699" y="1309750"/>
              <a:ext cx="2424430" cy="294640"/>
            </a:xfrm>
            <a:custGeom>
              <a:avLst/>
              <a:gdLst/>
              <a:ahLst/>
              <a:cxnLst/>
              <a:rect l="l" t="t" r="r" b="b"/>
              <a:pathLst>
                <a:path w="2424429" h="294640">
                  <a:moveTo>
                    <a:pt x="2424049" y="140081"/>
                  </a:moveTo>
                  <a:lnTo>
                    <a:pt x="2418334" y="134366"/>
                  </a:lnTo>
                  <a:lnTo>
                    <a:pt x="1612265" y="134366"/>
                  </a:lnTo>
                  <a:lnTo>
                    <a:pt x="1230757" y="134366"/>
                  </a:lnTo>
                  <a:lnTo>
                    <a:pt x="1230757" y="76200"/>
                  </a:lnTo>
                  <a:lnTo>
                    <a:pt x="1250950" y="76200"/>
                  </a:lnTo>
                  <a:lnTo>
                    <a:pt x="1255014" y="76200"/>
                  </a:lnTo>
                  <a:lnTo>
                    <a:pt x="1256157" y="76200"/>
                  </a:lnTo>
                  <a:lnTo>
                    <a:pt x="1249807" y="63500"/>
                  </a:lnTo>
                  <a:lnTo>
                    <a:pt x="1218057" y="0"/>
                  </a:lnTo>
                  <a:lnTo>
                    <a:pt x="1217485" y="1143"/>
                  </a:lnTo>
                  <a:lnTo>
                    <a:pt x="1216914" y="0"/>
                  </a:lnTo>
                  <a:lnTo>
                    <a:pt x="1214882" y="4064"/>
                  </a:lnTo>
                  <a:lnTo>
                    <a:pt x="1212850" y="0"/>
                  </a:lnTo>
                  <a:lnTo>
                    <a:pt x="1174750" y="76200"/>
                  </a:lnTo>
                  <a:lnTo>
                    <a:pt x="1178814" y="76200"/>
                  </a:lnTo>
                  <a:lnTo>
                    <a:pt x="1179957" y="76200"/>
                  </a:lnTo>
                  <a:lnTo>
                    <a:pt x="1200150" y="76200"/>
                  </a:lnTo>
                  <a:lnTo>
                    <a:pt x="1200150" y="134366"/>
                  </a:lnTo>
                  <a:lnTo>
                    <a:pt x="805815" y="134366"/>
                  </a:lnTo>
                  <a:lnTo>
                    <a:pt x="5715" y="134366"/>
                  </a:lnTo>
                  <a:lnTo>
                    <a:pt x="0" y="140081"/>
                  </a:lnTo>
                  <a:lnTo>
                    <a:pt x="0" y="294132"/>
                  </a:lnTo>
                  <a:lnTo>
                    <a:pt x="25400" y="294132"/>
                  </a:lnTo>
                  <a:lnTo>
                    <a:pt x="25400" y="159766"/>
                  </a:lnTo>
                  <a:lnTo>
                    <a:pt x="800100" y="159766"/>
                  </a:lnTo>
                  <a:lnTo>
                    <a:pt x="800100" y="294132"/>
                  </a:lnTo>
                  <a:lnTo>
                    <a:pt x="825500" y="294132"/>
                  </a:lnTo>
                  <a:lnTo>
                    <a:pt x="825500" y="159766"/>
                  </a:lnTo>
                  <a:lnTo>
                    <a:pt x="1205865" y="159766"/>
                  </a:lnTo>
                  <a:lnTo>
                    <a:pt x="1223899" y="159766"/>
                  </a:lnTo>
                  <a:lnTo>
                    <a:pt x="1225042" y="159766"/>
                  </a:lnTo>
                  <a:lnTo>
                    <a:pt x="1592580" y="159766"/>
                  </a:lnTo>
                  <a:lnTo>
                    <a:pt x="1592580" y="294132"/>
                  </a:lnTo>
                  <a:lnTo>
                    <a:pt x="1617980" y="294132"/>
                  </a:lnTo>
                  <a:lnTo>
                    <a:pt x="1617980" y="159766"/>
                  </a:lnTo>
                  <a:lnTo>
                    <a:pt x="2398649" y="159766"/>
                  </a:lnTo>
                  <a:lnTo>
                    <a:pt x="2398649" y="294132"/>
                  </a:lnTo>
                  <a:lnTo>
                    <a:pt x="2424049" y="294132"/>
                  </a:lnTo>
                  <a:lnTo>
                    <a:pt x="2424049" y="159766"/>
                  </a:lnTo>
                  <a:lnTo>
                    <a:pt x="2424049" y="14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8448" y="2452750"/>
              <a:ext cx="76200" cy="11925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48299" y="700023"/>
              <a:ext cx="2987675" cy="1972945"/>
            </a:xfrm>
            <a:custGeom>
              <a:avLst/>
              <a:gdLst/>
              <a:ahLst/>
              <a:cxnLst/>
              <a:rect l="l" t="t" r="r" b="b"/>
              <a:pathLst>
                <a:path w="2987675" h="1972945">
                  <a:moveTo>
                    <a:pt x="2474849" y="1266952"/>
                  </a:moveTo>
                  <a:lnTo>
                    <a:pt x="2468499" y="1254252"/>
                  </a:lnTo>
                  <a:lnTo>
                    <a:pt x="2436749" y="1190752"/>
                  </a:lnTo>
                  <a:lnTo>
                    <a:pt x="2398649" y="1266952"/>
                  </a:lnTo>
                  <a:lnTo>
                    <a:pt x="2424049" y="1266952"/>
                  </a:lnTo>
                  <a:lnTo>
                    <a:pt x="2424049" y="1311021"/>
                  </a:lnTo>
                  <a:lnTo>
                    <a:pt x="1643380" y="1311021"/>
                  </a:lnTo>
                  <a:lnTo>
                    <a:pt x="1643380" y="1266952"/>
                  </a:lnTo>
                  <a:lnTo>
                    <a:pt x="1668780" y="1266952"/>
                  </a:lnTo>
                  <a:lnTo>
                    <a:pt x="1662430" y="1254252"/>
                  </a:lnTo>
                  <a:lnTo>
                    <a:pt x="1630680" y="1190752"/>
                  </a:lnTo>
                  <a:lnTo>
                    <a:pt x="1592580" y="1266952"/>
                  </a:lnTo>
                  <a:lnTo>
                    <a:pt x="1617980" y="1266952"/>
                  </a:lnTo>
                  <a:lnTo>
                    <a:pt x="1617980" y="1311021"/>
                  </a:lnTo>
                  <a:lnTo>
                    <a:pt x="1250442" y="1311021"/>
                  </a:lnTo>
                  <a:lnTo>
                    <a:pt x="1249299" y="1311021"/>
                  </a:lnTo>
                  <a:lnTo>
                    <a:pt x="1231265" y="1311021"/>
                  </a:lnTo>
                  <a:lnTo>
                    <a:pt x="851027" y="1311021"/>
                  </a:lnTo>
                  <a:lnTo>
                    <a:pt x="851027" y="1266825"/>
                  </a:lnTo>
                  <a:lnTo>
                    <a:pt x="876300" y="1266825"/>
                  </a:lnTo>
                  <a:lnTo>
                    <a:pt x="869950" y="1254125"/>
                  </a:lnTo>
                  <a:lnTo>
                    <a:pt x="838200" y="1190625"/>
                  </a:lnTo>
                  <a:lnTo>
                    <a:pt x="800100" y="1266825"/>
                  </a:lnTo>
                  <a:lnTo>
                    <a:pt x="825500" y="1266825"/>
                  </a:lnTo>
                  <a:lnTo>
                    <a:pt x="825500" y="1311021"/>
                  </a:lnTo>
                  <a:lnTo>
                    <a:pt x="50800" y="1311021"/>
                  </a:lnTo>
                  <a:lnTo>
                    <a:pt x="50800" y="1266825"/>
                  </a:lnTo>
                  <a:lnTo>
                    <a:pt x="76200" y="1266825"/>
                  </a:lnTo>
                  <a:lnTo>
                    <a:pt x="69850" y="1254125"/>
                  </a:lnTo>
                  <a:lnTo>
                    <a:pt x="38100" y="1190625"/>
                  </a:lnTo>
                  <a:lnTo>
                    <a:pt x="0" y="1266825"/>
                  </a:lnTo>
                  <a:lnTo>
                    <a:pt x="25400" y="1266825"/>
                  </a:lnTo>
                  <a:lnTo>
                    <a:pt x="25400" y="1330706"/>
                  </a:lnTo>
                  <a:lnTo>
                    <a:pt x="31115" y="1336421"/>
                  </a:lnTo>
                  <a:lnTo>
                    <a:pt x="831215" y="1336421"/>
                  </a:lnTo>
                  <a:lnTo>
                    <a:pt x="1225550" y="1336421"/>
                  </a:lnTo>
                  <a:lnTo>
                    <a:pt x="1225550" y="1456817"/>
                  </a:lnTo>
                  <a:lnTo>
                    <a:pt x="1229614" y="1456817"/>
                  </a:lnTo>
                  <a:lnTo>
                    <a:pt x="1230757" y="1456817"/>
                  </a:lnTo>
                  <a:lnTo>
                    <a:pt x="1250950" y="1456817"/>
                  </a:lnTo>
                  <a:lnTo>
                    <a:pt x="1255014" y="1456817"/>
                  </a:lnTo>
                  <a:lnTo>
                    <a:pt x="1256157" y="1456817"/>
                  </a:lnTo>
                  <a:lnTo>
                    <a:pt x="1256157" y="1336421"/>
                  </a:lnTo>
                  <a:lnTo>
                    <a:pt x="1637665" y="1336421"/>
                  </a:lnTo>
                  <a:lnTo>
                    <a:pt x="2443734" y="1336421"/>
                  </a:lnTo>
                  <a:lnTo>
                    <a:pt x="2449449" y="1330706"/>
                  </a:lnTo>
                  <a:lnTo>
                    <a:pt x="2449449" y="1311021"/>
                  </a:lnTo>
                  <a:lnTo>
                    <a:pt x="2449449" y="1266952"/>
                  </a:lnTo>
                  <a:lnTo>
                    <a:pt x="2474849" y="1266952"/>
                  </a:lnTo>
                  <a:close/>
                </a:path>
                <a:path w="2987675" h="1972945">
                  <a:moveTo>
                    <a:pt x="2474849" y="76327"/>
                  </a:moveTo>
                  <a:lnTo>
                    <a:pt x="2468499" y="63627"/>
                  </a:lnTo>
                  <a:lnTo>
                    <a:pt x="2436749" y="127"/>
                  </a:lnTo>
                  <a:lnTo>
                    <a:pt x="2398649" y="76327"/>
                  </a:lnTo>
                  <a:lnTo>
                    <a:pt x="2424049" y="76327"/>
                  </a:lnTo>
                  <a:lnTo>
                    <a:pt x="2424049" y="292608"/>
                  </a:lnTo>
                  <a:lnTo>
                    <a:pt x="1643380" y="292608"/>
                  </a:lnTo>
                  <a:lnTo>
                    <a:pt x="1643380" y="76327"/>
                  </a:lnTo>
                  <a:lnTo>
                    <a:pt x="1668780" y="76327"/>
                  </a:lnTo>
                  <a:lnTo>
                    <a:pt x="1662430" y="63627"/>
                  </a:lnTo>
                  <a:lnTo>
                    <a:pt x="1630680" y="127"/>
                  </a:lnTo>
                  <a:lnTo>
                    <a:pt x="1592580" y="76327"/>
                  </a:lnTo>
                  <a:lnTo>
                    <a:pt x="1617980" y="76327"/>
                  </a:lnTo>
                  <a:lnTo>
                    <a:pt x="1617980" y="292608"/>
                  </a:lnTo>
                  <a:lnTo>
                    <a:pt x="1249299" y="292608"/>
                  </a:lnTo>
                  <a:lnTo>
                    <a:pt x="1245616" y="292608"/>
                  </a:lnTo>
                  <a:lnTo>
                    <a:pt x="1231265" y="292608"/>
                  </a:lnTo>
                  <a:lnTo>
                    <a:pt x="851027" y="292608"/>
                  </a:lnTo>
                  <a:lnTo>
                    <a:pt x="851027" y="76200"/>
                  </a:lnTo>
                  <a:lnTo>
                    <a:pt x="876300" y="76200"/>
                  </a:lnTo>
                  <a:lnTo>
                    <a:pt x="869950" y="63500"/>
                  </a:lnTo>
                  <a:lnTo>
                    <a:pt x="838200" y="0"/>
                  </a:lnTo>
                  <a:lnTo>
                    <a:pt x="800100" y="76200"/>
                  </a:lnTo>
                  <a:lnTo>
                    <a:pt x="825500" y="76200"/>
                  </a:lnTo>
                  <a:lnTo>
                    <a:pt x="825500" y="292608"/>
                  </a:lnTo>
                  <a:lnTo>
                    <a:pt x="50800" y="292608"/>
                  </a:lnTo>
                  <a:lnTo>
                    <a:pt x="50800" y="76327"/>
                  </a:lnTo>
                  <a:lnTo>
                    <a:pt x="76200" y="76327"/>
                  </a:lnTo>
                  <a:lnTo>
                    <a:pt x="69850" y="63627"/>
                  </a:lnTo>
                  <a:lnTo>
                    <a:pt x="38100" y="127"/>
                  </a:lnTo>
                  <a:lnTo>
                    <a:pt x="0" y="76327"/>
                  </a:lnTo>
                  <a:lnTo>
                    <a:pt x="25400" y="76327"/>
                  </a:lnTo>
                  <a:lnTo>
                    <a:pt x="25400" y="312420"/>
                  </a:lnTo>
                  <a:lnTo>
                    <a:pt x="31115" y="318008"/>
                  </a:lnTo>
                  <a:lnTo>
                    <a:pt x="831215" y="318008"/>
                  </a:lnTo>
                  <a:lnTo>
                    <a:pt x="1225550" y="318008"/>
                  </a:lnTo>
                  <a:lnTo>
                    <a:pt x="1225550" y="428752"/>
                  </a:lnTo>
                  <a:lnTo>
                    <a:pt x="1225931" y="428752"/>
                  </a:lnTo>
                  <a:lnTo>
                    <a:pt x="1229614" y="428752"/>
                  </a:lnTo>
                  <a:lnTo>
                    <a:pt x="1250950" y="428752"/>
                  </a:lnTo>
                  <a:lnTo>
                    <a:pt x="1251331" y="428752"/>
                  </a:lnTo>
                  <a:lnTo>
                    <a:pt x="1255014" y="428752"/>
                  </a:lnTo>
                  <a:lnTo>
                    <a:pt x="1255014" y="318008"/>
                  </a:lnTo>
                  <a:lnTo>
                    <a:pt x="1637665" y="318008"/>
                  </a:lnTo>
                  <a:lnTo>
                    <a:pt x="2443734" y="318008"/>
                  </a:lnTo>
                  <a:lnTo>
                    <a:pt x="2449449" y="312420"/>
                  </a:lnTo>
                  <a:lnTo>
                    <a:pt x="2449449" y="292608"/>
                  </a:lnTo>
                  <a:lnTo>
                    <a:pt x="2449449" y="76327"/>
                  </a:lnTo>
                  <a:lnTo>
                    <a:pt x="2474849" y="76327"/>
                  </a:lnTo>
                  <a:close/>
                </a:path>
                <a:path w="2987675" h="1972945">
                  <a:moveTo>
                    <a:pt x="2987167" y="507365"/>
                  </a:moveTo>
                  <a:lnTo>
                    <a:pt x="2981452" y="501777"/>
                  </a:lnTo>
                  <a:lnTo>
                    <a:pt x="1422400" y="501777"/>
                  </a:lnTo>
                  <a:lnTo>
                    <a:pt x="1422400" y="476377"/>
                  </a:lnTo>
                  <a:lnTo>
                    <a:pt x="1346200" y="514477"/>
                  </a:lnTo>
                  <a:lnTo>
                    <a:pt x="1422400" y="552577"/>
                  </a:lnTo>
                  <a:lnTo>
                    <a:pt x="1422400" y="527177"/>
                  </a:lnTo>
                  <a:lnTo>
                    <a:pt x="2961767" y="527177"/>
                  </a:lnTo>
                  <a:lnTo>
                    <a:pt x="2961767" y="1947291"/>
                  </a:lnTo>
                  <a:lnTo>
                    <a:pt x="1333500" y="1947291"/>
                  </a:lnTo>
                  <a:lnTo>
                    <a:pt x="1333500" y="1972691"/>
                  </a:lnTo>
                  <a:lnTo>
                    <a:pt x="2981452" y="1972691"/>
                  </a:lnTo>
                  <a:lnTo>
                    <a:pt x="2987167" y="1966976"/>
                  </a:lnTo>
                  <a:lnTo>
                    <a:pt x="2987167" y="1959991"/>
                  </a:lnTo>
                  <a:lnTo>
                    <a:pt x="2987167" y="1947291"/>
                  </a:lnTo>
                  <a:lnTo>
                    <a:pt x="2987167" y="527177"/>
                  </a:lnTo>
                  <a:lnTo>
                    <a:pt x="2987167" y="514477"/>
                  </a:lnTo>
                  <a:lnTo>
                    <a:pt x="2987167" y="50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SwiGLU</a:t>
            </a:r>
            <a:r>
              <a:rPr spc="165" dirty="0"/>
              <a:t> </a:t>
            </a:r>
            <a:r>
              <a:rPr spc="-25" dirty="0"/>
              <a:t>MLP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12115" y="833437"/>
            <a:ext cx="11214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Classic</a:t>
            </a:r>
            <a:r>
              <a:rPr sz="14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MLP</a:t>
            </a:r>
            <a:r>
              <a:rPr sz="1400" u="none" spc="-2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6715" y="1263078"/>
            <a:ext cx="2468880" cy="882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 [N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dirty="0">
                <a:latin typeface="Arial"/>
                <a:cs typeface="Arial"/>
              </a:rPr>
              <a:t>Weights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350" spc="225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4D]</a:t>
            </a:r>
            <a:endParaRPr sz="1400">
              <a:latin typeface="Arial"/>
              <a:cs typeface="Arial"/>
            </a:endParaRPr>
          </a:p>
          <a:p>
            <a:pPr marL="826135">
              <a:lnSpc>
                <a:spcPts val="167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350" spc="232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[4D 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70"/>
              </a:lnSpc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40C28"/>
                </a:solidFill>
                <a:latin typeface="Calibri"/>
                <a:cs typeface="Calibri"/>
              </a:rPr>
              <a:t>σ(</a:t>
            </a:r>
            <a:r>
              <a:rPr sz="1400" dirty="0">
                <a:latin typeface="Arial"/>
                <a:cs typeface="Arial"/>
              </a:rPr>
              <a:t>XW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400" dirty="0">
                <a:latin typeface="Arial"/>
                <a:cs typeface="Arial"/>
              </a:rPr>
              <a:t>)W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350" spc="232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2115" y="2377122"/>
            <a:ext cx="11817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SwiGLU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MLP</a:t>
            </a:r>
            <a:r>
              <a:rPr sz="1400" u="none" spc="-2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042936" y="3716908"/>
            <a:ext cx="1315720" cy="167640"/>
          </a:xfrm>
          <a:custGeom>
            <a:avLst/>
            <a:gdLst/>
            <a:ahLst/>
            <a:cxnLst/>
            <a:rect l="l" t="t" r="r" b="b"/>
            <a:pathLst>
              <a:path w="1315720" h="167639">
                <a:moveTo>
                  <a:pt x="55841" y="6731"/>
                </a:moveTo>
                <a:lnTo>
                  <a:pt x="53454" y="0"/>
                </a:lnTo>
                <a:lnTo>
                  <a:pt x="41300" y="4356"/>
                </a:lnTo>
                <a:lnTo>
                  <a:pt x="30645" y="10718"/>
                </a:lnTo>
                <a:lnTo>
                  <a:pt x="7772" y="41249"/>
                </a:lnTo>
                <a:lnTo>
                  <a:pt x="38" y="82931"/>
                </a:lnTo>
                <a:lnTo>
                  <a:pt x="0" y="83820"/>
                </a:lnTo>
                <a:lnTo>
                  <a:pt x="774" y="97701"/>
                </a:lnTo>
                <a:lnTo>
                  <a:pt x="850" y="99237"/>
                </a:lnTo>
                <a:lnTo>
                  <a:pt x="13779" y="138303"/>
                </a:lnTo>
                <a:lnTo>
                  <a:pt x="53454" y="167601"/>
                </a:lnTo>
                <a:lnTo>
                  <a:pt x="55575" y="160794"/>
                </a:lnTo>
                <a:lnTo>
                  <a:pt x="46024" y="156552"/>
                </a:lnTo>
                <a:lnTo>
                  <a:pt x="37782" y="150672"/>
                </a:lnTo>
                <a:lnTo>
                  <a:pt x="17767" y="111125"/>
                </a:lnTo>
                <a:lnTo>
                  <a:pt x="15290" y="82931"/>
                </a:lnTo>
                <a:lnTo>
                  <a:pt x="15900" y="68618"/>
                </a:lnTo>
                <a:lnTo>
                  <a:pt x="30861" y="24257"/>
                </a:lnTo>
                <a:lnTo>
                  <a:pt x="46164" y="10972"/>
                </a:lnTo>
                <a:lnTo>
                  <a:pt x="55841" y="6731"/>
                </a:lnTo>
                <a:close/>
              </a:path>
              <a:path w="1315720" h="167639">
                <a:moveTo>
                  <a:pt x="238747" y="6731"/>
                </a:moveTo>
                <a:lnTo>
                  <a:pt x="236334" y="0"/>
                </a:lnTo>
                <a:lnTo>
                  <a:pt x="224180" y="4356"/>
                </a:lnTo>
                <a:lnTo>
                  <a:pt x="213525" y="10718"/>
                </a:lnTo>
                <a:lnTo>
                  <a:pt x="190652" y="41249"/>
                </a:lnTo>
                <a:lnTo>
                  <a:pt x="182918" y="82931"/>
                </a:lnTo>
                <a:lnTo>
                  <a:pt x="182880" y="83820"/>
                </a:lnTo>
                <a:lnTo>
                  <a:pt x="183654" y="97701"/>
                </a:lnTo>
                <a:lnTo>
                  <a:pt x="183730" y="99237"/>
                </a:lnTo>
                <a:lnTo>
                  <a:pt x="196659" y="138303"/>
                </a:lnTo>
                <a:lnTo>
                  <a:pt x="236334" y="167601"/>
                </a:lnTo>
                <a:lnTo>
                  <a:pt x="238493" y="160794"/>
                </a:lnTo>
                <a:lnTo>
                  <a:pt x="228917" y="156552"/>
                </a:lnTo>
                <a:lnTo>
                  <a:pt x="220662" y="150672"/>
                </a:lnTo>
                <a:lnTo>
                  <a:pt x="200647" y="111125"/>
                </a:lnTo>
                <a:lnTo>
                  <a:pt x="198170" y="82931"/>
                </a:lnTo>
                <a:lnTo>
                  <a:pt x="198780" y="68618"/>
                </a:lnTo>
                <a:lnTo>
                  <a:pt x="213741" y="24257"/>
                </a:lnTo>
                <a:lnTo>
                  <a:pt x="229057" y="10972"/>
                </a:lnTo>
                <a:lnTo>
                  <a:pt x="238747" y="6731"/>
                </a:lnTo>
                <a:close/>
              </a:path>
              <a:path w="1315720" h="167639">
                <a:moveTo>
                  <a:pt x="641083" y="83820"/>
                </a:moveTo>
                <a:lnTo>
                  <a:pt x="640219" y="68618"/>
                </a:lnTo>
                <a:lnTo>
                  <a:pt x="640219" y="68491"/>
                </a:lnTo>
                <a:lnTo>
                  <a:pt x="637628" y="54305"/>
                </a:lnTo>
                <a:lnTo>
                  <a:pt x="619620" y="19062"/>
                </a:lnTo>
                <a:lnTo>
                  <a:pt x="587603" y="0"/>
                </a:lnTo>
                <a:lnTo>
                  <a:pt x="585190" y="6731"/>
                </a:lnTo>
                <a:lnTo>
                  <a:pt x="594906" y="10972"/>
                </a:lnTo>
                <a:lnTo>
                  <a:pt x="603275" y="16814"/>
                </a:lnTo>
                <a:lnTo>
                  <a:pt x="623354" y="55587"/>
                </a:lnTo>
                <a:lnTo>
                  <a:pt x="625195" y="68491"/>
                </a:lnTo>
                <a:lnTo>
                  <a:pt x="625221" y="68618"/>
                </a:lnTo>
                <a:lnTo>
                  <a:pt x="625843" y="82931"/>
                </a:lnTo>
                <a:lnTo>
                  <a:pt x="625221" y="97701"/>
                </a:lnTo>
                <a:lnTo>
                  <a:pt x="623341" y="111125"/>
                </a:lnTo>
                <a:lnTo>
                  <a:pt x="603300" y="150672"/>
                </a:lnTo>
                <a:lnTo>
                  <a:pt x="585457" y="160794"/>
                </a:lnTo>
                <a:lnTo>
                  <a:pt x="587603" y="167601"/>
                </a:lnTo>
                <a:lnTo>
                  <a:pt x="627240" y="138303"/>
                </a:lnTo>
                <a:lnTo>
                  <a:pt x="640219" y="99237"/>
                </a:lnTo>
                <a:lnTo>
                  <a:pt x="641083" y="83820"/>
                </a:lnTo>
                <a:close/>
              </a:path>
              <a:path w="1315720" h="167639">
                <a:moveTo>
                  <a:pt x="1315326" y="83820"/>
                </a:moveTo>
                <a:lnTo>
                  <a:pt x="1314462" y="68618"/>
                </a:lnTo>
                <a:lnTo>
                  <a:pt x="1314462" y="68491"/>
                </a:lnTo>
                <a:lnTo>
                  <a:pt x="1311871" y="54305"/>
                </a:lnTo>
                <a:lnTo>
                  <a:pt x="1293863" y="19062"/>
                </a:lnTo>
                <a:lnTo>
                  <a:pt x="1261859" y="0"/>
                </a:lnTo>
                <a:lnTo>
                  <a:pt x="1259446" y="6731"/>
                </a:lnTo>
                <a:lnTo>
                  <a:pt x="1269149" y="10972"/>
                </a:lnTo>
                <a:lnTo>
                  <a:pt x="1277518" y="16814"/>
                </a:lnTo>
                <a:lnTo>
                  <a:pt x="1297609" y="55587"/>
                </a:lnTo>
                <a:lnTo>
                  <a:pt x="1299438" y="68491"/>
                </a:lnTo>
                <a:lnTo>
                  <a:pt x="1299464" y="68618"/>
                </a:lnTo>
                <a:lnTo>
                  <a:pt x="1300086" y="82931"/>
                </a:lnTo>
                <a:lnTo>
                  <a:pt x="1299464" y="97701"/>
                </a:lnTo>
                <a:lnTo>
                  <a:pt x="1297584" y="111125"/>
                </a:lnTo>
                <a:lnTo>
                  <a:pt x="1277543" y="150672"/>
                </a:lnTo>
                <a:lnTo>
                  <a:pt x="1259700" y="160794"/>
                </a:lnTo>
                <a:lnTo>
                  <a:pt x="1261859" y="167601"/>
                </a:lnTo>
                <a:lnTo>
                  <a:pt x="1301483" y="138303"/>
                </a:lnTo>
                <a:lnTo>
                  <a:pt x="1314462" y="99237"/>
                </a:lnTo>
                <a:lnTo>
                  <a:pt x="1315326" y="83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86715" y="2806636"/>
            <a:ext cx="2249170" cy="1102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1664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 [N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dirty="0">
                <a:latin typeface="Arial"/>
                <a:cs typeface="Arial"/>
              </a:rPr>
              <a:t>Weights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350" spc="240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350" spc="240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[D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H]</a:t>
            </a:r>
            <a:endParaRPr sz="1400">
              <a:latin typeface="Arial"/>
              <a:cs typeface="Arial"/>
            </a:endParaRPr>
          </a:p>
          <a:p>
            <a:pPr marL="233045" algn="ctr">
              <a:lnSpc>
                <a:spcPts val="1664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3</a:t>
            </a:r>
            <a:r>
              <a:rPr sz="1350" spc="232" baseline="-18518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[H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ts val="1664"/>
              </a:lnSpc>
            </a:pPr>
            <a:r>
              <a:rPr sz="1400" b="1" spc="-10" dirty="0">
                <a:latin typeface="Arial"/>
                <a:cs typeface="Arial"/>
              </a:rPr>
              <a:t>Output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259715" algn="ctr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Cambria Math"/>
                <a:cs typeface="Cambria Math"/>
              </a:rPr>
              <a:t>𝑌</a:t>
            </a:r>
            <a:r>
              <a:rPr sz="1400" spc="6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135" dirty="0">
                <a:latin typeface="Cambria Math"/>
                <a:cs typeface="Cambria Math"/>
              </a:rPr>
              <a:t>  </a:t>
            </a:r>
            <a:r>
              <a:rPr sz="1400" dirty="0">
                <a:latin typeface="Cambria Math"/>
                <a:cs typeface="Cambria Math"/>
              </a:rPr>
              <a:t>𝜎</a:t>
            </a:r>
            <a:r>
              <a:rPr sz="1400" spc="25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𝑋𝑊</a:t>
            </a:r>
            <a:r>
              <a:rPr sz="1575" baseline="-15873" dirty="0">
                <a:latin typeface="Cambria Math"/>
                <a:cs typeface="Cambria Math"/>
              </a:rPr>
              <a:t>1</a:t>
            </a:r>
            <a:r>
              <a:rPr sz="1575" spc="292" baseline="-15873" dirty="0">
                <a:latin typeface="Cambria Math"/>
                <a:cs typeface="Cambria Math"/>
              </a:rPr>
              <a:t>  </a:t>
            </a:r>
            <a:r>
              <a:rPr sz="1400" dirty="0">
                <a:latin typeface="Cambria Math"/>
                <a:cs typeface="Cambria Math"/>
              </a:rPr>
              <a:t>⊙</a:t>
            </a:r>
            <a:r>
              <a:rPr sz="1400" spc="-4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𝑋𝑊</a:t>
            </a:r>
            <a:r>
              <a:rPr sz="1575" baseline="-15873" dirty="0">
                <a:latin typeface="Cambria Math"/>
                <a:cs typeface="Cambria Math"/>
              </a:rPr>
              <a:t>2</a:t>
            </a:r>
            <a:r>
              <a:rPr sz="1575" spc="494" baseline="-15873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𝑊</a:t>
            </a:r>
            <a:r>
              <a:rPr sz="1575" spc="-37" baseline="-15873" dirty="0">
                <a:latin typeface="Cambria Math"/>
                <a:cs typeface="Cambria Math"/>
              </a:rPr>
              <a:t>3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8739" y="4061170"/>
            <a:ext cx="2461895" cy="6724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54965" marR="269875">
              <a:lnSpc>
                <a:spcPts val="173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Setting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8D/3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keeps </a:t>
            </a:r>
            <a:r>
              <a:rPr sz="1400" dirty="0">
                <a:latin typeface="Arial"/>
                <a:cs typeface="Arial"/>
              </a:rPr>
              <a:t>same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total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params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800" dirty="0">
                <a:latin typeface="Arial"/>
                <a:cs typeface="Arial"/>
              </a:rPr>
              <a:t>Shazeer,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“GLU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Variants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Improve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Transformers”,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2020</a:t>
            </a:r>
            <a:endParaRPr sz="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116</a:t>
            </a:fld>
            <a:endParaRPr spc="-25" dirty="0"/>
          </a:p>
        </p:txBody>
      </p:sp>
      <p:sp>
        <p:nvSpPr>
          <p:cNvPr id="70" name="object 7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2780664" y="2595562"/>
            <a:ext cx="2134235" cy="1101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4"/>
              </a:spcBef>
            </a:pPr>
            <a:r>
              <a:rPr sz="1400" i="1" dirty="0">
                <a:latin typeface="Arial"/>
                <a:cs typeface="Arial"/>
              </a:rPr>
              <a:t>We</a:t>
            </a:r>
            <a:r>
              <a:rPr sz="1400" i="1" spc="-7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offer</a:t>
            </a:r>
            <a:r>
              <a:rPr sz="1400" i="1" spc="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no</a:t>
            </a:r>
            <a:r>
              <a:rPr sz="1400" i="1" spc="-7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explanation</a:t>
            </a:r>
            <a:r>
              <a:rPr sz="1400" i="1" spc="5" dirty="0">
                <a:latin typeface="Arial"/>
                <a:cs typeface="Arial"/>
              </a:rPr>
              <a:t> </a:t>
            </a:r>
            <a:r>
              <a:rPr sz="1400" i="1" spc="-25" dirty="0">
                <a:latin typeface="Arial"/>
                <a:cs typeface="Arial"/>
              </a:rPr>
              <a:t>as </a:t>
            </a:r>
            <a:r>
              <a:rPr sz="1400" i="1" dirty="0">
                <a:latin typeface="Arial"/>
                <a:cs typeface="Arial"/>
              </a:rPr>
              <a:t>to</a:t>
            </a:r>
            <a:r>
              <a:rPr sz="1400" i="1" spc="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why</a:t>
            </a:r>
            <a:r>
              <a:rPr sz="1400" i="1" spc="-6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these</a:t>
            </a:r>
            <a:r>
              <a:rPr sz="1400" i="1" spc="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architectures </a:t>
            </a:r>
            <a:r>
              <a:rPr sz="1400" i="1" dirty="0">
                <a:latin typeface="Arial"/>
                <a:cs typeface="Arial"/>
              </a:rPr>
              <a:t>seem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to</a:t>
            </a:r>
            <a:r>
              <a:rPr sz="1400" i="1" spc="-4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work;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we</a:t>
            </a:r>
            <a:r>
              <a:rPr sz="1400" i="1" spc="-5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attribute </a:t>
            </a:r>
            <a:r>
              <a:rPr sz="1400" i="1" dirty="0">
                <a:latin typeface="Arial"/>
                <a:cs typeface="Arial"/>
              </a:rPr>
              <a:t>their</a:t>
            </a:r>
            <a:r>
              <a:rPr sz="1400" i="1" spc="-6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success,</a:t>
            </a:r>
            <a:r>
              <a:rPr sz="1400" i="1" spc="-5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as</a:t>
            </a:r>
            <a:r>
              <a:rPr sz="1400" i="1" spc="-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all</a:t>
            </a:r>
            <a:r>
              <a:rPr sz="1400" i="1" spc="1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else, </a:t>
            </a:r>
            <a:r>
              <a:rPr sz="1400" i="1" dirty="0">
                <a:latin typeface="Arial"/>
                <a:cs typeface="Arial"/>
              </a:rPr>
              <a:t>to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divine</a:t>
            </a:r>
            <a:r>
              <a:rPr sz="1400" i="1" spc="-10" dirty="0">
                <a:latin typeface="Arial"/>
                <a:cs typeface="Arial"/>
              </a:rPr>
              <a:t> benevolence.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246125"/>
            <a:ext cx="3829050" cy="4318000"/>
            <a:chOff x="5195951" y="246125"/>
            <a:chExt cx="3829050" cy="4318000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50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51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08901" y="1598675"/>
            <a:ext cx="1546225" cy="298450"/>
            <a:chOff x="7208901" y="1598675"/>
            <a:chExt cx="1546225" cy="298450"/>
          </a:xfrm>
        </p:grpSpPr>
        <p:sp>
          <p:nvSpPr>
            <p:cNvPr id="24" name="object 24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733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33425" y="285750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0" y="285750"/>
                  </a:moveTo>
                  <a:lnTo>
                    <a:pt x="733425" y="285750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7239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23900" y="28575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285750"/>
                  </a:moveTo>
                  <a:lnTo>
                    <a:pt x="723900" y="2857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24876" y="1605025"/>
            <a:ext cx="72390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07076" y="1116075"/>
            <a:ext cx="3524250" cy="2999105"/>
            <a:chOff x="5307076" y="1116075"/>
            <a:chExt cx="3524250" cy="2999105"/>
          </a:xfrm>
        </p:grpSpPr>
        <p:sp>
          <p:nvSpPr>
            <p:cNvPr id="30" name="object 30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32670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67075" y="295275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0" y="295275"/>
                  </a:moveTo>
                  <a:lnTo>
                    <a:pt x="3267075" y="29527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563875"/>
              <a:ext cx="206375" cy="1968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07076" y="2624200"/>
              <a:ext cx="1794510" cy="1251585"/>
            </a:xfrm>
            <a:custGeom>
              <a:avLst/>
              <a:gdLst/>
              <a:ahLst/>
              <a:cxnLst/>
              <a:rect l="l" t="t" r="r" b="b"/>
              <a:pathLst>
                <a:path w="1794509" h="1251585">
                  <a:moveTo>
                    <a:pt x="1717928" y="25273"/>
                  </a:moveTo>
                  <a:lnTo>
                    <a:pt x="5587" y="25273"/>
                  </a:lnTo>
                  <a:lnTo>
                    <a:pt x="0" y="30987"/>
                  </a:lnTo>
                  <a:lnTo>
                    <a:pt x="0" y="1245362"/>
                  </a:lnTo>
                  <a:lnTo>
                    <a:pt x="5587" y="1251077"/>
                  </a:lnTo>
                  <a:lnTo>
                    <a:pt x="241173" y="1251077"/>
                  </a:lnTo>
                  <a:lnTo>
                    <a:pt x="241173" y="1238377"/>
                  </a:lnTo>
                  <a:lnTo>
                    <a:pt x="25400" y="1238377"/>
                  </a:lnTo>
                  <a:lnTo>
                    <a:pt x="12700" y="1225677"/>
                  </a:lnTo>
                  <a:lnTo>
                    <a:pt x="25400" y="1225677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273"/>
                  </a:lnTo>
                  <a:close/>
                </a:path>
                <a:path w="1794509" h="1251585">
                  <a:moveTo>
                    <a:pt x="25400" y="1225677"/>
                  </a:moveTo>
                  <a:lnTo>
                    <a:pt x="12700" y="1225677"/>
                  </a:lnTo>
                  <a:lnTo>
                    <a:pt x="25400" y="1238377"/>
                  </a:lnTo>
                  <a:lnTo>
                    <a:pt x="25400" y="1225677"/>
                  </a:lnTo>
                  <a:close/>
                </a:path>
                <a:path w="1794509" h="1251585">
                  <a:moveTo>
                    <a:pt x="241173" y="1225677"/>
                  </a:moveTo>
                  <a:lnTo>
                    <a:pt x="25400" y="1225677"/>
                  </a:lnTo>
                  <a:lnTo>
                    <a:pt x="25400" y="1238377"/>
                  </a:lnTo>
                  <a:lnTo>
                    <a:pt x="241173" y="1238377"/>
                  </a:lnTo>
                  <a:lnTo>
                    <a:pt x="241173" y="1225677"/>
                  </a:lnTo>
                  <a:close/>
                </a:path>
                <a:path w="1794509" h="1251585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273"/>
                  </a:lnTo>
                  <a:lnTo>
                    <a:pt x="1768475" y="25273"/>
                  </a:lnTo>
                  <a:lnTo>
                    <a:pt x="1717928" y="0"/>
                  </a:lnTo>
                  <a:close/>
                </a:path>
                <a:path w="1794509" h="125158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1251585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1251585">
                  <a:moveTo>
                    <a:pt x="1768475" y="25273"/>
                  </a:moveTo>
                  <a:lnTo>
                    <a:pt x="1730628" y="25273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475" y="25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251" y="1116075"/>
              <a:ext cx="206375" cy="20637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630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R="1169670" algn="r">
              <a:lnSpc>
                <a:spcPct val="100000"/>
              </a:lnSpc>
              <a:spcBef>
                <a:spcPts val="1570"/>
              </a:spcBef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201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42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70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948298" y="700023"/>
            <a:ext cx="2987675" cy="3081655"/>
            <a:chOff x="5948298" y="700023"/>
            <a:chExt cx="2987675" cy="3081655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099" y="2748025"/>
              <a:ext cx="76073" cy="13881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8" y="3586225"/>
              <a:ext cx="76200" cy="19532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8" y="3586225"/>
              <a:ext cx="76200" cy="19532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8" y="3586225"/>
              <a:ext cx="76200" cy="19532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8" y="3586225"/>
              <a:ext cx="76200" cy="19532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973699" y="1309750"/>
              <a:ext cx="2424430" cy="294640"/>
            </a:xfrm>
            <a:custGeom>
              <a:avLst/>
              <a:gdLst/>
              <a:ahLst/>
              <a:cxnLst/>
              <a:rect l="l" t="t" r="r" b="b"/>
              <a:pathLst>
                <a:path w="2424429" h="294640">
                  <a:moveTo>
                    <a:pt x="2424049" y="140081"/>
                  </a:moveTo>
                  <a:lnTo>
                    <a:pt x="2418334" y="134366"/>
                  </a:lnTo>
                  <a:lnTo>
                    <a:pt x="1612265" y="134366"/>
                  </a:lnTo>
                  <a:lnTo>
                    <a:pt x="1230757" y="134366"/>
                  </a:lnTo>
                  <a:lnTo>
                    <a:pt x="1230757" y="76200"/>
                  </a:lnTo>
                  <a:lnTo>
                    <a:pt x="1250950" y="76200"/>
                  </a:lnTo>
                  <a:lnTo>
                    <a:pt x="1255014" y="76200"/>
                  </a:lnTo>
                  <a:lnTo>
                    <a:pt x="1256157" y="76200"/>
                  </a:lnTo>
                  <a:lnTo>
                    <a:pt x="1249807" y="63500"/>
                  </a:lnTo>
                  <a:lnTo>
                    <a:pt x="1218057" y="0"/>
                  </a:lnTo>
                  <a:lnTo>
                    <a:pt x="1217485" y="1143"/>
                  </a:lnTo>
                  <a:lnTo>
                    <a:pt x="1216914" y="0"/>
                  </a:lnTo>
                  <a:lnTo>
                    <a:pt x="1214882" y="4064"/>
                  </a:lnTo>
                  <a:lnTo>
                    <a:pt x="1212850" y="0"/>
                  </a:lnTo>
                  <a:lnTo>
                    <a:pt x="1174750" y="76200"/>
                  </a:lnTo>
                  <a:lnTo>
                    <a:pt x="1178814" y="76200"/>
                  </a:lnTo>
                  <a:lnTo>
                    <a:pt x="1179957" y="76200"/>
                  </a:lnTo>
                  <a:lnTo>
                    <a:pt x="1200150" y="76200"/>
                  </a:lnTo>
                  <a:lnTo>
                    <a:pt x="1200150" y="134366"/>
                  </a:lnTo>
                  <a:lnTo>
                    <a:pt x="805815" y="134366"/>
                  </a:lnTo>
                  <a:lnTo>
                    <a:pt x="5715" y="134366"/>
                  </a:lnTo>
                  <a:lnTo>
                    <a:pt x="0" y="140081"/>
                  </a:lnTo>
                  <a:lnTo>
                    <a:pt x="0" y="294132"/>
                  </a:lnTo>
                  <a:lnTo>
                    <a:pt x="25400" y="294132"/>
                  </a:lnTo>
                  <a:lnTo>
                    <a:pt x="25400" y="159766"/>
                  </a:lnTo>
                  <a:lnTo>
                    <a:pt x="800100" y="159766"/>
                  </a:lnTo>
                  <a:lnTo>
                    <a:pt x="800100" y="294132"/>
                  </a:lnTo>
                  <a:lnTo>
                    <a:pt x="825500" y="294132"/>
                  </a:lnTo>
                  <a:lnTo>
                    <a:pt x="825500" y="159766"/>
                  </a:lnTo>
                  <a:lnTo>
                    <a:pt x="1205865" y="159766"/>
                  </a:lnTo>
                  <a:lnTo>
                    <a:pt x="1223899" y="159766"/>
                  </a:lnTo>
                  <a:lnTo>
                    <a:pt x="1225042" y="159766"/>
                  </a:lnTo>
                  <a:lnTo>
                    <a:pt x="1592580" y="159766"/>
                  </a:lnTo>
                  <a:lnTo>
                    <a:pt x="1592580" y="294132"/>
                  </a:lnTo>
                  <a:lnTo>
                    <a:pt x="1617980" y="294132"/>
                  </a:lnTo>
                  <a:lnTo>
                    <a:pt x="1617980" y="159766"/>
                  </a:lnTo>
                  <a:lnTo>
                    <a:pt x="2398649" y="159766"/>
                  </a:lnTo>
                  <a:lnTo>
                    <a:pt x="2398649" y="294132"/>
                  </a:lnTo>
                  <a:lnTo>
                    <a:pt x="2424049" y="294132"/>
                  </a:lnTo>
                  <a:lnTo>
                    <a:pt x="2424049" y="159766"/>
                  </a:lnTo>
                  <a:lnTo>
                    <a:pt x="2424049" y="14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8448" y="2452750"/>
              <a:ext cx="76200" cy="11925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48299" y="700023"/>
              <a:ext cx="2987675" cy="1972945"/>
            </a:xfrm>
            <a:custGeom>
              <a:avLst/>
              <a:gdLst/>
              <a:ahLst/>
              <a:cxnLst/>
              <a:rect l="l" t="t" r="r" b="b"/>
              <a:pathLst>
                <a:path w="2987675" h="1972945">
                  <a:moveTo>
                    <a:pt x="2474849" y="1266952"/>
                  </a:moveTo>
                  <a:lnTo>
                    <a:pt x="2468499" y="1254252"/>
                  </a:lnTo>
                  <a:lnTo>
                    <a:pt x="2436749" y="1190752"/>
                  </a:lnTo>
                  <a:lnTo>
                    <a:pt x="2398649" y="1266952"/>
                  </a:lnTo>
                  <a:lnTo>
                    <a:pt x="2424049" y="1266952"/>
                  </a:lnTo>
                  <a:lnTo>
                    <a:pt x="2424049" y="1311021"/>
                  </a:lnTo>
                  <a:lnTo>
                    <a:pt x="1643380" y="1311021"/>
                  </a:lnTo>
                  <a:lnTo>
                    <a:pt x="1643380" y="1266952"/>
                  </a:lnTo>
                  <a:lnTo>
                    <a:pt x="1668780" y="1266952"/>
                  </a:lnTo>
                  <a:lnTo>
                    <a:pt x="1662430" y="1254252"/>
                  </a:lnTo>
                  <a:lnTo>
                    <a:pt x="1630680" y="1190752"/>
                  </a:lnTo>
                  <a:lnTo>
                    <a:pt x="1592580" y="1266952"/>
                  </a:lnTo>
                  <a:lnTo>
                    <a:pt x="1617980" y="1266952"/>
                  </a:lnTo>
                  <a:lnTo>
                    <a:pt x="1617980" y="1311021"/>
                  </a:lnTo>
                  <a:lnTo>
                    <a:pt x="1250442" y="1311021"/>
                  </a:lnTo>
                  <a:lnTo>
                    <a:pt x="1249299" y="1311021"/>
                  </a:lnTo>
                  <a:lnTo>
                    <a:pt x="1231265" y="1311021"/>
                  </a:lnTo>
                  <a:lnTo>
                    <a:pt x="851027" y="1311021"/>
                  </a:lnTo>
                  <a:lnTo>
                    <a:pt x="851027" y="1266825"/>
                  </a:lnTo>
                  <a:lnTo>
                    <a:pt x="876300" y="1266825"/>
                  </a:lnTo>
                  <a:lnTo>
                    <a:pt x="869950" y="1254125"/>
                  </a:lnTo>
                  <a:lnTo>
                    <a:pt x="838200" y="1190625"/>
                  </a:lnTo>
                  <a:lnTo>
                    <a:pt x="800100" y="1266825"/>
                  </a:lnTo>
                  <a:lnTo>
                    <a:pt x="825500" y="1266825"/>
                  </a:lnTo>
                  <a:lnTo>
                    <a:pt x="825500" y="1311021"/>
                  </a:lnTo>
                  <a:lnTo>
                    <a:pt x="50800" y="1311021"/>
                  </a:lnTo>
                  <a:lnTo>
                    <a:pt x="50800" y="1266825"/>
                  </a:lnTo>
                  <a:lnTo>
                    <a:pt x="76200" y="1266825"/>
                  </a:lnTo>
                  <a:lnTo>
                    <a:pt x="69850" y="1254125"/>
                  </a:lnTo>
                  <a:lnTo>
                    <a:pt x="38100" y="1190625"/>
                  </a:lnTo>
                  <a:lnTo>
                    <a:pt x="0" y="1266825"/>
                  </a:lnTo>
                  <a:lnTo>
                    <a:pt x="25400" y="1266825"/>
                  </a:lnTo>
                  <a:lnTo>
                    <a:pt x="25400" y="1330706"/>
                  </a:lnTo>
                  <a:lnTo>
                    <a:pt x="31115" y="1336421"/>
                  </a:lnTo>
                  <a:lnTo>
                    <a:pt x="831215" y="1336421"/>
                  </a:lnTo>
                  <a:lnTo>
                    <a:pt x="1225550" y="1336421"/>
                  </a:lnTo>
                  <a:lnTo>
                    <a:pt x="1225550" y="1456817"/>
                  </a:lnTo>
                  <a:lnTo>
                    <a:pt x="1229614" y="1456817"/>
                  </a:lnTo>
                  <a:lnTo>
                    <a:pt x="1230757" y="1456817"/>
                  </a:lnTo>
                  <a:lnTo>
                    <a:pt x="1250950" y="1456817"/>
                  </a:lnTo>
                  <a:lnTo>
                    <a:pt x="1255014" y="1456817"/>
                  </a:lnTo>
                  <a:lnTo>
                    <a:pt x="1256157" y="1456817"/>
                  </a:lnTo>
                  <a:lnTo>
                    <a:pt x="1256157" y="1336421"/>
                  </a:lnTo>
                  <a:lnTo>
                    <a:pt x="1637665" y="1336421"/>
                  </a:lnTo>
                  <a:lnTo>
                    <a:pt x="2443734" y="1336421"/>
                  </a:lnTo>
                  <a:lnTo>
                    <a:pt x="2449449" y="1330706"/>
                  </a:lnTo>
                  <a:lnTo>
                    <a:pt x="2449449" y="1311021"/>
                  </a:lnTo>
                  <a:lnTo>
                    <a:pt x="2449449" y="1266952"/>
                  </a:lnTo>
                  <a:lnTo>
                    <a:pt x="2474849" y="1266952"/>
                  </a:lnTo>
                  <a:close/>
                </a:path>
                <a:path w="2987675" h="1972945">
                  <a:moveTo>
                    <a:pt x="2474849" y="76327"/>
                  </a:moveTo>
                  <a:lnTo>
                    <a:pt x="2468499" y="63627"/>
                  </a:lnTo>
                  <a:lnTo>
                    <a:pt x="2436749" y="127"/>
                  </a:lnTo>
                  <a:lnTo>
                    <a:pt x="2398649" y="76327"/>
                  </a:lnTo>
                  <a:lnTo>
                    <a:pt x="2424049" y="76327"/>
                  </a:lnTo>
                  <a:lnTo>
                    <a:pt x="2424049" y="292608"/>
                  </a:lnTo>
                  <a:lnTo>
                    <a:pt x="1643380" y="292608"/>
                  </a:lnTo>
                  <a:lnTo>
                    <a:pt x="1643380" y="76327"/>
                  </a:lnTo>
                  <a:lnTo>
                    <a:pt x="1668780" y="76327"/>
                  </a:lnTo>
                  <a:lnTo>
                    <a:pt x="1662430" y="63627"/>
                  </a:lnTo>
                  <a:lnTo>
                    <a:pt x="1630680" y="127"/>
                  </a:lnTo>
                  <a:lnTo>
                    <a:pt x="1592580" y="76327"/>
                  </a:lnTo>
                  <a:lnTo>
                    <a:pt x="1617980" y="76327"/>
                  </a:lnTo>
                  <a:lnTo>
                    <a:pt x="1617980" y="292608"/>
                  </a:lnTo>
                  <a:lnTo>
                    <a:pt x="1249299" y="292608"/>
                  </a:lnTo>
                  <a:lnTo>
                    <a:pt x="1245616" y="292608"/>
                  </a:lnTo>
                  <a:lnTo>
                    <a:pt x="1231265" y="292608"/>
                  </a:lnTo>
                  <a:lnTo>
                    <a:pt x="851027" y="292608"/>
                  </a:lnTo>
                  <a:lnTo>
                    <a:pt x="851027" y="76200"/>
                  </a:lnTo>
                  <a:lnTo>
                    <a:pt x="876300" y="76200"/>
                  </a:lnTo>
                  <a:lnTo>
                    <a:pt x="869950" y="63500"/>
                  </a:lnTo>
                  <a:lnTo>
                    <a:pt x="838200" y="0"/>
                  </a:lnTo>
                  <a:lnTo>
                    <a:pt x="800100" y="76200"/>
                  </a:lnTo>
                  <a:lnTo>
                    <a:pt x="825500" y="76200"/>
                  </a:lnTo>
                  <a:lnTo>
                    <a:pt x="825500" y="292608"/>
                  </a:lnTo>
                  <a:lnTo>
                    <a:pt x="50800" y="292608"/>
                  </a:lnTo>
                  <a:lnTo>
                    <a:pt x="50800" y="76327"/>
                  </a:lnTo>
                  <a:lnTo>
                    <a:pt x="76200" y="76327"/>
                  </a:lnTo>
                  <a:lnTo>
                    <a:pt x="69850" y="63627"/>
                  </a:lnTo>
                  <a:lnTo>
                    <a:pt x="38100" y="127"/>
                  </a:lnTo>
                  <a:lnTo>
                    <a:pt x="0" y="76327"/>
                  </a:lnTo>
                  <a:lnTo>
                    <a:pt x="25400" y="76327"/>
                  </a:lnTo>
                  <a:lnTo>
                    <a:pt x="25400" y="312420"/>
                  </a:lnTo>
                  <a:lnTo>
                    <a:pt x="31115" y="318008"/>
                  </a:lnTo>
                  <a:lnTo>
                    <a:pt x="831215" y="318008"/>
                  </a:lnTo>
                  <a:lnTo>
                    <a:pt x="1225550" y="318008"/>
                  </a:lnTo>
                  <a:lnTo>
                    <a:pt x="1225550" y="428752"/>
                  </a:lnTo>
                  <a:lnTo>
                    <a:pt x="1225931" y="428752"/>
                  </a:lnTo>
                  <a:lnTo>
                    <a:pt x="1229614" y="428752"/>
                  </a:lnTo>
                  <a:lnTo>
                    <a:pt x="1250950" y="428752"/>
                  </a:lnTo>
                  <a:lnTo>
                    <a:pt x="1251331" y="428752"/>
                  </a:lnTo>
                  <a:lnTo>
                    <a:pt x="1255014" y="428752"/>
                  </a:lnTo>
                  <a:lnTo>
                    <a:pt x="1255014" y="318008"/>
                  </a:lnTo>
                  <a:lnTo>
                    <a:pt x="1637665" y="318008"/>
                  </a:lnTo>
                  <a:lnTo>
                    <a:pt x="2443734" y="318008"/>
                  </a:lnTo>
                  <a:lnTo>
                    <a:pt x="2449449" y="312420"/>
                  </a:lnTo>
                  <a:lnTo>
                    <a:pt x="2449449" y="292608"/>
                  </a:lnTo>
                  <a:lnTo>
                    <a:pt x="2449449" y="76327"/>
                  </a:lnTo>
                  <a:lnTo>
                    <a:pt x="2474849" y="76327"/>
                  </a:lnTo>
                  <a:close/>
                </a:path>
                <a:path w="2987675" h="1972945">
                  <a:moveTo>
                    <a:pt x="2987167" y="507365"/>
                  </a:moveTo>
                  <a:lnTo>
                    <a:pt x="2981452" y="501777"/>
                  </a:lnTo>
                  <a:lnTo>
                    <a:pt x="1422400" y="501777"/>
                  </a:lnTo>
                  <a:lnTo>
                    <a:pt x="1422400" y="476377"/>
                  </a:lnTo>
                  <a:lnTo>
                    <a:pt x="1346200" y="514477"/>
                  </a:lnTo>
                  <a:lnTo>
                    <a:pt x="1422400" y="552577"/>
                  </a:lnTo>
                  <a:lnTo>
                    <a:pt x="1422400" y="527177"/>
                  </a:lnTo>
                  <a:lnTo>
                    <a:pt x="2961767" y="527177"/>
                  </a:lnTo>
                  <a:lnTo>
                    <a:pt x="2961767" y="1947291"/>
                  </a:lnTo>
                  <a:lnTo>
                    <a:pt x="1333500" y="1947291"/>
                  </a:lnTo>
                  <a:lnTo>
                    <a:pt x="1333500" y="1972691"/>
                  </a:lnTo>
                  <a:lnTo>
                    <a:pt x="2981452" y="1972691"/>
                  </a:lnTo>
                  <a:lnTo>
                    <a:pt x="2987167" y="1966976"/>
                  </a:lnTo>
                  <a:lnTo>
                    <a:pt x="2987167" y="1959991"/>
                  </a:lnTo>
                  <a:lnTo>
                    <a:pt x="2987167" y="1947291"/>
                  </a:lnTo>
                  <a:lnTo>
                    <a:pt x="2987167" y="527177"/>
                  </a:lnTo>
                  <a:lnTo>
                    <a:pt x="2987167" y="514477"/>
                  </a:lnTo>
                  <a:lnTo>
                    <a:pt x="2987167" y="50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Mixture</a:t>
            </a:r>
            <a:r>
              <a:rPr spc="114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Experts</a:t>
            </a:r>
            <a:r>
              <a:rPr spc="125" dirty="0"/>
              <a:t> </a:t>
            </a:r>
            <a:r>
              <a:rPr spc="-10" dirty="0"/>
              <a:t>(MoE)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8739" y="4590815"/>
            <a:ext cx="483870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Shazeer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“Outrageously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Large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Networks: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Sparsely-</a:t>
            </a:r>
            <a:r>
              <a:rPr sz="800" dirty="0">
                <a:latin typeface="Arial"/>
                <a:cs typeface="Arial"/>
              </a:rPr>
              <a:t>Gated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Mixture-of-</a:t>
            </a:r>
            <a:r>
              <a:rPr sz="800" dirty="0">
                <a:latin typeface="Arial"/>
                <a:cs typeface="Arial"/>
              </a:rPr>
              <a:t>Experts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Layer”,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117</a:t>
            </a:fld>
            <a:endParaRPr spc="-25" dirty="0"/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12115" y="833437"/>
            <a:ext cx="321056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Learn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separate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weights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block;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expert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6715" y="1472882"/>
            <a:ext cx="2314575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4D]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4D]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[4D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246125"/>
            <a:ext cx="3829050" cy="4318000"/>
            <a:chOff x="5195951" y="246125"/>
            <a:chExt cx="3829050" cy="4318000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50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51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08901" y="1598675"/>
            <a:ext cx="1546225" cy="298450"/>
            <a:chOff x="7208901" y="1598675"/>
            <a:chExt cx="1546225" cy="298450"/>
          </a:xfrm>
        </p:grpSpPr>
        <p:sp>
          <p:nvSpPr>
            <p:cNvPr id="24" name="object 24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733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33425" y="285750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0" y="285750"/>
                  </a:moveTo>
                  <a:lnTo>
                    <a:pt x="733425" y="285750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7239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23900" y="28575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285750"/>
                  </a:moveTo>
                  <a:lnTo>
                    <a:pt x="723900" y="2857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24876" y="1605025"/>
            <a:ext cx="72390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07076" y="1116075"/>
            <a:ext cx="3524250" cy="2999105"/>
            <a:chOff x="5307076" y="1116075"/>
            <a:chExt cx="3524250" cy="2999105"/>
          </a:xfrm>
        </p:grpSpPr>
        <p:sp>
          <p:nvSpPr>
            <p:cNvPr id="30" name="object 30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32670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67075" y="295275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0" y="295275"/>
                  </a:moveTo>
                  <a:lnTo>
                    <a:pt x="3267075" y="29527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563875"/>
              <a:ext cx="206375" cy="1968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07076" y="2624200"/>
              <a:ext cx="1794510" cy="1251585"/>
            </a:xfrm>
            <a:custGeom>
              <a:avLst/>
              <a:gdLst/>
              <a:ahLst/>
              <a:cxnLst/>
              <a:rect l="l" t="t" r="r" b="b"/>
              <a:pathLst>
                <a:path w="1794509" h="1251585">
                  <a:moveTo>
                    <a:pt x="1717928" y="25273"/>
                  </a:moveTo>
                  <a:lnTo>
                    <a:pt x="5587" y="25273"/>
                  </a:lnTo>
                  <a:lnTo>
                    <a:pt x="0" y="30987"/>
                  </a:lnTo>
                  <a:lnTo>
                    <a:pt x="0" y="1245362"/>
                  </a:lnTo>
                  <a:lnTo>
                    <a:pt x="5587" y="1251077"/>
                  </a:lnTo>
                  <a:lnTo>
                    <a:pt x="241173" y="1251077"/>
                  </a:lnTo>
                  <a:lnTo>
                    <a:pt x="241173" y="1238377"/>
                  </a:lnTo>
                  <a:lnTo>
                    <a:pt x="25400" y="1238377"/>
                  </a:lnTo>
                  <a:lnTo>
                    <a:pt x="12700" y="1225677"/>
                  </a:lnTo>
                  <a:lnTo>
                    <a:pt x="25400" y="1225677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273"/>
                  </a:lnTo>
                  <a:close/>
                </a:path>
                <a:path w="1794509" h="1251585">
                  <a:moveTo>
                    <a:pt x="25400" y="1225677"/>
                  </a:moveTo>
                  <a:lnTo>
                    <a:pt x="12700" y="1225677"/>
                  </a:lnTo>
                  <a:lnTo>
                    <a:pt x="25400" y="1238377"/>
                  </a:lnTo>
                  <a:lnTo>
                    <a:pt x="25400" y="1225677"/>
                  </a:lnTo>
                  <a:close/>
                </a:path>
                <a:path w="1794509" h="1251585">
                  <a:moveTo>
                    <a:pt x="241173" y="1225677"/>
                  </a:moveTo>
                  <a:lnTo>
                    <a:pt x="25400" y="1225677"/>
                  </a:lnTo>
                  <a:lnTo>
                    <a:pt x="25400" y="1238377"/>
                  </a:lnTo>
                  <a:lnTo>
                    <a:pt x="241173" y="1238377"/>
                  </a:lnTo>
                  <a:lnTo>
                    <a:pt x="241173" y="1225677"/>
                  </a:lnTo>
                  <a:close/>
                </a:path>
                <a:path w="1794509" h="1251585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273"/>
                  </a:lnTo>
                  <a:lnTo>
                    <a:pt x="1768475" y="25273"/>
                  </a:lnTo>
                  <a:lnTo>
                    <a:pt x="1717928" y="0"/>
                  </a:lnTo>
                  <a:close/>
                </a:path>
                <a:path w="1794509" h="125158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1251585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1251585">
                  <a:moveTo>
                    <a:pt x="1768475" y="25273"/>
                  </a:moveTo>
                  <a:lnTo>
                    <a:pt x="1730628" y="25273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475" y="25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251" y="1116075"/>
              <a:ext cx="206375" cy="20637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630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R="1169670" algn="r">
              <a:lnSpc>
                <a:spcPct val="100000"/>
              </a:lnSpc>
              <a:spcBef>
                <a:spcPts val="1570"/>
              </a:spcBef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201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42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70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948298" y="700023"/>
            <a:ext cx="2987675" cy="3081655"/>
            <a:chOff x="5948298" y="700023"/>
            <a:chExt cx="2987675" cy="3081655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099" y="2748025"/>
              <a:ext cx="76073" cy="13881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8" y="3586225"/>
              <a:ext cx="76200" cy="19532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8" y="3586225"/>
              <a:ext cx="76200" cy="19532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8" y="3586225"/>
              <a:ext cx="76200" cy="19532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8" y="3586225"/>
              <a:ext cx="76200" cy="19532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973699" y="1309750"/>
              <a:ext cx="2424430" cy="294640"/>
            </a:xfrm>
            <a:custGeom>
              <a:avLst/>
              <a:gdLst/>
              <a:ahLst/>
              <a:cxnLst/>
              <a:rect l="l" t="t" r="r" b="b"/>
              <a:pathLst>
                <a:path w="2424429" h="294640">
                  <a:moveTo>
                    <a:pt x="2424049" y="140081"/>
                  </a:moveTo>
                  <a:lnTo>
                    <a:pt x="2418334" y="134366"/>
                  </a:lnTo>
                  <a:lnTo>
                    <a:pt x="1612265" y="134366"/>
                  </a:lnTo>
                  <a:lnTo>
                    <a:pt x="1230757" y="134366"/>
                  </a:lnTo>
                  <a:lnTo>
                    <a:pt x="1230757" y="76200"/>
                  </a:lnTo>
                  <a:lnTo>
                    <a:pt x="1250950" y="76200"/>
                  </a:lnTo>
                  <a:lnTo>
                    <a:pt x="1255014" y="76200"/>
                  </a:lnTo>
                  <a:lnTo>
                    <a:pt x="1256157" y="76200"/>
                  </a:lnTo>
                  <a:lnTo>
                    <a:pt x="1249807" y="63500"/>
                  </a:lnTo>
                  <a:lnTo>
                    <a:pt x="1218057" y="0"/>
                  </a:lnTo>
                  <a:lnTo>
                    <a:pt x="1217485" y="1143"/>
                  </a:lnTo>
                  <a:lnTo>
                    <a:pt x="1216914" y="0"/>
                  </a:lnTo>
                  <a:lnTo>
                    <a:pt x="1214882" y="4064"/>
                  </a:lnTo>
                  <a:lnTo>
                    <a:pt x="1212850" y="0"/>
                  </a:lnTo>
                  <a:lnTo>
                    <a:pt x="1174750" y="76200"/>
                  </a:lnTo>
                  <a:lnTo>
                    <a:pt x="1178814" y="76200"/>
                  </a:lnTo>
                  <a:lnTo>
                    <a:pt x="1179957" y="76200"/>
                  </a:lnTo>
                  <a:lnTo>
                    <a:pt x="1200150" y="76200"/>
                  </a:lnTo>
                  <a:lnTo>
                    <a:pt x="1200150" y="134366"/>
                  </a:lnTo>
                  <a:lnTo>
                    <a:pt x="805815" y="134366"/>
                  </a:lnTo>
                  <a:lnTo>
                    <a:pt x="5715" y="134366"/>
                  </a:lnTo>
                  <a:lnTo>
                    <a:pt x="0" y="140081"/>
                  </a:lnTo>
                  <a:lnTo>
                    <a:pt x="0" y="294132"/>
                  </a:lnTo>
                  <a:lnTo>
                    <a:pt x="25400" y="294132"/>
                  </a:lnTo>
                  <a:lnTo>
                    <a:pt x="25400" y="159766"/>
                  </a:lnTo>
                  <a:lnTo>
                    <a:pt x="800100" y="159766"/>
                  </a:lnTo>
                  <a:lnTo>
                    <a:pt x="800100" y="294132"/>
                  </a:lnTo>
                  <a:lnTo>
                    <a:pt x="825500" y="294132"/>
                  </a:lnTo>
                  <a:lnTo>
                    <a:pt x="825500" y="159766"/>
                  </a:lnTo>
                  <a:lnTo>
                    <a:pt x="1205865" y="159766"/>
                  </a:lnTo>
                  <a:lnTo>
                    <a:pt x="1223899" y="159766"/>
                  </a:lnTo>
                  <a:lnTo>
                    <a:pt x="1225042" y="159766"/>
                  </a:lnTo>
                  <a:lnTo>
                    <a:pt x="1592580" y="159766"/>
                  </a:lnTo>
                  <a:lnTo>
                    <a:pt x="1592580" y="294132"/>
                  </a:lnTo>
                  <a:lnTo>
                    <a:pt x="1617980" y="294132"/>
                  </a:lnTo>
                  <a:lnTo>
                    <a:pt x="1617980" y="159766"/>
                  </a:lnTo>
                  <a:lnTo>
                    <a:pt x="2398649" y="159766"/>
                  </a:lnTo>
                  <a:lnTo>
                    <a:pt x="2398649" y="294132"/>
                  </a:lnTo>
                  <a:lnTo>
                    <a:pt x="2424049" y="294132"/>
                  </a:lnTo>
                  <a:lnTo>
                    <a:pt x="2424049" y="159766"/>
                  </a:lnTo>
                  <a:lnTo>
                    <a:pt x="2424049" y="14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8448" y="2452750"/>
              <a:ext cx="76200" cy="11925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48299" y="700023"/>
              <a:ext cx="2987675" cy="1972945"/>
            </a:xfrm>
            <a:custGeom>
              <a:avLst/>
              <a:gdLst/>
              <a:ahLst/>
              <a:cxnLst/>
              <a:rect l="l" t="t" r="r" b="b"/>
              <a:pathLst>
                <a:path w="2987675" h="1972945">
                  <a:moveTo>
                    <a:pt x="2474849" y="1266952"/>
                  </a:moveTo>
                  <a:lnTo>
                    <a:pt x="2468499" y="1254252"/>
                  </a:lnTo>
                  <a:lnTo>
                    <a:pt x="2436749" y="1190752"/>
                  </a:lnTo>
                  <a:lnTo>
                    <a:pt x="2398649" y="1266952"/>
                  </a:lnTo>
                  <a:lnTo>
                    <a:pt x="2424049" y="1266952"/>
                  </a:lnTo>
                  <a:lnTo>
                    <a:pt x="2424049" y="1311021"/>
                  </a:lnTo>
                  <a:lnTo>
                    <a:pt x="1643380" y="1311021"/>
                  </a:lnTo>
                  <a:lnTo>
                    <a:pt x="1643380" y="1266952"/>
                  </a:lnTo>
                  <a:lnTo>
                    <a:pt x="1668780" y="1266952"/>
                  </a:lnTo>
                  <a:lnTo>
                    <a:pt x="1662430" y="1254252"/>
                  </a:lnTo>
                  <a:lnTo>
                    <a:pt x="1630680" y="1190752"/>
                  </a:lnTo>
                  <a:lnTo>
                    <a:pt x="1592580" y="1266952"/>
                  </a:lnTo>
                  <a:lnTo>
                    <a:pt x="1617980" y="1266952"/>
                  </a:lnTo>
                  <a:lnTo>
                    <a:pt x="1617980" y="1311021"/>
                  </a:lnTo>
                  <a:lnTo>
                    <a:pt x="1250442" y="1311021"/>
                  </a:lnTo>
                  <a:lnTo>
                    <a:pt x="1249299" y="1311021"/>
                  </a:lnTo>
                  <a:lnTo>
                    <a:pt x="1231265" y="1311021"/>
                  </a:lnTo>
                  <a:lnTo>
                    <a:pt x="851027" y="1311021"/>
                  </a:lnTo>
                  <a:lnTo>
                    <a:pt x="851027" y="1266825"/>
                  </a:lnTo>
                  <a:lnTo>
                    <a:pt x="876300" y="1266825"/>
                  </a:lnTo>
                  <a:lnTo>
                    <a:pt x="869950" y="1254125"/>
                  </a:lnTo>
                  <a:lnTo>
                    <a:pt x="838200" y="1190625"/>
                  </a:lnTo>
                  <a:lnTo>
                    <a:pt x="800100" y="1266825"/>
                  </a:lnTo>
                  <a:lnTo>
                    <a:pt x="825500" y="1266825"/>
                  </a:lnTo>
                  <a:lnTo>
                    <a:pt x="825500" y="1311021"/>
                  </a:lnTo>
                  <a:lnTo>
                    <a:pt x="50800" y="1311021"/>
                  </a:lnTo>
                  <a:lnTo>
                    <a:pt x="50800" y="1266825"/>
                  </a:lnTo>
                  <a:lnTo>
                    <a:pt x="76200" y="1266825"/>
                  </a:lnTo>
                  <a:lnTo>
                    <a:pt x="69850" y="1254125"/>
                  </a:lnTo>
                  <a:lnTo>
                    <a:pt x="38100" y="1190625"/>
                  </a:lnTo>
                  <a:lnTo>
                    <a:pt x="0" y="1266825"/>
                  </a:lnTo>
                  <a:lnTo>
                    <a:pt x="25400" y="1266825"/>
                  </a:lnTo>
                  <a:lnTo>
                    <a:pt x="25400" y="1330706"/>
                  </a:lnTo>
                  <a:lnTo>
                    <a:pt x="31115" y="1336421"/>
                  </a:lnTo>
                  <a:lnTo>
                    <a:pt x="831215" y="1336421"/>
                  </a:lnTo>
                  <a:lnTo>
                    <a:pt x="1225550" y="1336421"/>
                  </a:lnTo>
                  <a:lnTo>
                    <a:pt x="1225550" y="1456817"/>
                  </a:lnTo>
                  <a:lnTo>
                    <a:pt x="1229614" y="1456817"/>
                  </a:lnTo>
                  <a:lnTo>
                    <a:pt x="1230757" y="1456817"/>
                  </a:lnTo>
                  <a:lnTo>
                    <a:pt x="1250950" y="1456817"/>
                  </a:lnTo>
                  <a:lnTo>
                    <a:pt x="1255014" y="1456817"/>
                  </a:lnTo>
                  <a:lnTo>
                    <a:pt x="1256157" y="1456817"/>
                  </a:lnTo>
                  <a:lnTo>
                    <a:pt x="1256157" y="1336421"/>
                  </a:lnTo>
                  <a:lnTo>
                    <a:pt x="1637665" y="1336421"/>
                  </a:lnTo>
                  <a:lnTo>
                    <a:pt x="2443734" y="1336421"/>
                  </a:lnTo>
                  <a:lnTo>
                    <a:pt x="2449449" y="1330706"/>
                  </a:lnTo>
                  <a:lnTo>
                    <a:pt x="2449449" y="1311021"/>
                  </a:lnTo>
                  <a:lnTo>
                    <a:pt x="2449449" y="1266952"/>
                  </a:lnTo>
                  <a:lnTo>
                    <a:pt x="2474849" y="1266952"/>
                  </a:lnTo>
                  <a:close/>
                </a:path>
                <a:path w="2987675" h="1972945">
                  <a:moveTo>
                    <a:pt x="2474849" y="76327"/>
                  </a:moveTo>
                  <a:lnTo>
                    <a:pt x="2468499" y="63627"/>
                  </a:lnTo>
                  <a:lnTo>
                    <a:pt x="2436749" y="127"/>
                  </a:lnTo>
                  <a:lnTo>
                    <a:pt x="2398649" y="76327"/>
                  </a:lnTo>
                  <a:lnTo>
                    <a:pt x="2424049" y="76327"/>
                  </a:lnTo>
                  <a:lnTo>
                    <a:pt x="2424049" y="292608"/>
                  </a:lnTo>
                  <a:lnTo>
                    <a:pt x="1643380" y="292608"/>
                  </a:lnTo>
                  <a:lnTo>
                    <a:pt x="1643380" y="76327"/>
                  </a:lnTo>
                  <a:lnTo>
                    <a:pt x="1668780" y="76327"/>
                  </a:lnTo>
                  <a:lnTo>
                    <a:pt x="1662430" y="63627"/>
                  </a:lnTo>
                  <a:lnTo>
                    <a:pt x="1630680" y="127"/>
                  </a:lnTo>
                  <a:lnTo>
                    <a:pt x="1592580" y="76327"/>
                  </a:lnTo>
                  <a:lnTo>
                    <a:pt x="1617980" y="76327"/>
                  </a:lnTo>
                  <a:lnTo>
                    <a:pt x="1617980" y="292608"/>
                  </a:lnTo>
                  <a:lnTo>
                    <a:pt x="1249299" y="292608"/>
                  </a:lnTo>
                  <a:lnTo>
                    <a:pt x="1245616" y="292608"/>
                  </a:lnTo>
                  <a:lnTo>
                    <a:pt x="1231265" y="292608"/>
                  </a:lnTo>
                  <a:lnTo>
                    <a:pt x="851027" y="292608"/>
                  </a:lnTo>
                  <a:lnTo>
                    <a:pt x="851027" y="76200"/>
                  </a:lnTo>
                  <a:lnTo>
                    <a:pt x="876300" y="76200"/>
                  </a:lnTo>
                  <a:lnTo>
                    <a:pt x="869950" y="63500"/>
                  </a:lnTo>
                  <a:lnTo>
                    <a:pt x="838200" y="0"/>
                  </a:lnTo>
                  <a:lnTo>
                    <a:pt x="800100" y="76200"/>
                  </a:lnTo>
                  <a:lnTo>
                    <a:pt x="825500" y="76200"/>
                  </a:lnTo>
                  <a:lnTo>
                    <a:pt x="825500" y="292608"/>
                  </a:lnTo>
                  <a:lnTo>
                    <a:pt x="50800" y="292608"/>
                  </a:lnTo>
                  <a:lnTo>
                    <a:pt x="50800" y="76327"/>
                  </a:lnTo>
                  <a:lnTo>
                    <a:pt x="76200" y="76327"/>
                  </a:lnTo>
                  <a:lnTo>
                    <a:pt x="69850" y="63627"/>
                  </a:lnTo>
                  <a:lnTo>
                    <a:pt x="38100" y="127"/>
                  </a:lnTo>
                  <a:lnTo>
                    <a:pt x="0" y="76327"/>
                  </a:lnTo>
                  <a:lnTo>
                    <a:pt x="25400" y="76327"/>
                  </a:lnTo>
                  <a:lnTo>
                    <a:pt x="25400" y="312420"/>
                  </a:lnTo>
                  <a:lnTo>
                    <a:pt x="31115" y="318008"/>
                  </a:lnTo>
                  <a:lnTo>
                    <a:pt x="831215" y="318008"/>
                  </a:lnTo>
                  <a:lnTo>
                    <a:pt x="1225550" y="318008"/>
                  </a:lnTo>
                  <a:lnTo>
                    <a:pt x="1225550" y="428752"/>
                  </a:lnTo>
                  <a:lnTo>
                    <a:pt x="1225931" y="428752"/>
                  </a:lnTo>
                  <a:lnTo>
                    <a:pt x="1229614" y="428752"/>
                  </a:lnTo>
                  <a:lnTo>
                    <a:pt x="1250950" y="428752"/>
                  </a:lnTo>
                  <a:lnTo>
                    <a:pt x="1251331" y="428752"/>
                  </a:lnTo>
                  <a:lnTo>
                    <a:pt x="1255014" y="428752"/>
                  </a:lnTo>
                  <a:lnTo>
                    <a:pt x="1255014" y="318008"/>
                  </a:lnTo>
                  <a:lnTo>
                    <a:pt x="1637665" y="318008"/>
                  </a:lnTo>
                  <a:lnTo>
                    <a:pt x="2443734" y="318008"/>
                  </a:lnTo>
                  <a:lnTo>
                    <a:pt x="2449449" y="312420"/>
                  </a:lnTo>
                  <a:lnTo>
                    <a:pt x="2449449" y="292608"/>
                  </a:lnTo>
                  <a:lnTo>
                    <a:pt x="2449449" y="76327"/>
                  </a:lnTo>
                  <a:lnTo>
                    <a:pt x="2474849" y="76327"/>
                  </a:lnTo>
                  <a:close/>
                </a:path>
                <a:path w="2987675" h="1972945">
                  <a:moveTo>
                    <a:pt x="2987167" y="507365"/>
                  </a:moveTo>
                  <a:lnTo>
                    <a:pt x="2981452" y="501777"/>
                  </a:lnTo>
                  <a:lnTo>
                    <a:pt x="1422400" y="501777"/>
                  </a:lnTo>
                  <a:lnTo>
                    <a:pt x="1422400" y="476377"/>
                  </a:lnTo>
                  <a:lnTo>
                    <a:pt x="1346200" y="514477"/>
                  </a:lnTo>
                  <a:lnTo>
                    <a:pt x="1422400" y="552577"/>
                  </a:lnTo>
                  <a:lnTo>
                    <a:pt x="1422400" y="527177"/>
                  </a:lnTo>
                  <a:lnTo>
                    <a:pt x="2961767" y="527177"/>
                  </a:lnTo>
                  <a:lnTo>
                    <a:pt x="2961767" y="1947291"/>
                  </a:lnTo>
                  <a:lnTo>
                    <a:pt x="1333500" y="1947291"/>
                  </a:lnTo>
                  <a:lnTo>
                    <a:pt x="1333500" y="1972691"/>
                  </a:lnTo>
                  <a:lnTo>
                    <a:pt x="2981452" y="1972691"/>
                  </a:lnTo>
                  <a:lnTo>
                    <a:pt x="2987167" y="1966976"/>
                  </a:lnTo>
                  <a:lnTo>
                    <a:pt x="2987167" y="1959991"/>
                  </a:lnTo>
                  <a:lnTo>
                    <a:pt x="2987167" y="1947291"/>
                  </a:lnTo>
                  <a:lnTo>
                    <a:pt x="2987167" y="527177"/>
                  </a:lnTo>
                  <a:lnTo>
                    <a:pt x="2987167" y="514477"/>
                  </a:lnTo>
                  <a:lnTo>
                    <a:pt x="2987167" y="50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Mixture</a:t>
            </a:r>
            <a:r>
              <a:rPr spc="114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Experts</a:t>
            </a:r>
            <a:r>
              <a:rPr spc="125" dirty="0"/>
              <a:t> </a:t>
            </a:r>
            <a:r>
              <a:rPr spc="-10" dirty="0"/>
              <a:t>(MoE)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5861303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663308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65441" y="4191291"/>
            <a:ext cx="24828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267318" y="4191291"/>
            <a:ext cx="2489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40"/>
              </a:lnSpc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8739" y="4590815"/>
            <a:ext cx="4838700" cy="1428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/>
                <a:cs typeface="Arial"/>
              </a:rPr>
              <a:t>Shazeer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et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al,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“Outrageously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Large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Neural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Networks: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Sparsely-</a:t>
            </a:r>
            <a:r>
              <a:rPr sz="800" dirty="0">
                <a:latin typeface="Arial"/>
                <a:cs typeface="Arial"/>
              </a:rPr>
              <a:t>Gated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Mixture-of-</a:t>
            </a:r>
            <a:r>
              <a:rPr sz="800" dirty="0">
                <a:latin typeface="Arial"/>
                <a:cs typeface="Arial"/>
              </a:rPr>
              <a:t>Experts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Layer”,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2017</a:t>
            </a:r>
            <a:endParaRPr sz="8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118</a:t>
            </a:fld>
            <a:endParaRPr spc="-25" dirty="0"/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12115" y="833437"/>
            <a:ext cx="321056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Learn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separate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weights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block;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expert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6715" y="1472882"/>
            <a:ext cx="2314575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4D]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4D]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[4D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2115" y="2121852"/>
            <a:ext cx="3028315" cy="4527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token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gets </a:t>
            </a:r>
            <a:r>
              <a:rPr sz="1400" i="1" dirty="0">
                <a:latin typeface="Arial"/>
                <a:cs typeface="Arial"/>
              </a:rPr>
              <a:t>routed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&lt;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experts.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These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active</a:t>
            </a:r>
            <a:r>
              <a:rPr sz="1400" i="1" spc="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experts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12115" y="2761297"/>
            <a:ext cx="2611755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Increases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params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E,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But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only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increases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5951" y="814387"/>
            <a:ext cx="3829050" cy="3749675"/>
            <a:chOff x="5195951" y="814387"/>
            <a:chExt cx="3829050" cy="3749675"/>
          </a:xfrm>
        </p:grpSpPr>
        <p:sp>
          <p:nvSpPr>
            <p:cNvPr id="3" name="object 3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97803" y="4166870"/>
            <a:ext cx="27565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30"/>
              </a:spcBef>
              <a:tabLst>
                <a:tab pos="877569" algn="l"/>
                <a:tab pos="1680210" algn="l"/>
                <a:tab pos="2481580" algn="l"/>
              </a:tabLst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80151" y="246125"/>
            <a:ext cx="2822575" cy="460375"/>
            <a:chOff x="5780151" y="246125"/>
            <a:chExt cx="2822575" cy="460375"/>
          </a:xfrm>
        </p:grpSpPr>
        <p:sp>
          <p:nvSpPr>
            <p:cNvPr id="14" name="object 14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150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151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208901" y="1598675"/>
            <a:ext cx="1546225" cy="298450"/>
            <a:chOff x="7208901" y="1598675"/>
            <a:chExt cx="1546225" cy="298450"/>
          </a:xfrm>
        </p:grpSpPr>
        <p:sp>
          <p:nvSpPr>
            <p:cNvPr id="26" name="object 26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733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33425" y="285750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0" y="285750"/>
                  </a:moveTo>
                  <a:lnTo>
                    <a:pt x="733425" y="285750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7239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23900" y="28575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285750"/>
                  </a:moveTo>
                  <a:lnTo>
                    <a:pt x="723900" y="2857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024876" y="1605025"/>
            <a:ext cx="72390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07076" y="1116075"/>
            <a:ext cx="3524250" cy="2999105"/>
            <a:chOff x="5307076" y="1116075"/>
            <a:chExt cx="3524250" cy="2999105"/>
          </a:xfrm>
        </p:grpSpPr>
        <p:sp>
          <p:nvSpPr>
            <p:cNvPr id="32" name="object 32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32670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67075" y="295275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0" y="295275"/>
                  </a:moveTo>
                  <a:lnTo>
                    <a:pt x="3267075" y="29527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563875"/>
              <a:ext cx="206375" cy="19685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307076" y="2624200"/>
              <a:ext cx="1794510" cy="1251585"/>
            </a:xfrm>
            <a:custGeom>
              <a:avLst/>
              <a:gdLst/>
              <a:ahLst/>
              <a:cxnLst/>
              <a:rect l="l" t="t" r="r" b="b"/>
              <a:pathLst>
                <a:path w="1794509" h="1251585">
                  <a:moveTo>
                    <a:pt x="1717928" y="25273"/>
                  </a:moveTo>
                  <a:lnTo>
                    <a:pt x="5587" y="25273"/>
                  </a:lnTo>
                  <a:lnTo>
                    <a:pt x="0" y="30987"/>
                  </a:lnTo>
                  <a:lnTo>
                    <a:pt x="0" y="1245362"/>
                  </a:lnTo>
                  <a:lnTo>
                    <a:pt x="5587" y="1251077"/>
                  </a:lnTo>
                  <a:lnTo>
                    <a:pt x="241173" y="1251077"/>
                  </a:lnTo>
                  <a:lnTo>
                    <a:pt x="241173" y="1238377"/>
                  </a:lnTo>
                  <a:lnTo>
                    <a:pt x="25400" y="1238377"/>
                  </a:lnTo>
                  <a:lnTo>
                    <a:pt x="12700" y="1225677"/>
                  </a:lnTo>
                  <a:lnTo>
                    <a:pt x="25400" y="1225677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273"/>
                  </a:lnTo>
                  <a:close/>
                </a:path>
                <a:path w="1794509" h="1251585">
                  <a:moveTo>
                    <a:pt x="25400" y="1225677"/>
                  </a:moveTo>
                  <a:lnTo>
                    <a:pt x="12700" y="1225677"/>
                  </a:lnTo>
                  <a:lnTo>
                    <a:pt x="25400" y="1238377"/>
                  </a:lnTo>
                  <a:lnTo>
                    <a:pt x="25400" y="1225677"/>
                  </a:lnTo>
                  <a:close/>
                </a:path>
                <a:path w="1794509" h="1251585">
                  <a:moveTo>
                    <a:pt x="241173" y="1225677"/>
                  </a:moveTo>
                  <a:lnTo>
                    <a:pt x="25400" y="1225677"/>
                  </a:lnTo>
                  <a:lnTo>
                    <a:pt x="25400" y="1238377"/>
                  </a:lnTo>
                  <a:lnTo>
                    <a:pt x="241173" y="1238377"/>
                  </a:lnTo>
                  <a:lnTo>
                    <a:pt x="241173" y="1225677"/>
                  </a:lnTo>
                  <a:close/>
                </a:path>
                <a:path w="1794509" h="1251585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273"/>
                  </a:lnTo>
                  <a:lnTo>
                    <a:pt x="1768475" y="25273"/>
                  </a:lnTo>
                  <a:lnTo>
                    <a:pt x="1717928" y="0"/>
                  </a:lnTo>
                  <a:close/>
                </a:path>
                <a:path w="1794509" h="125158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1251585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1251585">
                  <a:moveTo>
                    <a:pt x="1768475" y="25273"/>
                  </a:moveTo>
                  <a:lnTo>
                    <a:pt x="1730628" y="25273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475" y="25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251" y="1116075"/>
              <a:ext cx="206375" cy="206375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630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R="1169670" algn="r">
              <a:lnSpc>
                <a:spcPct val="100000"/>
              </a:lnSpc>
              <a:spcBef>
                <a:spcPts val="1570"/>
              </a:spcBef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201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42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70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948298" y="700023"/>
            <a:ext cx="2987675" cy="3081655"/>
            <a:chOff x="5948298" y="700023"/>
            <a:chExt cx="2987675" cy="3081655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099" y="2748025"/>
              <a:ext cx="76073" cy="13881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8" y="3586225"/>
              <a:ext cx="76200" cy="19532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8" y="3586225"/>
              <a:ext cx="76200" cy="19532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8" y="3586225"/>
              <a:ext cx="76200" cy="19532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8" y="3586225"/>
              <a:ext cx="76200" cy="195326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73699" y="1309750"/>
              <a:ext cx="2424430" cy="294640"/>
            </a:xfrm>
            <a:custGeom>
              <a:avLst/>
              <a:gdLst/>
              <a:ahLst/>
              <a:cxnLst/>
              <a:rect l="l" t="t" r="r" b="b"/>
              <a:pathLst>
                <a:path w="2424429" h="294640">
                  <a:moveTo>
                    <a:pt x="2424049" y="140081"/>
                  </a:moveTo>
                  <a:lnTo>
                    <a:pt x="2418334" y="134366"/>
                  </a:lnTo>
                  <a:lnTo>
                    <a:pt x="1612265" y="134366"/>
                  </a:lnTo>
                  <a:lnTo>
                    <a:pt x="1230757" y="134366"/>
                  </a:lnTo>
                  <a:lnTo>
                    <a:pt x="1230757" y="76200"/>
                  </a:lnTo>
                  <a:lnTo>
                    <a:pt x="1250950" y="76200"/>
                  </a:lnTo>
                  <a:lnTo>
                    <a:pt x="1255014" y="76200"/>
                  </a:lnTo>
                  <a:lnTo>
                    <a:pt x="1256157" y="76200"/>
                  </a:lnTo>
                  <a:lnTo>
                    <a:pt x="1249807" y="63500"/>
                  </a:lnTo>
                  <a:lnTo>
                    <a:pt x="1218057" y="0"/>
                  </a:lnTo>
                  <a:lnTo>
                    <a:pt x="1217485" y="1143"/>
                  </a:lnTo>
                  <a:lnTo>
                    <a:pt x="1216914" y="0"/>
                  </a:lnTo>
                  <a:lnTo>
                    <a:pt x="1214882" y="4064"/>
                  </a:lnTo>
                  <a:lnTo>
                    <a:pt x="1212850" y="0"/>
                  </a:lnTo>
                  <a:lnTo>
                    <a:pt x="1174750" y="76200"/>
                  </a:lnTo>
                  <a:lnTo>
                    <a:pt x="1178814" y="76200"/>
                  </a:lnTo>
                  <a:lnTo>
                    <a:pt x="1179957" y="76200"/>
                  </a:lnTo>
                  <a:lnTo>
                    <a:pt x="1200150" y="76200"/>
                  </a:lnTo>
                  <a:lnTo>
                    <a:pt x="1200150" y="134366"/>
                  </a:lnTo>
                  <a:lnTo>
                    <a:pt x="805815" y="134366"/>
                  </a:lnTo>
                  <a:lnTo>
                    <a:pt x="5715" y="134366"/>
                  </a:lnTo>
                  <a:lnTo>
                    <a:pt x="0" y="140081"/>
                  </a:lnTo>
                  <a:lnTo>
                    <a:pt x="0" y="294132"/>
                  </a:lnTo>
                  <a:lnTo>
                    <a:pt x="25400" y="294132"/>
                  </a:lnTo>
                  <a:lnTo>
                    <a:pt x="25400" y="159766"/>
                  </a:lnTo>
                  <a:lnTo>
                    <a:pt x="800100" y="159766"/>
                  </a:lnTo>
                  <a:lnTo>
                    <a:pt x="800100" y="294132"/>
                  </a:lnTo>
                  <a:lnTo>
                    <a:pt x="825500" y="294132"/>
                  </a:lnTo>
                  <a:lnTo>
                    <a:pt x="825500" y="159766"/>
                  </a:lnTo>
                  <a:lnTo>
                    <a:pt x="1205865" y="159766"/>
                  </a:lnTo>
                  <a:lnTo>
                    <a:pt x="1223899" y="159766"/>
                  </a:lnTo>
                  <a:lnTo>
                    <a:pt x="1225042" y="159766"/>
                  </a:lnTo>
                  <a:lnTo>
                    <a:pt x="1592580" y="159766"/>
                  </a:lnTo>
                  <a:lnTo>
                    <a:pt x="1592580" y="294132"/>
                  </a:lnTo>
                  <a:lnTo>
                    <a:pt x="1617980" y="294132"/>
                  </a:lnTo>
                  <a:lnTo>
                    <a:pt x="1617980" y="159766"/>
                  </a:lnTo>
                  <a:lnTo>
                    <a:pt x="2398649" y="159766"/>
                  </a:lnTo>
                  <a:lnTo>
                    <a:pt x="2398649" y="294132"/>
                  </a:lnTo>
                  <a:lnTo>
                    <a:pt x="2424049" y="294132"/>
                  </a:lnTo>
                  <a:lnTo>
                    <a:pt x="2424049" y="159766"/>
                  </a:lnTo>
                  <a:lnTo>
                    <a:pt x="2424049" y="14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8448" y="2452750"/>
              <a:ext cx="76200" cy="11925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948299" y="700023"/>
              <a:ext cx="2987675" cy="1972945"/>
            </a:xfrm>
            <a:custGeom>
              <a:avLst/>
              <a:gdLst/>
              <a:ahLst/>
              <a:cxnLst/>
              <a:rect l="l" t="t" r="r" b="b"/>
              <a:pathLst>
                <a:path w="2987675" h="1972945">
                  <a:moveTo>
                    <a:pt x="2474849" y="1266952"/>
                  </a:moveTo>
                  <a:lnTo>
                    <a:pt x="2468499" y="1254252"/>
                  </a:lnTo>
                  <a:lnTo>
                    <a:pt x="2436749" y="1190752"/>
                  </a:lnTo>
                  <a:lnTo>
                    <a:pt x="2398649" y="1266952"/>
                  </a:lnTo>
                  <a:lnTo>
                    <a:pt x="2424049" y="1266952"/>
                  </a:lnTo>
                  <a:lnTo>
                    <a:pt x="2424049" y="1311021"/>
                  </a:lnTo>
                  <a:lnTo>
                    <a:pt x="1643380" y="1311021"/>
                  </a:lnTo>
                  <a:lnTo>
                    <a:pt x="1643380" y="1266952"/>
                  </a:lnTo>
                  <a:lnTo>
                    <a:pt x="1668780" y="1266952"/>
                  </a:lnTo>
                  <a:lnTo>
                    <a:pt x="1662430" y="1254252"/>
                  </a:lnTo>
                  <a:lnTo>
                    <a:pt x="1630680" y="1190752"/>
                  </a:lnTo>
                  <a:lnTo>
                    <a:pt x="1592580" y="1266952"/>
                  </a:lnTo>
                  <a:lnTo>
                    <a:pt x="1617980" y="1266952"/>
                  </a:lnTo>
                  <a:lnTo>
                    <a:pt x="1617980" y="1311021"/>
                  </a:lnTo>
                  <a:lnTo>
                    <a:pt x="1250442" y="1311021"/>
                  </a:lnTo>
                  <a:lnTo>
                    <a:pt x="1249299" y="1311021"/>
                  </a:lnTo>
                  <a:lnTo>
                    <a:pt x="1231265" y="1311021"/>
                  </a:lnTo>
                  <a:lnTo>
                    <a:pt x="851027" y="1311021"/>
                  </a:lnTo>
                  <a:lnTo>
                    <a:pt x="851027" y="1266825"/>
                  </a:lnTo>
                  <a:lnTo>
                    <a:pt x="876300" y="1266825"/>
                  </a:lnTo>
                  <a:lnTo>
                    <a:pt x="869950" y="1254125"/>
                  </a:lnTo>
                  <a:lnTo>
                    <a:pt x="838200" y="1190625"/>
                  </a:lnTo>
                  <a:lnTo>
                    <a:pt x="800100" y="1266825"/>
                  </a:lnTo>
                  <a:lnTo>
                    <a:pt x="825500" y="1266825"/>
                  </a:lnTo>
                  <a:lnTo>
                    <a:pt x="825500" y="1311021"/>
                  </a:lnTo>
                  <a:lnTo>
                    <a:pt x="50800" y="1311021"/>
                  </a:lnTo>
                  <a:lnTo>
                    <a:pt x="50800" y="1266825"/>
                  </a:lnTo>
                  <a:lnTo>
                    <a:pt x="76200" y="1266825"/>
                  </a:lnTo>
                  <a:lnTo>
                    <a:pt x="69850" y="1254125"/>
                  </a:lnTo>
                  <a:lnTo>
                    <a:pt x="38100" y="1190625"/>
                  </a:lnTo>
                  <a:lnTo>
                    <a:pt x="0" y="1266825"/>
                  </a:lnTo>
                  <a:lnTo>
                    <a:pt x="25400" y="1266825"/>
                  </a:lnTo>
                  <a:lnTo>
                    <a:pt x="25400" y="1330706"/>
                  </a:lnTo>
                  <a:lnTo>
                    <a:pt x="31115" y="1336421"/>
                  </a:lnTo>
                  <a:lnTo>
                    <a:pt x="831215" y="1336421"/>
                  </a:lnTo>
                  <a:lnTo>
                    <a:pt x="1225550" y="1336421"/>
                  </a:lnTo>
                  <a:lnTo>
                    <a:pt x="1225550" y="1456817"/>
                  </a:lnTo>
                  <a:lnTo>
                    <a:pt x="1229614" y="1456817"/>
                  </a:lnTo>
                  <a:lnTo>
                    <a:pt x="1230757" y="1456817"/>
                  </a:lnTo>
                  <a:lnTo>
                    <a:pt x="1250950" y="1456817"/>
                  </a:lnTo>
                  <a:lnTo>
                    <a:pt x="1255014" y="1456817"/>
                  </a:lnTo>
                  <a:lnTo>
                    <a:pt x="1256157" y="1456817"/>
                  </a:lnTo>
                  <a:lnTo>
                    <a:pt x="1256157" y="1336421"/>
                  </a:lnTo>
                  <a:lnTo>
                    <a:pt x="1637665" y="1336421"/>
                  </a:lnTo>
                  <a:lnTo>
                    <a:pt x="2443734" y="1336421"/>
                  </a:lnTo>
                  <a:lnTo>
                    <a:pt x="2449449" y="1330706"/>
                  </a:lnTo>
                  <a:lnTo>
                    <a:pt x="2449449" y="1311021"/>
                  </a:lnTo>
                  <a:lnTo>
                    <a:pt x="2449449" y="1266952"/>
                  </a:lnTo>
                  <a:lnTo>
                    <a:pt x="2474849" y="1266952"/>
                  </a:lnTo>
                  <a:close/>
                </a:path>
                <a:path w="2987675" h="1972945">
                  <a:moveTo>
                    <a:pt x="2474849" y="76327"/>
                  </a:moveTo>
                  <a:lnTo>
                    <a:pt x="2468499" y="63627"/>
                  </a:lnTo>
                  <a:lnTo>
                    <a:pt x="2436749" y="127"/>
                  </a:lnTo>
                  <a:lnTo>
                    <a:pt x="2398649" y="76327"/>
                  </a:lnTo>
                  <a:lnTo>
                    <a:pt x="2424049" y="76327"/>
                  </a:lnTo>
                  <a:lnTo>
                    <a:pt x="2424049" y="292608"/>
                  </a:lnTo>
                  <a:lnTo>
                    <a:pt x="1643380" y="292608"/>
                  </a:lnTo>
                  <a:lnTo>
                    <a:pt x="1643380" y="76327"/>
                  </a:lnTo>
                  <a:lnTo>
                    <a:pt x="1668780" y="76327"/>
                  </a:lnTo>
                  <a:lnTo>
                    <a:pt x="1662430" y="63627"/>
                  </a:lnTo>
                  <a:lnTo>
                    <a:pt x="1630680" y="127"/>
                  </a:lnTo>
                  <a:lnTo>
                    <a:pt x="1592580" y="76327"/>
                  </a:lnTo>
                  <a:lnTo>
                    <a:pt x="1617980" y="76327"/>
                  </a:lnTo>
                  <a:lnTo>
                    <a:pt x="1617980" y="292608"/>
                  </a:lnTo>
                  <a:lnTo>
                    <a:pt x="1249299" y="292608"/>
                  </a:lnTo>
                  <a:lnTo>
                    <a:pt x="1245616" y="292608"/>
                  </a:lnTo>
                  <a:lnTo>
                    <a:pt x="1231265" y="292608"/>
                  </a:lnTo>
                  <a:lnTo>
                    <a:pt x="851027" y="292608"/>
                  </a:lnTo>
                  <a:lnTo>
                    <a:pt x="851027" y="76200"/>
                  </a:lnTo>
                  <a:lnTo>
                    <a:pt x="876300" y="76200"/>
                  </a:lnTo>
                  <a:lnTo>
                    <a:pt x="869950" y="63500"/>
                  </a:lnTo>
                  <a:lnTo>
                    <a:pt x="838200" y="0"/>
                  </a:lnTo>
                  <a:lnTo>
                    <a:pt x="800100" y="76200"/>
                  </a:lnTo>
                  <a:lnTo>
                    <a:pt x="825500" y="76200"/>
                  </a:lnTo>
                  <a:lnTo>
                    <a:pt x="825500" y="292608"/>
                  </a:lnTo>
                  <a:lnTo>
                    <a:pt x="50800" y="292608"/>
                  </a:lnTo>
                  <a:lnTo>
                    <a:pt x="50800" y="76327"/>
                  </a:lnTo>
                  <a:lnTo>
                    <a:pt x="76200" y="76327"/>
                  </a:lnTo>
                  <a:lnTo>
                    <a:pt x="69850" y="63627"/>
                  </a:lnTo>
                  <a:lnTo>
                    <a:pt x="38100" y="127"/>
                  </a:lnTo>
                  <a:lnTo>
                    <a:pt x="0" y="76327"/>
                  </a:lnTo>
                  <a:lnTo>
                    <a:pt x="25400" y="76327"/>
                  </a:lnTo>
                  <a:lnTo>
                    <a:pt x="25400" y="312420"/>
                  </a:lnTo>
                  <a:lnTo>
                    <a:pt x="31115" y="318008"/>
                  </a:lnTo>
                  <a:lnTo>
                    <a:pt x="831215" y="318008"/>
                  </a:lnTo>
                  <a:lnTo>
                    <a:pt x="1225550" y="318008"/>
                  </a:lnTo>
                  <a:lnTo>
                    <a:pt x="1225550" y="428752"/>
                  </a:lnTo>
                  <a:lnTo>
                    <a:pt x="1225931" y="428752"/>
                  </a:lnTo>
                  <a:lnTo>
                    <a:pt x="1229614" y="428752"/>
                  </a:lnTo>
                  <a:lnTo>
                    <a:pt x="1250950" y="428752"/>
                  </a:lnTo>
                  <a:lnTo>
                    <a:pt x="1251331" y="428752"/>
                  </a:lnTo>
                  <a:lnTo>
                    <a:pt x="1255014" y="428752"/>
                  </a:lnTo>
                  <a:lnTo>
                    <a:pt x="1255014" y="318008"/>
                  </a:lnTo>
                  <a:lnTo>
                    <a:pt x="1637665" y="318008"/>
                  </a:lnTo>
                  <a:lnTo>
                    <a:pt x="2443734" y="318008"/>
                  </a:lnTo>
                  <a:lnTo>
                    <a:pt x="2449449" y="312420"/>
                  </a:lnTo>
                  <a:lnTo>
                    <a:pt x="2449449" y="292608"/>
                  </a:lnTo>
                  <a:lnTo>
                    <a:pt x="2449449" y="76327"/>
                  </a:lnTo>
                  <a:lnTo>
                    <a:pt x="2474849" y="76327"/>
                  </a:lnTo>
                  <a:close/>
                </a:path>
                <a:path w="2987675" h="1972945">
                  <a:moveTo>
                    <a:pt x="2987167" y="507365"/>
                  </a:moveTo>
                  <a:lnTo>
                    <a:pt x="2981452" y="501777"/>
                  </a:lnTo>
                  <a:lnTo>
                    <a:pt x="1422400" y="501777"/>
                  </a:lnTo>
                  <a:lnTo>
                    <a:pt x="1422400" y="476377"/>
                  </a:lnTo>
                  <a:lnTo>
                    <a:pt x="1346200" y="514477"/>
                  </a:lnTo>
                  <a:lnTo>
                    <a:pt x="1422400" y="552577"/>
                  </a:lnTo>
                  <a:lnTo>
                    <a:pt x="1422400" y="527177"/>
                  </a:lnTo>
                  <a:lnTo>
                    <a:pt x="2961767" y="527177"/>
                  </a:lnTo>
                  <a:lnTo>
                    <a:pt x="2961767" y="1947291"/>
                  </a:lnTo>
                  <a:lnTo>
                    <a:pt x="1333500" y="1947291"/>
                  </a:lnTo>
                  <a:lnTo>
                    <a:pt x="1333500" y="1972691"/>
                  </a:lnTo>
                  <a:lnTo>
                    <a:pt x="2981452" y="1972691"/>
                  </a:lnTo>
                  <a:lnTo>
                    <a:pt x="2987167" y="1966976"/>
                  </a:lnTo>
                  <a:lnTo>
                    <a:pt x="2987167" y="1959991"/>
                  </a:lnTo>
                  <a:lnTo>
                    <a:pt x="2987167" y="1947291"/>
                  </a:lnTo>
                  <a:lnTo>
                    <a:pt x="2987167" y="527177"/>
                  </a:lnTo>
                  <a:lnTo>
                    <a:pt x="2987167" y="514477"/>
                  </a:lnTo>
                  <a:lnTo>
                    <a:pt x="2987167" y="50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Mixture</a:t>
            </a:r>
            <a:r>
              <a:rPr spc="114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Experts</a:t>
            </a:r>
            <a:r>
              <a:rPr spc="125" dirty="0"/>
              <a:t> </a:t>
            </a:r>
            <a:r>
              <a:rPr spc="-10" dirty="0"/>
              <a:t>(MoE)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119</a:t>
            </a:fld>
            <a:endParaRPr spc="-25" dirty="0"/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412115" y="833437"/>
            <a:ext cx="321056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Learn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separate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weights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block;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expert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86715" y="1472882"/>
            <a:ext cx="2314575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1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4D]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[E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4D] 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350" baseline="-18518" dirty="0">
                <a:latin typeface="Arial"/>
                <a:cs typeface="Arial"/>
              </a:rPr>
              <a:t>2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[4D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D]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D]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12115" y="2121852"/>
            <a:ext cx="3028315" cy="4527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"/>
                <a:cs typeface="Arial"/>
              </a:rPr>
              <a:t>Each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token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gets </a:t>
            </a:r>
            <a:r>
              <a:rPr sz="1400" i="1" dirty="0">
                <a:latin typeface="Arial"/>
                <a:cs typeface="Arial"/>
              </a:rPr>
              <a:t>routed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&lt;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experts.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These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active</a:t>
            </a:r>
            <a:r>
              <a:rPr sz="1400" i="1" spc="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experts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2115" y="2761297"/>
            <a:ext cx="2611755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Increases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params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E,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But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only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increases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12115" y="3400361"/>
            <a:ext cx="3235325" cy="1102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latin typeface="Arial"/>
                <a:cs typeface="Arial"/>
              </a:rPr>
              <a:t>All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biggest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LLMs today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(e.g. </a:t>
            </a:r>
            <a:r>
              <a:rPr sz="1400" dirty="0">
                <a:latin typeface="Arial"/>
                <a:cs typeface="Arial"/>
              </a:rPr>
              <a:t>GPT4o,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GPT4.5,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Claude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3.7,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Gemini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2.5 </a:t>
            </a:r>
            <a:r>
              <a:rPr sz="1400" dirty="0">
                <a:latin typeface="Arial"/>
                <a:cs typeface="Arial"/>
              </a:rPr>
              <a:t>Pro,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etc)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almost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certainly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&gt;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1T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params;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they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don’t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publish </a:t>
            </a:r>
            <a:r>
              <a:rPr sz="1400" dirty="0">
                <a:latin typeface="Arial"/>
                <a:cs typeface="Arial"/>
              </a:rPr>
              <a:t>details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anymore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Tweaking</a:t>
            </a:r>
            <a:r>
              <a:rPr spc="254" dirty="0"/>
              <a:t> </a:t>
            </a:r>
            <a:r>
              <a:rPr spc="-10" dirty="0"/>
              <a:t>Transformers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95951" y="814387"/>
            <a:ext cx="3829050" cy="3749675"/>
            <a:chOff x="5195951" y="814387"/>
            <a:chExt cx="3829050" cy="3749675"/>
          </a:xfrm>
        </p:grpSpPr>
        <p:sp>
          <p:nvSpPr>
            <p:cNvPr id="4" name="object 4"/>
            <p:cNvSpPr/>
            <p:nvPr/>
          </p:nvSpPr>
          <p:spPr>
            <a:xfrm>
              <a:off x="5195951" y="814387"/>
              <a:ext cx="3829050" cy="3238500"/>
            </a:xfrm>
            <a:custGeom>
              <a:avLst/>
              <a:gdLst/>
              <a:ahLst/>
              <a:cxnLst/>
              <a:rect l="l" t="t" r="r" b="b"/>
              <a:pathLst>
                <a:path w="3829050" h="3238500">
                  <a:moveTo>
                    <a:pt x="3829050" y="0"/>
                  </a:moveTo>
                  <a:lnTo>
                    <a:pt x="0" y="0"/>
                  </a:lnTo>
                  <a:lnTo>
                    <a:pt x="0" y="3238500"/>
                  </a:lnTo>
                  <a:lnTo>
                    <a:pt x="3829050" y="3238500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769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770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409575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09575" y="438150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7176" y="4119562"/>
              <a:ext cx="409575" cy="438150"/>
            </a:xfrm>
            <a:custGeom>
              <a:avLst/>
              <a:gdLst/>
              <a:ahLst/>
              <a:cxnLst/>
              <a:rect l="l" t="t" r="r" b="b"/>
              <a:pathLst>
                <a:path w="409575" h="438150">
                  <a:moveTo>
                    <a:pt x="0" y="438150"/>
                  </a:moveTo>
                  <a:lnTo>
                    <a:pt x="409575" y="43815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4191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419100" y="438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77276" y="4119562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419100" y="43815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97803" y="4166870"/>
            <a:ext cx="27565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30"/>
              </a:spcBef>
              <a:tabLst>
                <a:tab pos="877569" algn="l"/>
                <a:tab pos="1680210" algn="l"/>
                <a:tab pos="2481580" algn="l"/>
              </a:tabLst>
            </a:pP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x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80151" y="246125"/>
            <a:ext cx="2822575" cy="460375"/>
            <a:chOff x="5780151" y="246125"/>
            <a:chExt cx="2822575" cy="460375"/>
          </a:xfrm>
        </p:grpSpPr>
        <p:sp>
          <p:nvSpPr>
            <p:cNvPr id="15" name="object 15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86501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770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4095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09575" y="447675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77176" y="252475"/>
              <a:ext cx="409575" cy="447675"/>
            </a:xfrm>
            <a:custGeom>
              <a:avLst/>
              <a:gdLst/>
              <a:ahLst/>
              <a:cxnLst/>
              <a:rect l="l" t="t" r="r" b="b"/>
              <a:pathLst>
                <a:path w="409575" h="447675">
                  <a:moveTo>
                    <a:pt x="0" y="447675"/>
                  </a:moveTo>
                  <a:lnTo>
                    <a:pt x="409575" y="447675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419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419100" y="4476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7E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77276" y="252475"/>
              <a:ext cx="419100" cy="447675"/>
            </a:xfrm>
            <a:custGeom>
              <a:avLst/>
              <a:gdLst/>
              <a:ahLst/>
              <a:cxnLst/>
              <a:rect l="l" t="t" r="r" b="b"/>
              <a:pathLst>
                <a:path w="419100" h="447675">
                  <a:moveTo>
                    <a:pt x="0" y="447675"/>
                  </a:moveTo>
                  <a:lnTo>
                    <a:pt x="419100" y="4476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127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802629" y="295592"/>
            <a:ext cx="27514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873125" algn="l"/>
                <a:tab pos="1670050" algn="l"/>
                <a:tab pos="2477135" algn="l"/>
              </a:tabLst>
            </a:pP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1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2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3</a:t>
            </a:r>
            <a:r>
              <a:rPr sz="2025" baseline="-18518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y</a:t>
            </a:r>
            <a:r>
              <a:rPr sz="2025" spc="-37" baseline="-18518" dirty="0">
                <a:latin typeface="Arial"/>
                <a:cs typeface="Arial"/>
              </a:rPr>
              <a:t>4</a:t>
            </a:r>
            <a:endParaRPr sz="2025" baseline="-18518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150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15151" y="1605025"/>
            <a:ext cx="733425" cy="285750"/>
          </a:xfrm>
          <a:prstGeom prst="rect">
            <a:avLst/>
          </a:prstGeom>
          <a:solidFill>
            <a:srgbClr val="EBDAF3"/>
          </a:solidFill>
          <a:ln w="12700">
            <a:solidFill>
              <a:srgbClr val="BB44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08901" y="1598675"/>
            <a:ext cx="1546225" cy="298450"/>
            <a:chOff x="7208901" y="1598675"/>
            <a:chExt cx="1546225" cy="298450"/>
          </a:xfrm>
        </p:grpSpPr>
        <p:sp>
          <p:nvSpPr>
            <p:cNvPr id="27" name="object 27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7334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33425" y="285750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15251" y="1605025"/>
              <a:ext cx="733425" cy="285750"/>
            </a:xfrm>
            <a:custGeom>
              <a:avLst/>
              <a:gdLst/>
              <a:ahLst/>
              <a:cxnLst/>
              <a:rect l="l" t="t" r="r" b="b"/>
              <a:pathLst>
                <a:path w="733425" h="285750">
                  <a:moveTo>
                    <a:pt x="0" y="285750"/>
                  </a:moveTo>
                  <a:lnTo>
                    <a:pt x="733425" y="285750"/>
                  </a:lnTo>
                  <a:lnTo>
                    <a:pt x="7334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7239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723900" y="28575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BD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24876" y="1605025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285750"/>
                  </a:moveTo>
                  <a:lnTo>
                    <a:pt x="723900" y="2857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BB44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024876" y="1605025"/>
            <a:ext cx="723900" cy="28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250"/>
              </a:lnSpc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307076" y="1116075"/>
            <a:ext cx="3524250" cy="2999105"/>
            <a:chOff x="5307076" y="1116075"/>
            <a:chExt cx="3524250" cy="2999105"/>
          </a:xfrm>
        </p:grpSpPr>
        <p:sp>
          <p:nvSpPr>
            <p:cNvPr id="33" name="object 33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8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48376" y="290042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8AAB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32670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67075" y="295275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57901" y="3290950"/>
              <a:ext cx="3267075" cy="295275"/>
            </a:xfrm>
            <a:custGeom>
              <a:avLst/>
              <a:gdLst/>
              <a:ahLst/>
              <a:cxnLst/>
              <a:rect l="l" t="t" r="r" b="b"/>
              <a:pathLst>
                <a:path w="3267075" h="295275">
                  <a:moveTo>
                    <a:pt x="0" y="295275"/>
                  </a:moveTo>
                  <a:lnTo>
                    <a:pt x="3267075" y="29527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251" y="2563875"/>
              <a:ext cx="206375" cy="19685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307076" y="2624200"/>
              <a:ext cx="1794510" cy="1251585"/>
            </a:xfrm>
            <a:custGeom>
              <a:avLst/>
              <a:gdLst/>
              <a:ahLst/>
              <a:cxnLst/>
              <a:rect l="l" t="t" r="r" b="b"/>
              <a:pathLst>
                <a:path w="1794509" h="1251585">
                  <a:moveTo>
                    <a:pt x="1717928" y="25273"/>
                  </a:moveTo>
                  <a:lnTo>
                    <a:pt x="5587" y="25273"/>
                  </a:lnTo>
                  <a:lnTo>
                    <a:pt x="0" y="30987"/>
                  </a:lnTo>
                  <a:lnTo>
                    <a:pt x="0" y="1245362"/>
                  </a:lnTo>
                  <a:lnTo>
                    <a:pt x="5587" y="1251077"/>
                  </a:lnTo>
                  <a:lnTo>
                    <a:pt x="241173" y="1251077"/>
                  </a:lnTo>
                  <a:lnTo>
                    <a:pt x="241173" y="1238377"/>
                  </a:lnTo>
                  <a:lnTo>
                    <a:pt x="25400" y="1238377"/>
                  </a:lnTo>
                  <a:lnTo>
                    <a:pt x="12700" y="1225677"/>
                  </a:lnTo>
                  <a:lnTo>
                    <a:pt x="25400" y="1225677"/>
                  </a:lnTo>
                  <a:lnTo>
                    <a:pt x="25400" y="50800"/>
                  </a:lnTo>
                  <a:lnTo>
                    <a:pt x="12700" y="50800"/>
                  </a:lnTo>
                  <a:lnTo>
                    <a:pt x="25400" y="38100"/>
                  </a:lnTo>
                  <a:lnTo>
                    <a:pt x="1717928" y="38100"/>
                  </a:lnTo>
                  <a:lnTo>
                    <a:pt x="1717928" y="25273"/>
                  </a:lnTo>
                  <a:close/>
                </a:path>
                <a:path w="1794509" h="1251585">
                  <a:moveTo>
                    <a:pt x="25400" y="1225677"/>
                  </a:moveTo>
                  <a:lnTo>
                    <a:pt x="12700" y="1225677"/>
                  </a:lnTo>
                  <a:lnTo>
                    <a:pt x="25400" y="1238377"/>
                  </a:lnTo>
                  <a:lnTo>
                    <a:pt x="25400" y="1225677"/>
                  </a:lnTo>
                  <a:close/>
                </a:path>
                <a:path w="1794509" h="1251585">
                  <a:moveTo>
                    <a:pt x="241173" y="1225677"/>
                  </a:moveTo>
                  <a:lnTo>
                    <a:pt x="25400" y="1225677"/>
                  </a:lnTo>
                  <a:lnTo>
                    <a:pt x="25400" y="1238377"/>
                  </a:lnTo>
                  <a:lnTo>
                    <a:pt x="241173" y="1238377"/>
                  </a:lnTo>
                  <a:lnTo>
                    <a:pt x="241173" y="1225677"/>
                  </a:lnTo>
                  <a:close/>
                </a:path>
                <a:path w="1794509" h="1251585">
                  <a:moveTo>
                    <a:pt x="1717928" y="0"/>
                  </a:moveTo>
                  <a:lnTo>
                    <a:pt x="1717928" y="76200"/>
                  </a:lnTo>
                  <a:lnTo>
                    <a:pt x="1768728" y="50800"/>
                  </a:lnTo>
                  <a:lnTo>
                    <a:pt x="1730628" y="50800"/>
                  </a:lnTo>
                  <a:lnTo>
                    <a:pt x="1730628" y="25273"/>
                  </a:lnTo>
                  <a:lnTo>
                    <a:pt x="1768475" y="25273"/>
                  </a:lnTo>
                  <a:lnTo>
                    <a:pt x="1717928" y="0"/>
                  </a:lnTo>
                  <a:close/>
                </a:path>
                <a:path w="1794509" h="1251585">
                  <a:moveTo>
                    <a:pt x="25400" y="38100"/>
                  </a:moveTo>
                  <a:lnTo>
                    <a:pt x="12700" y="50800"/>
                  </a:lnTo>
                  <a:lnTo>
                    <a:pt x="25400" y="50800"/>
                  </a:lnTo>
                  <a:lnTo>
                    <a:pt x="25400" y="38100"/>
                  </a:lnTo>
                  <a:close/>
                </a:path>
                <a:path w="1794509" h="1251585">
                  <a:moveTo>
                    <a:pt x="1717928" y="38100"/>
                  </a:moveTo>
                  <a:lnTo>
                    <a:pt x="25400" y="38100"/>
                  </a:lnTo>
                  <a:lnTo>
                    <a:pt x="25400" y="50800"/>
                  </a:lnTo>
                  <a:lnTo>
                    <a:pt x="1717928" y="50800"/>
                  </a:lnTo>
                  <a:lnTo>
                    <a:pt x="1717928" y="38100"/>
                  </a:lnTo>
                  <a:close/>
                </a:path>
                <a:path w="1794509" h="1251585">
                  <a:moveTo>
                    <a:pt x="1768475" y="25273"/>
                  </a:moveTo>
                  <a:lnTo>
                    <a:pt x="1730628" y="25273"/>
                  </a:lnTo>
                  <a:lnTo>
                    <a:pt x="1730628" y="50800"/>
                  </a:lnTo>
                  <a:lnTo>
                    <a:pt x="1768728" y="50800"/>
                  </a:lnTo>
                  <a:lnTo>
                    <a:pt x="1794128" y="38100"/>
                  </a:lnTo>
                  <a:lnTo>
                    <a:pt x="1768475" y="25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8299" y="3919537"/>
              <a:ext cx="76200" cy="19537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8399" y="3919537"/>
              <a:ext cx="76200" cy="19537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8499" y="3919537"/>
              <a:ext cx="76200" cy="1953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8599" y="3919537"/>
              <a:ext cx="76200" cy="19536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326707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0"/>
                  </a:lnTo>
                  <a:close/>
                </a:path>
              </a:pathLst>
            </a:custGeom>
            <a:solidFill>
              <a:srgbClr val="D5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548376" y="3805237"/>
              <a:ext cx="3267075" cy="114300"/>
            </a:xfrm>
            <a:custGeom>
              <a:avLst/>
              <a:gdLst/>
              <a:ahLst/>
              <a:cxnLst/>
              <a:rect l="l" t="t" r="r" b="b"/>
              <a:pathLst>
                <a:path w="3267075" h="114300">
                  <a:moveTo>
                    <a:pt x="0" y="114300"/>
                  </a:moveTo>
                  <a:lnTo>
                    <a:pt x="3267075" y="114300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398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32766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276600" y="2952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AE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548376" y="2157475"/>
              <a:ext cx="3276600" cy="295275"/>
            </a:xfrm>
            <a:custGeom>
              <a:avLst/>
              <a:gdLst/>
              <a:ahLst/>
              <a:cxnLst/>
              <a:rect l="l" t="t" r="r" b="b"/>
              <a:pathLst>
                <a:path w="3276600" h="295275">
                  <a:moveTo>
                    <a:pt x="0" y="295275"/>
                  </a:moveTo>
                  <a:lnTo>
                    <a:pt x="3276600" y="295275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251" y="1116075"/>
              <a:ext cx="206375" cy="206375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5195951" y="814387"/>
            <a:ext cx="3829050" cy="3238500"/>
          </a:xfrm>
          <a:prstGeom prst="rect">
            <a:avLst/>
          </a:prstGeom>
          <a:ln w="12700">
            <a:solidFill>
              <a:srgbClr val="666666"/>
            </a:solidFill>
          </a:ln>
        </p:spPr>
        <p:txBody>
          <a:bodyPr vert="horz" wrap="square" lIns="0" tIns="20701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630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R="1169670" algn="r">
              <a:lnSpc>
                <a:spcPct val="100000"/>
              </a:lnSpc>
              <a:spcBef>
                <a:spcPts val="1570"/>
              </a:spcBef>
            </a:pPr>
            <a:r>
              <a:rPr sz="2000" spc="-25" dirty="0">
                <a:latin typeface="Arial"/>
                <a:cs typeface="Arial"/>
              </a:rPr>
              <a:t>MLP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201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  <a:p>
            <a:pPr marL="160655" algn="ctr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420"/>
              </a:spcBef>
            </a:pPr>
            <a:r>
              <a:rPr sz="2000" spc="-10" dirty="0">
                <a:latin typeface="Arial"/>
                <a:cs typeface="Arial"/>
              </a:rPr>
              <a:t>Self-Attention</a:t>
            </a:r>
            <a:endParaRPr sz="2000">
              <a:latin typeface="Arial"/>
              <a:cs typeface="Arial"/>
            </a:endParaRPr>
          </a:p>
          <a:p>
            <a:pPr marR="1232535" algn="r">
              <a:lnSpc>
                <a:spcPct val="100000"/>
              </a:lnSpc>
              <a:spcBef>
                <a:spcPts val="700"/>
              </a:spcBef>
            </a:pPr>
            <a:r>
              <a:rPr sz="2000" spc="-10" dirty="0">
                <a:latin typeface="Arial"/>
                <a:cs typeface="Arial"/>
              </a:rPr>
              <a:t>RMSNorm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948298" y="700023"/>
            <a:ext cx="2987675" cy="3081655"/>
            <a:chOff x="5948298" y="700023"/>
            <a:chExt cx="2987675" cy="3081655"/>
          </a:xfrm>
        </p:grpSpPr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0099" y="2748025"/>
              <a:ext cx="76073" cy="13881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8298" y="3586225"/>
              <a:ext cx="76200" cy="19532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8398" y="3586225"/>
              <a:ext cx="76200" cy="19532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8498" y="3586225"/>
              <a:ext cx="76200" cy="19532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8598" y="3586225"/>
              <a:ext cx="76200" cy="19532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973699" y="1309750"/>
              <a:ext cx="2424430" cy="294640"/>
            </a:xfrm>
            <a:custGeom>
              <a:avLst/>
              <a:gdLst/>
              <a:ahLst/>
              <a:cxnLst/>
              <a:rect l="l" t="t" r="r" b="b"/>
              <a:pathLst>
                <a:path w="2424429" h="294640">
                  <a:moveTo>
                    <a:pt x="2424049" y="140081"/>
                  </a:moveTo>
                  <a:lnTo>
                    <a:pt x="2418334" y="134366"/>
                  </a:lnTo>
                  <a:lnTo>
                    <a:pt x="1612265" y="134366"/>
                  </a:lnTo>
                  <a:lnTo>
                    <a:pt x="1230757" y="134366"/>
                  </a:lnTo>
                  <a:lnTo>
                    <a:pt x="1230757" y="76200"/>
                  </a:lnTo>
                  <a:lnTo>
                    <a:pt x="1250950" y="76200"/>
                  </a:lnTo>
                  <a:lnTo>
                    <a:pt x="1255014" y="76200"/>
                  </a:lnTo>
                  <a:lnTo>
                    <a:pt x="1256157" y="76200"/>
                  </a:lnTo>
                  <a:lnTo>
                    <a:pt x="1249807" y="63500"/>
                  </a:lnTo>
                  <a:lnTo>
                    <a:pt x="1218057" y="0"/>
                  </a:lnTo>
                  <a:lnTo>
                    <a:pt x="1217485" y="1143"/>
                  </a:lnTo>
                  <a:lnTo>
                    <a:pt x="1216914" y="0"/>
                  </a:lnTo>
                  <a:lnTo>
                    <a:pt x="1214882" y="4064"/>
                  </a:lnTo>
                  <a:lnTo>
                    <a:pt x="1212850" y="0"/>
                  </a:lnTo>
                  <a:lnTo>
                    <a:pt x="1174750" y="76200"/>
                  </a:lnTo>
                  <a:lnTo>
                    <a:pt x="1178814" y="76200"/>
                  </a:lnTo>
                  <a:lnTo>
                    <a:pt x="1179957" y="76200"/>
                  </a:lnTo>
                  <a:lnTo>
                    <a:pt x="1200150" y="76200"/>
                  </a:lnTo>
                  <a:lnTo>
                    <a:pt x="1200150" y="134366"/>
                  </a:lnTo>
                  <a:lnTo>
                    <a:pt x="805815" y="134366"/>
                  </a:lnTo>
                  <a:lnTo>
                    <a:pt x="5715" y="134366"/>
                  </a:lnTo>
                  <a:lnTo>
                    <a:pt x="0" y="140081"/>
                  </a:lnTo>
                  <a:lnTo>
                    <a:pt x="0" y="294132"/>
                  </a:lnTo>
                  <a:lnTo>
                    <a:pt x="25400" y="294132"/>
                  </a:lnTo>
                  <a:lnTo>
                    <a:pt x="25400" y="159766"/>
                  </a:lnTo>
                  <a:lnTo>
                    <a:pt x="800100" y="159766"/>
                  </a:lnTo>
                  <a:lnTo>
                    <a:pt x="800100" y="294132"/>
                  </a:lnTo>
                  <a:lnTo>
                    <a:pt x="825500" y="294132"/>
                  </a:lnTo>
                  <a:lnTo>
                    <a:pt x="825500" y="159766"/>
                  </a:lnTo>
                  <a:lnTo>
                    <a:pt x="1205865" y="159766"/>
                  </a:lnTo>
                  <a:lnTo>
                    <a:pt x="1223899" y="159766"/>
                  </a:lnTo>
                  <a:lnTo>
                    <a:pt x="1225042" y="159766"/>
                  </a:lnTo>
                  <a:lnTo>
                    <a:pt x="1592580" y="159766"/>
                  </a:lnTo>
                  <a:lnTo>
                    <a:pt x="1592580" y="294132"/>
                  </a:lnTo>
                  <a:lnTo>
                    <a:pt x="1617980" y="294132"/>
                  </a:lnTo>
                  <a:lnTo>
                    <a:pt x="1617980" y="159766"/>
                  </a:lnTo>
                  <a:lnTo>
                    <a:pt x="2398649" y="159766"/>
                  </a:lnTo>
                  <a:lnTo>
                    <a:pt x="2398649" y="294132"/>
                  </a:lnTo>
                  <a:lnTo>
                    <a:pt x="2424049" y="294132"/>
                  </a:lnTo>
                  <a:lnTo>
                    <a:pt x="2424049" y="159766"/>
                  </a:lnTo>
                  <a:lnTo>
                    <a:pt x="2424049" y="14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8448" y="2452750"/>
              <a:ext cx="76200" cy="11925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948299" y="700023"/>
              <a:ext cx="2987675" cy="1972945"/>
            </a:xfrm>
            <a:custGeom>
              <a:avLst/>
              <a:gdLst/>
              <a:ahLst/>
              <a:cxnLst/>
              <a:rect l="l" t="t" r="r" b="b"/>
              <a:pathLst>
                <a:path w="2987675" h="1972945">
                  <a:moveTo>
                    <a:pt x="2474849" y="1266952"/>
                  </a:moveTo>
                  <a:lnTo>
                    <a:pt x="2468499" y="1254252"/>
                  </a:lnTo>
                  <a:lnTo>
                    <a:pt x="2436749" y="1190752"/>
                  </a:lnTo>
                  <a:lnTo>
                    <a:pt x="2398649" y="1266952"/>
                  </a:lnTo>
                  <a:lnTo>
                    <a:pt x="2424049" y="1266952"/>
                  </a:lnTo>
                  <a:lnTo>
                    <a:pt x="2424049" y="1311021"/>
                  </a:lnTo>
                  <a:lnTo>
                    <a:pt x="1643380" y="1311021"/>
                  </a:lnTo>
                  <a:lnTo>
                    <a:pt x="1643380" y="1266952"/>
                  </a:lnTo>
                  <a:lnTo>
                    <a:pt x="1668780" y="1266952"/>
                  </a:lnTo>
                  <a:lnTo>
                    <a:pt x="1662430" y="1254252"/>
                  </a:lnTo>
                  <a:lnTo>
                    <a:pt x="1630680" y="1190752"/>
                  </a:lnTo>
                  <a:lnTo>
                    <a:pt x="1592580" y="1266952"/>
                  </a:lnTo>
                  <a:lnTo>
                    <a:pt x="1617980" y="1266952"/>
                  </a:lnTo>
                  <a:lnTo>
                    <a:pt x="1617980" y="1311021"/>
                  </a:lnTo>
                  <a:lnTo>
                    <a:pt x="1250442" y="1311021"/>
                  </a:lnTo>
                  <a:lnTo>
                    <a:pt x="1249299" y="1311021"/>
                  </a:lnTo>
                  <a:lnTo>
                    <a:pt x="1231265" y="1311021"/>
                  </a:lnTo>
                  <a:lnTo>
                    <a:pt x="851027" y="1311021"/>
                  </a:lnTo>
                  <a:lnTo>
                    <a:pt x="851027" y="1266825"/>
                  </a:lnTo>
                  <a:lnTo>
                    <a:pt x="876300" y="1266825"/>
                  </a:lnTo>
                  <a:lnTo>
                    <a:pt x="869950" y="1254125"/>
                  </a:lnTo>
                  <a:lnTo>
                    <a:pt x="838200" y="1190625"/>
                  </a:lnTo>
                  <a:lnTo>
                    <a:pt x="800100" y="1266825"/>
                  </a:lnTo>
                  <a:lnTo>
                    <a:pt x="825500" y="1266825"/>
                  </a:lnTo>
                  <a:lnTo>
                    <a:pt x="825500" y="1311021"/>
                  </a:lnTo>
                  <a:lnTo>
                    <a:pt x="50800" y="1311021"/>
                  </a:lnTo>
                  <a:lnTo>
                    <a:pt x="50800" y="1266825"/>
                  </a:lnTo>
                  <a:lnTo>
                    <a:pt x="76200" y="1266825"/>
                  </a:lnTo>
                  <a:lnTo>
                    <a:pt x="69850" y="1254125"/>
                  </a:lnTo>
                  <a:lnTo>
                    <a:pt x="38100" y="1190625"/>
                  </a:lnTo>
                  <a:lnTo>
                    <a:pt x="0" y="1266825"/>
                  </a:lnTo>
                  <a:lnTo>
                    <a:pt x="25400" y="1266825"/>
                  </a:lnTo>
                  <a:lnTo>
                    <a:pt x="25400" y="1330706"/>
                  </a:lnTo>
                  <a:lnTo>
                    <a:pt x="31115" y="1336421"/>
                  </a:lnTo>
                  <a:lnTo>
                    <a:pt x="831215" y="1336421"/>
                  </a:lnTo>
                  <a:lnTo>
                    <a:pt x="1225550" y="1336421"/>
                  </a:lnTo>
                  <a:lnTo>
                    <a:pt x="1225550" y="1456817"/>
                  </a:lnTo>
                  <a:lnTo>
                    <a:pt x="1229614" y="1456817"/>
                  </a:lnTo>
                  <a:lnTo>
                    <a:pt x="1230757" y="1456817"/>
                  </a:lnTo>
                  <a:lnTo>
                    <a:pt x="1250950" y="1456817"/>
                  </a:lnTo>
                  <a:lnTo>
                    <a:pt x="1255014" y="1456817"/>
                  </a:lnTo>
                  <a:lnTo>
                    <a:pt x="1256157" y="1456817"/>
                  </a:lnTo>
                  <a:lnTo>
                    <a:pt x="1256157" y="1336421"/>
                  </a:lnTo>
                  <a:lnTo>
                    <a:pt x="1637665" y="1336421"/>
                  </a:lnTo>
                  <a:lnTo>
                    <a:pt x="2443734" y="1336421"/>
                  </a:lnTo>
                  <a:lnTo>
                    <a:pt x="2449449" y="1330706"/>
                  </a:lnTo>
                  <a:lnTo>
                    <a:pt x="2449449" y="1311021"/>
                  </a:lnTo>
                  <a:lnTo>
                    <a:pt x="2449449" y="1266952"/>
                  </a:lnTo>
                  <a:lnTo>
                    <a:pt x="2474849" y="1266952"/>
                  </a:lnTo>
                  <a:close/>
                </a:path>
                <a:path w="2987675" h="1972945">
                  <a:moveTo>
                    <a:pt x="2474849" y="76327"/>
                  </a:moveTo>
                  <a:lnTo>
                    <a:pt x="2468499" y="63627"/>
                  </a:lnTo>
                  <a:lnTo>
                    <a:pt x="2436749" y="127"/>
                  </a:lnTo>
                  <a:lnTo>
                    <a:pt x="2398649" y="76327"/>
                  </a:lnTo>
                  <a:lnTo>
                    <a:pt x="2424049" y="76327"/>
                  </a:lnTo>
                  <a:lnTo>
                    <a:pt x="2424049" y="292608"/>
                  </a:lnTo>
                  <a:lnTo>
                    <a:pt x="1643380" y="292608"/>
                  </a:lnTo>
                  <a:lnTo>
                    <a:pt x="1643380" y="76327"/>
                  </a:lnTo>
                  <a:lnTo>
                    <a:pt x="1668780" y="76327"/>
                  </a:lnTo>
                  <a:lnTo>
                    <a:pt x="1662430" y="63627"/>
                  </a:lnTo>
                  <a:lnTo>
                    <a:pt x="1630680" y="127"/>
                  </a:lnTo>
                  <a:lnTo>
                    <a:pt x="1592580" y="76327"/>
                  </a:lnTo>
                  <a:lnTo>
                    <a:pt x="1617980" y="76327"/>
                  </a:lnTo>
                  <a:lnTo>
                    <a:pt x="1617980" y="292608"/>
                  </a:lnTo>
                  <a:lnTo>
                    <a:pt x="1249299" y="292608"/>
                  </a:lnTo>
                  <a:lnTo>
                    <a:pt x="1245616" y="292608"/>
                  </a:lnTo>
                  <a:lnTo>
                    <a:pt x="1231265" y="292608"/>
                  </a:lnTo>
                  <a:lnTo>
                    <a:pt x="851027" y="292608"/>
                  </a:lnTo>
                  <a:lnTo>
                    <a:pt x="851027" y="76200"/>
                  </a:lnTo>
                  <a:lnTo>
                    <a:pt x="876300" y="76200"/>
                  </a:lnTo>
                  <a:lnTo>
                    <a:pt x="869950" y="63500"/>
                  </a:lnTo>
                  <a:lnTo>
                    <a:pt x="838200" y="0"/>
                  </a:lnTo>
                  <a:lnTo>
                    <a:pt x="800100" y="76200"/>
                  </a:lnTo>
                  <a:lnTo>
                    <a:pt x="825500" y="76200"/>
                  </a:lnTo>
                  <a:lnTo>
                    <a:pt x="825500" y="292608"/>
                  </a:lnTo>
                  <a:lnTo>
                    <a:pt x="50800" y="292608"/>
                  </a:lnTo>
                  <a:lnTo>
                    <a:pt x="50800" y="76327"/>
                  </a:lnTo>
                  <a:lnTo>
                    <a:pt x="76200" y="76327"/>
                  </a:lnTo>
                  <a:lnTo>
                    <a:pt x="69850" y="63627"/>
                  </a:lnTo>
                  <a:lnTo>
                    <a:pt x="38100" y="127"/>
                  </a:lnTo>
                  <a:lnTo>
                    <a:pt x="0" y="76327"/>
                  </a:lnTo>
                  <a:lnTo>
                    <a:pt x="25400" y="76327"/>
                  </a:lnTo>
                  <a:lnTo>
                    <a:pt x="25400" y="312420"/>
                  </a:lnTo>
                  <a:lnTo>
                    <a:pt x="31115" y="318008"/>
                  </a:lnTo>
                  <a:lnTo>
                    <a:pt x="831215" y="318008"/>
                  </a:lnTo>
                  <a:lnTo>
                    <a:pt x="1225550" y="318008"/>
                  </a:lnTo>
                  <a:lnTo>
                    <a:pt x="1225550" y="428752"/>
                  </a:lnTo>
                  <a:lnTo>
                    <a:pt x="1225931" y="428752"/>
                  </a:lnTo>
                  <a:lnTo>
                    <a:pt x="1229614" y="428752"/>
                  </a:lnTo>
                  <a:lnTo>
                    <a:pt x="1250950" y="428752"/>
                  </a:lnTo>
                  <a:lnTo>
                    <a:pt x="1251331" y="428752"/>
                  </a:lnTo>
                  <a:lnTo>
                    <a:pt x="1255014" y="428752"/>
                  </a:lnTo>
                  <a:lnTo>
                    <a:pt x="1255014" y="318008"/>
                  </a:lnTo>
                  <a:lnTo>
                    <a:pt x="1637665" y="318008"/>
                  </a:lnTo>
                  <a:lnTo>
                    <a:pt x="2443734" y="318008"/>
                  </a:lnTo>
                  <a:lnTo>
                    <a:pt x="2449449" y="312420"/>
                  </a:lnTo>
                  <a:lnTo>
                    <a:pt x="2449449" y="292608"/>
                  </a:lnTo>
                  <a:lnTo>
                    <a:pt x="2449449" y="76327"/>
                  </a:lnTo>
                  <a:lnTo>
                    <a:pt x="2474849" y="76327"/>
                  </a:lnTo>
                  <a:close/>
                </a:path>
                <a:path w="2987675" h="1972945">
                  <a:moveTo>
                    <a:pt x="2987167" y="507365"/>
                  </a:moveTo>
                  <a:lnTo>
                    <a:pt x="2981452" y="501777"/>
                  </a:lnTo>
                  <a:lnTo>
                    <a:pt x="1422400" y="501777"/>
                  </a:lnTo>
                  <a:lnTo>
                    <a:pt x="1422400" y="476377"/>
                  </a:lnTo>
                  <a:lnTo>
                    <a:pt x="1346200" y="514477"/>
                  </a:lnTo>
                  <a:lnTo>
                    <a:pt x="1422400" y="552577"/>
                  </a:lnTo>
                  <a:lnTo>
                    <a:pt x="1422400" y="527177"/>
                  </a:lnTo>
                  <a:lnTo>
                    <a:pt x="2961767" y="527177"/>
                  </a:lnTo>
                  <a:lnTo>
                    <a:pt x="2961767" y="1947291"/>
                  </a:lnTo>
                  <a:lnTo>
                    <a:pt x="1333500" y="1947291"/>
                  </a:lnTo>
                  <a:lnTo>
                    <a:pt x="1333500" y="1972691"/>
                  </a:lnTo>
                  <a:lnTo>
                    <a:pt x="2981452" y="1972691"/>
                  </a:lnTo>
                  <a:lnTo>
                    <a:pt x="2987167" y="1966976"/>
                  </a:lnTo>
                  <a:lnTo>
                    <a:pt x="2987167" y="1959991"/>
                  </a:lnTo>
                  <a:lnTo>
                    <a:pt x="2987167" y="1947291"/>
                  </a:lnTo>
                  <a:lnTo>
                    <a:pt x="2987167" y="527177"/>
                  </a:lnTo>
                  <a:lnTo>
                    <a:pt x="2987167" y="514477"/>
                  </a:lnTo>
                  <a:lnTo>
                    <a:pt x="2987167" y="50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62890" y="801306"/>
            <a:ext cx="295021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Transformer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architecture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not </a:t>
            </a:r>
            <a:r>
              <a:rPr sz="1400" dirty="0">
                <a:latin typeface="Arial"/>
                <a:cs typeface="Arial"/>
              </a:rPr>
              <a:t>changed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much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since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2017.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120</a:t>
            </a:fld>
            <a:endParaRPr spc="-25" dirty="0"/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262890" y="1440878"/>
            <a:ext cx="33788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But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few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changes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become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common: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62890" y="1660207"/>
            <a:ext cx="3479800" cy="17418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8450" marR="201295" indent="-286385">
              <a:lnSpc>
                <a:spcPts val="1650"/>
              </a:lnSpc>
              <a:spcBef>
                <a:spcPts val="204"/>
              </a:spcBef>
              <a:buFont typeface="Arial"/>
              <a:buChar char="-"/>
              <a:tabLst>
                <a:tab pos="298450" algn="l"/>
              </a:tabLst>
            </a:pPr>
            <a:r>
              <a:rPr sz="1400" b="1" spc="-10" dirty="0">
                <a:latin typeface="Arial"/>
                <a:cs typeface="Arial"/>
              </a:rPr>
              <a:t>Pre-</a:t>
            </a:r>
            <a:r>
              <a:rPr sz="1400" b="1" dirty="0">
                <a:latin typeface="Arial"/>
                <a:cs typeface="Arial"/>
              </a:rPr>
              <a:t>Norm: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Move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normalization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inside residual</a:t>
            </a:r>
            <a:endParaRPr sz="1400">
              <a:latin typeface="Arial"/>
              <a:cs typeface="Arial"/>
            </a:endParaRPr>
          </a:p>
          <a:p>
            <a:pPr marL="298450" indent="-285750">
              <a:lnSpc>
                <a:spcPts val="1670"/>
              </a:lnSpc>
              <a:buFont typeface="Arial"/>
              <a:buChar char="-"/>
              <a:tabLst>
                <a:tab pos="298450" algn="l"/>
              </a:tabLst>
            </a:pPr>
            <a:r>
              <a:rPr sz="1400" b="1" dirty="0">
                <a:latin typeface="Arial"/>
                <a:cs typeface="Arial"/>
              </a:rPr>
              <a:t>RMSNorm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Different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normalization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  <a:p>
            <a:pPr marL="298450" indent="-285750">
              <a:lnSpc>
                <a:spcPts val="1655"/>
              </a:lnSpc>
              <a:buFont typeface="Arial"/>
              <a:buChar char="-"/>
              <a:tabLst>
                <a:tab pos="298450" algn="l"/>
              </a:tabLst>
            </a:pPr>
            <a:r>
              <a:rPr sz="1400" b="1" dirty="0">
                <a:latin typeface="Arial"/>
                <a:cs typeface="Arial"/>
              </a:rPr>
              <a:t>SwiGLU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Different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  <a:p>
            <a:pPr marL="298450" indent="-285750">
              <a:lnSpc>
                <a:spcPts val="1664"/>
              </a:lnSpc>
              <a:buFont typeface="Arial"/>
              <a:buChar char="-"/>
              <a:tabLst>
                <a:tab pos="298450" algn="l"/>
              </a:tabLst>
            </a:pPr>
            <a:r>
              <a:rPr sz="1400" b="1" dirty="0">
                <a:latin typeface="Arial"/>
                <a:cs typeface="Arial"/>
              </a:rPr>
              <a:t>Mixture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Experts</a:t>
            </a:r>
            <a:r>
              <a:rPr sz="1400" b="1" spc="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(MoE)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Learn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 marL="298450" marR="208915">
              <a:lnSpc>
                <a:spcPct val="100699"/>
              </a:lnSpc>
              <a:spcBef>
                <a:spcPts val="35"/>
              </a:spcBef>
            </a:pPr>
            <a:r>
              <a:rPr sz="1400" dirty="0">
                <a:latin typeface="Arial"/>
                <a:cs typeface="Arial"/>
              </a:rPr>
              <a:t>different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MLPs,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use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&lt;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 of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per </a:t>
            </a:r>
            <a:r>
              <a:rPr sz="1400" dirty="0">
                <a:latin typeface="Arial"/>
                <a:cs typeface="Arial"/>
              </a:rPr>
              <a:t>token.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Massively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increase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params, </a:t>
            </a:r>
            <a:r>
              <a:rPr sz="1400" dirty="0">
                <a:latin typeface="Arial"/>
                <a:cs typeface="Arial"/>
              </a:rPr>
              <a:t>modest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increase to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 </a:t>
            </a:r>
            <a:r>
              <a:rPr sz="1400" spc="-20" dirty="0">
                <a:latin typeface="Arial"/>
                <a:cs typeface="Arial"/>
              </a:rPr>
              <a:t>cost.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575" y="374713"/>
            <a:ext cx="568007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Source Sans 3"/>
                <a:cs typeface="Source Sans 3"/>
              </a:rPr>
              <a:t>Summary:</a:t>
            </a:r>
            <a:r>
              <a:rPr sz="3000" spc="-40" dirty="0">
                <a:latin typeface="Source Sans 3"/>
                <a:cs typeface="Source Sans 3"/>
              </a:rPr>
              <a:t> </a:t>
            </a:r>
            <a:r>
              <a:rPr sz="3000" spc="-10" dirty="0">
                <a:latin typeface="Source Sans 3"/>
                <a:cs typeface="Source Sans 3"/>
              </a:rPr>
              <a:t>Attention</a:t>
            </a:r>
            <a:r>
              <a:rPr sz="3000" spc="-35" dirty="0">
                <a:latin typeface="Source Sans 3"/>
                <a:cs typeface="Source Sans 3"/>
              </a:rPr>
              <a:t> </a:t>
            </a:r>
            <a:r>
              <a:rPr sz="3000" dirty="0">
                <a:latin typeface="Source Sans 3"/>
                <a:cs typeface="Source Sans 3"/>
              </a:rPr>
              <a:t>+</a:t>
            </a:r>
            <a:r>
              <a:rPr sz="3000" spc="-100" dirty="0">
                <a:latin typeface="Source Sans 3"/>
                <a:cs typeface="Source Sans 3"/>
              </a:rPr>
              <a:t> </a:t>
            </a:r>
            <a:r>
              <a:rPr sz="3000" spc="-10" dirty="0">
                <a:latin typeface="Source Sans 3"/>
                <a:cs typeface="Source Sans 3"/>
              </a:rPr>
              <a:t>Transformers</a:t>
            </a:r>
            <a:endParaRPr sz="3000">
              <a:latin typeface="Source Sans 3"/>
              <a:cs typeface="Source Sans 3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1812088"/>
            <a:ext cx="1876023" cy="27972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9164" y="1088961"/>
            <a:ext cx="3150235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latin typeface="Arial"/>
                <a:cs typeface="Arial"/>
              </a:rPr>
              <a:t>Attention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new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primitive</a:t>
            </a:r>
            <a:r>
              <a:rPr sz="1800" spc="-20" dirty="0">
                <a:latin typeface="Arial"/>
                <a:cs typeface="Arial"/>
              </a:rPr>
              <a:t> that </a:t>
            </a:r>
            <a:r>
              <a:rPr sz="1800" dirty="0">
                <a:latin typeface="Arial"/>
                <a:cs typeface="Arial"/>
              </a:rPr>
              <a:t>operates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4240" y="1088961"/>
            <a:ext cx="2701290" cy="8540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b="1" dirty="0">
                <a:latin typeface="Arial"/>
                <a:cs typeface="Arial"/>
              </a:rPr>
              <a:t>Transformer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neural </a:t>
            </a:r>
            <a:r>
              <a:rPr sz="1800" dirty="0">
                <a:latin typeface="Arial"/>
                <a:cs typeface="Arial"/>
              </a:rPr>
              <a:t>network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architecture</a:t>
            </a:r>
            <a:r>
              <a:rPr sz="1800" spc="-20" dirty="0">
                <a:latin typeface="Arial"/>
                <a:cs typeface="Arial"/>
              </a:rPr>
              <a:t> that </a:t>
            </a:r>
            <a:r>
              <a:rPr sz="1800" dirty="0">
                <a:latin typeface="Arial"/>
                <a:cs typeface="Arial"/>
              </a:rPr>
              <a:t>uses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attention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everywhere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5050" y="1990728"/>
            <a:ext cx="1380849" cy="24762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08375" y="2353881"/>
            <a:ext cx="2162175" cy="16744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Transformers</a:t>
            </a:r>
            <a:r>
              <a:rPr sz="1800" spc="-5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are</a:t>
            </a:r>
            <a:r>
              <a:rPr sz="1800" spc="1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8AAB42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backbone</a:t>
            </a:r>
            <a:r>
              <a:rPr sz="1800" spc="-1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all</a:t>
            </a:r>
            <a:r>
              <a:rPr sz="1800" spc="-10" dirty="0">
                <a:solidFill>
                  <a:srgbClr val="8AAB42"/>
                </a:solidFill>
                <a:latin typeface="Arial"/>
                <a:cs typeface="Arial"/>
              </a:rPr>
              <a:t> large </a:t>
            </a: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AI</a:t>
            </a:r>
            <a:r>
              <a:rPr sz="1800" spc="-2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models</a:t>
            </a:r>
            <a:r>
              <a:rPr sz="1800" spc="-4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AAB42"/>
                </a:solidFill>
                <a:latin typeface="Arial"/>
                <a:cs typeface="Arial"/>
              </a:rPr>
              <a:t>today!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800">
              <a:latin typeface="Arial"/>
              <a:cs typeface="Arial"/>
            </a:endParaRPr>
          </a:p>
          <a:p>
            <a:pPr marL="12700" algn="just">
              <a:lnSpc>
                <a:spcPts val="2135"/>
              </a:lnSpc>
            </a:pP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Used</a:t>
            </a:r>
            <a:r>
              <a:rPr sz="18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for</a:t>
            </a:r>
            <a:r>
              <a:rPr sz="1800" spc="-55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AAB42"/>
                </a:solidFill>
                <a:latin typeface="Arial"/>
                <a:cs typeface="Arial"/>
              </a:rPr>
              <a:t>language,</a:t>
            </a:r>
            <a:endParaRPr sz="1800">
              <a:latin typeface="Arial"/>
              <a:cs typeface="Arial"/>
            </a:endParaRPr>
          </a:p>
          <a:p>
            <a:pPr marL="12700" algn="just">
              <a:lnSpc>
                <a:spcPts val="2135"/>
              </a:lnSpc>
            </a:pP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vision,</a:t>
            </a:r>
            <a:r>
              <a:rPr sz="1800" spc="-2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AAB42"/>
                </a:solidFill>
                <a:latin typeface="Arial"/>
                <a:cs typeface="Arial"/>
              </a:rPr>
              <a:t>speech,</a:t>
            </a:r>
            <a:r>
              <a:rPr sz="1800" spc="-30" dirty="0">
                <a:solidFill>
                  <a:srgbClr val="8AAB42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8AAB42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129" y="4809347"/>
            <a:ext cx="3202940" cy="313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Source Sans 3"/>
                <a:cs typeface="Source Sans 3"/>
              </a:rPr>
              <a:t>Stanford</a:t>
            </a:r>
            <a:r>
              <a:rPr sz="1800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CS231n</a:t>
            </a:r>
            <a:r>
              <a:rPr sz="1800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dirty="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sz="1800" baseline="23148" dirty="0">
                <a:solidFill>
                  <a:srgbClr val="FFFFFF"/>
                </a:solidFill>
                <a:latin typeface="Source Sans 3"/>
                <a:cs typeface="Source Sans 3"/>
              </a:rPr>
              <a:t>th</a:t>
            </a:r>
            <a:r>
              <a:rPr sz="1800" spc="165" baseline="23148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ource Sans 3"/>
                <a:cs typeface="Source Sans 3"/>
              </a:rPr>
              <a:t>Anniversary</a:t>
            </a:r>
            <a:endParaRPr sz="1800">
              <a:latin typeface="Source Sans 3"/>
              <a:cs typeface="Source Sans 3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/>
              <a:t>Lecture</a:t>
            </a:r>
            <a:r>
              <a:rPr spc="-50" dirty="0"/>
              <a:t> </a:t>
            </a:r>
            <a:r>
              <a:rPr dirty="0"/>
              <a:t>8</a:t>
            </a:r>
            <a:r>
              <a:rPr spc="-45" dirty="0"/>
              <a:t> </a:t>
            </a:r>
            <a:r>
              <a:rPr spc="-50" dirty="0"/>
              <a:t>-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121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April</a:t>
            </a:r>
            <a:r>
              <a:rPr spc="-35" dirty="0"/>
              <a:t> </a:t>
            </a:r>
            <a:r>
              <a:rPr dirty="0"/>
              <a:t>24, </a:t>
            </a:r>
            <a:r>
              <a:rPr spc="-20" dirty="0"/>
              <a:t>2025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3200875"/>
            <a:ext cx="3604497" cy="972836"/>
          </a:xfrm>
        </p:spPr>
        <p:txBody>
          <a:bodyPr anchor="t">
            <a:normAutofit/>
          </a:bodyPr>
          <a:lstStyle/>
          <a:p>
            <a:pPr algn="l"/>
            <a:r>
              <a:rPr lang="en-US" sz="3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505" y="2571750"/>
            <a:ext cx="3604268" cy="629123"/>
          </a:xfrm>
        </p:spPr>
        <p:txBody>
          <a:bodyPr anchor="b">
            <a:normAutofit/>
          </a:bodyPr>
          <a:lstStyle/>
          <a:p>
            <a:pPr algn="l"/>
            <a:r>
              <a:rPr lang="en-US" sz="15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7239" y="1394308"/>
            <a:ext cx="2865827" cy="28658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16543</Words>
  <Application>Microsoft Office PowerPoint</Application>
  <PresentationFormat>On-screen Show (16:9)</PresentationFormat>
  <Paragraphs>3797</Paragraphs>
  <Slides>122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31" baseType="lpstr">
      <vt:lpstr>Arial</vt:lpstr>
      <vt:lpstr>Calibri</vt:lpstr>
      <vt:lpstr>Cambria Math</vt:lpstr>
      <vt:lpstr>Segoe UI</vt:lpstr>
      <vt:lpstr>Source Sans 3</vt:lpstr>
      <vt:lpstr>Tahoma</vt:lpstr>
      <vt:lpstr>Times New Roman</vt:lpstr>
      <vt:lpstr>Wingdings</vt:lpstr>
      <vt:lpstr>Office Theme</vt:lpstr>
      <vt:lpstr>Spring of Code Artificial Intelligence (Machine Learning &amp; Deep Learning)</vt:lpstr>
      <vt:lpstr>Attention and Transformers</vt:lpstr>
      <vt:lpstr>Last Time: Recurrent Neural Networks</vt:lpstr>
      <vt:lpstr>Today: Attention + Transformers</vt:lpstr>
      <vt:lpstr>Today: Attention + Transformers</vt:lpstr>
      <vt:lpstr>Sequence to Sequence with RNNs: Encoder - Decoder</vt:lpstr>
      <vt:lpstr>Sequence to Sequence with RNNs</vt:lpstr>
      <vt:lpstr>Sequence to Sequence with RNNs</vt:lpstr>
      <vt:lpstr>Sequence to Sequence with RNNs</vt:lpstr>
      <vt:lpstr>Sequence to Sequence with RNNs</vt:lpstr>
      <vt:lpstr>Sequence to Sequence with RNNs</vt:lpstr>
      <vt:lpstr>Sequence to Sequence with RNNs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Sequence to Sequence with RNNs and Attention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Attention Layer</vt:lpstr>
      <vt:lpstr>Cross-Attention Layer</vt:lpstr>
      <vt:lpstr>PowerPoint Presentation</vt:lpstr>
      <vt:lpstr>Self-Attention Layer</vt:lpstr>
      <vt:lpstr>Self-Attention Layer</vt:lpstr>
      <vt:lpstr>Self-Attention Layer</vt:lpstr>
      <vt:lpstr>PowerPoint Presentation</vt:lpstr>
      <vt:lpstr>Self-Attention Layer</vt:lpstr>
      <vt:lpstr>Self-Attention Layer</vt:lpstr>
      <vt:lpstr>Self-Attention Layer</vt:lpstr>
      <vt:lpstr>Self-Attention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Masked Self-Attention Layer</vt:lpstr>
      <vt:lpstr>Multiheaded Self-Attention Layer</vt:lpstr>
      <vt:lpstr>Multiheaded Self-Attention Layer</vt:lpstr>
      <vt:lpstr>Multiheaded Self-Attention Layer</vt:lpstr>
      <vt:lpstr>Multiheaded Self-Attention Layer</vt:lpstr>
      <vt:lpstr>Multiheaded Self-Attention Layer</vt:lpstr>
      <vt:lpstr>Multiheaded Self-Attention Layer</vt:lpstr>
      <vt:lpstr>Self-Attention is Four Matrix Multiplies!</vt:lpstr>
      <vt:lpstr>Self-Attention is Four Matrix Multiplies!</vt:lpstr>
      <vt:lpstr>Self-Attention is Four Matrix Multiplies!</vt:lpstr>
      <vt:lpstr>Self-Attention is Four Matrix Multiplies!</vt:lpstr>
      <vt:lpstr>Self-Attention is Four Matrix Multiplies!</vt:lpstr>
      <vt:lpstr>Self-Attention is Four Matrix Multiplies!</vt:lpstr>
      <vt:lpstr>Self-Attention is Four Matrix Multiplies!</vt:lpstr>
      <vt:lpstr>Self-Attention is Four Matrix Multiplies!</vt:lpstr>
      <vt:lpstr>Self-Attention is Four Matrix Multiplies!</vt:lpstr>
      <vt:lpstr>Self-Attention is Four Matrix Multiplies!</vt:lpstr>
      <vt:lpstr>Self-Attention is Four Matrix Multiplies!</vt:lpstr>
      <vt:lpstr>Three Ways of Processing Sequences</vt:lpstr>
      <vt:lpstr>Three Ways of Processing Sequences</vt:lpstr>
      <vt:lpstr>Three Ways of Processing Sequences</vt:lpstr>
      <vt:lpstr>Three Ways of Processing Sequences</vt:lpstr>
      <vt:lpstr>Three Ways of Processing Sequences</vt:lpstr>
      <vt:lpstr>The Transformer</vt:lpstr>
      <vt:lpstr>The Transformer</vt:lpstr>
      <vt:lpstr>The Transformer</vt:lpstr>
      <vt:lpstr>The Transformer</vt:lpstr>
      <vt:lpstr>The Transformer</vt:lpstr>
      <vt:lpstr>The Transformer</vt:lpstr>
      <vt:lpstr>The Transformer</vt:lpstr>
      <vt:lpstr>The Transformer</vt:lpstr>
      <vt:lpstr>The Transformer</vt:lpstr>
      <vt:lpstr>The Transformer</vt:lpstr>
      <vt:lpstr>The Transformer</vt:lpstr>
      <vt:lpstr>The Transformer</vt:lpstr>
      <vt:lpstr>Transformers for Language Modeling (LLM)</vt:lpstr>
      <vt:lpstr>Transformers for Language Modeling (LLM)</vt:lpstr>
      <vt:lpstr>Transformers for Language Modeling (LLM)</vt:lpstr>
      <vt:lpstr>Transformers for Language Modeling (LLM)</vt:lpstr>
      <vt:lpstr>Vision Transformers (ViT)</vt:lpstr>
      <vt:lpstr>Vision Transformers (ViT)</vt:lpstr>
      <vt:lpstr>Vision Transformers (ViT)</vt:lpstr>
      <vt:lpstr>Vision Transformers (ViT)</vt:lpstr>
      <vt:lpstr>Vision Transformers (ViT)</vt:lpstr>
      <vt:lpstr>Vision Transformers (ViT)</vt:lpstr>
      <vt:lpstr>Vision Transformers (ViT)</vt:lpstr>
      <vt:lpstr>Vision Transformers (ViT)</vt:lpstr>
      <vt:lpstr>Vision Transformers (ViT)</vt:lpstr>
      <vt:lpstr>Vision Transformers (ViT)</vt:lpstr>
      <vt:lpstr>Tweaking Transformers</vt:lpstr>
      <vt:lpstr>Pre-Norm Transformer</vt:lpstr>
      <vt:lpstr>Pre-Norm Transformer</vt:lpstr>
      <vt:lpstr>RMSNorm</vt:lpstr>
      <vt:lpstr>SwiGLU MLP</vt:lpstr>
      <vt:lpstr>SwiGLU MLP</vt:lpstr>
      <vt:lpstr>SwiGLU MLP</vt:lpstr>
      <vt:lpstr>Mixture of Experts (MoE)</vt:lpstr>
      <vt:lpstr>Mixture of Experts (MoE)</vt:lpstr>
      <vt:lpstr>Mixture of Experts (MoE)</vt:lpstr>
      <vt:lpstr>Tweaking Transformers</vt:lpstr>
      <vt:lpstr>Summary: Attention + Transformers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Asad Afridi</cp:lastModifiedBy>
  <cp:revision>1</cp:revision>
  <dcterms:created xsi:type="dcterms:W3CDTF">2026-04-30T07:58:07Z</dcterms:created>
  <dcterms:modified xsi:type="dcterms:W3CDTF">2026-04-30T08:05:05Z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2025-05-28T00:00:00Z</vt:filetime>
  </property>
  <property fmtid="{D5CDD505-2E9C-101B-9397-08002B2CF9AE}" pid="3" name="LastSaved">
    <vt:filetime>2026-04-30T00:00:00Z</vt:filetime>
  </property>
  <property fmtid="{D5CDD505-2E9C-101B-9397-08002B2CF9AE}" pid="4" name="MSIP_Label_f42aa342-8706-4288-bd11-ebb85995028c_ContentBits">
    <vt:lpwstr>0</vt:lpwstr>
  </property>
  <property fmtid="{D5CDD505-2E9C-101B-9397-08002B2CF9AE}" pid="5" name="MSIP_Label_f42aa342-8706-4288-bd11-ebb85995028c_Enabled">
    <vt:lpwstr>true</vt:lpwstr>
  </property>
  <property fmtid="{D5CDD505-2E9C-101B-9397-08002B2CF9AE}" pid="6" name="MSIP_Label_f42aa342-8706-4288-bd11-ebb85995028c_Method">
    <vt:lpwstr>Standard</vt:lpwstr>
  </property>
  <property fmtid="{D5CDD505-2E9C-101B-9397-08002B2CF9AE}" pid="7" name="MSIP_Label_f42aa342-8706-4288-bd11-ebb85995028c_SiteId">
    <vt:lpwstr>72f988bf-86f1-41af-91ab-2d7cd011db47</vt:lpwstr>
  </property>
</Properties>
</file>