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7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30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542208-9B14-4DD0-A52E-3FEB1D2E994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052370E-71F0-4581-AAFB-FE2C6369374D}">
      <dgm:prSet/>
      <dgm:spPr/>
      <dgm:t>
        <a:bodyPr/>
        <a:lstStyle/>
        <a:p>
          <a:r>
            <a:rPr lang="en-US" b="0"/>
            <a:t>Unlike LSTM, GRU has only one State and only two Gates</a:t>
          </a:r>
          <a:endParaRPr lang="en-US"/>
        </a:p>
      </dgm:t>
    </dgm:pt>
    <dgm:pt modelId="{D66C5748-22E2-418A-B2D4-FD1CE9BE5210}" type="parTrans" cxnId="{783DD649-1BB9-43A1-AD0E-2C61113BED01}">
      <dgm:prSet/>
      <dgm:spPr/>
      <dgm:t>
        <a:bodyPr/>
        <a:lstStyle/>
        <a:p>
          <a:endParaRPr lang="en-US"/>
        </a:p>
      </dgm:t>
    </dgm:pt>
    <dgm:pt modelId="{5B4D4D4F-9EFA-4E44-ADC4-4FF8E678475C}" type="sibTrans" cxnId="{783DD649-1BB9-43A1-AD0E-2C61113BED01}">
      <dgm:prSet/>
      <dgm:spPr/>
      <dgm:t>
        <a:bodyPr/>
        <a:lstStyle/>
        <a:p>
          <a:endParaRPr lang="en-US"/>
        </a:p>
      </dgm:t>
    </dgm:pt>
    <dgm:pt modelId="{2861EA57-12B0-4CF2-81B1-0AA28FC297F4}">
      <dgm:prSet/>
      <dgm:spPr/>
    </dgm:pt>
    <dgm:pt modelId="{3323DCD8-6A5A-48B8-BBA8-5559E4B29C73}" type="parTrans" cxnId="{857CCFEB-7541-4CF8-BF12-0068020D3499}">
      <dgm:prSet/>
      <dgm:spPr/>
      <dgm:t>
        <a:bodyPr/>
        <a:lstStyle/>
        <a:p>
          <a:endParaRPr lang="en-US"/>
        </a:p>
      </dgm:t>
    </dgm:pt>
    <dgm:pt modelId="{2434D5D0-EE7C-4D17-B56F-2A51E438DA88}" type="sibTrans" cxnId="{857CCFEB-7541-4CF8-BF12-0068020D3499}">
      <dgm:prSet/>
      <dgm:spPr/>
      <dgm:t>
        <a:bodyPr/>
        <a:lstStyle/>
        <a:p>
          <a:endParaRPr lang="en-US"/>
        </a:p>
      </dgm:t>
    </dgm:pt>
    <dgm:pt modelId="{0757989C-D5F3-49C6-8EF9-EEA780746807}">
      <dgm:prSet/>
      <dgm:spPr/>
      <dgm:t>
        <a:bodyPr/>
        <a:lstStyle/>
        <a:p>
          <a:r>
            <a:rPr lang="en-US" b="0"/>
            <a:t>Update Gate and Reset Gate</a:t>
          </a:r>
          <a:endParaRPr lang="en-US"/>
        </a:p>
      </dgm:t>
    </dgm:pt>
    <dgm:pt modelId="{91CAF096-EFE0-44F9-A6C8-FD8A2D264BC6}" type="parTrans" cxnId="{D4F7A25A-70CF-4181-A240-D140CCD69658}">
      <dgm:prSet/>
      <dgm:spPr/>
      <dgm:t>
        <a:bodyPr/>
        <a:lstStyle/>
        <a:p>
          <a:endParaRPr lang="en-US"/>
        </a:p>
      </dgm:t>
    </dgm:pt>
    <dgm:pt modelId="{85F0217B-B7A3-43D4-8234-25EC0A3FAB44}" type="sibTrans" cxnId="{D4F7A25A-70CF-4181-A240-D140CCD69658}">
      <dgm:prSet/>
      <dgm:spPr/>
      <dgm:t>
        <a:bodyPr/>
        <a:lstStyle/>
        <a:p>
          <a:endParaRPr lang="en-US"/>
        </a:p>
      </dgm:t>
    </dgm:pt>
    <dgm:pt modelId="{D7E1CFAF-DB53-424F-AF95-54CB9179D721}" type="pres">
      <dgm:prSet presAssocID="{41542208-9B14-4DD0-A52E-3FEB1D2E994B}" presName="root" presStyleCnt="0">
        <dgm:presLayoutVars>
          <dgm:dir/>
          <dgm:resizeHandles val="exact"/>
        </dgm:presLayoutVars>
      </dgm:prSet>
      <dgm:spPr/>
    </dgm:pt>
    <dgm:pt modelId="{A8C6ED79-5C4A-4015-8F31-D63654469B29}" type="pres">
      <dgm:prSet presAssocID="{7052370E-71F0-4581-AAFB-FE2C6369374D}" presName="compNode" presStyleCnt="0"/>
      <dgm:spPr/>
    </dgm:pt>
    <dgm:pt modelId="{F78BAF21-CF89-4144-AD5B-7067A387FBC2}" type="pres">
      <dgm:prSet presAssocID="{7052370E-71F0-4581-AAFB-FE2C6369374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242A7594-B044-46DB-88E4-179DABFE9935}" type="pres">
      <dgm:prSet presAssocID="{7052370E-71F0-4581-AAFB-FE2C6369374D}" presName="spaceRect" presStyleCnt="0"/>
      <dgm:spPr/>
    </dgm:pt>
    <dgm:pt modelId="{D9CE1E5D-054B-4884-A4C1-31921258A876}" type="pres">
      <dgm:prSet presAssocID="{7052370E-71F0-4581-AAFB-FE2C6369374D}" presName="textRect" presStyleLbl="revTx" presStyleIdx="0" presStyleCnt="2">
        <dgm:presLayoutVars>
          <dgm:chMax val="1"/>
          <dgm:chPref val="1"/>
        </dgm:presLayoutVars>
      </dgm:prSet>
      <dgm:spPr/>
    </dgm:pt>
    <dgm:pt modelId="{98E193A1-83B1-4F9C-BD54-6128A0336989}" type="pres">
      <dgm:prSet presAssocID="{5B4D4D4F-9EFA-4E44-ADC4-4FF8E678475C}" presName="sibTrans" presStyleCnt="0"/>
      <dgm:spPr/>
    </dgm:pt>
    <dgm:pt modelId="{F7A59307-E7F7-444D-A932-2FC1D96B58C0}" type="pres">
      <dgm:prSet presAssocID="{0757989C-D5F3-49C6-8EF9-EEA780746807}" presName="compNode" presStyleCnt="0"/>
      <dgm:spPr/>
    </dgm:pt>
    <dgm:pt modelId="{F021F9AC-7980-4B92-8269-CD95B7ED4C0E}" type="pres">
      <dgm:prSet presAssocID="{0757989C-D5F3-49C6-8EF9-EEA780746807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ind"/>
        </a:ext>
      </dgm:extLst>
    </dgm:pt>
    <dgm:pt modelId="{CD4743CD-B40D-4ED9-9B5F-156223860257}" type="pres">
      <dgm:prSet presAssocID="{0757989C-D5F3-49C6-8EF9-EEA780746807}" presName="spaceRect" presStyleCnt="0"/>
      <dgm:spPr/>
    </dgm:pt>
    <dgm:pt modelId="{951BB70E-7B1F-4EDD-93CE-1E9F55F6F366}" type="pres">
      <dgm:prSet presAssocID="{0757989C-D5F3-49C6-8EF9-EEA78074680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EFC5720-7E73-42CE-B91F-0BF7DB6433F9}" type="presOf" srcId="{7052370E-71F0-4581-AAFB-FE2C6369374D}" destId="{D9CE1E5D-054B-4884-A4C1-31921258A876}" srcOrd="0" destOrd="0" presId="urn:microsoft.com/office/officeart/2018/2/layout/IconLabelList"/>
    <dgm:cxn modelId="{783DD649-1BB9-43A1-AD0E-2C61113BED01}" srcId="{41542208-9B14-4DD0-A52E-3FEB1D2E994B}" destId="{7052370E-71F0-4581-AAFB-FE2C6369374D}" srcOrd="0" destOrd="0" parTransId="{D66C5748-22E2-418A-B2D4-FD1CE9BE5210}" sibTransId="{5B4D4D4F-9EFA-4E44-ADC4-4FF8E678475C}"/>
    <dgm:cxn modelId="{F3654356-2CB1-4BA3-ABDC-DC8570207E5A}" type="presOf" srcId="{0757989C-D5F3-49C6-8EF9-EEA780746807}" destId="{951BB70E-7B1F-4EDD-93CE-1E9F55F6F366}" srcOrd="0" destOrd="0" presId="urn:microsoft.com/office/officeart/2018/2/layout/IconLabelList"/>
    <dgm:cxn modelId="{D4F7A25A-70CF-4181-A240-D140CCD69658}" srcId="{41542208-9B14-4DD0-A52E-3FEB1D2E994B}" destId="{0757989C-D5F3-49C6-8EF9-EEA780746807}" srcOrd="1" destOrd="0" parTransId="{91CAF096-EFE0-44F9-A6C8-FD8A2D264BC6}" sibTransId="{85F0217B-B7A3-43D4-8234-25EC0A3FAB44}"/>
    <dgm:cxn modelId="{4AE93AB4-5A02-47E9-8D0B-9890E333117E}" type="presOf" srcId="{41542208-9B14-4DD0-A52E-3FEB1D2E994B}" destId="{D7E1CFAF-DB53-424F-AF95-54CB9179D721}" srcOrd="0" destOrd="0" presId="urn:microsoft.com/office/officeart/2018/2/layout/IconLabelList"/>
    <dgm:cxn modelId="{857CCFEB-7541-4CF8-BF12-0068020D3499}" srcId="{7052370E-71F0-4581-AAFB-FE2C6369374D}" destId="{2861EA57-12B0-4CF2-81B1-0AA28FC297F4}" srcOrd="0" destOrd="0" parTransId="{3323DCD8-6A5A-48B8-BBA8-5559E4B29C73}" sibTransId="{2434D5D0-EE7C-4D17-B56F-2A51E438DA88}"/>
    <dgm:cxn modelId="{A5D1159D-2395-4851-B404-BA0C5D32124F}" type="presParOf" srcId="{D7E1CFAF-DB53-424F-AF95-54CB9179D721}" destId="{A8C6ED79-5C4A-4015-8F31-D63654469B29}" srcOrd="0" destOrd="0" presId="urn:microsoft.com/office/officeart/2018/2/layout/IconLabelList"/>
    <dgm:cxn modelId="{04AB7BF3-54AD-4EE9-A2C1-2EAF59329FBF}" type="presParOf" srcId="{A8C6ED79-5C4A-4015-8F31-D63654469B29}" destId="{F78BAF21-CF89-4144-AD5B-7067A387FBC2}" srcOrd="0" destOrd="0" presId="urn:microsoft.com/office/officeart/2018/2/layout/IconLabelList"/>
    <dgm:cxn modelId="{0898786C-A0FF-44A7-9495-13DF7167B96E}" type="presParOf" srcId="{A8C6ED79-5C4A-4015-8F31-D63654469B29}" destId="{242A7594-B044-46DB-88E4-179DABFE9935}" srcOrd="1" destOrd="0" presId="urn:microsoft.com/office/officeart/2018/2/layout/IconLabelList"/>
    <dgm:cxn modelId="{06D0F019-C67C-4C45-90EF-0FC452CF2E6C}" type="presParOf" srcId="{A8C6ED79-5C4A-4015-8F31-D63654469B29}" destId="{D9CE1E5D-054B-4884-A4C1-31921258A876}" srcOrd="2" destOrd="0" presId="urn:microsoft.com/office/officeart/2018/2/layout/IconLabelList"/>
    <dgm:cxn modelId="{C0B30DC6-E11D-450C-A4E1-AB8AF35F3A4F}" type="presParOf" srcId="{D7E1CFAF-DB53-424F-AF95-54CB9179D721}" destId="{98E193A1-83B1-4F9C-BD54-6128A0336989}" srcOrd="1" destOrd="0" presId="urn:microsoft.com/office/officeart/2018/2/layout/IconLabelList"/>
    <dgm:cxn modelId="{9F1C9DAB-DFB6-4D09-8FDA-EA0B9C04DB60}" type="presParOf" srcId="{D7E1CFAF-DB53-424F-AF95-54CB9179D721}" destId="{F7A59307-E7F7-444D-A932-2FC1D96B58C0}" srcOrd="2" destOrd="0" presId="urn:microsoft.com/office/officeart/2018/2/layout/IconLabelList"/>
    <dgm:cxn modelId="{9E4E71E2-7CC4-4104-B209-72003304024D}" type="presParOf" srcId="{F7A59307-E7F7-444D-A932-2FC1D96B58C0}" destId="{F021F9AC-7980-4B92-8269-CD95B7ED4C0E}" srcOrd="0" destOrd="0" presId="urn:microsoft.com/office/officeart/2018/2/layout/IconLabelList"/>
    <dgm:cxn modelId="{1F1EC59E-ECEA-4F79-9B1B-C412D4A95445}" type="presParOf" srcId="{F7A59307-E7F7-444D-A932-2FC1D96B58C0}" destId="{CD4743CD-B40D-4ED9-9B5F-156223860257}" srcOrd="1" destOrd="0" presId="urn:microsoft.com/office/officeart/2018/2/layout/IconLabelList"/>
    <dgm:cxn modelId="{8A7420FB-84CA-4ADB-BB3A-9836CA134B7E}" type="presParOf" srcId="{F7A59307-E7F7-444D-A932-2FC1D96B58C0}" destId="{951BB70E-7B1F-4EDD-93CE-1E9F55F6F36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8BAF21-CF89-4144-AD5B-7067A387FBC2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CE1E5D-054B-4884-A4C1-31921258A876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/>
            <a:t>Unlike LSTM, GRU has only one State and only two Gates</a:t>
          </a:r>
          <a:endParaRPr lang="en-US" sz="2500" kern="1200"/>
        </a:p>
      </dsp:txBody>
      <dsp:txXfrm>
        <a:off x="765914" y="2943510"/>
        <a:ext cx="4320000" cy="720000"/>
      </dsp:txXfrm>
    </dsp:sp>
    <dsp:sp modelId="{F021F9AC-7980-4B92-8269-CD95B7ED4C0E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1BB70E-7B1F-4EDD-93CE-1E9F55F6F366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/>
            <a:t>Update Gate and Reset Gate</a:t>
          </a:r>
          <a:endParaRPr lang="en-US" sz="2500" kern="1200"/>
        </a:p>
      </dsp:txBody>
      <dsp:txXfrm>
        <a:off x="5841914" y="2943510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91539" y="611200"/>
            <a:ext cx="501015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189" indent="0" algn="ctr">
              <a:buNone/>
              <a:defRPr sz="2200"/>
            </a:lvl2pPr>
            <a:lvl3pPr marL="914377" indent="0" algn="ctr">
              <a:buNone/>
              <a:defRPr sz="2200"/>
            </a:lvl3pPr>
            <a:lvl4pPr marL="1371566" indent="0" algn="ctr">
              <a:buNone/>
              <a:defRPr sz="2000"/>
            </a:lvl4pPr>
            <a:lvl5pPr marL="1828754" indent="0" algn="ctr">
              <a:buNone/>
              <a:defRPr sz="2000"/>
            </a:lvl5pPr>
            <a:lvl6pPr marL="2285943" indent="0" algn="ctr">
              <a:buNone/>
              <a:defRPr sz="2000"/>
            </a:lvl6pPr>
            <a:lvl7pPr marL="2743131" indent="0" algn="ctr">
              <a:buNone/>
              <a:defRPr sz="2000"/>
            </a:lvl7pPr>
            <a:lvl8pPr marL="3200320" indent="0" algn="ctr">
              <a:buNone/>
              <a:defRPr sz="2000"/>
            </a:lvl8pPr>
            <a:lvl9pPr marL="3657509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59983" y="6682676"/>
            <a:ext cx="471804" cy="184666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00773" y="6394001"/>
            <a:ext cx="690879" cy="184666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80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5596" y="297307"/>
            <a:ext cx="9540240" cy="10111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99581-E6DA-A087-25B7-D388200DD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40" y="2281029"/>
            <a:ext cx="9418320" cy="1940815"/>
          </a:xfr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Spring of Code</a:t>
            </a:r>
            <a:b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Artificial Intelligence</a:t>
            </a:r>
            <a:b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(Machine Learning &amp; Deep Learning)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143E3-D58C-EF6B-7201-CA43E3F6C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840" y="4690523"/>
            <a:ext cx="4709160" cy="1073671"/>
          </a:xfrm>
        </p:spPr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Instructor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Asad Ullah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Assistant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(DIP Lab)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8220163-3D24-35D9-099A-1EE7AD5D8507}"/>
              </a:ext>
            </a:extLst>
          </p:cNvPr>
          <p:cNvSpPr txBox="1">
            <a:spLocks/>
          </p:cNvSpPr>
          <p:nvPr/>
        </p:nvSpPr>
        <p:spPr>
          <a:xfrm>
            <a:off x="6096000" y="4690523"/>
            <a:ext cx="4709160" cy="1073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Duration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 Months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(Feb – April)</a:t>
            </a:r>
          </a:p>
        </p:txBody>
      </p:sp>
      <p:pic>
        <p:nvPicPr>
          <p:cNvPr id="9" name="Picture 8" descr="A logo with a sun and a laurel wreath&#10;&#10;AI-generated content may be incorrect.">
            <a:extLst>
              <a:ext uri="{FF2B5EF4-FFF2-40B4-BE49-F238E27FC236}">
                <a16:creationId xmlns:a16="http://schemas.microsoft.com/office/drawing/2014/main" id="{3ADBB9F1-F1A4-490F-36F0-0633244FDC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091" y="72457"/>
            <a:ext cx="1543820" cy="215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019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243840" algn="l" rtl="0">
              <a:lnSpc>
                <a:spcPct val="90000"/>
              </a:lnSpc>
              <a:spcBef>
                <a:spcPct val="0"/>
              </a:spcBef>
            </a:pPr>
            <a:r>
              <a:rPr lang="en-US" sz="4600" kern="1200" spc="-25">
                <a:latin typeface="+mj-lt"/>
                <a:cs typeface="+mj-cs"/>
              </a:rPr>
              <a:t>Gated</a:t>
            </a:r>
            <a:r>
              <a:rPr lang="en-US" sz="4600" kern="1200" spc="-200">
                <a:latin typeface="+mj-lt"/>
                <a:cs typeface="+mj-cs"/>
              </a:rPr>
              <a:t> </a:t>
            </a:r>
            <a:r>
              <a:rPr lang="en-US" sz="4600" kern="1200" spc="-50">
                <a:latin typeface="+mj-lt"/>
                <a:cs typeface="+mj-cs"/>
              </a:rPr>
              <a:t>Recurrent</a:t>
            </a:r>
            <a:r>
              <a:rPr lang="en-US" sz="4600" kern="1200" spc="-190">
                <a:latin typeface="+mj-lt"/>
                <a:cs typeface="+mj-cs"/>
              </a:rPr>
              <a:t> </a:t>
            </a:r>
            <a:r>
              <a:rPr lang="en-US" sz="4600" kern="1200">
                <a:latin typeface="+mj-lt"/>
                <a:cs typeface="+mj-cs"/>
              </a:rPr>
              <a:t>Unit</a:t>
            </a:r>
            <a:r>
              <a:rPr lang="en-US" sz="4600" kern="1200" spc="-190">
                <a:latin typeface="+mj-lt"/>
                <a:cs typeface="+mj-cs"/>
              </a:rPr>
              <a:t> </a:t>
            </a:r>
            <a:r>
              <a:rPr lang="en-US" sz="4600" kern="1200" spc="-10">
                <a:latin typeface="+mj-lt"/>
                <a:cs typeface="+mj-cs"/>
              </a:rPr>
              <a:t>(GRU)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8A134-0FB3-6AD0-3E2B-FC344C4E919D}"/>
              </a:ext>
            </a:extLst>
          </p:cNvPr>
          <p:cNvSpPr txBox="1">
            <a:spLocks/>
          </p:cNvSpPr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kern="1200" dirty="0">
                <a:solidFill>
                  <a:schemeClr val="tx1"/>
                </a:solidFill>
              </a:rPr>
              <a:t>Objectives:</a:t>
            </a:r>
          </a:p>
          <a:p>
            <a:pPr marL="346075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kern="1200" dirty="0">
                <a:solidFill>
                  <a:schemeClr val="tx1"/>
                </a:solidFill>
              </a:rPr>
              <a:t>Introduction to GRU</a:t>
            </a:r>
          </a:p>
          <a:p>
            <a:pPr marL="346075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kern="1200" dirty="0">
                <a:solidFill>
                  <a:schemeClr val="tx1"/>
                </a:solidFill>
              </a:rPr>
              <a:t>Stacked RNNs</a:t>
            </a:r>
          </a:p>
          <a:p>
            <a:pPr marL="346075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kern="1200" dirty="0">
                <a:solidFill>
                  <a:schemeClr val="tx1"/>
                </a:solidFill>
              </a:rPr>
              <a:t>Bidirectional RNNs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9A65092-E0D2-A5D6-9170-136C1F70B98A}"/>
              </a:ext>
            </a:extLst>
          </p:cNvPr>
          <p:cNvPicPr>
            <a:picLocks noChangeArrowheads="1"/>
          </p:cNvPicPr>
          <p:nvPr/>
        </p:nvPicPr>
        <p:blipFill rotWithShape="1">
          <a:blip r:embed="rId2"/>
          <a:srcRect l="24116" r="9183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1E883707-99A1-E718-0063-31250A9D2C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229593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243840" algn="ctr" rtl="0">
              <a:lnSpc>
                <a:spcPct val="90000"/>
              </a:lnSpc>
              <a:spcBef>
                <a:spcPct val="0"/>
              </a:spcBef>
            </a:pPr>
            <a:r>
              <a:rPr lang="en-US" sz="3600" kern="1200" spc="-2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Gated</a:t>
            </a:r>
            <a:r>
              <a:rPr lang="en-US" sz="3600" kern="1200" spc="-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spc="-5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Recurrent</a:t>
            </a:r>
            <a:r>
              <a:rPr lang="en-US" sz="3600" kern="1200" spc="-19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Unit</a:t>
            </a:r>
            <a:r>
              <a:rPr lang="en-US" sz="3600" kern="1200" spc="-19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(GRU)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7316" y="1043712"/>
            <a:ext cx="6780700" cy="47682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5704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Gated</a:t>
            </a:r>
            <a:r>
              <a:rPr spc="-200" dirty="0"/>
              <a:t> </a:t>
            </a:r>
            <a:r>
              <a:rPr spc="-50" dirty="0"/>
              <a:t>Recurrent</a:t>
            </a:r>
            <a:r>
              <a:rPr spc="-190" dirty="0"/>
              <a:t> </a:t>
            </a:r>
            <a:r>
              <a:rPr dirty="0"/>
              <a:t>Unit</a:t>
            </a:r>
            <a:r>
              <a:rPr spc="-190" dirty="0"/>
              <a:t> </a:t>
            </a:r>
            <a:r>
              <a:rPr spc="-10" dirty="0"/>
              <a:t>(GRU)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4831" y="1599640"/>
            <a:ext cx="3100435" cy="21799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4919" y="4000168"/>
            <a:ext cx="7054596" cy="16858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42797" y="4136212"/>
            <a:ext cx="4997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0802" dirty="0">
                <a:latin typeface="Cambria Math"/>
                <a:cs typeface="Cambria Math"/>
              </a:rPr>
              <a:t>ℎ</a:t>
            </a:r>
            <a:r>
              <a:rPr sz="1300" spc="-20" dirty="0">
                <a:latin typeface="Cambria Math"/>
                <a:cs typeface="Cambria Math"/>
              </a:rPr>
              <a:t>𝑡−2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2156" y="5623356"/>
            <a:ext cx="493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0802" dirty="0">
                <a:latin typeface="Cambria Math"/>
                <a:cs typeface="Cambria Math"/>
              </a:rPr>
              <a:t>𝑥</a:t>
            </a:r>
            <a:r>
              <a:rPr sz="1300" spc="-20" dirty="0">
                <a:latin typeface="Cambria Math"/>
                <a:cs typeface="Cambria Math"/>
              </a:rPr>
              <a:t>𝑡−1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93642" y="5584952"/>
            <a:ext cx="270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𝑡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77484" y="5632196"/>
            <a:ext cx="493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0802" dirty="0">
                <a:latin typeface="Cambria Math"/>
                <a:cs typeface="Cambria Math"/>
              </a:rPr>
              <a:t>𝑥</a:t>
            </a:r>
            <a:r>
              <a:rPr sz="1300" spc="-20" dirty="0">
                <a:latin typeface="Cambria Math"/>
                <a:cs typeface="Cambria Math"/>
              </a:rPr>
              <a:t>𝑡−1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18433" y="3717163"/>
            <a:ext cx="499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0802" dirty="0">
                <a:latin typeface="Cambria Math"/>
                <a:cs typeface="Cambria Math"/>
              </a:rPr>
              <a:t>ℎ</a:t>
            </a:r>
            <a:r>
              <a:rPr sz="1300" spc="-20" dirty="0">
                <a:latin typeface="Cambria Math"/>
                <a:cs typeface="Cambria Math"/>
              </a:rPr>
              <a:t>𝑡−1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95441" y="3683965"/>
            <a:ext cx="2768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ℎ</a:t>
            </a:r>
            <a:r>
              <a:rPr sz="1950" spc="-37" baseline="-14957" dirty="0">
                <a:latin typeface="Cambria Math"/>
                <a:cs typeface="Cambria Math"/>
              </a:rPr>
              <a:t>𝑡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99806" y="3719906"/>
            <a:ext cx="4997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0802" dirty="0">
                <a:latin typeface="Cambria Math"/>
                <a:cs typeface="Cambria Math"/>
              </a:rPr>
              <a:t>ℎ</a:t>
            </a:r>
            <a:r>
              <a:rPr sz="1300" spc="-20" dirty="0">
                <a:latin typeface="Cambria Math"/>
                <a:cs typeface="Cambria Math"/>
              </a:rPr>
              <a:t>𝑡+1</a:t>
            </a:r>
            <a:endParaRPr sz="13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8213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Update</a:t>
            </a:r>
            <a:r>
              <a:rPr spc="-215" dirty="0"/>
              <a:t> </a:t>
            </a:r>
            <a:r>
              <a:rPr spc="-30" dirty="0"/>
              <a:t>Gate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2069" y="1694434"/>
            <a:ext cx="91687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considered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time </a:t>
            </a:r>
            <a:r>
              <a:rPr sz="2400" spc="-10" dirty="0">
                <a:latin typeface="Calibri"/>
                <a:cs typeface="Calibri"/>
              </a:rPr>
              <a:t>step.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68386" y="4048252"/>
            <a:ext cx="2541905" cy="282575"/>
          </a:xfrm>
          <a:custGeom>
            <a:avLst/>
            <a:gdLst/>
            <a:ahLst/>
            <a:cxnLst/>
            <a:rect l="l" t="t" r="r" b="b"/>
            <a:pathLst>
              <a:path w="2541904" h="282575">
                <a:moveTo>
                  <a:pt x="2451735" y="0"/>
                </a:moveTo>
                <a:lnTo>
                  <a:pt x="2447671" y="11556"/>
                </a:lnTo>
                <a:lnTo>
                  <a:pt x="2464052" y="18631"/>
                </a:lnTo>
                <a:lnTo>
                  <a:pt x="2478135" y="28432"/>
                </a:lnTo>
                <a:lnTo>
                  <a:pt x="2506674" y="73925"/>
                </a:lnTo>
                <a:lnTo>
                  <a:pt x="2514916" y="115359"/>
                </a:lnTo>
                <a:lnTo>
                  <a:pt x="2514969" y="115732"/>
                </a:lnTo>
                <a:lnTo>
                  <a:pt x="2514951" y="164689"/>
                </a:lnTo>
                <a:lnTo>
                  <a:pt x="2506620" y="207603"/>
                </a:lnTo>
                <a:lnTo>
                  <a:pt x="2478151" y="253857"/>
                </a:lnTo>
                <a:lnTo>
                  <a:pt x="2448179" y="270891"/>
                </a:lnTo>
                <a:lnTo>
                  <a:pt x="2451735" y="282321"/>
                </a:lnTo>
                <a:lnTo>
                  <a:pt x="2490231" y="264302"/>
                </a:lnTo>
                <a:lnTo>
                  <a:pt x="2518537" y="233045"/>
                </a:lnTo>
                <a:lnTo>
                  <a:pt x="2535967" y="191135"/>
                </a:lnTo>
                <a:lnTo>
                  <a:pt x="2541778" y="141224"/>
                </a:lnTo>
                <a:lnTo>
                  <a:pt x="2540346" y="115732"/>
                </a:lnTo>
                <a:lnTo>
                  <a:pt x="2528704" y="69536"/>
                </a:lnTo>
                <a:lnTo>
                  <a:pt x="2505581" y="32146"/>
                </a:lnTo>
                <a:lnTo>
                  <a:pt x="2472191" y="7381"/>
                </a:lnTo>
                <a:lnTo>
                  <a:pt x="2451735" y="0"/>
                </a:lnTo>
                <a:close/>
              </a:path>
              <a:path w="2541904" h="282575">
                <a:moveTo>
                  <a:pt x="90043" y="0"/>
                </a:moveTo>
                <a:lnTo>
                  <a:pt x="51641" y="18097"/>
                </a:lnTo>
                <a:lnTo>
                  <a:pt x="23241" y="49530"/>
                </a:lnTo>
                <a:lnTo>
                  <a:pt x="5810" y="91471"/>
                </a:lnTo>
                <a:lnTo>
                  <a:pt x="78" y="139827"/>
                </a:lnTo>
                <a:lnTo>
                  <a:pt x="0" y="141224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29" y="263773"/>
                </a:lnTo>
                <a:lnTo>
                  <a:pt x="63626" y="253857"/>
                </a:lnTo>
                <a:lnTo>
                  <a:pt x="35157" y="207603"/>
                </a:lnTo>
                <a:lnTo>
                  <a:pt x="26826" y="164689"/>
                </a:lnTo>
                <a:lnTo>
                  <a:pt x="25839" y="141224"/>
                </a:lnTo>
                <a:lnTo>
                  <a:pt x="25781" y="139827"/>
                </a:lnTo>
                <a:lnTo>
                  <a:pt x="29956" y="93757"/>
                </a:lnTo>
                <a:lnTo>
                  <a:pt x="42418" y="56261"/>
                </a:lnTo>
                <a:lnTo>
                  <a:pt x="77743" y="18631"/>
                </a:lnTo>
                <a:lnTo>
                  <a:pt x="93980" y="11556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33920" y="3959097"/>
            <a:ext cx="3402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035050" algn="l"/>
              </a:tabLst>
            </a:pPr>
            <a:r>
              <a:rPr sz="2400" dirty="0">
                <a:latin typeface="Cambria Math"/>
                <a:cs typeface="Cambria Math"/>
              </a:rPr>
              <a:t>𝑍</a:t>
            </a:r>
            <a:r>
              <a:rPr sz="2625" baseline="-15873" dirty="0">
                <a:latin typeface="Cambria Math"/>
                <a:cs typeface="Cambria Math"/>
              </a:rPr>
              <a:t>𝑡</a:t>
            </a:r>
            <a:r>
              <a:rPr sz="2625" spc="644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𝜎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370" dirty="0">
                <a:latin typeface="Cambria Math"/>
                <a:cs typeface="Cambria Math"/>
              </a:rPr>
              <a:t>𝑊</a:t>
            </a:r>
            <a:r>
              <a:rPr sz="2625" spc="225" baseline="-15873" dirty="0">
                <a:latin typeface="Cambria Math"/>
                <a:cs typeface="Cambria Math"/>
              </a:rPr>
              <a:t>𝑧</a:t>
            </a:r>
            <a:r>
              <a:rPr sz="2625" spc="352" baseline="-15873" dirty="0">
                <a:latin typeface="Cambria Math"/>
                <a:cs typeface="Cambria Math"/>
              </a:rPr>
              <a:t> </a:t>
            </a:r>
            <a:r>
              <a:rPr sz="2400" spc="85" dirty="0">
                <a:latin typeface="Cambria Math"/>
                <a:cs typeface="Cambria Math"/>
              </a:rPr>
              <a:t>∙</a:t>
            </a:r>
            <a:r>
              <a:rPr sz="2400" spc="-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𝑥</a:t>
            </a:r>
            <a:r>
              <a:rPr sz="2625" baseline="-15873" dirty="0">
                <a:latin typeface="Cambria Math"/>
                <a:cs typeface="Cambria Math"/>
              </a:rPr>
              <a:t>𝑡</a:t>
            </a:r>
            <a:r>
              <a:rPr sz="2625" spc="390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𝑈</a:t>
            </a:r>
            <a:r>
              <a:rPr sz="2625" baseline="-15873" dirty="0">
                <a:latin typeface="Cambria Math"/>
                <a:cs typeface="Cambria Math"/>
              </a:rPr>
              <a:t>𝑧</a:t>
            </a:r>
            <a:r>
              <a:rPr sz="2625" spc="359" baseline="-15873" dirty="0">
                <a:latin typeface="Cambria Math"/>
                <a:cs typeface="Cambria Math"/>
              </a:rPr>
              <a:t> </a:t>
            </a:r>
            <a:r>
              <a:rPr sz="2400" spc="85" dirty="0">
                <a:latin typeface="Cambria Math"/>
                <a:cs typeface="Cambria Math"/>
              </a:rPr>
              <a:t>∙</a:t>
            </a:r>
            <a:r>
              <a:rPr sz="2400" spc="-45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ℎ</a:t>
            </a:r>
            <a:r>
              <a:rPr sz="2625" spc="-30" baseline="-15873" dirty="0">
                <a:latin typeface="Cambria Math"/>
                <a:cs typeface="Cambria Math"/>
              </a:rPr>
              <a:t>𝑡−1</a:t>
            </a:r>
            <a:endParaRPr sz="2625" baseline="-15873">
              <a:latin typeface="Cambria Math"/>
              <a:cs typeface="Cambria Math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3583" y="2360676"/>
            <a:ext cx="4006596" cy="286512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66570" y="4660519"/>
            <a:ext cx="332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Cambria Math"/>
                <a:cs typeface="Cambria Math"/>
              </a:rPr>
              <a:t>𝑊</a:t>
            </a:r>
            <a:r>
              <a:rPr sz="1950" spc="-52" baseline="-14957" dirty="0">
                <a:latin typeface="Cambria Math"/>
                <a:cs typeface="Cambria Math"/>
              </a:rPr>
              <a:t>𝑟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1757" y="3111500"/>
            <a:ext cx="308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𝑈</a:t>
            </a:r>
            <a:r>
              <a:rPr sz="1950" spc="-37" baseline="-14957" dirty="0">
                <a:latin typeface="Cambria Math"/>
                <a:cs typeface="Cambria Math"/>
              </a:rPr>
              <a:t>𝑟</a:t>
            </a:r>
            <a:endParaRPr sz="1950" baseline="-14957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7228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Reset</a:t>
            </a:r>
            <a:r>
              <a:rPr spc="-229" dirty="0"/>
              <a:t> </a:t>
            </a:r>
            <a:r>
              <a:rPr spc="-20" dirty="0"/>
              <a:t>Gate</a:t>
            </a:r>
            <a:r>
              <a:rPr spc="-215" dirty="0"/>
              <a:t> </a:t>
            </a:r>
            <a:r>
              <a:rPr spc="15" dirty="0"/>
              <a:t>(</a:t>
            </a:r>
            <a:r>
              <a:rPr b="0" spc="-450" dirty="0">
                <a:latin typeface="Cambria Math"/>
                <a:cs typeface="Cambria Math"/>
              </a:rPr>
              <a:t>𝑟</a:t>
            </a:r>
            <a:r>
              <a:rPr sz="4800" b="0" spc="457" baseline="-15625" dirty="0">
                <a:latin typeface="Cambria Math"/>
                <a:cs typeface="Cambria Math"/>
              </a:rPr>
              <a:t>𝑡</a:t>
            </a:r>
            <a:r>
              <a:rPr sz="4400" spc="40" dirty="0"/>
              <a:t>)</a:t>
            </a:r>
            <a:endParaRPr sz="4400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50150" y="2838195"/>
            <a:ext cx="2546350" cy="282575"/>
          </a:xfrm>
          <a:custGeom>
            <a:avLst/>
            <a:gdLst/>
            <a:ahLst/>
            <a:cxnLst/>
            <a:rect l="l" t="t" r="r" b="b"/>
            <a:pathLst>
              <a:path w="2546350" h="282575">
                <a:moveTo>
                  <a:pt x="2456306" y="0"/>
                </a:moveTo>
                <a:lnTo>
                  <a:pt x="2452243" y="11429"/>
                </a:lnTo>
                <a:lnTo>
                  <a:pt x="2468624" y="18577"/>
                </a:lnTo>
                <a:lnTo>
                  <a:pt x="2482707" y="28416"/>
                </a:lnTo>
                <a:lnTo>
                  <a:pt x="2511246" y="73908"/>
                </a:lnTo>
                <a:lnTo>
                  <a:pt x="2519493" y="115341"/>
                </a:lnTo>
                <a:lnTo>
                  <a:pt x="2520569" y="139826"/>
                </a:lnTo>
                <a:lnTo>
                  <a:pt x="2519523" y="164689"/>
                </a:lnTo>
                <a:lnTo>
                  <a:pt x="2511192" y="207603"/>
                </a:lnTo>
                <a:lnTo>
                  <a:pt x="2482722" y="253857"/>
                </a:lnTo>
                <a:lnTo>
                  <a:pt x="2452751" y="270890"/>
                </a:lnTo>
                <a:lnTo>
                  <a:pt x="2456306" y="282320"/>
                </a:lnTo>
                <a:lnTo>
                  <a:pt x="2494803" y="264302"/>
                </a:lnTo>
                <a:lnTo>
                  <a:pt x="2523108" y="233044"/>
                </a:lnTo>
                <a:lnTo>
                  <a:pt x="2540539" y="191134"/>
                </a:lnTo>
                <a:lnTo>
                  <a:pt x="2546350" y="141224"/>
                </a:lnTo>
                <a:lnTo>
                  <a:pt x="2544916" y="115679"/>
                </a:lnTo>
                <a:lnTo>
                  <a:pt x="2544897" y="115341"/>
                </a:lnTo>
                <a:lnTo>
                  <a:pt x="2533276" y="69482"/>
                </a:lnTo>
                <a:lnTo>
                  <a:pt x="2510153" y="32146"/>
                </a:lnTo>
                <a:lnTo>
                  <a:pt x="2476763" y="7381"/>
                </a:lnTo>
                <a:lnTo>
                  <a:pt x="2456306" y="0"/>
                </a:lnTo>
                <a:close/>
              </a:path>
              <a:path w="2546350" h="282575">
                <a:moveTo>
                  <a:pt x="90043" y="0"/>
                </a:moveTo>
                <a:lnTo>
                  <a:pt x="51641" y="18097"/>
                </a:lnTo>
                <a:lnTo>
                  <a:pt x="23241" y="49529"/>
                </a:lnTo>
                <a:lnTo>
                  <a:pt x="5810" y="91424"/>
                </a:lnTo>
                <a:lnTo>
                  <a:pt x="78" y="139826"/>
                </a:lnTo>
                <a:lnTo>
                  <a:pt x="0" y="141224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29" y="263773"/>
                </a:lnTo>
                <a:lnTo>
                  <a:pt x="63626" y="253857"/>
                </a:lnTo>
                <a:lnTo>
                  <a:pt x="35157" y="207603"/>
                </a:lnTo>
                <a:lnTo>
                  <a:pt x="26826" y="164689"/>
                </a:lnTo>
                <a:lnTo>
                  <a:pt x="25780" y="139826"/>
                </a:lnTo>
                <a:lnTo>
                  <a:pt x="26826" y="115679"/>
                </a:lnTo>
                <a:lnTo>
                  <a:pt x="35157" y="73908"/>
                </a:lnTo>
                <a:lnTo>
                  <a:pt x="63738" y="28416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675119" y="2748788"/>
            <a:ext cx="33483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975360" algn="l"/>
              </a:tabLst>
            </a:pPr>
            <a:r>
              <a:rPr sz="2400" dirty="0">
                <a:latin typeface="Cambria Math"/>
                <a:cs typeface="Cambria Math"/>
              </a:rPr>
              <a:t>𝑟</a:t>
            </a:r>
            <a:r>
              <a:rPr sz="2625" baseline="-15873" dirty="0">
                <a:latin typeface="Cambria Math"/>
                <a:cs typeface="Cambria Math"/>
              </a:rPr>
              <a:t>𝑡</a:t>
            </a:r>
            <a:r>
              <a:rPr sz="2625" spc="494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4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𝜎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365" dirty="0">
                <a:latin typeface="Cambria Math"/>
                <a:cs typeface="Cambria Math"/>
              </a:rPr>
              <a:t>𝑊</a:t>
            </a:r>
            <a:r>
              <a:rPr sz="2625" spc="232" baseline="-15873" dirty="0">
                <a:latin typeface="Cambria Math"/>
                <a:cs typeface="Cambria Math"/>
              </a:rPr>
              <a:t>𝑟</a:t>
            </a:r>
            <a:r>
              <a:rPr sz="2625" spc="367" baseline="-15873" dirty="0">
                <a:latin typeface="Cambria Math"/>
                <a:cs typeface="Cambria Math"/>
              </a:rPr>
              <a:t> </a:t>
            </a:r>
            <a:r>
              <a:rPr sz="2400" spc="85" dirty="0">
                <a:latin typeface="Cambria Math"/>
                <a:cs typeface="Cambria Math"/>
              </a:rPr>
              <a:t>∙</a:t>
            </a:r>
            <a:r>
              <a:rPr sz="2400" spc="-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𝑥</a:t>
            </a:r>
            <a:r>
              <a:rPr sz="2625" baseline="-15873" dirty="0">
                <a:latin typeface="Cambria Math"/>
                <a:cs typeface="Cambria Math"/>
              </a:rPr>
              <a:t>𝑡</a:t>
            </a:r>
            <a:r>
              <a:rPr sz="2625" spc="39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𝑈</a:t>
            </a:r>
            <a:r>
              <a:rPr sz="2625" baseline="-15873" dirty="0">
                <a:latin typeface="Cambria Math"/>
                <a:cs typeface="Cambria Math"/>
              </a:rPr>
              <a:t>𝑟</a:t>
            </a:r>
            <a:r>
              <a:rPr sz="2625" spc="367" baseline="-15873" dirty="0">
                <a:latin typeface="Cambria Math"/>
                <a:cs typeface="Cambria Math"/>
              </a:rPr>
              <a:t> </a:t>
            </a:r>
            <a:r>
              <a:rPr sz="2400" spc="85" dirty="0">
                <a:latin typeface="Cambria Math"/>
                <a:cs typeface="Cambria Math"/>
              </a:rPr>
              <a:t>∙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ℎ</a:t>
            </a:r>
            <a:r>
              <a:rPr sz="2625" spc="-30" baseline="-15873" dirty="0">
                <a:latin typeface="Cambria Math"/>
                <a:cs typeface="Cambria Math"/>
              </a:rPr>
              <a:t>𝑡−1</a:t>
            </a:r>
            <a:endParaRPr sz="2625" baseline="-15873">
              <a:latin typeface="Cambria Math"/>
              <a:cs typeface="Cambria Math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308" y="2176430"/>
            <a:ext cx="4081145" cy="286889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80312" y="1651761"/>
            <a:ext cx="6355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forgotten?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4922" y="4471542"/>
            <a:ext cx="332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Cambria Math"/>
                <a:cs typeface="Cambria Math"/>
              </a:rPr>
              <a:t>𝑊</a:t>
            </a:r>
            <a:r>
              <a:rPr sz="1950" spc="-52" baseline="-14957" dirty="0">
                <a:latin typeface="Cambria Math"/>
                <a:cs typeface="Cambria Math"/>
              </a:rPr>
              <a:t>𝑟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8021" y="2926207"/>
            <a:ext cx="308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𝑈</a:t>
            </a:r>
            <a:r>
              <a:rPr sz="1950" spc="-37" baseline="-14957" dirty="0">
                <a:latin typeface="Cambria Math"/>
                <a:cs typeface="Cambria Math"/>
              </a:rPr>
              <a:t>𝑟</a:t>
            </a:r>
            <a:endParaRPr sz="1950" baseline="-14957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4040" y="1837976"/>
            <a:ext cx="3561245" cy="250616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01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/>
              <a:t>Internal</a:t>
            </a:r>
            <a:r>
              <a:rPr sz="4000" spc="-155" dirty="0"/>
              <a:t> </a:t>
            </a:r>
            <a:r>
              <a:rPr sz="4000" spc="-45" dirty="0"/>
              <a:t>Information</a:t>
            </a:r>
            <a:r>
              <a:rPr sz="4000" spc="-165" dirty="0"/>
              <a:t> </a:t>
            </a:r>
            <a:r>
              <a:rPr sz="4000" spc="-35" dirty="0"/>
              <a:t>(Current</a:t>
            </a:r>
            <a:r>
              <a:rPr sz="4000" spc="-165" dirty="0"/>
              <a:t> </a:t>
            </a:r>
            <a:r>
              <a:rPr sz="4000" spc="-25" dirty="0"/>
              <a:t>Memory</a:t>
            </a:r>
            <a:r>
              <a:rPr sz="4000" spc="-175" dirty="0"/>
              <a:t> </a:t>
            </a:r>
            <a:r>
              <a:rPr sz="4000" spc="-10" dirty="0"/>
              <a:t>Content)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5398008" y="2637282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1725" baseline="-12731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2400" spc="-1150" dirty="0">
                <a:solidFill>
                  <a:srgbClr val="C00000"/>
                </a:solidFill>
                <a:latin typeface="Cambria Math"/>
                <a:cs typeface="Cambria Math"/>
              </a:rPr>
              <a:t>෨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94096" y="2850642"/>
            <a:ext cx="12382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30" dirty="0">
                <a:solidFill>
                  <a:srgbClr val="C00000"/>
                </a:solidFill>
                <a:latin typeface="Cambria Math"/>
                <a:cs typeface="Cambria Math"/>
              </a:rPr>
              <a:t>𝑡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86498" y="2795397"/>
            <a:ext cx="3276600" cy="282575"/>
          </a:xfrm>
          <a:custGeom>
            <a:avLst/>
            <a:gdLst/>
            <a:ahLst/>
            <a:cxnLst/>
            <a:rect l="l" t="t" r="r" b="b"/>
            <a:pathLst>
              <a:path w="3276600" h="282575">
                <a:moveTo>
                  <a:pt x="3186303" y="0"/>
                </a:moveTo>
                <a:lnTo>
                  <a:pt x="3182239" y="11429"/>
                </a:lnTo>
                <a:lnTo>
                  <a:pt x="3198620" y="18504"/>
                </a:lnTo>
                <a:lnTo>
                  <a:pt x="3212703" y="28305"/>
                </a:lnTo>
                <a:lnTo>
                  <a:pt x="3241242" y="73852"/>
                </a:lnTo>
                <a:lnTo>
                  <a:pt x="3249497" y="115339"/>
                </a:lnTo>
                <a:lnTo>
                  <a:pt x="3249537" y="115623"/>
                </a:lnTo>
                <a:lnTo>
                  <a:pt x="3249519" y="164580"/>
                </a:lnTo>
                <a:lnTo>
                  <a:pt x="3241188" y="207529"/>
                </a:lnTo>
                <a:lnTo>
                  <a:pt x="3212718" y="253730"/>
                </a:lnTo>
                <a:lnTo>
                  <a:pt x="3182747" y="270763"/>
                </a:lnTo>
                <a:lnTo>
                  <a:pt x="3186303" y="282320"/>
                </a:lnTo>
                <a:lnTo>
                  <a:pt x="3224799" y="264191"/>
                </a:lnTo>
                <a:lnTo>
                  <a:pt x="3253104" y="232917"/>
                </a:lnTo>
                <a:lnTo>
                  <a:pt x="3270535" y="191023"/>
                </a:lnTo>
                <a:lnTo>
                  <a:pt x="3276346" y="141224"/>
                </a:lnTo>
                <a:lnTo>
                  <a:pt x="3274909" y="115623"/>
                </a:lnTo>
                <a:lnTo>
                  <a:pt x="3274893" y="115339"/>
                </a:lnTo>
                <a:lnTo>
                  <a:pt x="3263272" y="69429"/>
                </a:lnTo>
                <a:lnTo>
                  <a:pt x="3240149" y="32093"/>
                </a:lnTo>
                <a:lnTo>
                  <a:pt x="3206759" y="7379"/>
                </a:lnTo>
                <a:lnTo>
                  <a:pt x="3186303" y="0"/>
                </a:lnTo>
                <a:close/>
              </a:path>
              <a:path w="3276600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29" y="263646"/>
                </a:lnTo>
                <a:lnTo>
                  <a:pt x="63626" y="253730"/>
                </a:lnTo>
                <a:lnTo>
                  <a:pt x="35157" y="207529"/>
                </a:lnTo>
                <a:lnTo>
                  <a:pt x="26826" y="164580"/>
                </a:lnTo>
                <a:lnTo>
                  <a:pt x="25845" y="141224"/>
                </a:lnTo>
                <a:lnTo>
                  <a:pt x="25780" y="139700"/>
                </a:lnTo>
                <a:lnTo>
                  <a:pt x="29956" y="93678"/>
                </a:lnTo>
                <a:lnTo>
                  <a:pt x="42418" y="56133"/>
                </a:lnTo>
                <a:lnTo>
                  <a:pt x="77797" y="18504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69864" y="2705861"/>
            <a:ext cx="3823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116965" algn="l"/>
              </a:tabLst>
            </a:pP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sz="2400" spc="13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spc="-20" dirty="0">
                <a:solidFill>
                  <a:srgbClr val="C00000"/>
                </a:solidFill>
                <a:latin typeface="Cambria Math"/>
                <a:cs typeface="Cambria Math"/>
              </a:rPr>
              <a:t>𝑡𝑎𝑛ℎ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C55A11"/>
                </a:solidFill>
                <a:latin typeface="Cambria Math"/>
                <a:cs typeface="Cambria Math"/>
              </a:rPr>
              <a:t>𝑊</a:t>
            </a:r>
            <a:r>
              <a:rPr sz="2625" baseline="-15873" dirty="0">
                <a:solidFill>
                  <a:srgbClr val="C55A11"/>
                </a:solidFill>
                <a:latin typeface="Cambria Math"/>
                <a:cs typeface="Cambria Math"/>
              </a:rPr>
              <a:t>ℎ</a:t>
            </a:r>
            <a:r>
              <a:rPr sz="2625" spc="345" baseline="-15873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400" spc="85" dirty="0">
                <a:solidFill>
                  <a:srgbClr val="C55A11"/>
                </a:solidFill>
                <a:latin typeface="Cambria Math"/>
                <a:cs typeface="Cambria Math"/>
              </a:rPr>
              <a:t>∙</a:t>
            </a:r>
            <a:r>
              <a:rPr sz="2400" spc="-55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C55A11"/>
                </a:solidFill>
                <a:latin typeface="Cambria Math"/>
                <a:cs typeface="Cambria Math"/>
              </a:rPr>
              <a:t>𝑥</a:t>
            </a:r>
            <a:r>
              <a:rPr sz="2625" baseline="-15873" dirty="0">
                <a:solidFill>
                  <a:srgbClr val="C55A11"/>
                </a:solidFill>
                <a:latin typeface="Cambria Math"/>
                <a:cs typeface="Cambria Math"/>
              </a:rPr>
              <a:t>𝑡</a:t>
            </a:r>
            <a:r>
              <a:rPr sz="2625" spc="375" baseline="-15873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+</a:t>
            </a:r>
            <a:r>
              <a:rPr sz="2400" spc="-5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𝑟</a:t>
            </a:r>
            <a:r>
              <a:rPr sz="2625" baseline="-15873" dirty="0">
                <a:solidFill>
                  <a:srgbClr val="00AF50"/>
                </a:solidFill>
                <a:latin typeface="Cambria Math"/>
                <a:cs typeface="Cambria Math"/>
              </a:rPr>
              <a:t>𝑡</a:t>
            </a:r>
            <a:r>
              <a:rPr sz="2625" spc="375" baseline="-15873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⊗</a:t>
            </a:r>
            <a:r>
              <a:rPr sz="2400" spc="-4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𝑈</a:t>
            </a:r>
            <a:r>
              <a:rPr sz="2625" baseline="-15873" dirty="0">
                <a:solidFill>
                  <a:srgbClr val="00AF50"/>
                </a:solidFill>
                <a:latin typeface="Cambria Math"/>
                <a:cs typeface="Cambria Math"/>
              </a:rPr>
              <a:t>ℎ</a:t>
            </a:r>
            <a:r>
              <a:rPr sz="2625" spc="330" baseline="-15873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spc="85" dirty="0">
                <a:solidFill>
                  <a:srgbClr val="00AF50"/>
                </a:solidFill>
                <a:latin typeface="Cambria Math"/>
                <a:cs typeface="Cambria Math"/>
              </a:rPr>
              <a:t>∙</a:t>
            </a:r>
            <a:r>
              <a:rPr sz="2400" spc="-3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00AF50"/>
                </a:solidFill>
                <a:latin typeface="Cambria Math"/>
                <a:cs typeface="Cambria Math"/>
              </a:rPr>
              <a:t>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43033" y="2850642"/>
            <a:ext cx="42100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solidFill>
                  <a:srgbClr val="00AF50"/>
                </a:solidFill>
                <a:latin typeface="Cambria Math"/>
                <a:cs typeface="Cambria Math"/>
              </a:rPr>
              <a:t>𝑡−1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17192" y="3661029"/>
            <a:ext cx="366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𝑊</a:t>
            </a:r>
            <a:r>
              <a:rPr sz="1950" spc="-37" baseline="-14957" dirty="0">
                <a:latin typeface="Cambria Math"/>
                <a:cs typeface="Cambria Math"/>
              </a:rPr>
              <a:t>ℎ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21154" y="2160523"/>
            <a:ext cx="323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𝑈</a:t>
            </a:r>
            <a:r>
              <a:rPr sz="1950" spc="-37" baseline="-14957" dirty="0">
                <a:latin typeface="Cambria Math"/>
                <a:cs typeface="Cambria Math"/>
              </a:rPr>
              <a:t>ℎ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86758" y="2550667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50" baseline="-12345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1800" spc="-500" dirty="0">
                <a:solidFill>
                  <a:srgbClr val="C00000"/>
                </a:solidFill>
                <a:latin typeface="Cambria Math"/>
                <a:cs typeface="Cambria Math"/>
              </a:rPr>
              <a:t>෨</a:t>
            </a:r>
            <a:r>
              <a:rPr sz="1950" spc="-750" baseline="-34188" dirty="0">
                <a:solidFill>
                  <a:srgbClr val="C00000"/>
                </a:solidFill>
                <a:latin typeface="Cambria Math"/>
                <a:cs typeface="Cambria Math"/>
              </a:rPr>
              <a:t>𝑡</a:t>
            </a:r>
            <a:endParaRPr sz="1950" baseline="-34188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58459" y="3581222"/>
            <a:ext cx="54711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Consider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present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input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useful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previous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hidden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produce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internal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/>
              <a:t>New</a:t>
            </a:r>
            <a:r>
              <a:rPr spc="-220" dirty="0"/>
              <a:t> </a:t>
            </a:r>
            <a:r>
              <a:rPr spc="-20" dirty="0"/>
              <a:t>Hidden</a:t>
            </a:r>
            <a:r>
              <a:rPr spc="-204" dirty="0"/>
              <a:t> </a:t>
            </a:r>
            <a:r>
              <a:rPr spc="-40" dirty="0"/>
              <a:t>State</a:t>
            </a:r>
            <a:r>
              <a:rPr spc="-195" dirty="0"/>
              <a:t> </a:t>
            </a:r>
            <a:r>
              <a:rPr spc="70" dirty="0"/>
              <a:t>(</a:t>
            </a:r>
            <a:r>
              <a:rPr b="0" spc="70" dirty="0">
                <a:latin typeface="Cambria Math"/>
                <a:cs typeface="Cambria Math"/>
              </a:rPr>
              <a:t>ℎ</a:t>
            </a:r>
            <a:r>
              <a:rPr sz="4800" b="0" spc="104" baseline="-15625" dirty="0">
                <a:latin typeface="Cambria Math"/>
                <a:cs typeface="Cambria Math"/>
              </a:rPr>
              <a:t>𝑡</a:t>
            </a:r>
            <a:r>
              <a:rPr sz="4400" spc="70" dirty="0"/>
              <a:t>)</a:t>
            </a:r>
            <a:endParaRPr sz="4400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516496" y="2368169"/>
            <a:ext cx="987425" cy="282575"/>
          </a:xfrm>
          <a:custGeom>
            <a:avLst/>
            <a:gdLst/>
            <a:ahLst/>
            <a:cxnLst/>
            <a:rect l="l" t="t" r="r" b="b"/>
            <a:pathLst>
              <a:path w="987425" h="282575">
                <a:moveTo>
                  <a:pt x="897381" y="0"/>
                </a:moveTo>
                <a:lnTo>
                  <a:pt x="893318" y="11556"/>
                </a:lnTo>
                <a:lnTo>
                  <a:pt x="909681" y="18631"/>
                </a:lnTo>
                <a:lnTo>
                  <a:pt x="923734" y="28432"/>
                </a:lnTo>
                <a:lnTo>
                  <a:pt x="952267" y="73925"/>
                </a:lnTo>
                <a:lnTo>
                  <a:pt x="960545" y="115359"/>
                </a:lnTo>
                <a:lnTo>
                  <a:pt x="961644" y="139826"/>
                </a:lnTo>
                <a:lnTo>
                  <a:pt x="960596" y="164707"/>
                </a:lnTo>
                <a:lnTo>
                  <a:pt x="952214" y="207656"/>
                </a:lnTo>
                <a:lnTo>
                  <a:pt x="923734" y="253857"/>
                </a:lnTo>
                <a:lnTo>
                  <a:pt x="893826" y="270890"/>
                </a:lnTo>
                <a:lnTo>
                  <a:pt x="897381" y="282320"/>
                </a:lnTo>
                <a:lnTo>
                  <a:pt x="935878" y="264302"/>
                </a:lnTo>
                <a:lnTo>
                  <a:pt x="964183" y="233044"/>
                </a:lnTo>
                <a:lnTo>
                  <a:pt x="981614" y="191135"/>
                </a:lnTo>
                <a:lnTo>
                  <a:pt x="987425" y="141223"/>
                </a:lnTo>
                <a:lnTo>
                  <a:pt x="985991" y="115732"/>
                </a:lnTo>
                <a:lnTo>
                  <a:pt x="985970" y="115359"/>
                </a:lnTo>
                <a:lnTo>
                  <a:pt x="974298" y="69536"/>
                </a:lnTo>
                <a:lnTo>
                  <a:pt x="951174" y="32146"/>
                </a:lnTo>
                <a:lnTo>
                  <a:pt x="917836" y="7381"/>
                </a:lnTo>
                <a:lnTo>
                  <a:pt x="897381" y="0"/>
                </a:lnTo>
                <a:close/>
              </a:path>
              <a:path w="987425" h="282575">
                <a:moveTo>
                  <a:pt x="90043" y="0"/>
                </a:moveTo>
                <a:lnTo>
                  <a:pt x="51657" y="18097"/>
                </a:lnTo>
                <a:lnTo>
                  <a:pt x="23368" y="49529"/>
                </a:lnTo>
                <a:lnTo>
                  <a:pt x="5873" y="91471"/>
                </a:lnTo>
                <a:lnTo>
                  <a:pt x="79" y="139826"/>
                </a:lnTo>
                <a:lnTo>
                  <a:pt x="0" y="141223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43" y="250334"/>
                </a:lnTo>
                <a:lnTo>
                  <a:pt x="69568" y="274960"/>
                </a:lnTo>
                <a:lnTo>
                  <a:pt x="90043" y="282320"/>
                </a:lnTo>
                <a:lnTo>
                  <a:pt x="93725" y="270890"/>
                </a:lnTo>
                <a:lnTo>
                  <a:pt x="77602" y="263773"/>
                </a:lnTo>
                <a:lnTo>
                  <a:pt x="63706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839" y="141223"/>
                </a:lnTo>
                <a:lnTo>
                  <a:pt x="25780" y="139826"/>
                </a:lnTo>
                <a:lnTo>
                  <a:pt x="29972" y="93757"/>
                </a:lnTo>
                <a:lnTo>
                  <a:pt x="42545" y="56260"/>
                </a:lnTo>
                <a:lnTo>
                  <a:pt x="77817" y="18631"/>
                </a:lnTo>
                <a:lnTo>
                  <a:pt x="94106" y="11556"/>
                </a:lnTo>
                <a:lnTo>
                  <a:pt x="90043" y="0"/>
                </a:lnTo>
                <a:close/>
              </a:path>
            </a:pathLst>
          </a:custGeom>
          <a:solidFill>
            <a:srgbClr val="BE9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756909" y="2278202"/>
            <a:ext cx="42449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859790" algn="l"/>
                <a:tab pos="1841500" algn="l"/>
              </a:tabLst>
            </a:pP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2625" baseline="-15873" dirty="0">
                <a:solidFill>
                  <a:srgbClr val="C00000"/>
                </a:solidFill>
                <a:latin typeface="Cambria Math"/>
                <a:cs typeface="Cambria Math"/>
              </a:rPr>
              <a:t>𝑡</a:t>
            </a:r>
            <a:r>
              <a:rPr sz="2625" spc="727" baseline="-15873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9000"/>
                </a:solidFill>
                <a:latin typeface="Cambria Math"/>
                <a:cs typeface="Cambria Math"/>
              </a:rPr>
              <a:t>1 −</a:t>
            </a:r>
            <a:r>
              <a:rPr sz="2400" spc="-10" dirty="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BE9000"/>
                </a:solidFill>
                <a:latin typeface="Cambria Math"/>
                <a:cs typeface="Cambria Math"/>
              </a:rPr>
              <a:t>𝑧</a:t>
            </a:r>
            <a:r>
              <a:rPr sz="2625" spc="-37" baseline="-15873" dirty="0">
                <a:solidFill>
                  <a:srgbClr val="BE9000"/>
                </a:solidFill>
                <a:latin typeface="Cambria Math"/>
                <a:cs typeface="Cambria Math"/>
              </a:rPr>
              <a:t>𝑡</a:t>
            </a:r>
            <a:r>
              <a:rPr sz="2625" baseline="-15873" dirty="0">
                <a:solidFill>
                  <a:srgbClr val="BE9000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9000"/>
                </a:solidFill>
                <a:latin typeface="Cambria Math"/>
                <a:cs typeface="Cambria Math"/>
              </a:rPr>
              <a:t>⊗</a:t>
            </a:r>
            <a:r>
              <a:rPr sz="2400" spc="25" dirty="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9000"/>
                </a:solidFill>
                <a:latin typeface="Cambria Math"/>
                <a:cs typeface="Cambria Math"/>
              </a:rPr>
              <a:t>ℎ</a:t>
            </a:r>
            <a:r>
              <a:rPr sz="2625" baseline="-15873" dirty="0">
                <a:solidFill>
                  <a:srgbClr val="BE9000"/>
                </a:solidFill>
                <a:latin typeface="Cambria Math"/>
                <a:cs typeface="Cambria Math"/>
              </a:rPr>
              <a:t>𝑡−1</a:t>
            </a:r>
            <a:r>
              <a:rPr sz="2625" spc="405" baseline="-15873" dirty="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⊕</a:t>
            </a:r>
            <a:r>
              <a:rPr sz="2400" spc="2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𝑧</a:t>
            </a:r>
            <a:r>
              <a:rPr sz="2625" baseline="-15873" dirty="0">
                <a:solidFill>
                  <a:srgbClr val="00AF50"/>
                </a:solidFill>
                <a:latin typeface="Cambria Math"/>
                <a:cs typeface="Cambria Math"/>
              </a:rPr>
              <a:t>𝑡</a:t>
            </a:r>
            <a:r>
              <a:rPr sz="2625" spc="480" baseline="-15873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⊗</a:t>
            </a:r>
            <a:r>
              <a:rPr sz="2400" spc="1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spc="-680" dirty="0">
                <a:solidFill>
                  <a:srgbClr val="00AF50"/>
                </a:solidFill>
                <a:latin typeface="Cambria Math"/>
                <a:cs typeface="Cambria Math"/>
              </a:rPr>
              <a:t>ℎ</a:t>
            </a:r>
            <a:r>
              <a:rPr sz="3600" spc="-1019" baseline="12731" dirty="0">
                <a:solidFill>
                  <a:srgbClr val="00AF50"/>
                </a:solidFill>
                <a:latin typeface="Cambria Math"/>
                <a:cs typeface="Cambria Math"/>
              </a:rPr>
              <a:t>෨</a:t>
            </a:r>
            <a:r>
              <a:rPr sz="2625" spc="-1019" baseline="-15873" dirty="0">
                <a:solidFill>
                  <a:srgbClr val="00AF50"/>
                </a:solidFill>
                <a:latin typeface="Cambria Math"/>
                <a:cs typeface="Cambria Math"/>
              </a:rPr>
              <a:t>𝑡</a:t>
            </a:r>
            <a:endParaRPr sz="2625" baseline="-15873">
              <a:latin typeface="Cambria Math"/>
              <a:cs typeface="Cambria Math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4343" y="1867058"/>
            <a:ext cx="3783234" cy="26504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7228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dirty="0"/>
              <a:t>New</a:t>
            </a:r>
            <a:r>
              <a:rPr spc="-220" dirty="0"/>
              <a:t> </a:t>
            </a:r>
            <a:r>
              <a:rPr spc="-20" dirty="0"/>
              <a:t>Hidden</a:t>
            </a:r>
            <a:r>
              <a:rPr spc="-204" dirty="0"/>
              <a:t> </a:t>
            </a:r>
            <a:r>
              <a:rPr spc="-40" dirty="0"/>
              <a:t>State</a:t>
            </a:r>
            <a:r>
              <a:rPr spc="-195" dirty="0"/>
              <a:t> </a:t>
            </a:r>
            <a:r>
              <a:rPr spc="70" dirty="0"/>
              <a:t>(</a:t>
            </a:r>
            <a:r>
              <a:rPr b="0" spc="70" dirty="0">
                <a:latin typeface="Cambria Math"/>
                <a:cs typeface="Cambria Math"/>
              </a:rPr>
              <a:t>ℎ</a:t>
            </a:r>
            <a:r>
              <a:rPr sz="4800" b="0" spc="104" baseline="-15625" dirty="0">
                <a:latin typeface="Cambria Math"/>
                <a:cs typeface="Cambria Math"/>
              </a:rPr>
              <a:t>𝑡</a:t>
            </a:r>
            <a:r>
              <a:rPr sz="4400" spc="70" dirty="0"/>
              <a:t>)</a:t>
            </a:r>
            <a:endParaRPr sz="4400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516496" y="2368169"/>
            <a:ext cx="987425" cy="282575"/>
          </a:xfrm>
          <a:custGeom>
            <a:avLst/>
            <a:gdLst/>
            <a:ahLst/>
            <a:cxnLst/>
            <a:rect l="l" t="t" r="r" b="b"/>
            <a:pathLst>
              <a:path w="987425" h="282575">
                <a:moveTo>
                  <a:pt x="897381" y="0"/>
                </a:moveTo>
                <a:lnTo>
                  <a:pt x="893318" y="11556"/>
                </a:lnTo>
                <a:lnTo>
                  <a:pt x="909681" y="18631"/>
                </a:lnTo>
                <a:lnTo>
                  <a:pt x="923734" y="28432"/>
                </a:lnTo>
                <a:lnTo>
                  <a:pt x="952267" y="73925"/>
                </a:lnTo>
                <a:lnTo>
                  <a:pt x="960545" y="115359"/>
                </a:lnTo>
                <a:lnTo>
                  <a:pt x="961644" y="139826"/>
                </a:lnTo>
                <a:lnTo>
                  <a:pt x="960596" y="164707"/>
                </a:lnTo>
                <a:lnTo>
                  <a:pt x="952214" y="207656"/>
                </a:lnTo>
                <a:lnTo>
                  <a:pt x="923734" y="253857"/>
                </a:lnTo>
                <a:lnTo>
                  <a:pt x="893826" y="270890"/>
                </a:lnTo>
                <a:lnTo>
                  <a:pt x="897381" y="282320"/>
                </a:lnTo>
                <a:lnTo>
                  <a:pt x="935878" y="264302"/>
                </a:lnTo>
                <a:lnTo>
                  <a:pt x="964183" y="233044"/>
                </a:lnTo>
                <a:lnTo>
                  <a:pt x="981614" y="191135"/>
                </a:lnTo>
                <a:lnTo>
                  <a:pt x="987425" y="141223"/>
                </a:lnTo>
                <a:lnTo>
                  <a:pt x="985991" y="115732"/>
                </a:lnTo>
                <a:lnTo>
                  <a:pt x="985970" y="115359"/>
                </a:lnTo>
                <a:lnTo>
                  <a:pt x="974298" y="69536"/>
                </a:lnTo>
                <a:lnTo>
                  <a:pt x="951174" y="32146"/>
                </a:lnTo>
                <a:lnTo>
                  <a:pt x="917836" y="7381"/>
                </a:lnTo>
                <a:lnTo>
                  <a:pt x="897381" y="0"/>
                </a:lnTo>
                <a:close/>
              </a:path>
              <a:path w="987425" h="282575">
                <a:moveTo>
                  <a:pt x="90043" y="0"/>
                </a:moveTo>
                <a:lnTo>
                  <a:pt x="51657" y="18097"/>
                </a:lnTo>
                <a:lnTo>
                  <a:pt x="23368" y="49529"/>
                </a:lnTo>
                <a:lnTo>
                  <a:pt x="5873" y="91471"/>
                </a:lnTo>
                <a:lnTo>
                  <a:pt x="79" y="139826"/>
                </a:lnTo>
                <a:lnTo>
                  <a:pt x="0" y="141223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43" y="250334"/>
                </a:lnTo>
                <a:lnTo>
                  <a:pt x="69568" y="274960"/>
                </a:lnTo>
                <a:lnTo>
                  <a:pt x="90043" y="282320"/>
                </a:lnTo>
                <a:lnTo>
                  <a:pt x="93725" y="270890"/>
                </a:lnTo>
                <a:lnTo>
                  <a:pt x="77602" y="263773"/>
                </a:lnTo>
                <a:lnTo>
                  <a:pt x="63706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839" y="141223"/>
                </a:lnTo>
                <a:lnTo>
                  <a:pt x="25780" y="139826"/>
                </a:lnTo>
                <a:lnTo>
                  <a:pt x="29972" y="93757"/>
                </a:lnTo>
                <a:lnTo>
                  <a:pt x="42545" y="56260"/>
                </a:lnTo>
                <a:lnTo>
                  <a:pt x="77817" y="18631"/>
                </a:lnTo>
                <a:lnTo>
                  <a:pt x="94106" y="11556"/>
                </a:lnTo>
                <a:lnTo>
                  <a:pt x="90043" y="0"/>
                </a:lnTo>
                <a:close/>
              </a:path>
            </a:pathLst>
          </a:custGeom>
          <a:solidFill>
            <a:srgbClr val="BE9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756909" y="2278202"/>
            <a:ext cx="42449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859790" algn="l"/>
                <a:tab pos="1841500" algn="l"/>
              </a:tabLst>
            </a:pP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2625" baseline="-15873" dirty="0">
                <a:solidFill>
                  <a:srgbClr val="C00000"/>
                </a:solidFill>
                <a:latin typeface="Cambria Math"/>
                <a:cs typeface="Cambria Math"/>
              </a:rPr>
              <a:t>𝑡</a:t>
            </a:r>
            <a:r>
              <a:rPr sz="2625" spc="727" baseline="-15873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9000"/>
                </a:solidFill>
                <a:latin typeface="Cambria Math"/>
                <a:cs typeface="Cambria Math"/>
              </a:rPr>
              <a:t>1 −</a:t>
            </a:r>
            <a:r>
              <a:rPr sz="2400" spc="-10" dirty="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BE9000"/>
                </a:solidFill>
                <a:latin typeface="Cambria Math"/>
                <a:cs typeface="Cambria Math"/>
              </a:rPr>
              <a:t>𝑧</a:t>
            </a:r>
            <a:r>
              <a:rPr sz="2625" spc="-37" baseline="-15873" dirty="0">
                <a:solidFill>
                  <a:srgbClr val="BE9000"/>
                </a:solidFill>
                <a:latin typeface="Cambria Math"/>
                <a:cs typeface="Cambria Math"/>
              </a:rPr>
              <a:t>𝑡</a:t>
            </a:r>
            <a:r>
              <a:rPr sz="2625" baseline="-15873" dirty="0">
                <a:solidFill>
                  <a:srgbClr val="BE9000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9000"/>
                </a:solidFill>
                <a:latin typeface="Cambria Math"/>
                <a:cs typeface="Cambria Math"/>
              </a:rPr>
              <a:t>⊗</a:t>
            </a:r>
            <a:r>
              <a:rPr sz="2400" spc="25" dirty="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9000"/>
                </a:solidFill>
                <a:latin typeface="Cambria Math"/>
                <a:cs typeface="Cambria Math"/>
              </a:rPr>
              <a:t>ℎ</a:t>
            </a:r>
            <a:r>
              <a:rPr sz="2625" baseline="-15873" dirty="0">
                <a:solidFill>
                  <a:srgbClr val="BE9000"/>
                </a:solidFill>
                <a:latin typeface="Cambria Math"/>
                <a:cs typeface="Cambria Math"/>
              </a:rPr>
              <a:t>𝑡−1</a:t>
            </a:r>
            <a:r>
              <a:rPr sz="2625" spc="405" baseline="-15873" dirty="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⊕</a:t>
            </a:r>
            <a:r>
              <a:rPr sz="2400" spc="2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𝑧</a:t>
            </a:r>
            <a:r>
              <a:rPr sz="2625" baseline="-15873" dirty="0">
                <a:solidFill>
                  <a:srgbClr val="00AF50"/>
                </a:solidFill>
                <a:latin typeface="Cambria Math"/>
                <a:cs typeface="Cambria Math"/>
              </a:rPr>
              <a:t>𝑡</a:t>
            </a:r>
            <a:r>
              <a:rPr sz="2625" spc="480" baseline="-15873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⊗</a:t>
            </a:r>
            <a:r>
              <a:rPr sz="2400" spc="1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spc="-680" dirty="0">
                <a:solidFill>
                  <a:srgbClr val="00AF50"/>
                </a:solidFill>
                <a:latin typeface="Cambria Math"/>
                <a:cs typeface="Cambria Math"/>
              </a:rPr>
              <a:t>ℎ</a:t>
            </a:r>
            <a:r>
              <a:rPr sz="3600" spc="-1019" baseline="12731" dirty="0">
                <a:solidFill>
                  <a:srgbClr val="00AF50"/>
                </a:solidFill>
                <a:latin typeface="Cambria Math"/>
                <a:cs typeface="Cambria Math"/>
              </a:rPr>
              <a:t>෨</a:t>
            </a:r>
            <a:r>
              <a:rPr sz="2625" spc="-1019" baseline="-15873" dirty="0">
                <a:solidFill>
                  <a:srgbClr val="00AF50"/>
                </a:solidFill>
                <a:latin typeface="Cambria Math"/>
                <a:cs typeface="Cambria Math"/>
              </a:rPr>
              <a:t>𝑡</a:t>
            </a:r>
            <a:endParaRPr sz="2625" baseline="-15873">
              <a:latin typeface="Cambria Math"/>
              <a:cs typeface="Cambria Math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4343" y="1867058"/>
            <a:ext cx="3783234" cy="265047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867902" y="3215766"/>
            <a:ext cx="2267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Useful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from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internal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66942" y="3215766"/>
            <a:ext cx="226504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Previous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hidden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at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position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25" dirty="0">
                <a:latin typeface="Calibri"/>
                <a:cs typeface="Calibri"/>
              </a:rPr>
              <a:t> are </a:t>
            </a:r>
            <a:r>
              <a:rPr sz="1800" dirty="0">
                <a:latin typeface="Calibri"/>
                <a:cs typeface="Calibri"/>
              </a:rPr>
              <a:t>ignored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internal information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917817" y="2676144"/>
            <a:ext cx="270510" cy="523875"/>
          </a:xfrm>
          <a:custGeom>
            <a:avLst/>
            <a:gdLst/>
            <a:ahLst/>
            <a:cxnLst/>
            <a:rect l="l" t="t" r="r" b="b"/>
            <a:pathLst>
              <a:path w="270509" h="523875">
                <a:moveTo>
                  <a:pt x="230205" y="65048"/>
                </a:moveTo>
                <a:lnTo>
                  <a:pt x="0" y="517778"/>
                </a:lnTo>
                <a:lnTo>
                  <a:pt x="11429" y="523493"/>
                </a:lnTo>
                <a:lnTo>
                  <a:pt x="241597" y="70840"/>
                </a:lnTo>
                <a:lnTo>
                  <a:pt x="230205" y="65048"/>
                </a:lnTo>
                <a:close/>
              </a:path>
              <a:path w="270509" h="523875">
                <a:moveTo>
                  <a:pt x="270109" y="53720"/>
                </a:moveTo>
                <a:lnTo>
                  <a:pt x="235965" y="53720"/>
                </a:lnTo>
                <a:lnTo>
                  <a:pt x="247396" y="59435"/>
                </a:lnTo>
                <a:lnTo>
                  <a:pt x="241597" y="70840"/>
                </a:lnTo>
                <a:lnTo>
                  <a:pt x="269875" y="85216"/>
                </a:lnTo>
                <a:lnTo>
                  <a:pt x="269982" y="70840"/>
                </a:lnTo>
                <a:lnTo>
                  <a:pt x="270067" y="59435"/>
                </a:lnTo>
                <a:lnTo>
                  <a:pt x="270109" y="53720"/>
                </a:lnTo>
                <a:close/>
              </a:path>
              <a:path w="270509" h="523875">
                <a:moveTo>
                  <a:pt x="235965" y="53720"/>
                </a:moveTo>
                <a:lnTo>
                  <a:pt x="230205" y="65048"/>
                </a:lnTo>
                <a:lnTo>
                  <a:pt x="241597" y="70840"/>
                </a:lnTo>
                <a:lnTo>
                  <a:pt x="247396" y="59435"/>
                </a:lnTo>
                <a:lnTo>
                  <a:pt x="235965" y="53720"/>
                </a:lnTo>
                <a:close/>
              </a:path>
              <a:path w="270509" h="523875">
                <a:moveTo>
                  <a:pt x="270509" y="0"/>
                </a:moveTo>
                <a:lnTo>
                  <a:pt x="201929" y="50672"/>
                </a:lnTo>
                <a:lnTo>
                  <a:pt x="230205" y="65048"/>
                </a:lnTo>
                <a:lnTo>
                  <a:pt x="235965" y="53720"/>
                </a:lnTo>
                <a:lnTo>
                  <a:pt x="270109" y="53720"/>
                </a:lnTo>
                <a:lnTo>
                  <a:pt x="270509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488423" y="2676144"/>
            <a:ext cx="76200" cy="520700"/>
          </a:xfrm>
          <a:custGeom>
            <a:avLst/>
            <a:gdLst/>
            <a:ahLst/>
            <a:cxnLst/>
            <a:rect l="l" t="t" r="r" b="b"/>
            <a:pathLst>
              <a:path w="76200" h="520700">
                <a:moveTo>
                  <a:pt x="44450" y="63500"/>
                </a:moveTo>
                <a:lnTo>
                  <a:pt x="31750" y="63500"/>
                </a:lnTo>
                <a:lnTo>
                  <a:pt x="31750" y="520700"/>
                </a:lnTo>
                <a:lnTo>
                  <a:pt x="44450" y="520700"/>
                </a:lnTo>
                <a:lnTo>
                  <a:pt x="44450" y="63500"/>
                </a:lnTo>
                <a:close/>
              </a:path>
              <a:path w="76200" h="5207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5207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/>
              <a:t>New</a:t>
            </a:r>
            <a:r>
              <a:rPr spc="-220" dirty="0"/>
              <a:t> </a:t>
            </a:r>
            <a:r>
              <a:rPr spc="-20" dirty="0"/>
              <a:t>Hidden</a:t>
            </a:r>
            <a:r>
              <a:rPr spc="-204" dirty="0"/>
              <a:t> </a:t>
            </a:r>
            <a:r>
              <a:rPr spc="-40" dirty="0"/>
              <a:t>State</a:t>
            </a:r>
            <a:r>
              <a:rPr spc="-195" dirty="0"/>
              <a:t> </a:t>
            </a:r>
            <a:r>
              <a:rPr spc="70" dirty="0"/>
              <a:t>(</a:t>
            </a:r>
            <a:r>
              <a:rPr b="0" spc="70" dirty="0">
                <a:latin typeface="Cambria Math"/>
                <a:cs typeface="Cambria Math"/>
              </a:rPr>
              <a:t>ℎ</a:t>
            </a:r>
            <a:r>
              <a:rPr sz="4800" b="0" spc="104" baseline="-15625" dirty="0">
                <a:latin typeface="Cambria Math"/>
                <a:cs typeface="Cambria Math"/>
              </a:rPr>
              <a:t>𝑡</a:t>
            </a:r>
            <a:r>
              <a:rPr sz="4400" spc="70" dirty="0"/>
              <a:t>)</a:t>
            </a:r>
            <a:endParaRPr sz="4400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516496" y="2368169"/>
            <a:ext cx="987425" cy="282575"/>
          </a:xfrm>
          <a:custGeom>
            <a:avLst/>
            <a:gdLst/>
            <a:ahLst/>
            <a:cxnLst/>
            <a:rect l="l" t="t" r="r" b="b"/>
            <a:pathLst>
              <a:path w="987425" h="282575">
                <a:moveTo>
                  <a:pt x="897381" y="0"/>
                </a:moveTo>
                <a:lnTo>
                  <a:pt x="893318" y="11556"/>
                </a:lnTo>
                <a:lnTo>
                  <a:pt x="909681" y="18631"/>
                </a:lnTo>
                <a:lnTo>
                  <a:pt x="923734" y="28432"/>
                </a:lnTo>
                <a:lnTo>
                  <a:pt x="952267" y="73925"/>
                </a:lnTo>
                <a:lnTo>
                  <a:pt x="960545" y="115359"/>
                </a:lnTo>
                <a:lnTo>
                  <a:pt x="961644" y="139826"/>
                </a:lnTo>
                <a:lnTo>
                  <a:pt x="960596" y="164707"/>
                </a:lnTo>
                <a:lnTo>
                  <a:pt x="952214" y="207656"/>
                </a:lnTo>
                <a:lnTo>
                  <a:pt x="923734" y="253857"/>
                </a:lnTo>
                <a:lnTo>
                  <a:pt x="893826" y="270890"/>
                </a:lnTo>
                <a:lnTo>
                  <a:pt x="897381" y="282320"/>
                </a:lnTo>
                <a:lnTo>
                  <a:pt x="935878" y="264302"/>
                </a:lnTo>
                <a:lnTo>
                  <a:pt x="964183" y="233044"/>
                </a:lnTo>
                <a:lnTo>
                  <a:pt x="981614" y="191135"/>
                </a:lnTo>
                <a:lnTo>
                  <a:pt x="987425" y="141223"/>
                </a:lnTo>
                <a:lnTo>
                  <a:pt x="985991" y="115732"/>
                </a:lnTo>
                <a:lnTo>
                  <a:pt x="985970" y="115359"/>
                </a:lnTo>
                <a:lnTo>
                  <a:pt x="974298" y="69536"/>
                </a:lnTo>
                <a:lnTo>
                  <a:pt x="951174" y="32146"/>
                </a:lnTo>
                <a:lnTo>
                  <a:pt x="917836" y="7381"/>
                </a:lnTo>
                <a:lnTo>
                  <a:pt x="897381" y="0"/>
                </a:lnTo>
                <a:close/>
              </a:path>
              <a:path w="987425" h="282575">
                <a:moveTo>
                  <a:pt x="90043" y="0"/>
                </a:moveTo>
                <a:lnTo>
                  <a:pt x="51657" y="18097"/>
                </a:lnTo>
                <a:lnTo>
                  <a:pt x="23368" y="49529"/>
                </a:lnTo>
                <a:lnTo>
                  <a:pt x="5873" y="91471"/>
                </a:lnTo>
                <a:lnTo>
                  <a:pt x="79" y="139826"/>
                </a:lnTo>
                <a:lnTo>
                  <a:pt x="0" y="141223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43" y="250334"/>
                </a:lnTo>
                <a:lnTo>
                  <a:pt x="69568" y="274960"/>
                </a:lnTo>
                <a:lnTo>
                  <a:pt x="90043" y="282320"/>
                </a:lnTo>
                <a:lnTo>
                  <a:pt x="93725" y="270890"/>
                </a:lnTo>
                <a:lnTo>
                  <a:pt x="77602" y="263773"/>
                </a:lnTo>
                <a:lnTo>
                  <a:pt x="63706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839" y="141223"/>
                </a:lnTo>
                <a:lnTo>
                  <a:pt x="25780" y="139826"/>
                </a:lnTo>
                <a:lnTo>
                  <a:pt x="29972" y="93757"/>
                </a:lnTo>
                <a:lnTo>
                  <a:pt x="42545" y="56260"/>
                </a:lnTo>
                <a:lnTo>
                  <a:pt x="77817" y="18631"/>
                </a:lnTo>
                <a:lnTo>
                  <a:pt x="94106" y="11556"/>
                </a:lnTo>
                <a:lnTo>
                  <a:pt x="90043" y="0"/>
                </a:lnTo>
                <a:close/>
              </a:path>
            </a:pathLst>
          </a:custGeom>
          <a:solidFill>
            <a:srgbClr val="BE9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756909" y="2278202"/>
            <a:ext cx="42449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859790" algn="l"/>
                <a:tab pos="1841500" algn="l"/>
              </a:tabLst>
            </a:pP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sz="2625" baseline="-15873" dirty="0">
                <a:solidFill>
                  <a:srgbClr val="C00000"/>
                </a:solidFill>
                <a:latin typeface="Cambria Math"/>
                <a:cs typeface="Cambria Math"/>
              </a:rPr>
              <a:t>𝑡</a:t>
            </a:r>
            <a:r>
              <a:rPr sz="2625" spc="727" baseline="-15873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9000"/>
                </a:solidFill>
                <a:latin typeface="Cambria Math"/>
                <a:cs typeface="Cambria Math"/>
              </a:rPr>
              <a:t>1 −</a:t>
            </a:r>
            <a:r>
              <a:rPr sz="2400" spc="-10" dirty="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BE9000"/>
                </a:solidFill>
                <a:latin typeface="Cambria Math"/>
                <a:cs typeface="Cambria Math"/>
              </a:rPr>
              <a:t>𝑧</a:t>
            </a:r>
            <a:r>
              <a:rPr sz="2625" spc="-37" baseline="-15873" dirty="0">
                <a:solidFill>
                  <a:srgbClr val="BE9000"/>
                </a:solidFill>
                <a:latin typeface="Cambria Math"/>
                <a:cs typeface="Cambria Math"/>
              </a:rPr>
              <a:t>𝑡</a:t>
            </a:r>
            <a:r>
              <a:rPr sz="2625" baseline="-15873" dirty="0">
                <a:solidFill>
                  <a:srgbClr val="BE9000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9000"/>
                </a:solidFill>
                <a:latin typeface="Cambria Math"/>
                <a:cs typeface="Cambria Math"/>
              </a:rPr>
              <a:t>⊗</a:t>
            </a:r>
            <a:r>
              <a:rPr sz="2400" spc="25" dirty="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9000"/>
                </a:solidFill>
                <a:latin typeface="Cambria Math"/>
                <a:cs typeface="Cambria Math"/>
              </a:rPr>
              <a:t>ℎ</a:t>
            </a:r>
            <a:r>
              <a:rPr sz="2625" baseline="-15873" dirty="0">
                <a:solidFill>
                  <a:srgbClr val="BE9000"/>
                </a:solidFill>
                <a:latin typeface="Cambria Math"/>
                <a:cs typeface="Cambria Math"/>
              </a:rPr>
              <a:t>𝑡−1</a:t>
            </a:r>
            <a:r>
              <a:rPr sz="2625" spc="405" baseline="-15873" dirty="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⊕</a:t>
            </a:r>
            <a:r>
              <a:rPr sz="2400" spc="2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𝑧</a:t>
            </a:r>
            <a:r>
              <a:rPr sz="2625" baseline="-15873" dirty="0">
                <a:solidFill>
                  <a:srgbClr val="00AF50"/>
                </a:solidFill>
                <a:latin typeface="Cambria Math"/>
                <a:cs typeface="Cambria Math"/>
              </a:rPr>
              <a:t>𝑡</a:t>
            </a:r>
            <a:r>
              <a:rPr sz="2625" spc="480" baseline="-15873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⊗</a:t>
            </a:r>
            <a:r>
              <a:rPr sz="2400" spc="1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spc="-680" dirty="0">
                <a:solidFill>
                  <a:srgbClr val="00AF50"/>
                </a:solidFill>
                <a:latin typeface="Cambria Math"/>
                <a:cs typeface="Cambria Math"/>
              </a:rPr>
              <a:t>ℎ</a:t>
            </a:r>
            <a:r>
              <a:rPr sz="3600" spc="-1019" baseline="12731" dirty="0">
                <a:solidFill>
                  <a:srgbClr val="00AF50"/>
                </a:solidFill>
                <a:latin typeface="Cambria Math"/>
                <a:cs typeface="Cambria Math"/>
              </a:rPr>
              <a:t>෨</a:t>
            </a:r>
            <a:r>
              <a:rPr sz="2625" spc="-1019" baseline="-15873" dirty="0">
                <a:solidFill>
                  <a:srgbClr val="00AF50"/>
                </a:solidFill>
                <a:latin typeface="Cambria Math"/>
                <a:cs typeface="Cambria Math"/>
              </a:rPr>
              <a:t>𝑡</a:t>
            </a:r>
            <a:endParaRPr sz="2625" baseline="-15873">
              <a:latin typeface="Cambria Math"/>
              <a:cs typeface="Cambria Math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4343" y="1867058"/>
            <a:ext cx="3783234" cy="265047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8979407" y="3174238"/>
            <a:ext cx="1391920" cy="1678305"/>
            <a:chOff x="8979407" y="3174238"/>
            <a:chExt cx="1391920" cy="167830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30148" y="3657413"/>
              <a:ext cx="29675" cy="14560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1840" y="4007612"/>
              <a:ext cx="296544" cy="1934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93529" y="4281043"/>
              <a:ext cx="155575" cy="17018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79407" y="3174238"/>
              <a:ext cx="1391412" cy="1677797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6668867" y="3232911"/>
            <a:ext cx="1414780" cy="1736089"/>
            <a:chOff x="6668867" y="3232911"/>
            <a:chExt cx="1414780" cy="1736089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02576" y="3728465"/>
              <a:ext cx="162801" cy="19176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68867" y="3232911"/>
              <a:ext cx="1414348" cy="1736089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37981" y="3816222"/>
            <a:ext cx="364896" cy="3924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7699" y="1623516"/>
            <a:ext cx="27393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One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State</a:t>
            </a:r>
            <a:endParaRPr sz="2400">
              <a:latin typeface="Calibri"/>
              <a:cs typeface="Calibri"/>
            </a:endParaRPr>
          </a:p>
          <a:p>
            <a:pPr marL="393065" indent="-3422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93065" algn="l"/>
              </a:tabLst>
            </a:pPr>
            <a:r>
              <a:rPr sz="2400" dirty="0">
                <a:latin typeface="Calibri"/>
                <a:cs typeface="Calibri"/>
              </a:rPr>
              <a:t>Hidden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State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3600" baseline="5787" dirty="0">
                <a:latin typeface="Cambria Math"/>
                <a:cs typeface="Cambria Math"/>
              </a:rPr>
              <a:t>ℎ</a:t>
            </a:r>
            <a:r>
              <a:rPr sz="2625" baseline="-7936" dirty="0">
                <a:latin typeface="Cambria Math"/>
                <a:cs typeface="Cambria Math"/>
              </a:rPr>
              <a:t>𝑡</a:t>
            </a:r>
            <a:r>
              <a:rPr sz="2625" spc="577" baseline="-7936" dirty="0">
                <a:latin typeface="Cambria Math"/>
                <a:cs typeface="Cambria Math"/>
              </a:rPr>
              <a:t> </a:t>
            </a:r>
            <a:r>
              <a:rPr sz="3600" spc="-75" baseline="5787" dirty="0">
                <a:latin typeface="Cambria Math"/>
                <a:cs typeface="Cambria Math"/>
              </a:rPr>
              <a:t>=</a:t>
            </a:r>
            <a:endParaRPr sz="3600" baseline="5787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34257" y="2047620"/>
            <a:ext cx="987425" cy="282575"/>
          </a:xfrm>
          <a:custGeom>
            <a:avLst/>
            <a:gdLst/>
            <a:ahLst/>
            <a:cxnLst/>
            <a:rect l="l" t="t" r="r" b="b"/>
            <a:pathLst>
              <a:path w="987425" h="282575">
                <a:moveTo>
                  <a:pt x="897254" y="0"/>
                </a:moveTo>
                <a:lnTo>
                  <a:pt x="893190" y="11429"/>
                </a:lnTo>
                <a:lnTo>
                  <a:pt x="909572" y="18577"/>
                </a:lnTo>
                <a:lnTo>
                  <a:pt x="923655" y="28416"/>
                </a:lnTo>
                <a:lnTo>
                  <a:pt x="952194" y="73908"/>
                </a:lnTo>
                <a:lnTo>
                  <a:pt x="960441" y="115341"/>
                </a:lnTo>
                <a:lnTo>
                  <a:pt x="961516" y="139826"/>
                </a:lnTo>
                <a:lnTo>
                  <a:pt x="960469" y="164689"/>
                </a:lnTo>
                <a:lnTo>
                  <a:pt x="952087" y="207603"/>
                </a:lnTo>
                <a:lnTo>
                  <a:pt x="923655" y="253857"/>
                </a:lnTo>
                <a:lnTo>
                  <a:pt x="893698" y="270890"/>
                </a:lnTo>
                <a:lnTo>
                  <a:pt x="897254" y="282320"/>
                </a:lnTo>
                <a:lnTo>
                  <a:pt x="935751" y="264302"/>
                </a:lnTo>
                <a:lnTo>
                  <a:pt x="964056" y="233044"/>
                </a:lnTo>
                <a:lnTo>
                  <a:pt x="981487" y="191134"/>
                </a:lnTo>
                <a:lnTo>
                  <a:pt x="987297" y="141224"/>
                </a:lnTo>
                <a:lnTo>
                  <a:pt x="985864" y="115679"/>
                </a:lnTo>
                <a:lnTo>
                  <a:pt x="974224" y="69482"/>
                </a:lnTo>
                <a:lnTo>
                  <a:pt x="951101" y="32146"/>
                </a:lnTo>
                <a:lnTo>
                  <a:pt x="917711" y="7381"/>
                </a:lnTo>
                <a:lnTo>
                  <a:pt x="897254" y="0"/>
                </a:lnTo>
                <a:close/>
              </a:path>
              <a:path w="987425" h="282575">
                <a:moveTo>
                  <a:pt x="90042" y="0"/>
                </a:moveTo>
                <a:lnTo>
                  <a:pt x="51593" y="18097"/>
                </a:lnTo>
                <a:lnTo>
                  <a:pt x="23240" y="49529"/>
                </a:lnTo>
                <a:lnTo>
                  <a:pt x="5810" y="91424"/>
                </a:lnTo>
                <a:lnTo>
                  <a:pt x="78" y="139826"/>
                </a:lnTo>
                <a:lnTo>
                  <a:pt x="0" y="141224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2" y="282320"/>
                </a:lnTo>
                <a:lnTo>
                  <a:pt x="93598" y="270890"/>
                </a:lnTo>
                <a:lnTo>
                  <a:pt x="77475" y="263773"/>
                </a:lnTo>
                <a:lnTo>
                  <a:pt x="63579" y="253857"/>
                </a:lnTo>
                <a:lnTo>
                  <a:pt x="35103" y="207603"/>
                </a:lnTo>
                <a:lnTo>
                  <a:pt x="26808" y="164689"/>
                </a:lnTo>
                <a:lnTo>
                  <a:pt x="25780" y="139826"/>
                </a:lnTo>
                <a:lnTo>
                  <a:pt x="26808" y="115679"/>
                </a:lnTo>
                <a:lnTo>
                  <a:pt x="35103" y="73908"/>
                </a:lnTo>
                <a:lnTo>
                  <a:pt x="63722" y="28416"/>
                </a:lnTo>
                <a:lnTo>
                  <a:pt x="93979" y="11429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96233" y="1957527"/>
            <a:ext cx="34105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019810" algn="l"/>
              </a:tabLst>
            </a:pPr>
            <a:r>
              <a:rPr sz="2400" dirty="0">
                <a:latin typeface="Cambria Math"/>
                <a:cs typeface="Cambria Math"/>
              </a:rPr>
              <a:t>1 −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𝑧</a:t>
            </a:r>
            <a:r>
              <a:rPr sz="2625" spc="-37" baseline="-15873" dirty="0">
                <a:latin typeface="Cambria Math"/>
                <a:cs typeface="Cambria Math"/>
              </a:rPr>
              <a:t>𝑡</a:t>
            </a:r>
            <a:r>
              <a:rPr sz="2625" baseline="-15873" dirty="0"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⊗</a:t>
            </a:r>
            <a:r>
              <a:rPr sz="2400" spc="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ℎ</a:t>
            </a:r>
            <a:r>
              <a:rPr sz="2625" baseline="-15873" dirty="0">
                <a:latin typeface="Cambria Math"/>
                <a:cs typeface="Cambria Math"/>
              </a:rPr>
              <a:t>𝑡−1</a:t>
            </a:r>
            <a:r>
              <a:rPr sz="2625" spc="40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⊕</a:t>
            </a:r>
            <a:r>
              <a:rPr sz="2400" spc="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𝑧</a:t>
            </a:r>
            <a:r>
              <a:rPr sz="2625" baseline="-15873" dirty="0">
                <a:latin typeface="Cambria Math"/>
                <a:cs typeface="Cambria Math"/>
              </a:rPr>
              <a:t>𝑡</a:t>
            </a:r>
            <a:r>
              <a:rPr sz="2625" spc="480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⊗</a:t>
            </a:r>
            <a:r>
              <a:rPr sz="2400" spc="15" dirty="0">
                <a:latin typeface="Cambria Math"/>
                <a:cs typeface="Cambria Math"/>
              </a:rPr>
              <a:t> </a:t>
            </a:r>
            <a:r>
              <a:rPr sz="2400" spc="-715" dirty="0">
                <a:latin typeface="Cambria Math"/>
                <a:cs typeface="Cambria Math"/>
              </a:rPr>
              <a:t>ℎ</a:t>
            </a:r>
            <a:r>
              <a:rPr sz="3600" spc="-1072" baseline="12731" dirty="0">
                <a:latin typeface="Cambria Math"/>
                <a:cs typeface="Cambria Math"/>
              </a:rPr>
              <a:t>෨</a:t>
            </a:r>
            <a:r>
              <a:rPr sz="2625" spc="-1072" baseline="-15873" dirty="0">
                <a:latin typeface="Cambria Math"/>
                <a:cs typeface="Cambria Math"/>
              </a:rPr>
              <a:t>𝑡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57701" y="3550539"/>
            <a:ext cx="2546350" cy="282575"/>
          </a:xfrm>
          <a:custGeom>
            <a:avLst/>
            <a:gdLst/>
            <a:ahLst/>
            <a:cxnLst/>
            <a:rect l="l" t="t" r="r" b="b"/>
            <a:pathLst>
              <a:path w="2546350" h="282575">
                <a:moveTo>
                  <a:pt x="2456307" y="0"/>
                </a:moveTo>
                <a:lnTo>
                  <a:pt x="2452243" y="11430"/>
                </a:lnTo>
                <a:lnTo>
                  <a:pt x="2468624" y="18577"/>
                </a:lnTo>
                <a:lnTo>
                  <a:pt x="2482707" y="28416"/>
                </a:lnTo>
                <a:lnTo>
                  <a:pt x="2511246" y="73925"/>
                </a:lnTo>
                <a:lnTo>
                  <a:pt x="2519488" y="115359"/>
                </a:lnTo>
                <a:lnTo>
                  <a:pt x="2520569" y="139827"/>
                </a:lnTo>
                <a:lnTo>
                  <a:pt x="2519521" y="164689"/>
                </a:lnTo>
                <a:lnTo>
                  <a:pt x="2511139" y="207603"/>
                </a:lnTo>
                <a:lnTo>
                  <a:pt x="2482707" y="253857"/>
                </a:lnTo>
                <a:lnTo>
                  <a:pt x="2452751" y="270891"/>
                </a:lnTo>
                <a:lnTo>
                  <a:pt x="2456307" y="282321"/>
                </a:lnTo>
                <a:lnTo>
                  <a:pt x="2494803" y="264302"/>
                </a:lnTo>
                <a:lnTo>
                  <a:pt x="2523109" y="233044"/>
                </a:lnTo>
                <a:lnTo>
                  <a:pt x="2540539" y="191135"/>
                </a:lnTo>
                <a:lnTo>
                  <a:pt x="2546350" y="141224"/>
                </a:lnTo>
                <a:lnTo>
                  <a:pt x="2544918" y="115732"/>
                </a:lnTo>
                <a:lnTo>
                  <a:pt x="2533276" y="69536"/>
                </a:lnTo>
                <a:lnTo>
                  <a:pt x="2510153" y="32146"/>
                </a:lnTo>
                <a:lnTo>
                  <a:pt x="2476763" y="7381"/>
                </a:lnTo>
                <a:lnTo>
                  <a:pt x="2456307" y="0"/>
                </a:lnTo>
                <a:close/>
              </a:path>
              <a:path w="2546350" h="282575">
                <a:moveTo>
                  <a:pt x="90043" y="0"/>
                </a:moveTo>
                <a:lnTo>
                  <a:pt x="51593" y="18097"/>
                </a:lnTo>
                <a:lnTo>
                  <a:pt x="23240" y="49530"/>
                </a:lnTo>
                <a:lnTo>
                  <a:pt x="5810" y="91471"/>
                </a:lnTo>
                <a:lnTo>
                  <a:pt x="78" y="139827"/>
                </a:lnTo>
                <a:lnTo>
                  <a:pt x="0" y="141224"/>
                </a:lnTo>
                <a:lnTo>
                  <a:pt x="5810" y="191135"/>
                </a:lnTo>
                <a:lnTo>
                  <a:pt x="23240" y="233044"/>
                </a:lnTo>
                <a:lnTo>
                  <a:pt x="51546" y="264302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475" y="263773"/>
                </a:lnTo>
                <a:lnTo>
                  <a:pt x="63579" y="253857"/>
                </a:lnTo>
                <a:lnTo>
                  <a:pt x="35103" y="207603"/>
                </a:lnTo>
                <a:lnTo>
                  <a:pt x="26808" y="164689"/>
                </a:lnTo>
                <a:lnTo>
                  <a:pt x="25781" y="139827"/>
                </a:lnTo>
                <a:lnTo>
                  <a:pt x="26808" y="115732"/>
                </a:lnTo>
                <a:lnTo>
                  <a:pt x="35103" y="73925"/>
                </a:lnTo>
                <a:lnTo>
                  <a:pt x="63722" y="28416"/>
                </a:lnTo>
                <a:lnTo>
                  <a:pt x="93979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03350" y="3461384"/>
            <a:ext cx="5039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717039" algn="l"/>
                <a:tab pos="2654300" algn="l"/>
              </a:tabLst>
            </a:pPr>
            <a:r>
              <a:rPr sz="3600" baseline="1157" dirty="0">
                <a:latin typeface="Calibri"/>
                <a:cs typeface="Calibri"/>
              </a:rPr>
              <a:t>Reset</a:t>
            </a:r>
            <a:r>
              <a:rPr sz="3600" spc="-172" baseline="1157" dirty="0">
                <a:latin typeface="Calibri"/>
                <a:cs typeface="Calibri"/>
              </a:rPr>
              <a:t> </a:t>
            </a:r>
            <a:r>
              <a:rPr sz="3600" spc="-30" baseline="1157" dirty="0">
                <a:latin typeface="Calibri"/>
                <a:cs typeface="Calibri"/>
              </a:rPr>
              <a:t>Gate</a:t>
            </a:r>
            <a:r>
              <a:rPr sz="3600" baseline="1157" dirty="0">
                <a:latin typeface="Calibri"/>
                <a:cs typeface="Calibri"/>
              </a:rPr>
              <a:t>	</a:t>
            </a:r>
            <a:r>
              <a:rPr sz="2400" dirty="0">
                <a:latin typeface="Cambria Math"/>
                <a:cs typeface="Cambria Math"/>
              </a:rPr>
              <a:t>𝑟</a:t>
            </a:r>
            <a:r>
              <a:rPr sz="2625" baseline="-15873" dirty="0">
                <a:latin typeface="Cambria Math"/>
                <a:cs typeface="Cambria Math"/>
              </a:rPr>
              <a:t>𝑡</a:t>
            </a:r>
            <a:r>
              <a:rPr sz="2625" spc="494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4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𝜎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365" dirty="0">
                <a:latin typeface="Cambria Math"/>
                <a:cs typeface="Cambria Math"/>
              </a:rPr>
              <a:t>𝑊</a:t>
            </a:r>
            <a:r>
              <a:rPr sz="2625" spc="232" baseline="-15873" dirty="0">
                <a:latin typeface="Cambria Math"/>
                <a:cs typeface="Cambria Math"/>
              </a:rPr>
              <a:t>𝑟</a:t>
            </a:r>
            <a:r>
              <a:rPr sz="2625" spc="367" baseline="-15873" dirty="0">
                <a:latin typeface="Cambria Math"/>
                <a:cs typeface="Cambria Math"/>
              </a:rPr>
              <a:t> </a:t>
            </a:r>
            <a:r>
              <a:rPr sz="2400" spc="85" dirty="0">
                <a:latin typeface="Cambria Math"/>
                <a:cs typeface="Cambria Math"/>
              </a:rPr>
              <a:t>∙</a:t>
            </a:r>
            <a:r>
              <a:rPr sz="2400" spc="-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𝑥</a:t>
            </a:r>
            <a:r>
              <a:rPr sz="2625" baseline="-15873" dirty="0">
                <a:latin typeface="Cambria Math"/>
                <a:cs typeface="Cambria Math"/>
              </a:rPr>
              <a:t>𝑡</a:t>
            </a:r>
            <a:r>
              <a:rPr sz="2625" spc="39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𝑈</a:t>
            </a:r>
            <a:r>
              <a:rPr sz="2625" baseline="-15873" dirty="0">
                <a:latin typeface="Cambria Math"/>
                <a:cs typeface="Cambria Math"/>
              </a:rPr>
              <a:t>𝑟</a:t>
            </a:r>
            <a:r>
              <a:rPr sz="2625" spc="367" baseline="-15873" dirty="0">
                <a:latin typeface="Cambria Math"/>
                <a:cs typeface="Cambria Math"/>
              </a:rPr>
              <a:t> </a:t>
            </a:r>
            <a:r>
              <a:rPr sz="2400" spc="85" dirty="0">
                <a:latin typeface="Cambria Math"/>
                <a:cs typeface="Cambria Math"/>
              </a:rPr>
              <a:t>∙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ℎ</a:t>
            </a:r>
            <a:r>
              <a:rPr sz="2625" spc="-30" baseline="-15873" dirty="0">
                <a:latin typeface="Cambria Math"/>
                <a:cs typeface="Cambria Math"/>
              </a:rPr>
              <a:t>𝑡−1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18660" y="3151632"/>
            <a:ext cx="2541905" cy="282575"/>
          </a:xfrm>
          <a:custGeom>
            <a:avLst/>
            <a:gdLst/>
            <a:ahLst/>
            <a:cxnLst/>
            <a:rect l="l" t="t" r="r" b="b"/>
            <a:pathLst>
              <a:path w="2541904" h="282575">
                <a:moveTo>
                  <a:pt x="2451735" y="0"/>
                </a:moveTo>
                <a:lnTo>
                  <a:pt x="2447671" y="11429"/>
                </a:lnTo>
                <a:lnTo>
                  <a:pt x="2464052" y="18522"/>
                </a:lnTo>
                <a:lnTo>
                  <a:pt x="2478135" y="28352"/>
                </a:lnTo>
                <a:lnTo>
                  <a:pt x="2506674" y="73852"/>
                </a:lnTo>
                <a:lnTo>
                  <a:pt x="2514929" y="115341"/>
                </a:lnTo>
                <a:lnTo>
                  <a:pt x="2515996" y="139700"/>
                </a:lnTo>
                <a:lnTo>
                  <a:pt x="2514949" y="164633"/>
                </a:lnTo>
                <a:lnTo>
                  <a:pt x="2506567" y="207547"/>
                </a:lnTo>
                <a:lnTo>
                  <a:pt x="2478135" y="253841"/>
                </a:lnTo>
                <a:lnTo>
                  <a:pt x="2448179" y="270890"/>
                </a:lnTo>
                <a:lnTo>
                  <a:pt x="2451735" y="282320"/>
                </a:lnTo>
                <a:lnTo>
                  <a:pt x="2490231" y="264239"/>
                </a:lnTo>
                <a:lnTo>
                  <a:pt x="2518537" y="232917"/>
                </a:lnTo>
                <a:lnTo>
                  <a:pt x="2535967" y="191119"/>
                </a:lnTo>
                <a:lnTo>
                  <a:pt x="2541778" y="141223"/>
                </a:lnTo>
                <a:lnTo>
                  <a:pt x="2540341" y="115623"/>
                </a:lnTo>
                <a:lnTo>
                  <a:pt x="2528704" y="69482"/>
                </a:lnTo>
                <a:lnTo>
                  <a:pt x="2505581" y="32146"/>
                </a:lnTo>
                <a:lnTo>
                  <a:pt x="2472191" y="7381"/>
                </a:lnTo>
                <a:lnTo>
                  <a:pt x="2451735" y="0"/>
                </a:lnTo>
                <a:close/>
              </a:path>
              <a:path w="2541904" h="282575">
                <a:moveTo>
                  <a:pt x="90042" y="0"/>
                </a:moveTo>
                <a:lnTo>
                  <a:pt x="51593" y="18097"/>
                </a:lnTo>
                <a:lnTo>
                  <a:pt x="23240" y="49529"/>
                </a:lnTo>
                <a:lnTo>
                  <a:pt x="5810" y="91424"/>
                </a:lnTo>
                <a:lnTo>
                  <a:pt x="85" y="139700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475" y="263771"/>
                </a:lnTo>
                <a:lnTo>
                  <a:pt x="63579" y="253841"/>
                </a:lnTo>
                <a:lnTo>
                  <a:pt x="35103" y="207547"/>
                </a:lnTo>
                <a:lnTo>
                  <a:pt x="26808" y="164633"/>
                </a:lnTo>
                <a:lnTo>
                  <a:pt x="25843" y="141223"/>
                </a:lnTo>
                <a:lnTo>
                  <a:pt x="25780" y="139700"/>
                </a:lnTo>
                <a:lnTo>
                  <a:pt x="29908" y="93678"/>
                </a:lnTo>
                <a:lnTo>
                  <a:pt x="42417" y="56133"/>
                </a:lnTo>
                <a:lnTo>
                  <a:pt x="77743" y="18522"/>
                </a:lnTo>
                <a:lnTo>
                  <a:pt x="93979" y="11429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5799" y="2721051"/>
            <a:ext cx="13100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libri"/>
                <a:cs typeface="Calibri"/>
              </a:rPr>
              <a:t>Two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Gates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3350" y="3061791"/>
            <a:ext cx="50838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715260" algn="l"/>
              </a:tabLst>
            </a:pPr>
            <a:r>
              <a:rPr sz="3600" baseline="-4629" dirty="0">
                <a:latin typeface="Calibri"/>
                <a:cs typeface="Calibri"/>
              </a:rPr>
              <a:t>Update</a:t>
            </a:r>
            <a:r>
              <a:rPr sz="3600" spc="-60" baseline="-4629" dirty="0">
                <a:latin typeface="Calibri"/>
                <a:cs typeface="Calibri"/>
              </a:rPr>
              <a:t> </a:t>
            </a:r>
            <a:r>
              <a:rPr sz="3600" baseline="-4629" dirty="0">
                <a:latin typeface="Calibri"/>
                <a:cs typeface="Calibri"/>
              </a:rPr>
              <a:t>Gate</a:t>
            </a:r>
            <a:r>
              <a:rPr sz="3600" spc="450" baseline="-4629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𝑍</a:t>
            </a:r>
            <a:r>
              <a:rPr sz="2625" baseline="-15873" dirty="0">
                <a:latin typeface="Cambria Math"/>
                <a:cs typeface="Cambria Math"/>
              </a:rPr>
              <a:t>𝑡</a:t>
            </a:r>
            <a:r>
              <a:rPr sz="2625" spc="57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7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𝜎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370" dirty="0">
                <a:latin typeface="Cambria Math"/>
                <a:cs typeface="Cambria Math"/>
              </a:rPr>
              <a:t>𝑊</a:t>
            </a:r>
            <a:r>
              <a:rPr sz="2625" spc="225" baseline="-15873" dirty="0">
                <a:latin typeface="Cambria Math"/>
                <a:cs typeface="Cambria Math"/>
              </a:rPr>
              <a:t>𝑧</a:t>
            </a:r>
            <a:r>
              <a:rPr sz="2625" spc="352" baseline="-15873" dirty="0">
                <a:latin typeface="Cambria Math"/>
                <a:cs typeface="Cambria Math"/>
              </a:rPr>
              <a:t> </a:t>
            </a:r>
            <a:r>
              <a:rPr sz="2400" spc="85" dirty="0">
                <a:latin typeface="Cambria Math"/>
                <a:cs typeface="Cambria Math"/>
              </a:rPr>
              <a:t>∙</a:t>
            </a:r>
            <a:r>
              <a:rPr sz="2400" spc="-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𝑥</a:t>
            </a:r>
            <a:r>
              <a:rPr sz="2625" baseline="-15873" dirty="0">
                <a:latin typeface="Cambria Math"/>
                <a:cs typeface="Cambria Math"/>
              </a:rPr>
              <a:t>𝑡</a:t>
            </a:r>
            <a:r>
              <a:rPr sz="2625" spc="390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𝑈</a:t>
            </a:r>
            <a:r>
              <a:rPr sz="2625" baseline="-15873" dirty="0">
                <a:latin typeface="Cambria Math"/>
                <a:cs typeface="Cambria Math"/>
              </a:rPr>
              <a:t>𝑧</a:t>
            </a:r>
            <a:r>
              <a:rPr sz="2625" spc="352" baseline="-15873" dirty="0">
                <a:latin typeface="Cambria Math"/>
                <a:cs typeface="Cambria Math"/>
              </a:rPr>
              <a:t> </a:t>
            </a:r>
            <a:r>
              <a:rPr sz="2400" spc="85" dirty="0">
                <a:latin typeface="Cambria Math"/>
                <a:cs typeface="Cambria Math"/>
              </a:rPr>
              <a:t>∙</a:t>
            </a:r>
            <a:r>
              <a:rPr sz="2400" spc="-45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ℎ</a:t>
            </a:r>
            <a:r>
              <a:rPr sz="2625" spc="-30" baseline="-15873" dirty="0">
                <a:latin typeface="Cambria Math"/>
                <a:cs typeface="Cambria Math"/>
              </a:rPr>
              <a:t>𝑡−1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5799" y="3087370"/>
            <a:ext cx="1327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CB14-78A5-ABB1-1CBD-9F9057E17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7B650-B587-E69D-11FA-7E0F7B6ED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  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8B2A9478-5296-32F6-7499-25C86EB35A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1672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732</TotalTime>
  <Words>377</Words>
  <Application>Microsoft Office PowerPoint</Application>
  <PresentationFormat>Widescreen</PresentationFormat>
  <Paragraphs>58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Segoe UI</vt:lpstr>
      <vt:lpstr>Tahoma</vt:lpstr>
      <vt:lpstr>Office Theme</vt:lpstr>
      <vt:lpstr>Spring of Code Artificial Intelligence (Machine Learning &amp; Deep Learning)</vt:lpstr>
      <vt:lpstr>Gated Recurrent Unit (GRU)</vt:lpstr>
      <vt:lpstr>PowerPoint Presentation</vt:lpstr>
      <vt:lpstr>Gated Recurrent Unit (GRU)</vt:lpstr>
      <vt:lpstr>Gated Recurrent Unit (GRU)</vt:lpstr>
      <vt:lpstr>Update Gate</vt:lpstr>
      <vt:lpstr>Reset Gate (𝑟𝑡)</vt:lpstr>
      <vt:lpstr>Internal Information (Current Memory Content)</vt:lpstr>
      <vt:lpstr>New Hidden State (ℎ𝑡)</vt:lpstr>
      <vt:lpstr>New Hidden State (ℎ𝑡)</vt:lpstr>
      <vt:lpstr>New Hidden State (ℎ𝑡)</vt:lpstr>
      <vt:lpstr>Summary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Gated Recurrent Unit (GRU)</dc:title>
  <dc:creator>Sanasam Ranbir Singh</dc:creator>
  <cp:lastModifiedBy>Asad Afridi</cp:lastModifiedBy>
  <cp:revision>2</cp:revision>
  <dcterms:created xsi:type="dcterms:W3CDTF">2026-04-28T19:32:51Z</dcterms:created>
  <dcterms:modified xsi:type="dcterms:W3CDTF">2026-04-29T17:10:33Z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2022-11-13T00:00:00Z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2026-04-28T00:00:00Z</vt:filetime>
  </property>
  <property fmtid="{D5CDD505-2E9C-101B-9397-08002B2CF9AE}" pid="5" name="Producer">
    <vt:lpwstr>Microsoft® PowerPoint® 2019</vt:lpwstr>
  </property>
</Properties>
</file>